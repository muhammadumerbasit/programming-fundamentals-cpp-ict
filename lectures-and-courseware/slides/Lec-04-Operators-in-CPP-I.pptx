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10" r:id="rId4"/>
  </p:sldMasterIdLst>
  <p:notesMasterIdLst>
    <p:notesMasterId r:id="rId51"/>
  </p:notesMasterIdLst>
  <p:sldIdLst>
    <p:sldId id="257" r:id="rId5"/>
    <p:sldId id="627" r:id="rId6"/>
    <p:sldId id="629" r:id="rId7"/>
    <p:sldId id="630" r:id="rId8"/>
    <p:sldId id="631" r:id="rId9"/>
    <p:sldId id="665" r:id="rId10"/>
    <p:sldId id="666" r:id="rId11"/>
    <p:sldId id="684" r:id="rId12"/>
    <p:sldId id="644" r:id="rId13"/>
    <p:sldId id="686" r:id="rId14"/>
    <p:sldId id="692" r:id="rId15"/>
    <p:sldId id="687" r:id="rId16"/>
    <p:sldId id="688" r:id="rId17"/>
    <p:sldId id="732" r:id="rId18"/>
    <p:sldId id="733" r:id="rId19"/>
    <p:sldId id="695" r:id="rId20"/>
    <p:sldId id="696" r:id="rId21"/>
    <p:sldId id="739" r:id="rId22"/>
    <p:sldId id="694" r:id="rId23"/>
    <p:sldId id="685" r:id="rId24"/>
    <p:sldId id="645" r:id="rId25"/>
    <p:sldId id="735" r:id="rId26"/>
    <p:sldId id="646" r:id="rId27"/>
    <p:sldId id="697" r:id="rId28"/>
    <p:sldId id="698" r:id="rId29"/>
    <p:sldId id="699" r:id="rId30"/>
    <p:sldId id="700" r:id="rId31"/>
    <p:sldId id="701" r:id="rId32"/>
    <p:sldId id="702" r:id="rId33"/>
    <p:sldId id="703" r:id="rId34"/>
    <p:sldId id="704" r:id="rId35"/>
    <p:sldId id="705" r:id="rId36"/>
    <p:sldId id="706" r:id="rId37"/>
    <p:sldId id="707" r:id="rId38"/>
    <p:sldId id="708" r:id="rId39"/>
    <p:sldId id="709" r:id="rId40"/>
    <p:sldId id="710" r:id="rId41"/>
    <p:sldId id="711" r:id="rId42"/>
    <p:sldId id="712" r:id="rId43"/>
    <p:sldId id="713" r:id="rId44"/>
    <p:sldId id="714" r:id="rId45"/>
    <p:sldId id="715" r:id="rId46"/>
    <p:sldId id="716" r:id="rId47"/>
    <p:sldId id="736" r:id="rId48"/>
    <p:sldId id="737" r:id="rId49"/>
    <p:sldId id="731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34" autoAdjust="0"/>
  </p:normalViewPr>
  <p:slideViewPr>
    <p:cSldViewPr>
      <p:cViewPr varScale="1">
        <p:scale>
          <a:sx n="74" d="100"/>
          <a:sy n="74" d="100"/>
        </p:scale>
        <p:origin x="12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95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04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69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90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83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83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59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58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9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13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26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67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05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610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83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505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53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510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787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187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211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78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698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049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015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575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6528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1256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3670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9449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1192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2283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1927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894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026"/>
          <p:cNvSpPr txBox="1">
            <a:spLocks noChangeArrowheads="1"/>
          </p:cNvSpPr>
          <p:nvPr/>
        </p:nvSpPr>
        <p:spPr bwMode="auto">
          <a:xfrm>
            <a:off x="7086600" y="6324600"/>
            <a:ext cx="19812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400" b="0">
                <a:latin typeface="Times New Roman" pitchFamily="18" charset="0"/>
                <a:sym typeface="Symbol" pitchFamily="18" charset="2"/>
              </a:rPr>
              <a:t></a:t>
            </a:r>
            <a:r>
              <a:rPr lang="en-US" sz="1200" b="0">
                <a:latin typeface="Times New Roman" pitchFamily="18" charset="0"/>
              </a:rPr>
              <a:t> 2003 Prentice Hall, Inc.</a:t>
            </a:r>
            <a:br>
              <a:rPr lang="en-US" sz="1200" b="0">
                <a:latin typeface="Times New Roman" pitchFamily="18" charset="0"/>
              </a:rPr>
            </a:br>
            <a:r>
              <a:rPr lang="en-US" sz="1200" b="0">
                <a:latin typeface="Times New Roman" pitchFamily="18" charset="0"/>
              </a:rPr>
              <a:t>All rights reserved.</a:t>
            </a:r>
          </a:p>
        </p:txBody>
      </p:sp>
      <p:sp>
        <p:nvSpPr>
          <p:cNvPr id="33795" name="Text Box 1027"/>
          <p:cNvSpPr txBox="1">
            <a:spLocks noChangeArrowheads="1"/>
          </p:cNvSpPr>
          <p:nvPr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000" b="0" u="sng">
                <a:solidFill>
                  <a:srgbClr val="000000"/>
                </a:solidFill>
                <a:latin typeface="AvantGarde" pitchFamily="34" charset="0"/>
              </a:rPr>
              <a:t>Outline</a:t>
            </a: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7086600" y="76200"/>
            <a:ext cx="304800" cy="685800"/>
            <a:chOff x="4032" y="3840"/>
            <a:chExt cx="192" cy="432"/>
          </a:xfrm>
        </p:grpSpPr>
        <p:sp>
          <p:nvSpPr>
            <p:cNvPr id="33797" name="AutoShape 1029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 rot="5400000">
              <a:off x="4032" y="3840"/>
              <a:ext cx="192" cy="192"/>
            </a:xfrm>
            <a:prstGeom prst="actionButtonBackPrevious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798" name="AutoShape 1030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16200000">
              <a:off x="4032" y="4080"/>
              <a:ext cx="192" cy="192"/>
            </a:xfrm>
            <a:prstGeom prst="actionButtonBackPrevious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3799" name="Rectangle 1031"/>
          <p:cNvSpPr>
            <a:spLocks noChangeArrowheads="1"/>
          </p:cNvSpPr>
          <p:nvPr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0"/>
              </a:spcBef>
            </a:pPr>
            <a:endParaRPr lang="en-US" sz="1400">
              <a:latin typeface="AvantGarde" pitchFamily="34" charset="0"/>
            </a:endParaRPr>
          </a:p>
        </p:txBody>
      </p:sp>
      <p:sp>
        <p:nvSpPr>
          <p:cNvPr id="33800" name="Rectangle 103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0"/>
            <a:ext cx="7010400" cy="5638800"/>
          </a:xfrm>
          <a:solidFill>
            <a:schemeClr val="accent1"/>
          </a:solidFill>
        </p:spPr>
        <p:txBody>
          <a:bodyPr tIns="182880" bIns="182880"/>
          <a:lstStyle>
            <a:lvl1pPr marL="0" indent="0">
              <a:buFontTx/>
              <a:buNone/>
              <a:defRPr sz="1200" b="1">
                <a:latin typeface="Courier New" pitchFamily="49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3802" name="Rectangle 103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86800" y="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2FD7615F-E4B8-49FF-A910-CCE844CD3DA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3805" name="Rectangle 1037"/>
          <p:cNvSpPr>
            <a:spLocks noGrp="1" noChangeArrowheads="1"/>
          </p:cNvSpPr>
          <p:nvPr>
            <p:ph type="ctrTitle" sz="quarter"/>
          </p:nvPr>
        </p:nvSpPr>
        <p:spPr>
          <a:xfrm>
            <a:off x="7086600" y="838200"/>
            <a:ext cx="2057400" cy="4800600"/>
          </a:xfrm>
        </p:spPr>
        <p:txBody>
          <a:bodyPr anchor="t"/>
          <a:lstStyle>
            <a:lvl1pPr algn="l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5A63417-AE59-40AD-B7C0-A3CE22D2C5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13A343-EBA0-4805-B492-91E4B1DA3F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1BCBC-42D7-48C1-BA12-8465B79398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C02F90-485D-461B-8615-27C25AF29F3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7157CA-6F31-448F-9280-6BF93CADDD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518A463-57E1-43EA-AD68-B8982F5B84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413267-C278-4B71-AEEA-7C06794479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88C5F1-0F49-4CED-9BE6-8188EFEB5C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7A77D-E785-41F0-8650-72BCD01CB2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400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400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A26C70-C978-4524-A283-2E5640D347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8EB77-1F76-4D93-A3AF-B57CBBC7FB5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5E841-A079-495C-8CCA-9C61DB49E5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67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C70C-F5A9-4CB0-8AC0-EE2843D3720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44C3-D1E0-410A-B4B8-4FBDC876A5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040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1F871-16F2-47A0-8BF0-9CCA39FC8DF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2D868-6FCE-4FD9-A1FD-ED546B0CB3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6317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E44ED-6318-4974-B656-E96A52FFCBB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33D5CA-DFD4-4B35-80ED-0EDDCA22AD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7981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BA46-1340-4881-8B69-D6AC315D93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0786E-ECEE-44CA-9430-17B91A798A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1402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48327-125B-42D3-904F-6F2E679B2B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AB07D-030D-44F5-9E46-2BDEBD18B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6733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FD5C1-75D3-4C71-9819-583BFED4737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E16C5-D16A-457D-9C29-9D16CFACF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280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01D0B-F3E7-4E6D-B86F-A6C1B7FBB59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6B74F-379B-4899-B0BF-92B55A006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083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7724C-24D6-4B7E-A696-D32759A6C3E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3ECD9-6EA3-4EE6-A28B-3C30AC180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297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BC926-39B7-4770-9822-E6CFBA20A3C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DE4FC-72B2-4367-8BB6-FB3A32A827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518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E58D9-392E-4DF5-A540-89826493DAA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1D85F-419F-4C06-93FA-426DFF8C70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905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36873-7A1E-49AC-A12F-89FE9649896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060A0-988F-4E57-B88A-08C90E6745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291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441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448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2799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575654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887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3724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2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46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778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2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963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94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3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3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56569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0" y="6553200"/>
            <a:ext cx="3581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0">
                <a:latin typeface="Times New Roman" pitchFamily="18" charset="0"/>
                <a:sym typeface="Symbol" pitchFamily="18" charset="2"/>
              </a:rPr>
              <a:t></a:t>
            </a:r>
            <a:r>
              <a:rPr lang="en-US" sz="1200" b="0">
                <a:latin typeface="Times New Roman" pitchFamily="18" charset="0"/>
              </a:rPr>
              <a:t> 2003 Prentice Hall, Inc.  All rights reserved.</a:t>
            </a:r>
          </a:p>
        </p:txBody>
      </p:sp>
      <p:sp>
        <p:nvSpPr>
          <p:cNvPr id="3277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3886200" y="6553200"/>
            <a:ext cx="304800" cy="228600"/>
          </a:xfrm>
          <a:prstGeom prst="actionButtonForwardNex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7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10800000">
            <a:off x="3505200" y="6553200"/>
            <a:ext cx="304800" cy="228600"/>
          </a:xfrm>
          <a:prstGeom prst="actionButtonForwardNex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>
                <a:latin typeface="+mn-lt"/>
              </a:defRPr>
            </a:lvl1pPr>
          </a:lstStyle>
          <a:p>
            <a:fld id="{B02323D4-92F0-4D9B-A931-B49123C83F6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E0A90C-EE50-47D5-84C6-0129908DF5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743FE7-0461-4BA1-9ABB-10B8182D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3A7A08B-64B0-470C-87C9-934E2920E55F}" type="datetimeFigureOut">
              <a:rPr lang="en-US" smtClean="0"/>
              <a:pPr/>
              <a:t>10/2/2018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6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3009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0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2954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4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Operators in C++ - I</a:t>
            </a:r>
          </a:p>
          <a:p>
            <a:pPr algn="ctr"/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724400" y="6211669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Road Map for Today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267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RECAP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dirty="0" smtClean="0">
                <a:latin typeface="+mj-lt"/>
              </a:rPr>
              <a:t>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>
                <a:solidFill>
                  <a:srgbClr val="00B0F0"/>
                </a:solidFill>
              </a:rPr>
              <a:t>Stream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/>
              <a:t>Arithmetic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/>
              <a:t>Decision Making – Equality and Relational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/>
              <a:t>Assignment/ Combined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/>
              <a:t>Unary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/>
              <a:t>Logical Operators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endParaRPr lang="en-US" sz="3200" kern="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67099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What is a variable?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Parts of variable declaration?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Naming convention for variables?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Why do we create variables?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591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48581"/>
            <a:ext cx="3938587" cy="492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5458412" y="3698671"/>
            <a:ext cx="2390188" cy="1219200"/>
          </a:xfrm>
          <a:prstGeom prst="wedgeRoundRectCallout">
            <a:avLst>
              <a:gd name="adj1" fmla="val -132460"/>
              <a:gd name="adj2" fmla="val -53130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What does Variable Declaration mean?</a:t>
            </a:r>
            <a:endParaRPr lang="en-US" sz="2000" b="1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5800460" y="2531077"/>
            <a:ext cx="1219200" cy="685800"/>
          </a:xfrm>
          <a:prstGeom prst="wedgeRoundRectCallout">
            <a:avLst>
              <a:gd name="adj1" fmla="val -249629"/>
              <a:gd name="adj2" fmla="val -6242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?</a:t>
            </a:r>
            <a:endParaRPr lang="en-US" b="1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5419460" y="1348581"/>
            <a:ext cx="1981200" cy="799876"/>
          </a:xfrm>
          <a:prstGeom prst="wedgeRoundRectCallout">
            <a:avLst>
              <a:gd name="adj1" fmla="val -157831"/>
              <a:gd name="adj2" fmla="val 45926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What is this?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1128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 – An 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Write a program which asks the user “Are you a male or a female student? Enter M for Male and F for Female.”  The program must take a character input and then display the input given by user.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71820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2000"/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161905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Operators in C++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347915"/>
            <a:ext cx="5734050" cy="2409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8672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Operators in C++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noProof="0" dirty="0" smtClean="0">
                <a:solidFill>
                  <a:srgbClr val="00B0F0"/>
                </a:solidFill>
                <a:latin typeface="+mj-lt"/>
              </a:rPr>
              <a:t>Stream Operators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j-lt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Arithmetic </a:t>
            </a:r>
            <a:r>
              <a:rPr lang="en-US" sz="3200" kern="0" dirty="0" smtClean="0"/>
              <a:t>Operators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dirty="0" smtClean="0">
                <a:latin typeface="+mj-lt"/>
              </a:rPr>
              <a:t>Decision Making – Equality and Relational Operators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/>
              <a:t>Assignment/ Combined Operators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/>
              <a:t>Unary Operators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/>
              <a:t>Logical Operators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endParaRPr lang="en-US" sz="3200" kern="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46828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Arithmetic Operators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323378"/>
            <a:ext cx="5181600" cy="63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939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Arithmetic Operators</a:t>
            </a:r>
            <a:endParaRPr lang="en-US" altLang="en-US" b="1" dirty="0">
              <a:solidFill>
                <a:schemeClr val="accent6">
                  <a:lumMod val="7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17" y="1430517"/>
            <a:ext cx="4103077" cy="3429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26" y="1514972"/>
            <a:ext cx="1752600" cy="3344545"/>
          </a:xfrm>
          <a:prstGeom prst="rect">
            <a:avLst/>
          </a:prstGeom>
        </p:spPr>
      </p:pic>
      <p:sp>
        <p:nvSpPr>
          <p:cNvPr id="15" name="Left Arrow 14"/>
          <p:cNvSpPr/>
          <p:nvPr/>
        </p:nvSpPr>
        <p:spPr bwMode="auto">
          <a:xfrm>
            <a:off x="6679859" y="2878424"/>
            <a:ext cx="838200" cy="914400"/>
          </a:xfrm>
          <a:prstGeom prst="leftArrow">
            <a:avLst/>
          </a:prstGeom>
          <a:solidFill>
            <a:srgbClr val="0099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+mn-ea"/>
              <a:cs typeface="Times New Roman" pitchFamily="18" charset="0"/>
            </a:endParaRPr>
          </a:p>
        </p:txBody>
      </p:sp>
      <p:sp>
        <p:nvSpPr>
          <p:cNvPr id="16" name="TextBox 6"/>
          <p:cNvSpPr txBox="1"/>
          <p:nvPr/>
        </p:nvSpPr>
        <p:spPr>
          <a:xfrm>
            <a:off x="7674692" y="2878424"/>
            <a:ext cx="1676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Binary operators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2" name="Picture 2" descr="Image result for arithmetic operators in c++ gif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220" y="4847560"/>
            <a:ext cx="2726072" cy="166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56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5622"/>
            <a:ext cx="8534400" cy="1143000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Arithmetic Operators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– </a:t>
            </a:r>
            <a:br>
              <a:rPr 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</a:b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Rules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O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perator Precedence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/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</a:br>
            <a:endParaRPr lang="en-US" b="1" dirty="0">
              <a:solidFill>
                <a:schemeClr val="accent6">
                  <a:lumMod val="7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8622"/>
            <a:ext cx="8229600" cy="4311203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</a:rPr>
              <a:t>C++ applies the operators in arithmetic expressions in a precise order determined by </a:t>
            </a:r>
            <a:r>
              <a:rPr lang="en-US" sz="2800" dirty="0" smtClean="0">
                <a:solidFill>
                  <a:srgbClr val="000000"/>
                </a:solidFill>
              </a:rPr>
              <a:t>these </a:t>
            </a:r>
            <a:r>
              <a:rPr lang="en-US" sz="2800" dirty="0" smtClean="0">
                <a:solidFill>
                  <a:srgbClr val="0269AF"/>
                </a:solidFill>
              </a:rPr>
              <a:t>rules </a:t>
            </a:r>
            <a:r>
              <a:rPr lang="en-US" sz="2800" dirty="0">
                <a:solidFill>
                  <a:srgbClr val="0269AF"/>
                </a:solidFill>
              </a:rPr>
              <a:t>of operator </a:t>
            </a:r>
            <a:r>
              <a:rPr lang="en-US" sz="2800" dirty="0" smtClean="0">
                <a:solidFill>
                  <a:srgbClr val="0269AF"/>
                </a:solidFill>
              </a:rPr>
              <a:t>precedence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Operators </a:t>
            </a:r>
            <a:r>
              <a:rPr lang="en-US" dirty="0">
                <a:solidFill>
                  <a:srgbClr val="C00000"/>
                </a:solidFill>
              </a:rPr>
              <a:t>in parentheses </a:t>
            </a:r>
            <a:r>
              <a:rPr lang="en-US" dirty="0"/>
              <a:t>evaluated </a:t>
            </a:r>
            <a:r>
              <a:rPr lang="en-US" b="1" i="1" u="sng" dirty="0"/>
              <a:t>first</a:t>
            </a:r>
          </a:p>
          <a:p>
            <a:pPr lvl="2"/>
            <a:r>
              <a:rPr lang="en-US" dirty="0"/>
              <a:t>Nested/embedded parentheses</a:t>
            </a:r>
          </a:p>
          <a:p>
            <a:pPr lvl="3"/>
            <a:r>
              <a:rPr lang="en-US" dirty="0"/>
              <a:t>Operators in innermost pair first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Multiplication, division, modulus </a:t>
            </a:r>
            <a:r>
              <a:rPr lang="en-US" dirty="0"/>
              <a:t>applied </a:t>
            </a:r>
            <a:r>
              <a:rPr lang="en-US" b="1" i="1" u="sng" dirty="0"/>
              <a:t>next</a:t>
            </a:r>
          </a:p>
          <a:p>
            <a:pPr lvl="2"/>
            <a:r>
              <a:rPr lang="en-US" dirty="0"/>
              <a:t>Operators applied from left to right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Addition, subtraction </a:t>
            </a:r>
            <a:r>
              <a:rPr lang="en-US" dirty="0"/>
              <a:t>applied </a:t>
            </a:r>
            <a:r>
              <a:rPr lang="en-US" b="1" i="1" u="sng" dirty="0"/>
              <a:t>last</a:t>
            </a:r>
          </a:p>
          <a:p>
            <a:pPr lvl="2"/>
            <a:r>
              <a:rPr lang="en-US" dirty="0"/>
              <a:t>Operators applied from left to right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5017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4A1E33-210F-47A2-8DFA-978064A9B9EA}" type="slidenum">
              <a:rPr lang="en-US"/>
              <a:pPr/>
              <a:t>11</a:t>
            </a:fld>
            <a:endParaRPr lang="en-US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Rules of O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perator Precedence</a:t>
            </a:r>
            <a:endParaRPr lang="en-US" b="1" dirty="0">
              <a:solidFill>
                <a:schemeClr val="accent6">
                  <a:lumMod val="7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586"/>
            <a:ext cx="9144000" cy="426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4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06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Sample Algebraic and C++ Expressions</a:t>
            </a:r>
            <a:endParaRPr lang="en-US" sz="4400" b="1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7620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63449"/>
            <a:ext cx="6781800" cy="10295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89272"/>
            <a:ext cx="7270161" cy="5023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24200" y="5257800"/>
            <a:ext cx="5486400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</a:rPr>
              <a:t>Why do we need parentheses here?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4953000" y="4724400"/>
            <a:ext cx="457200" cy="457200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53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449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609600" y="1676400"/>
            <a:ext cx="8534400" cy="449580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70C0"/>
              </a:buClr>
            </a:pPr>
            <a:endParaRPr lang="en-US" sz="4400" dirty="0" smtClean="0"/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4400" kern="0" dirty="0" smtClean="0"/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4400" kern="0" dirty="0" smtClean="0"/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tabLst/>
              <a:defRPr/>
            </a:pPr>
            <a:endParaRPr kumimoji="0" lang="en-US" sz="4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1828800"/>
            <a:ext cx="5386858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3581400"/>
            <a:ext cx="561022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71625" y="4267200"/>
            <a:ext cx="5743575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857027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4098" name="Picture 2" descr="Image result for Order of operation wikitechy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28411"/>
            <a:ext cx="8001000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8181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895081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Decision </a:t>
            </a:r>
            <a:r>
              <a:rPr lang="en-US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Making – </a:t>
            </a:r>
            <a:endParaRPr lang="en-US" sz="5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/>
            <a:r>
              <a:rPr lang="en-US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Equality &amp; Relational </a:t>
            </a:r>
            <a:r>
              <a:rPr lang="en-US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Operators</a:t>
            </a:r>
          </a:p>
          <a:p>
            <a:pPr algn="ctr"/>
            <a:endParaRPr 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1026" name="Picture 2" descr="Image result for comparison operato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7" y="383011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2153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598950"/>
            <a:ext cx="7772400" cy="4878050"/>
          </a:xfrm>
        </p:spPr>
        <p:txBody>
          <a:bodyPr/>
          <a:lstStyle/>
          <a:p>
            <a:r>
              <a:rPr lang="en-US" sz="3200" dirty="0" smtClean="0"/>
              <a:t>Used to define the conditions for making some sort of decision</a:t>
            </a:r>
            <a:endParaRPr 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1108" y="3290887"/>
            <a:ext cx="26098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12254" y="2838449"/>
            <a:ext cx="29146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0" y="533366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4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E1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Equality and Relational Operators</a:t>
            </a:r>
          </a:p>
        </p:txBody>
      </p:sp>
      <p:sp>
        <p:nvSpPr>
          <p:cNvPr id="7" name="Up Arrow 6"/>
          <p:cNvSpPr/>
          <p:nvPr/>
        </p:nvSpPr>
        <p:spPr bwMode="auto">
          <a:xfrm>
            <a:off x="2709333" y="4136494"/>
            <a:ext cx="533400" cy="719138"/>
          </a:xfrm>
          <a:prstGeom prst="up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600" b="1" smtClean="0">
              <a:solidFill>
                <a:srgbClr val="000000"/>
              </a:solidFill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8" name="Up Arrow 7"/>
          <p:cNvSpPr/>
          <p:nvPr/>
        </p:nvSpPr>
        <p:spPr bwMode="auto">
          <a:xfrm>
            <a:off x="5923491" y="4496063"/>
            <a:ext cx="533400" cy="914137"/>
          </a:xfrm>
          <a:prstGeom prst="up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600" b="1" smtClean="0">
              <a:solidFill>
                <a:srgbClr val="000000"/>
              </a:solidFill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3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462934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E1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Equality and  Relational Operators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34" y="1328954"/>
            <a:ext cx="8604531" cy="4419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9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33366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4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E1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Equality and Relational Operators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793396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Difference between “=” and “==”?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 smtClean="0"/>
          </a:p>
        </p:txBody>
      </p:sp>
      <p:pic>
        <p:nvPicPr>
          <p:cNvPr id="13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766" y="2566570"/>
            <a:ext cx="521970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87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717863"/>
            <a:ext cx="914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Assignment/ Combined  Operators</a:t>
            </a:r>
            <a:b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(=, +=, -=, *=, /=, %=)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21246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E14F1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Assignment Operator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 operator to give (assign) a value to a variable.</a:t>
            </a:r>
          </a:p>
          <a:p>
            <a:pPr eaLnBrk="1" hangingPunct="1"/>
            <a:r>
              <a:rPr lang="en-US" altLang="en-US" dirty="0" smtClean="0"/>
              <a:t>Denote as ‘=‘</a:t>
            </a:r>
          </a:p>
          <a:p>
            <a:pPr eaLnBrk="1" hangingPunct="1"/>
            <a:r>
              <a:rPr lang="en-US" altLang="en-US" dirty="0" smtClean="0"/>
              <a:t>Only </a:t>
            </a:r>
            <a:r>
              <a:rPr lang="en-US" altLang="en-US" b="1" dirty="0" smtClean="0">
                <a:solidFill>
                  <a:srgbClr val="0070C0"/>
                </a:solidFill>
              </a:rPr>
              <a:t>variable</a:t>
            </a:r>
            <a:r>
              <a:rPr lang="en-US" altLang="en-US" dirty="0" smtClean="0"/>
              <a:t> can be on the left side.</a:t>
            </a:r>
          </a:p>
          <a:p>
            <a:pPr eaLnBrk="1" hangingPunct="1"/>
            <a:r>
              <a:rPr lang="en-US" altLang="en-US" dirty="0" smtClean="0"/>
              <a:t>An </a:t>
            </a:r>
            <a:r>
              <a:rPr lang="en-US" altLang="en-US" dirty="0" smtClean="0">
                <a:solidFill>
                  <a:schemeClr val="accent2"/>
                </a:solidFill>
              </a:rPr>
              <a:t>expression</a:t>
            </a:r>
            <a:r>
              <a:rPr lang="en-US" altLang="en-US" dirty="0" smtClean="0"/>
              <a:t> is on the right side.</a:t>
            </a:r>
          </a:p>
          <a:p>
            <a:pPr eaLnBrk="1" hangingPunct="1"/>
            <a:r>
              <a:rPr lang="en-US" altLang="en-US" dirty="0" smtClean="0"/>
              <a:t>Variables keep their assigned values until changed by another </a:t>
            </a:r>
            <a:r>
              <a:rPr lang="en-US" altLang="en-US" b="1" dirty="0" smtClean="0"/>
              <a:t>assignment statement </a:t>
            </a:r>
            <a:r>
              <a:rPr lang="en-US" altLang="en-US" dirty="0" smtClean="0"/>
              <a:t>or by </a:t>
            </a:r>
            <a:r>
              <a:rPr lang="en-US" altLang="en-US" b="1" dirty="0" smtClean="0"/>
              <a:t>reading in </a:t>
            </a:r>
            <a:r>
              <a:rPr lang="en-US" altLang="en-US" dirty="0" smtClean="0"/>
              <a:t>a new value.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7869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E14F1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Assignment Operator Syntax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i="1" dirty="0" smtClean="0">
                <a:solidFill>
                  <a:srgbClr val="C00000"/>
                </a:solidFill>
              </a:rPr>
              <a:t>Variable = Expression</a:t>
            </a:r>
          </a:p>
          <a:p>
            <a:pPr lvl="1" eaLnBrk="1" hangingPunct="1">
              <a:defRPr/>
            </a:pPr>
            <a:r>
              <a:rPr lang="en-US" dirty="0" smtClean="0"/>
              <a:t>First, </a:t>
            </a:r>
            <a:r>
              <a:rPr lang="en-US" dirty="0" smtClean="0">
                <a:solidFill>
                  <a:schemeClr val="accent5"/>
                </a:solidFill>
              </a:rPr>
              <a:t>expression</a:t>
            </a:r>
            <a:r>
              <a:rPr lang="en-US" dirty="0" smtClean="0"/>
              <a:t> on right is </a:t>
            </a:r>
            <a:r>
              <a:rPr lang="en-US" b="1" dirty="0" smtClean="0"/>
              <a:t>evaluated</a:t>
            </a:r>
            <a:r>
              <a:rPr lang="en-US" dirty="0" smtClean="0"/>
              <a:t>.</a:t>
            </a:r>
          </a:p>
          <a:p>
            <a:pPr lvl="1" eaLnBrk="1" hangingPunct="1">
              <a:defRPr/>
            </a:pPr>
            <a:r>
              <a:rPr lang="en-US" dirty="0" smtClean="0"/>
              <a:t>Then the resulting value is </a:t>
            </a:r>
            <a:r>
              <a:rPr lang="en-US" b="1" dirty="0" smtClean="0"/>
              <a:t>stored</a:t>
            </a:r>
            <a:r>
              <a:rPr lang="en-US" dirty="0" smtClean="0"/>
              <a:t> in the memory location of Variable on left.</a:t>
            </a:r>
          </a:p>
          <a:p>
            <a:pPr eaLnBrk="1" hangingPunct="1">
              <a:buFont typeface="Monotype Sorts" pitchFamily="2" charset="2"/>
              <a:buNone/>
              <a:defRPr/>
            </a:pPr>
            <a:endParaRPr lang="en-US" sz="2800" dirty="0" smtClean="0"/>
          </a:p>
          <a:p>
            <a:pPr marL="0" indent="0" eaLnBrk="1" hangingPunct="1">
              <a:buNone/>
              <a:defRPr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191000"/>
            <a:ext cx="3154889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65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E14F1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Assignment Operator Syntax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596980"/>
            <a:ext cx="8229600" cy="4529183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lang="en-US" dirty="0" smtClean="0"/>
              <a:t>NOTE:  An automatic type coercion occurs </a:t>
            </a:r>
            <a:r>
              <a:rPr lang="en-US" dirty="0" smtClean="0">
                <a:solidFill>
                  <a:schemeClr val="hlink"/>
                </a:solidFill>
              </a:rPr>
              <a:t>after evaluation but before the value is stored </a:t>
            </a:r>
            <a:r>
              <a:rPr lang="en-US" dirty="0" smtClean="0"/>
              <a:t>if the types differ for Expression and Variable</a:t>
            </a:r>
          </a:p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4679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E14F15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Assignment Operator Mechanism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Example: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b="1" dirty="0" err="1" smtClean="0">
                <a:latin typeface="Courier New" pitchFamily="49" charset="0"/>
              </a:rPr>
              <a:t>int</a:t>
            </a:r>
            <a:r>
              <a:rPr lang="en-US" altLang="en-US" b="1" dirty="0" smtClean="0">
                <a:latin typeface="Courier New" pitchFamily="49" charset="0"/>
              </a:rPr>
              <a:t> count = 0;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b="1" dirty="0" err="1" smtClean="0">
                <a:latin typeface="Courier New" pitchFamily="49" charset="0"/>
              </a:rPr>
              <a:t>int</a:t>
            </a:r>
            <a:r>
              <a:rPr lang="en-US" altLang="en-US" b="1" dirty="0" smtClean="0">
                <a:latin typeface="Courier New" pitchFamily="49" charset="0"/>
              </a:rPr>
              <a:t> starting;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b="1" dirty="0" smtClean="0">
                <a:latin typeface="Courier New" pitchFamily="49" charset="0"/>
              </a:rPr>
              <a:t>starting = count + 5;</a:t>
            </a:r>
          </a:p>
          <a:p>
            <a:pPr eaLnBrk="1" hangingPunct="1"/>
            <a:r>
              <a:rPr lang="en-US" altLang="en-US" dirty="0" smtClean="0"/>
              <a:t>Expression evaluation:</a:t>
            </a:r>
          </a:p>
          <a:p>
            <a:pPr lvl="1" eaLnBrk="1" hangingPunct="1"/>
            <a:r>
              <a:rPr lang="en-US" altLang="en-US" dirty="0" smtClean="0"/>
              <a:t>Get value of </a:t>
            </a:r>
            <a:r>
              <a:rPr lang="en-US" altLang="en-US" b="1" dirty="0" smtClean="0">
                <a:latin typeface="Courier New" pitchFamily="49" charset="0"/>
              </a:rPr>
              <a:t>count</a:t>
            </a:r>
            <a:r>
              <a:rPr lang="en-US" altLang="en-US" dirty="0" smtClean="0"/>
              <a:t>: 0</a:t>
            </a:r>
          </a:p>
          <a:p>
            <a:pPr lvl="1" eaLnBrk="1" hangingPunct="1"/>
            <a:r>
              <a:rPr lang="en-US" altLang="en-US" dirty="0" smtClean="0"/>
              <a:t>Add 5 to it.</a:t>
            </a:r>
          </a:p>
          <a:p>
            <a:pPr lvl="1" eaLnBrk="1" hangingPunct="1"/>
            <a:r>
              <a:rPr lang="en-US" altLang="en-US" dirty="0" smtClean="0"/>
              <a:t>Assign to </a:t>
            </a:r>
            <a:r>
              <a:rPr lang="en-US" altLang="en-US" b="1" dirty="0" smtClean="0">
                <a:latin typeface="Courier New" pitchFamily="49" charset="0"/>
              </a:rPr>
              <a:t>starting</a:t>
            </a:r>
            <a:endParaRPr lang="en-US" altLang="en-US" dirty="0" smtClean="0"/>
          </a:p>
          <a:p>
            <a:pPr lvl="1" eaLnBrk="1" hangingPunct="1">
              <a:buFont typeface="Arial" pitchFamily="34" charset="0"/>
              <a:buNone/>
            </a:pPr>
            <a:endParaRPr lang="en-US" alt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4572000" y="2057400"/>
            <a:ext cx="1828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667000"/>
            <a:ext cx="1828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12345 (garbage)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5257800"/>
            <a:ext cx="1828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9293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Assignment/Combined Operators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3600" dirty="0">
                <a:solidFill>
                  <a:prstClr val="black"/>
                </a:solidFill>
              </a:rPr>
              <a:t>C++ provides several </a:t>
            </a:r>
            <a:r>
              <a:rPr lang="en-US" sz="3600" b="1" i="1" dirty="0">
                <a:solidFill>
                  <a:srgbClr val="0269AF"/>
                </a:solidFill>
              </a:rPr>
              <a:t>assignment operators</a:t>
            </a:r>
            <a:r>
              <a:rPr lang="en-US" sz="3600" b="1" i="1" dirty="0">
                <a:solidFill>
                  <a:prstClr val="black"/>
                </a:solidFill>
              </a:rPr>
              <a:t> </a:t>
            </a:r>
            <a:r>
              <a:rPr lang="en-US" sz="3600" dirty="0">
                <a:solidFill>
                  <a:prstClr val="black"/>
                </a:solidFill>
              </a:rPr>
              <a:t>for abbreviating assignment expressions</a:t>
            </a:r>
            <a:r>
              <a:rPr lang="en-US" sz="3600" dirty="0" smtClean="0">
                <a:solidFill>
                  <a:prstClr val="black"/>
                </a:solidFill>
              </a:rPr>
              <a:t>.</a:t>
            </a:r>
          </a:p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4000" b="1" dirty="0" smtClean="0">
                <a:solidFill>
                  <a:srgbClr val="C00000"/>
                </a:solidFill>
              </a:rPr>
              <a:t>Example</a:t>
            </a:r>
            <a:endParaRPr lang="en-US" sz="3600" kern="0" dirty="0" smtClean="0">
              <a:solidFill>
                <a:srgbClr val="C00000"/>
              </a:solidFill>
            </a:endParaRP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3600" b="1" dirty="0">
                <a:solidFill>
                  <a:prstClr val="black"/>
                </a:solidFill>
              </a:rPr>
              <a:t>c = c + </a:t>
            </a:r>
            <a:r>
              <a:rPr lang="en-US" sz="3600" b="1" dirty="0" smtClean="0">
                <a:solidFill>
                  <a:prstClr val="black"/>
                </a:solidFill>
              </a:rPr>
              <a:t>3;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dirty="0" smtClean="0">
                <a:solidFill>
                  <a:srgbClr val="000000"/>
                </a:solidFill>
              </a:rPr>
              <a:t>can </a:t>
            </a:r>
            <a:r>
              <a:rPr lang="en-US" sz="3600" dirty="0">
                <a:solidFill>
                  <a:srgbClr val="000000"/>
                </a:solidFill>
              </a:rPr>
              <a:t>be abbreviated with the </a:t>
            </a:r>
            <a:r>
              <a:rPr lang="en-US" sz="3600" i="1" dirty="0">
                <a:solidFill>
                  <a:srgbClr val="0269AF"/>
                </a:solidFill>
              </a:rPr>
              <a:t>addition assignment operator += </a:t>
            </a:r>
            <a:r>
              <a:rPr lang="en-US" sz="3600" dirty="0" smtClean="0">
                <a:solidFill>
                  <a:srgbClr val="000000"/>
                </a:solidFill>
              </a:rPr>
              <a:t>as </a:t>
            </a:r>
            <a:r>
              <a:rPr lang="en-US" sz="3600" b="1" dirty="0" smtClean="0">
                <a:solidFill>
                  <a:prstClr val="black"/>
                </a:solidFill>
              </a:rPr>
              <a:t>c </a:t>
            </a:r>
            <a:r>
              <a:rPr lang="en-US" sz="3600" b="1" dirty="0">
                <a:solidFill>
                  <a:prstClr val="black"/>
                </a:solidFill>
              </a:rPr>
              <a:t>+= 3</a:t>
            </a:r>
            <a:r>
              <a:rPr lang="en-US" sz="3600" b="1" dirty="0" smtClean="0">
                <a:solidFill>
                  <a:prstClr val="black"/>
                </a:solidFill>
              </a:rPr>
              <a:t>;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endParaRPr lang="en-US" sz="3600" dirty="0" smtClean="0">
              <a:solidFill>
                <a:prstClr val="black"/>
              </a:solidFill>
            </a:endParaRP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3600" dirty="0" smtClean="0">
                <a:solidFill>
                  <a:prstClr val="black"/>
                </a:solidFill>
              </a:rPr>
              <a:t>The </a:t>
            </a:r>
            <a:r>
              <a:rPr lang="en-US" sz="3600" dirty="0">
                <a:solidFill>
                  <a:prstClr val="black"/>
                </a:solidFill>
              </a:rPr>
              <a:t>assignment c += 3 adds 3 to </a:t>
            </a:r>
            <a:r>
              <a:rPr lang="en-US" sz="3600" dirty="0" smtClean="0">
                <a:solidFill>
                  <a:prstClr val="black"/>
                </a:solidFill>
              </a:rPr>
              <a:t>c.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757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Assignment/Combined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2133600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variable</a:t>
            </a:r>
            <a:r>
              <a:rPr lang="en-US" sz="3200" b="1" i="1" dirty="0">
                <a:solidFill>
                  <a:prstClr val="black"/>
                </a:solidFill>
              </a:rPr>
              <a:t> </a:t>
            </a:r>
            <a:r>
              <a:rPr lang="en-US" sz="3200" b="1" dirty="0">
                <a:solidFill>
                  <a:srgbClr val="0070C0"/>
                </a:solidFill>
              </a:rPr>
              <a:t>=</a:t>
            </a:r>
            <a:r>
              <a:rPr lang="en-US" sz="3200" b="1" dirty="0">
                <a:solidFill>
                  <a:prstClr val="black"/>
                </a:solidFill>
              </a:rPr>
              <a:t> </a:t>
            </a:r>
            <a:r>
              <a:rPr lang="en-US" sz="3200" b="1" i="1" dirty="0">
                <a:solidFill>
                  <a:srgbClr val="C00000"/>
                </a:solidFill>
              </a:rPr>
              <a:t>variable</a:t>
            </a:r>
            <a:r>
              <a:rPr lang="en-US" sz="3200" b="1" i="1" dirty="0">
                <a:solidFill>
                  <a:prstClr val="black"/>
                </a:solidFill>
              </a:rPr>
              <a:t> </a:t>
            </a:r>
            <a:r>
              <a:rPr lang="en-US" sz="3200" b="1" i="1" dirty="0">
                <a:solidFill>
                  <a:srgbClr val="0070C0"/>
                </a:solidFill>
              </a:rPr>
              <a:t>operator</a:t>
            </a:r>
            <a:r>
              <a:rPr lang="en-US" sz="3200" b="1" i="1" dirty="0">
                <a:solidFill>
                  <a:prstClr val="black"/>
                </a:solidFill>
              </a:rPr>
              <a:t> </a:t>
            </a:r>
            <a:r>
              <a:rPr lang="en-US" sz="3200" b="1" i="1" dirty="0" smtClean="0">
                <a:solidFill>
                  <a:prstClr val="black"/>
                </a:solidFill>
              </a:rPr>
              <a:t>expression</a:t>
            </a:r>
            <a:r>
              <a:rPr lang="en-US" sz="3200" b="1" dirty="0" smtClean="0">
                <a:solidFill>
                  <a:prstClr val="black"/>
                </a:solidFill>
              </a:rPr>
              <a:t>;</a:t>
            </a:r>
            <a:endParaRPr lang="en-US" sz="3200" b="1" dirty="0">
              <a:solidFill>
                <a:prstClr val="black"/>
              </a:solidFill>
            </a:endParaRPr>
          </a:p>
        </p:txBody>
      </p:sp>
      <p:sp>
        <p:nvSpPr>
          <p:cNvPr id="8" name="Up-Down Arrow 7"/>
          <p:cNvSpPr/>
          <p:nvPr/>
        </p:nvSpPr>
        <p:spPr>
          <a:xfrm>
            <a:off x="4191000" y="2722895"/>
            <a:ext cx="762000" cy="1701225"/>
          </a:xfrm>
          <a:prstGeom prst="up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4606261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variable</a:t>
            </a:r>
            <a:r>
              <a:rPr lang="en-US" sz="3200" b="1" i="1" dirty="0">
                <a:solidFill>
                  <a:prstClr val="black"/>
                </a:solidFill>
              </a:rPr>
              <a:t> </a:t>
            </a:r>
            <a:r>
              <a:rPr lang="en-US" sz="3200" b="1" i="1" dirty="0">
                <a:solidFill>
                  <a:srgbClr val="0070C0"/>
                </a:solidFill>
              </a:rPr>
              <a:t>operator</a:t>
            </a:r>
            <a:r>
              <a:rPr lang="en-US" sz="3200" b="1" dirty="0">
                <a:solidFill>
                  <a:srgbClr val="0070C0"/>
                </a:solidFill>
              </a:rPr>
              <a:t>=</a:t>
            </a:r>
            <a:r>
              <a:rPr lang="en-US" sz="3200" b="1" dirty="0">
                <a:solidFill>
                  <a:prstClr val="black"/>
                </a:solidFill>
              </a:rPr>
              <a:t> </a:t>
            </a:r>
            <a:r>
              <a:rPr lang="en-US" sz="3200" b="1" i="1" dirty="0" smtClean="0">
                <a:solidFill>
                  <a:prstClr val="black"/>
                </a:solidFill>
              </a:rPr>
              <a:t>expression</a:t>
            </a:r>
            <a:r>
              <a:rPr lang="en-US" sz="3200" b="1" dirty="0" smtClean="0">
                <a:solidFill>
                  <a:prstClr val="black"/>
                </a:solidFill>
              </a:rPr>
              <a:t>;</a:t>
            </a:r>
            <a:endParaRPr lang="en-US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05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Arithmetic Assignment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33" y="1525786"/>
            <a:ext cx="7488343" cy="38004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66" y="5649780"/>
            <a:ext cx="7755546" cy="4345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6600" y="2953687"/>
            <a:ext cx="8382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 smtClean="0">
                <a:solidFill>
                  <a:srgbClr val="C00000"/>
                </a:solidFill>
              </a:rPr>
              <a:t>?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525" y="2953686"/>
            <a:ext cx="1057275" cy="199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078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717863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Unary Operators</a:t>
            </a:r>
            <a:b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25" y="2942898"/>
            <a:ext cx="28765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800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Unary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Operators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>
                <a:solidFill>
                  <a:prstClr val="black"/>
                </a:solidFill>
              </a:rPr>
              <a:t>C++ </a:t>
            </a:r>
            <a:r>
              <a:rPr lang="en-US" sz="3600" dirty="0" smtClean="0">
                <a:solidFill>
                  <a:prstClr val="black"/>
                </a:solidFill>
              </a:rPr>
              <a:t>provides </a:t>
            </a:r>
            <a:r>
              <a:rPr lang="en-US" sz="3600" b="1" dirty="0" smtClean="0">
                <a:solidFill>
                  <a:prstClr val="black"/>
                </a:solidFill>
              </a:rPr>
              <a:t>two</a:t>
            </a:r>
            <a:r>
              <a:rPr lang="en-US" sz="3600" dirty="0" smtClean="0">
                <a:solidFill>
                  <a:prstClr val="black"/>
                </a:solidFill>
              </a:rPr>
              <a:t> types of </a:t>
            </a:r>
            <a:r>
              <a:rPr lang="en-US" sz="3600" i="1" dirty="0" smtClean="0">
                <a:solidFill>
                  <a:prstClr val="black"/>
                </a:solidFill>
              </a:rPr>
              <a:t>unary </a:t>
            </a:r>
            <a:r>
              <a:rPr lang="en-US" sz="3600" i="1" dirty="0">
                <a:solidFill>
                  <a:prstClr val="black"/>
                </a:solidFill>
              </a:rPr>
              <a:t>operators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</a:rPr>
              <a:t>unary </a:t>
            </a:r>
            <a:r>
              <a:rPr lang="en-US" sz="3600" dirty="0">
                <a:solidFill>
                  <a:srgbClr val="0269AF"/>
                </a:solidFill>
                <a:latin typeface="AGaramond-Semibold--Identity-H"/>
              </a:rPr>
              <a:t>increment </a:t>
            </a:r>
            <a:r>
              <a:rPr lang="en-US" sz="3600" dirty="0" smtClean="0">
                <a:solidFill>
                  <a:srgbClr val="0269AF"/>
                </a:solidFill>
                <a:latin typeface="AGaramond-Semibold--Identity-H"/>
              </a:rPr>
              <a:t>operator</a:t>
            </a:r>
            <a:r>
              <a:rPr lang="en-US" sz="3600" dirty="0">
                <a:solidFill>
                  <a:srgbClr val="000000"/>
                </a:solidFill>
                <a:latin typeface="AGaramond-Regular--Identity-H"/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AGaramond-Regular--Identity-H"/>
              </a:rPr>
              <a:t>(</a:t>
            </a:r>
            <a:r>
              <a:rPr lang="en-US" sz="2800" dirty="0" smtClean="0">
                <a:solidFill>
                  <a:srgbClr val="000000"/>
                </a:solidFill>
                <a:latin typeface="LucidaSansTypewriter--Identity-H"/>
              </a:rPr>
              <a:t>++)</a:t>
            </a:r>
            <a:r>
              <a:rPr lang="en-US" sz="3600" dirty="0" smtClean="0">
                <a:solidFill>
                  <a:prstClr val="black"/>
                </a:solidFill>
              </a:rPr>
              <a:t> </a:t>
            </a:r>
            <a:endParaRPr lang="en-US" sz="3600" dirty="0">
              <a:solidFill>
                <a:prstClr val="black"/>
              </a:solidFill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</a:rPr>
              <a:t>for </a:t>
            </a:r>
            <a:r>
              <a:rPr lang="en-US" sz="3200" dirty="0">
                <a:solidFill>
                  <a:prstClr val="black"/>
                </a:solidFill>
              </a:rPr>
              <a:t>adding 1 to the value of a numeric </a:t>
            </a:r>
            <a:r>
              <a:rPr lang="en-US" sz="3200" dirty="0" smtClean="0">
                <a:solidFill>
                  <a:prstClr val="black"/>
                </a:solidFill>
              </a:rPr>
              <a:t>variable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</a:rPr>
              <a:t>unary </a:t>
            </a:r>
            <a:r>
              <a:rPr lang="en-US" sz="3600" dirty="0">
                <a:solidFill>
                  <a:srgbClr val="0269AF"/>
                </a:solidFill>
                <a:latin typeface="AGaramond-Semibold--Identity-H"/>
              </a:rPr>
              <a:t>decrement </a:t>
            </a:r>
            <a:r>
              <a:rPr lang="en-US" sz="3600" dirty="0" smtClean="0">
                <a:solidFill>
                  <a:srgbClr val="0269AF"/>
                </a:solidFill>
                <a:latin typeface="AGaramond-Semibold--Identity-H"/>
              </a:rPr>
              <a:t>operator </a:t>
            </a:r>
            <a:r>
              <a:rPr lang="en-US" sz="3600" dirty="0" smtClean="0">
                <a:solidFill>
                  <a:prstClr val="black"/>
                </a:solidFill>
              </a:rPr>
              <a:t>(--)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</a:rPr>
              <a:t>subtracting </a:t>
            </a:r>
            <a:r>
              <a:rPr lang="en-US" sz="3200" dirty="0">
                <a:solidFill>
                  <a:prstClr val="black"/>
                </a:solidFill>
              </a:rPr>
              <a:t>1 from the value of a numeric </a:t>
            </a:r>
            <a:r>
              <a:rPr lang="en-US" sz="3200" dirty="0" smtClean="0">
                <a:solidFill>
                  <a:prstClr val="black"/>
                </a:solidFill>
              </a:rPr>
              <a:t>variable</a:t>
            </a:r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4860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Unary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Operators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>
                <a:solidFill>
                  <a:prstClr val="black"/>
                </a:solidFill>
                <a:latin typeface="AGaramond-Semibold--Identity-H"/>
              </a:rPr>
              <a:t>When is the unary operation carried out depends on </a:t>
            </a:r>
            <a:r>
              <a:rPr lang="en-US" sz="3600" b="1" i="1" dirty="0" smtClean="0">
                <a:solidFill>
                  <a:prstClr val="black"/>
                </a:solidFill>
                <a:latin typeface="AGaramond-Semibold--Identity-H"/>
              </a:rPr>
              <a:t>where (before or after the variable)</a:t>
            </a:r>
            <a:r>
              <a:rPr lang="en-US" sz="3600" dirty="0" smtClean="0">
                <a:solidFill>
                  <a:prstClr val="black"/>
                </a:solidFill>
                <a:latin typeface="AGaramond-Semibold--Identity-H"/>
              </a:rPr>
              <a:t> the operator has been placed. </a:t>
            </a:r>
          </a:p>
          <a:p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rgbClr val="0269AF"/>
                </a:solidFill>
                <a:latin typeface="AGaramond-Semibold--Identity-H"/>
              </a:rPr>
              <a:t>Prefix </a:t>
            </a:r>
            <a:r>
              <a:rPr lang="en-US" sz="3600" dirty="0">
                <a:solidFill>
                  <a:srgbClr val="0269AF"/>
                </a:solidFill>
                <a:latin typeface="AGaramond-Semibold--Identity-H"/>
              </a:rPr>
              <a:t>Unary </a:t>
            </a:r>
            <a:r>
              <a:rPr lang="en-US" sz="3600" dirty="0" smtClean="0">
                <a:solidFill>
                  <a:srgbClr val="0269AF"/>
                </a:solidFill>
                <a:latin typeface="AGaramond-Semibold--Identity-H"/>
              </a:rPr>
              <a:t>Operator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rgbClr val="0269AF"/>
                </a:solidFill>
                <a:latin typeface="AGaramond-Semibold--Identity-H"/>
              </a:rPr>
              <a:t>Postfix </a:t>
            </a:r>
            <a:r>
              <a:rPr lang="en-US" sz="3600" dirty="0">
                <a:solidFill>
                  <a:srgbClr val="0269AF"/>
                </a:solidFill>
                <a:latin typeface="AGaramond-Semibold--Identity-H"/>
              </a:rPr>
              <a:t>Unary Operator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821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7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endParaRPr lang="en-US" sz="3600" dirty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04900" y="2054422"/>
            <a:ext cx="7277100" cy="3203378"/>
          </a:xfrm>
          <a:prstGeom prst="roundRect">
            <a:avLst/>
          </a:prstGeom>
          <a:solidFill>
            <a:schemeClr val="bg1">
              <a:lumMod val="6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6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PREFIX</a:t>
            </a:r>
            <a:r>
              <a:rPr lang="en-US" sz="6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6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added before a word to make a new </a:t>
            </a:r>
            <a:r>
              <a:rPr lang="en-US" sz="60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word</a:t>
            </a:r>
            <a:r>
              <a:rPr lang="en-US" sz="6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3777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Prefix Unary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Operators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n-US" sz="3600" dirty="0">
                <a:solidFill>
                  <a:prstClr val="black"/>
                </a:solidFill>
              </a:rPr>
              <a:t>An increment or </a:t>
            </a:r>
            <a:r>
              <a:rPr lang="en-US" sz="3600" dirty="0" smtClean="0">
                <a:solidFill>
                  <a:prstClr val="black"/>
                </a:solidFill>
              </a:rPr>
              <a:t>decrement operator </a:t>
            </a:r>
            <a:r>
              <a:rPr lang="en-US" sz="3600" dirty="0">
                <a:solidFill>
                  <a:prstClr val="black"/>
                </a:solidFill>
              </a:rPr>
              <a:t>that’s </a:t>
            </a:r>
            <a:r>
              <a:rPr lang="en-US" sz="3600" dirty="0" smtClean="0">
                <a:solidFill>
                  <a:prstClr val="black"/>
                </a:solidFill>
              </a:rPr>
              <a:t>placed before (</a:t>
            </a:r>
            <a:r>
              <a:rPr lang="en-US" sz="3600" i="1" dirty="0" smtClean="0">
                <a:solidFill>
                  <a:prstClr val="black"/>
                </a:solidFill>
              </a:rPr>
              <a:t>prefixed to</a:t>
            </a:r>
            <a:r>
              <a:rPr lang="en-US" sz="3600" dirty="0" smtClean="0">
                <a:solidFill>
                  <a:prstClr val="black"/>
                </a:solidFill>
              </a:rPr>
              <a:t>) </a:t>
            </a:r>
            <a:r>
              <a:rPr lang="en-US" sz="3600" dirty="0">
                <a:solidFill>
                  <a:prstClr val="black"/>
                </a:solidFill>
              </a:rPr>
              <a:t>a variable is referred to as the </a:t>
            </a:r>
            <a:r>
              <a:rPr lang="en-US" sz="3600" dirty="0">
                <a:solidFill>
                  <a:srgbClr val="0269AF"/>
                </a:solidFill>
                <a:latin typeface="AGaramond-Semibold--Identity-H"/>
              </a:rPr>
              <a:t>prefix increment </a:t>
            </a:r>
            <a:r>
              <a:rPr lang="en-US" sz="3600" dirty="0">
                <a:solidFill>
                  <a:prstClr val="black"/>
                </a:solidFill>
              </a:rPr>
              <a:t>or </a:t>
            </a:r>
            <a:r>
              <a:rPr lang="en-US" sz="3600" dirty="0">
                <a:solidFill>
                  <a:srgbClr val="0269AF"/>
                </a:solidFill>
                <a:latin typeface="AGaramond-Semibold--Identity-H"/>
              </a:rPr>
              <a:t>prefix </a:t>
            </a:r>
            <a:r>
              <a:rPr lang="en-US" sz="3600">
                <a:solidFill>
                  <a:srgbClr val="0269AF"/>
                </a:solidFill>
                <a:latin typeface="AGaramond-Semibold--Identity-H"/>
              </a:rPr>
              <a:t>decrement </a:t>
            </a:r>
            <a:r>
              <a:rPr lang="en-US" sz="3600" smtClean="0">
                <a:solidFill>
                  <a:srgbClr val="0269AF"/>
                </a:solidFill>
                <a:latin typeface="AGaramond-Semibold--Identity-H"/>
              </a:rPr>
              <a:t>operator</a:t>
            </a:r>
            <a:r>
              <a:rPr lang="en-US" sz="3600" smtClean="0">
                <a:solidFill>
                  <a:prstClr val="black"/>
                </a:solidFill>
              </a:rPr>
              <a:t>, </a:t>
            </a:r>
            <a:r>
              <a:rPr lang="en-US" sz="3600" dirty="0" smtClean="0">
                <a:solidFill>
                  <a:prstClr val="black"/>
                </a:solidFill>
              </a:rPr>
              <a:t>respectively.</a:t>
            </a:r>
          </a:p>
          <a:p>
            <a:pPr lvl="1">
              <a:lnSpc>
                <a:spcPct val="150000"/>
              </a:lnSpc>
            </a:pPr>
            <a:r>
              <a:rPr lang="en-US" altLang="en-US" sz="3600" i="1" dirty="0">
                <a:solidFill>
                  <a:prstClr val="black"/>
                </a:solidFill>
              </a:rPr>
              <a:t>++variable</a:t>
            </a:r>
            <a:r>
              <a:rPr lang="en-US" altLang="en-US" sz="3600" dirty="0">
                <a:solidFill>
                  <a:prstClr val="black"/>
                </a:solidFill>
              </a:rPr>
              <a:t>  - prefix increment</a:t>
            </a:r>
          </a:p>
          <a:p>
            <a:pPr lvl="1">
              <a:lnSpc>
                <a:spcPct val="150000"/>
              </a:lnSpc>
            </a:pPr>
            <a:r>
              <a:rPr lang="en-US" altLang="en-US" sz="3600" i="1" dirty="0">
                <a:solidFill>
                  <a:prstClr val="black"/>
                </a:solidFill>
              </a:rPr>
              <a:t>--variable</a:t>
            </a:r>
            <a:r>
              <a:rPr lang="en-US" altLang="en-US" sz="3600" dirty="0">
                <a:solidFill>
                  <a:prstClr val="black"/>
                </a:solidFill>
              </a:rPr>
              <a:t>  - prefix decrement</a:t>
            </a:r>
          </a:p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0635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4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endParaRPr lang="en-US" sz="3600" dirty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2400" y="1670445"/>
            <a:ext cx="8686800" cy="3965378"/>
          </a:xfrm>
          <a:prstGeom prst="roundRect">
            <a:avLst/>
          </a:prstGeom>
          <a:solidFill>
            <a:schemeClr val="bg1">
              <a:lumMod val="65000"/>
              <a:alpha val="6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60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SUFFIX/POSTFIX</a:t>
            </a:r>
            <a:r>
              <a:rPr lang="en-US" sz="6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6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added </a:t>
            </a:r>
            <a:r>
              <a:rPr lang="en-US" sz="60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end </a:t>
            </a:r>
          </a:p>
          <a:p>
            <a:pPr algn="ctr"/>
            <a:r>
              <a:rPr lang="en-US" sz="60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 word </a:t>
            </a:r>
          </a:p>
          <a:p>
            <a:pPr algn="ctr"/>
            <a:r>
              <a:rPr lang="en-US" sz="60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make </a:t>
            </a:r>
            <a:r>
              <a:rPr lang="en-US" sz="6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new </a:t>
            </a:r>
            <a:r>
              <a:rPr lang="en-US" sz="60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word</a:t>
            </a:r>
            <a:r>
              <a:rPr lang="en-US" sz="6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4985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Postfix Unary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Operators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n-US" sz="3600" dirty="0">
                <a:solidFill>
                  <a:prstClr val="black"/>
                </a:solidFill>
              </a:rPr>
              <a:t>An increment or </a:t>
            </a:r>
            <a:r>
              <a:rPr lang="en-US" sz="3600" dirty="0" smtClean="0">
                <a:solidFill>
                  <a:prstClr val="black"/>
                </a:solidFill>
              </a:rPr>
              <a:t>decrement operator </a:t>
            </a:r>
            <a:r>
              <a:rPr lang="en-US" sz="3600" dirty="0">
                <a:solidFill>
                  <a:prstClr val="black"/>
                </a:solidFill>
              </a:rPr>
              <a:t>that’s </a:t>
            </a:r>
            <a:r>
              <a:rPr lang="en-US" sz="3600" dirty="0" smtClean="0">
                <a:solidFill>
                  <a:prstClr val="black"/>
                </a:solidFill>
              </a:rPr>
              <a:t>placed after (</a:t>
            </a:r>
            <a:r>
              <a:rPr lang="en-US" sz="3600" i="1" dirty="0" err="1" smtClean="0">
                <a:solidFill>
                  <a:prstClr val="black"/>
                </a:solidFill>
              </a:rPr>
              <a:t>postfixed</a:t>
            </a:r>
            <a:r>
              <a:rPr lang="en-US" sz="3600" i="1" dirty="0" smtClean="0">
                <a:solidFill>
                  <a:prstClr val="black"/>
                </a:solidFill>
              </a:rPr>
              <a:t> to</a:t>
            </a:r>
            <a:r>
              <a:rPr lang="en-US" sz="3600" dirty="0" smtClean="0">
                <a:solidFill>
                  <a:prstClr val="black"/>
                </a:solidFill>
              </a:rPr>
              <a:t>) </a:t>
            </a:r>
            <a:r>
              <a:rPr lang="en-US" sz="3600" dirty="0">
                <a:solidFill>
                  <a:prstClr val="black"/>
                </a:solidFill>
              </a:rPr>
              <a:t>a variable is referred to as the </a:t>
            </a:r>
            <a:r>
              <a:rPr lang="en-US" sz="3600" dirty="0" smtClean="0">
                <a:solidFill>
                  <a:srgbClr val="0269AF"/>
                </a:solidFill>
                <a:latin typeface="AGaramond-Semibold--Identity-H"/>
              </a:rPr>
              <a:t>postfix </a:t>
            </a:r>
            <a:r>
              <a:rPr lang="en-US" sz="3600" dirty="0">
                <a:solidFill>
                  <a:srgbClr val="0269AF"/>
                </a:solidFill>
                <a:latin typeface="AGaramond-Semibold--Identity-H"/>
              </a:rPr>
              <a:t>increment </a:t>
            </a:r>
            <a:r>
              <a:rPr lang="en-US" sz="3600" dirty="0">
                <a:solidFill>
                  <a:prstClr val="black"/>
                </a:solidFill>
              </a:rPr>
              <a:t>or </a:t>
            </a:r>
            <a:r>
              <a:rPr lang="en-US" sz="3600" dirty="0" smtClean="0">
                <a:solidFill>
                  <a:srgbClr val="0269AF"/>
                </a:solidFill>
                <a:latin typeface="AGaramond-Semibold--Identity-H"/>
              </a:rPr>
              <a:t>postfix </a:t>
            </a:r>
            <a:r>
              <a:rPr lang="en-US" sz="3600">
                <a:solidFill>
                  <a:srgbClr val="0269AF"/>
                </a:solidFill>
                <a:latin typeface="AGaramond-Semibold--Identity-H"/>
              </a:rPr>
              <a:t>decrement </a:t>
            </a:r>
            <a:r>
              <a:rPr lang="en-US" sz="3600" smtClean="0">
                <a:solidFill>
                  <a:srgbClr val="0269AF"/>
                </a:solidFill>
                <a:latin typeface="AGaramond-Semibold--Identity-H"/>
              </a:rPr>
              <a:t>operator</a:t>
            </a:r>
            <a:r>
              <a:rPr lang="en-US" sz="3600" smtClean="0">
                <a:solidFill>
                  <a:prstClr val="black"/>
                </a:solidFill>
              </a:rPr>
              <a:t>, </a:t>
            </a:r>
            <a:r>
              <a:rPr lang="en-US" sz="3600" dirty="0" smtClean="0">
                <a:solidFill>
                  <a:prstClr val="black"/>
                </a:solidFill>
              </a:rPr>
              <a:t>respectively.</a:t>
            </a:r>
          </a:p>
          <a:p>
            <a:pPr lvl="1">
              <a:lnSpc>
                <a:spcPct val="150000"/>
              </a:lnSpc>
            </a:pPr>
            <a:r>
              <a:rPr lang="en-US" altLang="en-US" sz="3600" i="1" dirty="0" smtClean="0">
                <a:solidFill>
                  <a:prstClr val="black"/>
                </a:solidFill>
              </a:rPr>
              <a:t>variable++</a:t>
            </a:r>
            <a:r>
              <a:rPr lang="en-US" altLang="en-US" sz="3600" dirty="0" smtClean="0">
                <a:solidFill>
                  <a:prstClr val="black"/>
                </a:solidFill>
              </a:rPr>
              <a:t>  </a:t>
            </a:r>
            <a:r>
              <a:rPr lang="en-US" altLang="en-US" sz="3600" dirty="0">
                <a:solidFill>
                  <a:prstClr val="black"/>
                </a:solidFill>
              </a:rPr>
              <a:t>- </a:t>
            </a:r>
            <a:r>
              <a:rPr lang="en-US" altLang="en-US" sz="3600" dirty="0" smtClean="0">
                <a:solidFill>
                  <a:prstClr val="black"/>
                </a:solidFill>
              </a:rPr>
              <a:t>postfix </a:t>
            </a:r>
            <a:r>
              <a:rPr lang="en-US" altLang="en-US" sz="3600" dirty="0">
                <a:solidFill>
                  <a:prstClr val="black"/>
                </a:solidFill>
              </a:rPr>
              <a:t>increment</a:t>
            </a:r>
          </a:p>
          <a:p>
            <a:pPr lvl="1">
              <a:lnSpc>
                <a:spcPct val="150000"/>
              </a:lnSpc>
            </a:pPr>
            <a:r>
              <a:rPr lang="en-US" altLang="en-US" sz="3600" i="1" dirty="0" smtClean="0">
                <a:solidFill>
                  <a:prstClr val="black"/>
                </a:solidFill>
              </a:rPr>
              <a:t>variable-</a:t>
            </a:r>
            <a:r>
              <a:rPr lang="en-US" altLang="en-US" sz="3600" i="1" dirty="0">
                <a:solidFill>
                  <a:prstClr val="black"/>
                </a:solidFill>
              </a:rPr>
              <a:t>-</a:t>
            </a:r>
            <a:r>
              <a:rPr lang="en-US" altLang="en-US" sz="3600" dirty="0" smtClean="0">
                <a:solidFill>
                  <a:prstClr val="black"/>
                </a:solidFill>
              </a:rPr>
              <a:t>  </a:t>
            </a:r>
            <a:r>
              <a:rPr lang="en-US" altLang="en-US" sz="3600" dirty="0">
                <a:solidFill>
                  <a:prstClr val="black"/>
                </a:solidFill>
              </a:rPr>
              <a:t>- </a:t>
            </a:r>
            <a:r>
              <a:rPr lang="en-US" altLang="en-US" sz="3600" dirty="0" smtClean="0">
                <a:solidFill>
                  <a:prstClr val="black"/>
                </a:solidFill>
              </a:rPr>
              <a:t>postfix </a:t>
            </a:r>
            <a:r>
              <a:rPr lang="en-US" altLang="en-US" sz="3600" dirty="0">
                <a:solidFill>
                  <a:prstClr val="black"/>
                </a:solidFill>
              </a:rPr>
              <a:t>decrement</a:t>
            </a:r>
          </a:p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1187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Unary Operators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254" y="1670445"/>
            <a:ext cx="9261454" cy="398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415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 smtClean="0">
                <a:solidFill>
                  <a:srgbClr val="F79646">
                    <a:lumMod val="75000"/>
                  </a:srgbClr>
                </a:solidFill>
              </a:rPr>
              <a:t>Preincrement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-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687378"/>
            <a:ext cx="4648200" cy="4247317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1674911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13966" y="2407383"/>
            <a:ext cx="2802467" cy="175432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2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3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4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5</a:t>
            </a:r>
          </a:p>
          <a:p>
            <a:r>
              <a:rPr lang="en-US" dirty="0">
                <a:solidFill>
                  <a:prstClr val="black"/>
                </a:solidFill>
              </a:rPr>
              <a:t>6</a:t>
            </a:r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4660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 smtClean="0">
                <a:solidFill>
                  <a:srgbClr val="F79646">
                    <a:lumMod val="75000"/>
                  </a:srgbClr>
                </a:solidFill>
              </a:rPr>
              <a:t>Postincrement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-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687378"/>
            <a:ext cx="4648200" cy="4247317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1674911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13966" y="2407383"/>
            <a:ext cx="2802467" cy="175432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1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2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3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4</a:t>
            </a:r>
          </a:p>
          <a:p>
            <a:r>
              <a:rPr lang="en-US" dirty="0">
                <a:solidFill>
                  <a:prstClr val="black"/>
                </a:solidFill>
              </a:rPr>
              <a:t>5</a:t>
            </a:r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4274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 smtClean="0">
                <a:solidFill>
                  <a:srgbClr val="F79646">
                    <a:lumMod val="75000"/>
                  </a:srgbClr>
                </a:solidFill>
              </a:rPr>
              <a:t>Predecrement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-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687378"/>
            <a:ext cx="4648200" cy="3970318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4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1674911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13966" y="2407383"/>
            <a:ext cx="2802467" cy="1477328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3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2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1</a:t>
            </a:r>
          </a:p>
          <a:p>
            <a:r>
              <a:rPr lang="en-US" dirty="0">
                <a:solidFill>
                  <a:prstClr val="black"/>
                </a:solidFill>
              </a:rPr>
              <a:t>0</a:t>
            </a:r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701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 smtClean="0">
                <a:solidFill>
                  <a:srgbClr val="F79646">
                    <a:lumMod val="75000"/>
                  </a:srgbClr>
                </a:solidFill>
              </a:rPr>
              <a:t>Postdecrement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-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687378"/>
            <a:ext cx="4648200" cy="3970318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4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-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1674911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13966" y="2407383"/>
            <a:ext cx="2802467" cy="1477328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4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3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2</a:t>
            </a:r>
          </a:p>
          <a:p>
            <a:r>
              <a:rPr lang="en-US" dirty="0">
                <a:solidFill>
                  <a:prstClr val="black"/>
                </a:solidFill>
              </a:rPr>
              <a:t>1</a:t>
            </a:r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0684450">
            <a:off x="6757805" y="2389107"/>
            <a:ext cx="167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rgbClr val="C00000"/>
                </a:solidFill>
              </a:rPr>
              <a:t>?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7432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Exercise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687378"/>
            <a:ext cx="4648200" cy="3693319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&lt;</a:t>
            </a:r>
            <a:r>
              <a:rPr lang="en-US" dirty="0" err="1" smtClean="0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21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c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"\n</a:t>
            </a:r>
            <a:r>
              <a:rPr lang="en-US" dirty="0" smtClean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1674911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13966" y="2407383"/>
            <a:ext cx="2802467" cy="923330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21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22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0684450">
            <a:off x="6757805" y="2389107"/>
            <a:ext cx="167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rgbClr val="C00000"/>
                </a:solidFill>
              </a:rPr>
              <a:t>?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629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Exercise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687378"/>
            <a:ext cx="4648200" cy="2862322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&lt;</a:t>
            </a:r>
            <a:r>
              <a:rPr lang="en-US" dirty="0" err="1" smtClean="0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1674911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13966" y="2407383"/>
            <a:ext cx="2802467" cy="646331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64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0684450">
            <a:off x="6757805" y="2389107"/>
            <a:ext cx="167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rgbClr val="C00000"/>
                </a:solidFill>
              </a:rPr>
              <a:t>?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8259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" y="703182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79646">
                    <a:lumMod val="75000"/>
                  </a:srgbClr>
                </a:solidFill>
              </a:rPr>
              <a:t>Common Mistakes – No intervening spaces</a:t>
            </a:r>
            <a:endParaRPr lang="en-US" sz="36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i="1" dirty="0" smtClean="0"/>
              <a:t>The </a:t>
            </a:r>
            <a:r>
              <a:rPr lang="en-US" i="1" dirty="0"/>
              <a:t>unary increment and decrement operators should be </a:t>
            </a:r>
            <a:r>
              <a:rPr lang="en-US" i="1" dirty="0" smtClean="0"/>
              <a:t>placed next </a:t>
            </a:r>
            <a:r>
              <a:rPr lang="en-US" i="1" dirty="0"/>
              <a:t>to </a:t>
            </a:r>
            <a:r>
              <a:rPr lang="en-US" i="1"/>
              <a:t>their </a:t>
            </a:r>
            <a:r>
              <a:rPr lang="en-US" i="1" smtClean="0"/>
              <a:t>operands, </a:t>
            </a:r>
            <a:r>
              <a:rPr lang="en-US" b="1" i="1" dirty="0"/>
              <a:t>with no intervening spaces</a:t>
            </a:r>
            <a:r>
              <a:rPr lang="en-US" i="1" dirty="0" smtClean="0"/>
              <a:t>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 smtClean="0"/>
              <a:t>+ + variable</a:t>
            </a:r>
            <a:r>
              <a:rPr lang="en-US" i="1" dirty="0"/>
              <a:t>	</a:t>
            </a:r>
            <a:r>
              <a:rPr lang="en-US" b="1" i="1" dirty="0" smtClean="0"/>
              <a:t>variable --</a:t>
            </a:r>
            <a:endParaRPr lang="en-US" b="1" dirty="0"/>
          </a:p>
        </p:txBody>
      </p:sp>
      <p:sp>
        <p:nvSpPr>
          <p:cNvPr id="13" name="Rounded Rectangular Callout 12"/>
          <p:cNvSpPr/>
          <p:nvPr/>
        </p:nvSpPr>
        <p:spPr>
          <a:xfrm>
            <a:off x="609600" y="5013985"/>
            <a:ext cx="1447800" cy="736304"/>
          </a:xfrm>
          <a:prstGeom prst="wedgeRoundRectCallout">
            <a:avLst>
              <a:gd name="adj1" fmla="val -36039"/>
              <a:gd name="adj2" fmla="val -163879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</a:rPr>
              <a:t>Incorrect</a:t>
            </a:r>
            <a:endParaRPr lang="en-US" b="1" i="1" dirty="0">
              <a:solidFill>
                <a:prstClr val="white"/>
              </a:solidFill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4487333" y="5013985"/>
            <a:ext cx="1447800" cy="736304"/>
          </a:xfrm>
          <a:prstGeom prst="wedgeRoundRectCallout">
            <a:avLst>
              <a:gd name="adj1" fmla="val -36039"/>
              <a:gd name="adj2" fmla="val -163879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</a:rPr>
              <a:t>Incorrect</a:t>
            </a:r>
            <a:endParaRPr lang="en-US" b="1" i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7126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" y="703182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79646">
                    <a:lumMod val="75000"/>
                  </a:srgbClr>
                </a:solidFill>
              </a:rPr>
              <a:t>Common Mistakes – Syntax Error</a:t>
            </a:r>
            <a:endParaRPr lang="en-US" sz="36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i="1" dirty="0"/>
              <a:t>Attempting to use the increment or decrement operator on an expression other than a </a:t>
            </a:r>
            <a:r>
              <a:rPr lang="en-US" i="1" dirty="0" smtClean="0"/>
              <a:t>variable name is a syntax error.</a:t>
            </a:r>
          </a:p>
          <a:p>
            <a:pPr marL="0" indent="0" algn="just">
              <a:buNone/>
            </a:pPr>
            <a:endParaRPr lang="en-US" i="1" dirty="0"/>
          </a:p>
          <a:p>
            <a:pPr marL="0" indent="0">
              <a:buNone/>
            </a:pPr>
            <a:r>
              <a:rPr lang="en-US" sz="4000" b="1" i="1" dirty="0" smtClean="0"/>
              <a:t>			++(x+2)</a:t>
            </a:r>
            <a:endParaRPr lang="en-US" sz="4000" b="1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4800600" y="4964254"/>
            <a:ext cx="1447800" cy="736304"/>
          </a:xfrm>
          <a:prstGeom prst="wedgeRoundRectCallout">
            <a:avLst>
              <a:gd name="adj1" fmla="val -73466"/>
              <a:gd name="adj2" fmla="val -124783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prstClr val="white"/>
                </a:solidFill>
              </a:rPr>
              <a:t>Incorrect</a:t>
            </a:r>
            <a:endParaRPr lang="en-US" b="1" i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3306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" y="703182"/>
            <a:ext cx="876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F79646">
                    <a:lumMod val="75000"/>
                  </a:srgbClr>
                </a:solidFill>
              </a:rPr>
              <a:t>Caution</a:t>
            </a:r>
            <a:endParaRPr lang="en-US" sz="36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4853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B</a:t>
            </a:r>
            <a:r>
              <a:rPr lang="en-US" dirty="0" smtClean="0"/>
              <a:t>e </a:t>
            </a:r>
            <a:r>
              <a:rPr lang="en-US" dirty="0"/>
              <a:t>VERY CAREFUL using these operators.</a:t>
            </a:r>
          </a:p>
          <a:p>
            <a:pPr marL="0" indent="0" algn="just">
              <a:buNone/>
            </a:pPr>
            <a:r>
              <a:rPr lang="en-US" dirty="0"/>
              <a:t>C++ allows these operators to be used in the middle of a </a:t>
            </a:r>
            <a:r>
              <a:rPr lang="en-US" dirty="0" smtClean="0"/>
              <a:t>larger expression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400050" lvl="1" indent="0" algn="just">
              <a:buNone/>
            </a:pPr>
            <a:r>
              <a:rPr lang="en-US" sz="3000" dirty="0" smtClean="0"/>
              <a:t>Suppose </a:t>
            </a:r>
            <a:r>
              <a:rPr lang="en-US" sz="3000" dirty="0" err="1"/>
              <a:t>num</a:t>
            </a:r>
            <a:r>
              <a:rPr lang="en-US" sz="3000" dirty="0"/>
              <a:t> contains the value </a:t>
            </a:r>
            <a:r>
              <a:rPr lang="en-US" sz="3000" dirty="0" smtClean="0"/>
              <a:t>3, </a:t>
            </a:r>
            <a:r>
              <a:rPr lang="en-US" sz="3000" dirty="0"/>
              <a:t>the </a:t>
            </a:r>
            <a:r>
              <a:rPr lang="en-US" sz="3000" dirty="0" smtClean="0"/>
              <a:t>statement</a:t>
            </a:r>
            <a:endParaRPr lang="en-US" sz="3000" i="1" dirty="0"/>
          </a:p>
          <a:p>
            <a:pPr marL="400050" lvl="1" indent="0">
              <a:buNone/>
            </a:pPr>
            <a:r>
              <a:rPr lang="en-US" sz="3000" b="1" dirty="0" err="1" smtClean="0"/>
              <a:t>someNum</a:t>
            </a:r>
            <a:r>
              <a:rPr lang="en-US" sz="3000" b="1" dirty="0" smtClean="0"/>
              <a:t> = </a:t>
            </a:r>
            <a:r>
              <a:rPr lang="en-US" sz="3000" b="1" dirty="0" err="1" smtClean="0"/>
              <a:t>num</a:t>
            </a:r>
            <a:r>
              <a:rPr lang="en-US" sz="3000" b="1" dirty="0" smtClean="0"/>
              <a:t>++ * 4;</a:t>
            </a:r>
          </a:p>
          <a:p>
            <a:pPr marL="400050" lvl="1" indent="0">
              <a:buNone/>
            </a:pPr>
            <a:r>
              <a:rPr lang="en-US" sz="3000" dirty="0" smtClean="0"/>
              <a:t>yields a different result than the statement</a:t>
            </a:r>
          </a:p>
          <a:p>
            <a:pPr marL="400050" lvl="1" indent="0">
              <a:buNone/>
            </a:pPr>
            <a:r>
              <a:rPr lang="en-US" sz="3000" b="1" dirty="0" err="1" smtClean="0"/>
              <a:t>someNum</a:t>
            </a:r>
            <a:r>
              <a:rPr lang="en-US" sz="3000" b="1" dirty="0" smtClean="0"/>
              <a:t> </a:t>
            </a:r>
            <a:r>
              <a:rPr lang="en-US" sz="3000" b="1" dirty="0"/>
              <a:t>= ++</a:t>
            </a:r>
            <a:r>
              <a:rPr lang="en-US" sz="3000" b="1" dirty="0" err="1"/>
              <a:t>num</a:t>
            </a:r>
            <a:r>
              <a:rPr lang="en-US" sz="3000" b="1" dirty="0"/>
              <a:t> * 4</a:t>
            </a:r>
            <a:r>
              <a:rPr lang="en-US" sz="3000" b="1" dirty="0" smtClean="0"/>
              <a:t>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sz="3500" dirty="0">
                <a:solidFill>
                  <a:srgbClr val="C00000"/>
                </a:solidFill>
              </a:rPr>
              <a:t>What do </a:t>
            </a:r>
            <a:r>
              <a:rPr lang="en-US" sz="3500" dirty="0" smtClean="0">
                <a:solidFill>
                  <a:srgbClr val="C00000"/>
                </a:solidFill>
              </a:rPr>
              <a:t>you </a:t>
            </a:r>
            <a:r>
              <a:rPr lang="en-US" sz="3500" dirty="0">
                <a:solidFill>
                  <a:srgbClr val="C00000"/>
                </a:solidFill>
              </a:rPr>
              <a:t>think the two results are</a:t>
            </a:r>
            <a:r>
              <a:rPr lang="en-US" sz="3500" dirty="0" smtClean="0">
                <a:solidFill>
                  <a:srgbClr val="C00000"/>
                </a:solidFill>
              </a:rPr>
              <a:t>?</a:t>
            </a:r>
            <a:endParaRPr lang="en-US" sz="35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077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" y="515745"/>
            <a:ext cx="876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rgbClr val="F79646">
                    <a:lumMod val="75000"/>
                  </a:srgbClr>
                </a:solidFill>
              </a:rPr>
              <a:t>Quiz 02</a:t>
            </a:r>
            <a:endParaRPr lang="en-US" sz="66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485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 out a piece of paper and write your </a:t>
            </a:r>
          </a:p>
          <a:p>
            <a:pPr lvl="1" algn="just"/>
            <a:r>
              <a:rPr lang="en-US" sz="3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</a:t>
            </a:r>
          </a:p>
          <a:p>
            <a:pPr lvl="1" algn="just"/>
            <a:r>
              <a:rPr lang="en-US" sz="3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36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</a:t>
            </a:r>
            <a:r>
              <a:rPr lang="en-US" sz="3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</a:t>
            </a:r>
          </a:p>
          <a:p>
            <a:pPr lvl="1" algn="just"/>
            <a:r>
              <a:rPr lang="en-US" sz="3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</a:t>
            </a:r>
            <a:endParaRPr lang="en-US" sz="3600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13125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0500" y="993122"/>
            <a:ext cx="8763000" cy="536644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6600" b="1" dirty="0" smtClean="0">
                <a:solidFill>
                  <a:srgbClr val="C00000"/>
                </a:solidFill>
              </a:rPr>
              <a:t>y </a:t>
            </a:r>
            <a:r>
              <a:rPr lang="en-US" sz="6600" b="1" dirty="0">
                <a:solidFill>
                  <a:srgbClr val="C00000"/>
                </a:solidFill>
              </a:rPr>
              <a:t>= ax</a:t>
            </a:r>
            <a:r>
              <a:rPr lang="en-US" sz="6600" b="1" baseline="30000" dirty="0">
                <a:solidFill>
                  <a:srgbClr val="C00000"/>
                </a:solidFill>
              </a:rPr>
              <a:t>2</a:t>
            </a:r>
            <a:r>
              <a:rPr lang="en-US" sz="6600" b="1" dirty="0">
                <a:solidFill>
                  <a:srgbClr val="C00000"/>
                </a:solidFill>
              </a:rPr>
              <a:t> + </a:t>
            </a:r>
            <a:r>
              <a:rPr lang="en-US" sz="6600" b="1" dirty="0" err="1">
                <a:solidFill>
                  <a:srgbClr val="C00000"/>
                </a:solidFill>
              </a:rPr>
              <a:t>bx</a:t>
            </a:r>
            <a:r>
              <a:rPr lang="en-US" sz="6600" b="1" dirty="0">
                <a:solidFill>
                  <a:srgbClr val="C00000"/>
                </a:solidFill>
              </a:rPr>
              <a:t> + </a:t>
            </a:r>
            <a:r>
              <a:rPr lang="en-US" sz="6600" b="1" dirty="0" smtClean="0">
                <a:solidFill>
                  <a:srgbClr val="C00000"/>
                </a:solidFill>
              </a:rPr>
              <a:t>c</a:t>
            </a:r>
            <a:endParaRPr lang="en-US" sz="6600" b="1" i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i="1" dirty="0" smtClean="0"/>
              <a:t>[5 marks]</a:t>
            </a:r>
            <a:r>
              <a:rPr lang="en-US" dirty="0" smtClean="0"/>
              <a:t> Convert the above given algebraic expression to C++ expression and also number the precedence order in which the operators will be evaluated.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1" dirty="0" smtClean="0"/>
              <a:t>[5 marks] </a:t>
            </a:r>
            <a:r>
              <a:rPr lang="en-US" dirty="0" smtClean="0"/>
              <a:t>Calculate the value of ‘y’ by using the following values </a:t>
            </a:r>
            <a:r>
              <a:rPr lang="en-US" b="1" dirty="0" smtClean="0"/>
              <a:t>showing each step </a:t>
            </a:r>
            <a:r>
              <a:rPr lang="en-US" dirty="0" smtClean="0"/>
              <a:t>as per C++ operator precedence rules.           </a:t>
            </a:r>
            <a:endParaRPr lang="en-US" dirty="0" smtClean="0"/>
          </a:p>
          <a:p>
            <a:pPr marL="0" indent="0">
              <a:buNone/>
            </a:pPr>
            <a:r>
              <a:rPr lang="en-US" sz="4000" b="1" dirty="0"/>
              <a:t>	</a:t>
            </a:r>
            <a:r>
              <a:rPr lang="en-US" sz="4000" b="1" dirty="0" smtClean="0"/>
              <a:t>a </a:t>
            </a:r>
            <a:r>
              <a:rPr lang="en-US" sz="4000" b="1" dirty="0"/>
              <a:t>= 2, b = 3, c = 7, x = 5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>
                <a:solidFill>
                  <a:srgbClr val="000000"/>
                </a:solidFill>
              </a:rPr>
              <a:pPr/>
              <a:t>45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611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4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algn="l"/>
            <a:r>
              <a:rPr lang="en-US" dirty="0" smtClean="0">
                <a:solidFill>
                  <a:srgbClr val="E1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Time: 10 mins	Quiz 02		10 marks</a:t>
            </a:r>
            <a:endParaRPr lang="en-US" dirty="0">
              <a:solidFill>
                <a:srgbClr val="E14F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0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990600"/>
            <a:ext cx="5257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1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9"/>
      </a:accent6>
      <a:hlink>
        <a:srgbClr val="0000FF"/>
      </a:hlink>
      <a:folHlink>
        <a:srgbClr val="B2B2B2"/>
      </a:folHlink>
    </a:clrScheme>
    <a:fontScheme name="ppt_template_07-25-2002">
      <a:majorFont>
        <a:latin typeface="AvantGarde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ppt_template_07-25-200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07-25-200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ivic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008000"/>
    </a:lt2>
    <a:accent1>
      <a:srgbClr val="FFE699"/>
    </a:accent1>
    <a:accent2>
      <a:srgbClr val="FF0000"/>
    </a:accent2>
    <a:accent3>
      <a:srgbClr val="FFFFFF"/>
    </a:accent3>
    <a:accent4>
      <a:srgbClr val="000000"/>
    </a:accent4>
    <a:accent5>
      <a:srgbClr val="FFF0CA"/>
    </a:accent5>
    <a:accent6>
      <a:srgbClr val="E70000"/>
    </a:accent6>
    <a:hlink>
      <a:srgbClr val="CCCCFF"/>
    </a:hlink>
    <a:folHlink>
      <a:srgbClr val="99CC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16932</TotalTime>
  <Words>1275</Words>
  <Application>Microsoft Office PowerPoint</Application>
  <PresentationFormat>On-screen Show (4:3)</PresentationFormat>
  <Paragraphs>309</Paragraphs>
  <Slides>46</Slides>
  <Notes>34</Notes>
  <HiddenSlides>2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46</vt:i4>
      </vt:variant>
    </vt:vector>
  </HeadingPairs>
  <TitlesOfParts>
    <vt:vector size="64" baseType="lpstr">
      <vt:lpstr>AGaramond-Regular--Identity-H</vt:lpstr>
      <vt:lpstr>AGaramond-Semibold--Identity-H</vt:lpstr>
      <vt:lpstr>Arial</vt:lpstr>
      <vt:lpstr>AvantGarde</vt:lpstr>
      <vt:lpstr>Calibri</vt:lpstr>
      <vt:lpstr>Cambria</vt:lpstr>
      <vt:lpstr>Courier New</vt:lpstr>
      <vt:lpstr>Helvetica</vt:lpstr>
      <vt:lpstr>LucidaSansTypewriter--Identity-H</vt:lpstr>
      <vt:lpstr>Monotype Sorts</vt:lpstr>
      <vt:lpstr>Symbol</vt:lpstr>
      <vt:lpstr>Times New Roman</vt:lpstr>
      <vt:lpstr>Wingdings</vt:lpstr>
      <vt:lpstr>Wingdings 2</vt:lpstr>
      <vt:lpstr>Office Theme</vt:lpstr>
      <vt:lpstr>ppt_template_07-25-2002</vt:lpstr>
      <vt:lpstr>1_Office Theme</vt:lpstr>
      <vt:lpstr>Civic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Arithmetic Operators</vt:lpstr>
      <vt:lpstr>Arithmetic Operators –  Rules of Operator Precedence </vt:lpstr>
      <vt:lpstr>Rules of Operator Precedence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 Operator</vt:lpstr>
      <vt:lpstr>Assignment Operator Syntax</vt:lpstr>
      <vt:lpstr>Assignment Operator Syntax</vt:lpstr>
      <vt:lpstr>Assignment Operator Mechanism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1007</cp:revision>
  <dcterms:created xsi:type="dcterms:W3CDTF">2006-08-16T00:00:00Z</dcterms:created>
  <dcterms:modified xsi:type="dcterms:W3CDTF">2018-10-02T05:44:52Z</dcterms:modified>
</cp:coreProperties>
</file>