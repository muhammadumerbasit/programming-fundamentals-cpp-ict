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7" r:id="rId2"/>
    <p:sldMasterId id="2147483710" r:id="rId3"/>
  </p:sldMasterIdLst>
  <p:notesMasterIdLst>
    <p:notesMasterId r:id="rId42"/>
  </p:notesMasterIdLst>
  <p:sldIdLst>
    <p:sldId id="257" r:id="rId4"/>
    <p:sldId id="627" r:id="rId5"/>
    <p:sldId id="629" r:id="rId6"/>
    <p:sldId id="763" r:id="rId7"/>
    <p:sldId id="736" r:id="rId8"/>
    <p:sldId id="665" r:id="rId9"/>
    <p:sldId id="666" r:id="rId10"/>
    <p:sldId id="730" r:id="rId11"/>
    <p:sldId id="718" r:id="rId12"/>
    <p:sldId id="743" r:id="rId13"/>
    <p:sldId id="746" r:id="rId14"/>
    <p:sldId id="719" r:id="rId15"/>
    <p:sldId id="720" r:id="rId16"/>
    <p:sldId id="721" r:id="rId17"/>
    <p:sldId id="722" r:id="rId18"/>
    <p:sldId id="723" r:id="rId19"/>
    <p:sldId id="724" r:id="rId20"/>
    <p:sldId id="725" r:id="rId21"/>
    <p:sldId id="726" r:id="rId22"/>
    <p:sldId id="727" r:id="rId23"/>
    <p:sldId id="728" r:id="rId24"/>
    <p:sldId id="729" r:id="rId25"/>
    <p:sldId id="747" r:id="rId26"/>
    <p:sldId id="748" r:id="rId27"/>
    <p:sldId id="752" r:id="rId28"/>
    <p:sldId id="749" r:id="rId29"/>
    <p:sldId id="753" r:id="rId30"/>
    <p:sldId id="750" r:id="rId31"/>
    <p:sldId id="754" r:id="rId32"/>
    <p:sldId id="755" r:id="rId33"/>
    <p:sldId id="756" r:id="rId34"/>
    <p:sldId id="757" r:id="rId35"/>
    <p:sldId id="758" r:id="rId36"/>
    <p:sldId id="759" r:id="rId37"/>
    <p:sldId id="760" r:id="rId38"/>
    <p:sldId id="761" r:id="rId39"/>
    <p:sldId id="762" r:id="rId40"/>
    <p:sldId id="731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12" autoAdjust="0"/>
    <p:restoredTop sz="94434" autoAdjust="0"/>
  </p:normalViewPr>
  <p:slideViewPr>
    <p:cSldViewPr>
      <p:cViewPr varScale="1">
        <p:scale>
          <a:sx n="74" d="100"/>
          <a:sy n="74" d="100"/>
        </p:scale>
        <p:origin x="11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0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6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98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56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83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59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91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986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961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199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338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762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531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227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1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661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462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032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35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857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974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39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460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301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3959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7700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505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2219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6259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5596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1051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7374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2263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5928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3983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43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8EB77-1F76-4D93-A3AF-B57CBBC7FB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5E841-A079-495C-8CCA-9C61DB49E5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5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C70C-F5A9-4CB0-8AC0-EE2843D3720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44C3-D1E0-410A-B4B8-4FBDC876A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4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1F871-16F2-47A0-8BF0-9CCA39FC8DF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2D868-6FCE-4FD9-A1FD-ED546B0CB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631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44ED-6318-4974-B656-E96A52FFC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3D5CA-DFD4-4B35-80ED-0EDDCA22AD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79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BA46-1340-4881-8B69-D6AC315D93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0786E-ECEE-44CA-9430-17B91A798A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140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48327-125B-42D3-904F-6F2E679B2B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AB07D-030D-44F5-9E46-2BDEBD18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673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FD5C1-75D3-4C71-9819-583BFED4737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16C5-D16A-457D-9C29-9D16CFACF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80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1D0B-F3E7-4E6D-B86F-A6C1B7FBB5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6B74F-379B-4899-B0BF-92B55A006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8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7724C-24D6-4B7E-A696-D32759A6C3E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ECD9-6EA3-4EE6-A28B-3C30AC180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29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C926-39B7-4770-9822-E6CFBA20A3C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E4FC-72B2-4367-8BB6-FB3A32A82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518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E58D9-392E-4DF5-A540-89826493DAA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1D85F-419F-4C06-93FA-426DFF8C70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905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36873-7A1E-49AC-A12F-89FE9649896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60A0-988F-4E57-B88A-08C90E674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2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441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4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79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87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72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46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78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6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94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656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0A90C-EE50-47D5-84C6-0129908DF5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743FE7-0461-4BA1-9ABB-10B8182D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00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295400"/>
          </a:xfrm>
        </p:spPr>
        <p:txBody>
          <a:bodyPr/>
          <a:lstStyle/>
          <a:p>
            <a:pPr algn="ctr"/>
            <a:r>
              <a:rPr lang="en-US" smtClean="0">
                <a:solidFill>
                  <a:schemeClr val="bg1"/>
                </a:solidFill>
              </a:rPr>
              <a:t>Lecture 5</a:t>
            </a:r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Operators in C++ - II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724400" y="6211669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RECAP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>
                <a:solidFill>
                  <a:srgbClr val="00B0F0"/>
                </a:solidFill>
              </a:rPr>
              <a:t>Stream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>
                <a:solidFill>
                  <a:srgbClr val="00B0F0"/>
                </a:solidFill>
              </a:rPr>
              <a:t>Arithmetic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>
                <a:solidFill>
                  <a:srgbClr val="00B0F0"/>
                </a:solidFill>
              </a:rPr>
              <a:t>Decision Making – Equality and Relational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>
                <a:solidFill>
                  <a:srgbClr val="00B0F0"/>
                </a:solidFill>
              </a:rPr>
              <a:t>Assignment/ Combined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>
                <a:solidFill>
                  <a:srgbClr val="00B0F0"/>
                </a:solidFill>
              </a:rPr>
              <a:t>Unary Operators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Courier New" panose="02070309020205020404" pitchFamily="49" charset="0"/>
              <a:buChar char="o"/>
              <a:defRPr/>
            </a:pPr>
            <a:r>
              <a:rPr lang="en-US" sz="2800" kern="0" dirty="0"/>
              <a:t>Logical </a:t>
            </a:r>
            <a:r>
              <a:rPr lang="en-US" sz="2800" kern="0" dirty="0" smtClean="0"/>
              <a:t>Operators</a:t>
            </a:r>
            <a:endParaRPr lang="en-US" sz="28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Debugging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67099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793396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Arithmetic operators are also called?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What will be the order of evaluation of following expression?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	x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= ( </a:t>
            </a:r>
            <a:r>
              <a:rPr lang="en-US" sz="2800" dirty="0">
                <a:solidFill>
                  <a:srgbClr val="80ADD4"/>
                </a:solidFill>
                <a:latin typeface="Trebuchet MS" panose="020B0603020202020204" pitchFamily="34" charset="0"/>
              </a:rPr>
              <a:t>3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* </a:t>
            </a:r>
            <a:r>
              <a:rPr lang="en-US" sz="2800" dirty="0">
                <a:solidFill>
                  <a:srgbClr val="80ADD4"/>
                </a:solidFill>
                <a:latin typeface="Trebuchet MS" panose="020B0603020202020204" pitchFamily="34" charset="0"/>
              </a:rPr>
              <a:t>9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* ( </a:t>
            </a:r>
            <a:r>
              <a:rPr lang="en-US" sz="2800" dirty="0">
                <a:solidFill>
                  <a:srgbClr val="80ADD4"/>
                </a:solidFill>
                <a:latin typeface="Trebuchet MS" panose="020B0603020202020204" pitchFamily="34" charset="0"/>
              </a:rPr>
              <a:t>3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+ ( </a:t>
            </a:r>
            <a:r>
              <a:rPr lang="en-US" sz="2800" dirty="0">
                <a:solidFill>
                  <a:srgbClr val="80ADD4"/>
                </a:solidFill>
                <a:latin typeface="Trebuchet MS" panose="020B0603020202020204" pitchFamily="34" charset="0"/>
              </a:rPr>
              <a:t>9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* </a:t>
            </a:r>
            <a:r>
              <a:rPr lang="en-US" sz="2800" dirty="0">
                <a:solidFill>
                  <a:srgbClr val="80ADD4"/>
                </a:solidFill>
                <a:latin typeface="Trebuchet MS" panose="020B0603020202020204" pitchFamily="34" charset="0"/>
              </a:rPr>
              <a:t>3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/ ( </a:t>
            </a:r>
            <a:r>
              <a:rPr lang="en-US" sz="2800" dirty="0">
                <a:solidFill>
                  <a:srgbClr val="80ADD4"/>
                </a:solidFill>
                <a:latin typeface="Trebuchet MS" panose="020B0603020202020204" pitchFamily="34" charset="0"/>
              </a:rPr>
              <a:t>3 </a:t>
            </a:r>
            <a:r>
              <a:rPr lang="en-US" sz="2800" dirty="0">
                <a:solidFill>
                  <a:srgbClr val="000000"/>
                </a:solidFill>
                <a:latin typeface="Trebuchet MS" panose="020B0603020202020204" pitchFamily="34" charset="0"/>
              </a:rPr>
              <a:t>) ) ) );</a:t>
            </a:r>
            <a:endParaRPr lang="en-US" sz="2800" dirty="0" smtClean="0"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What are the equality operators?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What are the </a:t>
            </a:r>
            <a:r>
              <a:rPr lang="en-US" sz="3200" dirty="0" smtClean="0"/>
              <a:t>relational operators?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591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793396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Difference between “=” and “==”?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766" y="2566570"/>
            <a:ext cx="521970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6746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793396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Unary Operators?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Write a program to prompt the user to input the integral value of </a:t>
            </a:r>
            <a:r>
              <a:rPr lang="en-US" sz="3200" b="1" dirty="0"/>
              <a:t>a</a:t>
            </a:r>
            <a:r>
              <a:rPr lang="en-US" sz="3200" dirty="0"/>
              <a:t> and print out the result as shown below</a:t>
            </a:r>
            <a:r>
              <a:rPr lang="en-US" sz="3200" dirty="0" smtClean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52837"/>
            <a:ext cx="7912861" cy="289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564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2000"/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161905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Operators in C++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47915"/>
            <a:ext cx="5734050" cy="2409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8672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Operators in C++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noProof="0" dirty="0" smtClean="0">
                <a:solidFill>
                  <a:srgbClr val="00B0F0"/>
                </a:solidFill>
                <a:latin typeface="+mj-lt"/>
              </a:rPr>
              <a:t>Stream 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>
                <a:solidFill>
                  <a:srgbClr val="00B0F0"/>
                </a:solidFill>
                <a:latin typeface="+mj-lt"/>
              </a:rPr>
              <a:t>Arithmetic Operators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>
                <a:solidFill>
                  <a:srgbClr val="00B0F0"/>
                </a:solidFill>
                <a:latin typeface="+mj-lt"/>
              </a:rPr>
              <a:t>Decision Making – Equality and Relational Operators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>
                <a:solidFill>
                  <a:srgbClr val="00B0F0"/>
                </a:solidFill>
                <a:latin typeface="+mj-lt"/>
              </a:rPr>
              <a:t>Assignment/ Combined Operators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>
                <a:solidFill>
                  <a:srgbClr val="00B0F0"/>
                </a:solidFill>
              </a:rPr>
              <a:t>Unary Operators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/>
              <a:t>Logical Operators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endParaRPr lang="en-US" sz="3200" kern="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46828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36468"/>
            <a:ext cx="4465816" cy="2971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717863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Logical </a:t>
            </a:r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Operators</a:t>
            </a:r>
            <a:b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(!, &amp;&amp;, ||)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050" name="Picture 2" descr="Image result for logical operators funn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73" y="3809999"/>
            <a:ext cx="2819400" cy="1624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223706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Logical Operators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>
                <a:solidFill>
                  <a:srgbClr val="000000"/>
                </a:solidFill>
              </a:rPr>
              <a:t>So far we’ve studied only </a:t>
            </a:r>
            <a:r>
              <a:rPr lang="en-US" sz="3600" dirty="0">
                <a:solidFill>
                  <a:srgbClr val="0269AF"/>
                </a:solidFill>
              </a:rPr>
              <a:t>simple conditions</a:t>
            </a:r>
            <a:r>
              <a:rPr lang="en-US" sz="3600" dirty="0">
                <a:solidFill>
                  <a:srgbClr val="000000"/>
                </a:solidFill>
              </a:rPr>
              <a:t>, such </a:t>
            </a:r>
            <a:r>
              <a:rPr lang="en-US" sz="3600" dirty="0" smtClean="0">
                <a:solidFill>
                  <a:srgbClr val="000000"/>
                </a:solidFill>
              </a:rPr>
              <a:t>as: </a:t>
            </a:r>
          </a:p>
          <a:p>
            <a:r>
              <a:rPr lang="en-US" sz="3600" dirty="0">
                <a:solidFill>
                  <a:srgbClr val="000000"/>
                </a:solidFill>
              </a:rPr>
              <a:t>	</a:t>
            </a:r>
            <a:r>
              <a:rPr lang="en-US" sz="3600" dirty="0" smtClean="0">
                <a:solidFill>
                  <a:srgbClr val="000000"/>
                </a:solidFill>
              </a:rPr>
              <a:t>counter </a:t>
            </a:r>
            <a:r>
              <a:rPr lang="en-US" sz="4400" b="1" dirty="0">
                <a:solidFill>
                  <a:srgbClr val="C00000"/>
                </a:solidFill>
              </a:rPr>
              <a:t>&lt;=</a:t>
            </a:r>
            <a:r>
              <a:rPr lang="en-US" sz="3600" dirty="0">
                <a:solidFill>
                  <a:srgbClr val="000000"/>
                </a:solidFill>
              </a:rPr>
              <a:t> </a:t>
            </a:r>
            <a:r>
              <a:rPr lang="en-US" sz="3600" dirty="0" smtClean="0">
                <a:solidFill>
                  <a:srgbClr val="000000"/>
                </a:solidFill>
              </a:rPr>
              <a:t>10</a:t>
            </a:r>
          </a:p>
          <a:p>
            <a:r>
              <a:rPr lang="en-US" sz="3600" dirty="0">
                <a:solidFill>
                  <a:srgbClr val="000000"/>
                </a:solidFill>
              </a:rPr>
              <a:t>	</a:t>
            </a:r>
            <a:r>
              <a:rPr lang="en-US" sz="3600" dirty="0" smtClean="0">
                <a:solidFill>
                  <a:srgbClr val="000000"/>
                </a:solidFill>
              </a:rPr>
              <a:t>total </a:t>
            </a:r>
            <a:r>
              <a:rPr lang="en-US" sz="4400" b="1" dirty="0">
                <a:solidFill>
                  <a:srgbClr val="C00000"/>
                </a:solidFill>
              </a:rPr>
              <a:t>&gt;</a:t>
            </a:r>
            <a:r>
              <a:rPr lang="en-US" sz="3600" dirty="0">
                <a:solidFill>
                  <a:srgbClr val="000000"/>
                </a:solidFill>
              </a:rPr>
              <a:t> 1000 </a:t>
            </a:r>
            <a:endParaRPr lang="en-US" sz="3600" dirty="0" smtClean="0">
              <a:solidFill>
                <a:srgbClr val="000000"/>
              </a:solidFill>
            </a:endParaRPr>
          </a:p>
          <a:p>
            <a:r>
              <a:rPr lang="en-US" sz="3600" dirty="0">
                <a:solidFill>
                  <a:srgbClr val="000000"/>
                </a:solidFill>
              </a:rPr>
              <a:t>	</a:t>
            </a:r>
            <a:r>
              <a:rPr lang="en-US" sz="3600" dirty="0" smtClean="0">
                <a:solidFill>
                  <a:srgbClr val="000000"/>
                </a:solidFill>
              </a:rPr>
              <a:t>number </a:t>
            </a:r>
            <a:r>
              <a:rPr lang="en-US" sz="4400" b="1" dirty="0" smtClean="0">
                <a:solidFill>
                  <a:srgbClr val="C00000"/>
                </a:solidFill>
              </a:rPr>
              <a:t>!=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</a:rPr>
              <a:t>someValue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</a:p>
          <a:p>
            <a:endParaRPr lang="en-US" sz="3600" dirty="0" smtClean="0">
              <a:solidFill>
                <a:srgbClr val="000000"/>
              </a:solidFill>
            </a:endParaRPr>
          </a:p>
          <a:p>
            <a:r>
              <a:rPr lang="en-US" sz="3600" dirty="0" smtClean="0">
                <a:solidFill>
                  <a:srgbClr val="000000"/>
                </a:solidFill>
              </a:rPr>
              <a:t>We </a:t>
            </a:r>
            <a:r>
              <a:rPr lang="en-US" sz="3600" dirty="0">
                <a:solidFill>
                  <a:srgbClr val="000000"/>
                </a:solidFill>
              </a:rPr>
              <a:t>expressed these conditions in terms of the </a:t>
            </a:r>
            <a:r>
              <a:rPr lang="en-US" sz="3600" b="1" i="1" dirty="0">
                <a:solidFill>
                  <a:srgbClr val="000000"/>
                </a:solidFill>
              </a:rPr>
              <a:t>relational operators</a:t>
            </a:r>
            <a:r>
              <a:rPr lang="en-US" sz="3600" dirty="0">
                <a:solidFill>
                  <a:srgbClr val="000000"/>
                </a:solidFill>
              </a:rPr>
              <a:t>.</a:t>
            </a: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0098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Logical Operators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600" dirty="0" smtClean="0">
                <a:solidFill>
                  <a:srgbClr val="000000"/>
                </a:solidFill>
              </a:rPr>
              <a:t>C++ provides </a:t>
            </a:r>
            <a:r>
              <a:rPr lang="en-US" sz="3600" b="1" dirty="0" smtClean="0">
                <a:solidFill>
                  <a:srgbClr val="0269AF"/>
                </a:solidFill>
              </a:rPr>
              <a:t>logical operators </a:t>
            </a:r>
            <a:r>
              <a:rPr lang="en-US" sz="3600" dirty="0" smtClean="0">
                <a:solidFill>
                  <a:srgbClr val="000000"/>
                </a:solidFill>
              </a:rPr>
              <a:t>that are used to form </a:t>
            </a:r>
            <a:r>
              <a:rPr lang="en-US" sz="3600" b="1" dirty="0" smtClean="0">
                <a:solidFill>
                  <a:srgbClr val="C00000"/>
                </a:solidFill>
              </a:rPr>
              <a:t>more complex conditions </a:t>
            </a:r>
            <a:r>
              <a:rPr lang="en-US" sz="3600" dirty="0" smtClean="0">
                <a:solidFill>
                  <a:srgbClr val="000000"/>
                </a:solidFill>
              </a:rPr>
              <a:t>by </a:t>
            </a:r>
            <a:r>
              <a:rPr lang="en-US" sz="3600" b="1" dirty="0" smtClean="0">
                <a:solidFill>
                  <a:srgbClr val="00B050"/>
                </a:solidFill>
              </a:rPr>
              <a:t>combining simple conditions</a:t>
            </a:r>
            <a:r>
              <a:rPr lang="en-US" sz="3600" dirty="0" smtClean="0">
                <a:solidFill>
                  <a:srgbClr val="000000"/>
                </a:solidFill>
              </a:rPr>
              <a:t>. </a:t>
            </a:r>
          </a:p>
          <a:p>
            <a:endParaRPr lang="en-US" sz="3600" dirty="0" smtClean="0">
              <a:solidFill>
                <a:srgbClr val="000000"/>
              </a:solidFill>
            </a:endParaRPr>
          </a:p>
          <a:p>
            <a:r>
              <a:rPr lang="en-US" sz="3600" dirty="0" smtClean="0">
                <a:solidFill>
                  <a:srgbClr val="000000"/>
                </a:solidFill>
              </a:rPr>
              <a:t>The </a:t>
            </a:r>
            <a:r>
              <a:rPr lang="en-US" sz="3600" dirty="0">
                <a:solidFill>
                  <a:srgbClr val="000000"/>
                </a:solidFill>
              </a:rPr>
              <a:t>logical operators </a:t>
            </a:r>
            <a:r>
              <a:rPr lang="en-US" sz="3600" dirty="0" smtClean="0">
                <a:solidFill>
                  <a:srgbClr val="000000"/>
                </a:solidFill>
              </a:rPr>
              <a:t>are: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rgbClr val="000000"/>
                </a:solidFill>
              </a:rPr>
              <a:t>&amp;&amp;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  <a:r>
              <a:rPr lang="en-US" sz="3600" dirty="0">
                <a:solidFill>
                  <a:srgbClr val="000000"/>
                </a:solidFill>
              </a:rPr>
              <a:t>(logical AND</a:t>
            </a:r>
            <a:r>
              <a:rPr lang="en-US" sz="3600" dirty="0" smtClean="0">
                <a:solidFill>
                  <a:srgbClr val="000000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rgbClr val="000000"/>
                </a:solidFill>
              </a:rPr>
              <a:t>||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  <a:r>
              <a:rPr lang="en-US" sz="3600" dirty="0">
                <a:solidFill>
                  <a:srgbClr val="000000"/>
                </a:solidFill>
              </a:rPr>
              <a:t>(logical OR)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rgbClr val="000000"/>
                </a:solidFill>
              </a:rPr>
              <a:t>!</a:t>
            </a:r>
            <a:r>
              <a:rPr lang="en-US" sz="3600" dirty="0" smtClean="0">
                <a:solidFill>
                  <a:srgbClr val="000000"/>
                </a:solidFill>
              </a:rPr>
              <a:t> </a:t>
            </a:r>
            <a:r>
              <a:rPr lang="en-US" sz="3600" dirty="0">
                <a:solidFill>
                  <a:srgbClr val="000000"/>
                </a:solidFill>
              </a:rPr>
              <a:t>(logical </a:t>
            </a:r>
            <a:r>
              <a:rPr lang="en-US" sz="3600" dirty="0" smtClean="0">
                <a:solidFill>
                  <a:srgbClr val="000000"/>
                </a:solidFill>
              </a:rPr>
              <a:t>NOT, </a:t>
            </a:r>
            <a:r>
              <a:rPr lang="en-US" sz="3600" dirty="0">
                <a:solidFill>
                  <a:srgbClr val="000000"/>
                </a:solidFill>
              </a:rPr>
              <a:t>also called logical negation</a:t>
            </a:r>
            <a:r>
              <a:rPr lang="en-US" sz="3600" dirty="0" smtClean="0">
                <a:solidFill>
                  <a:srgbClr val="000000"/>
                </a:solidFill>
              </a:rPr>
              <a:t>)</a:t>
            </a:r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819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&amp;&amp;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AND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>
                <a:solidFill>
                  <a:srgbClr val="000000"/>
                </a:solidFill>
              </a:rPr>
              <a:t>Creates a </a:t>
            </a:r>
            <a:r>
              <a:rPr lang="en-US" sz="3200" u="sng" dirty="0" smtClean="0">
                <a:solidFill>
                  <a:srgbClr val="000000"/>
                </a:solidFill>
              </a:rPr>
              <a:t>Compound/Composite Condition</a:t>
            </a:r>
            <a:r>
              <a:rPr lang="en-US" sz="3200" dirty="0" smtClean="0">
                <a:solidFill>
                  <a:srgbClr val="000000"/>
                </a:solidFill>
              </a:rPr>
              <a:t> </a:t>
            </a:r>
          </a:p>
          <a:p>
            <a:pPr algn="ctr"/>
            <a:r>
              <a:rPr lang="en-US" sz="3200" dirty="0" smtClean="0">
                <a:solidFill>
                  <a:srgbClr val="000000"/>
                </a:solidFill>
              </a:rPr>
              <a:t>(condition1 </a:t>
            </a:r>
            <a:r>
              <a:rPr lang="en-US" sz="3200" b="1" dirty="0" smtClean="0">
                <a:solidFill>
                  <a:srgbClr val="FF0000"/>
                </a:solidFill>
              </a:rPr>
              <a:t>&amp;&amp;</a:t>
            </a:r>
            <a:r>
              <a:rPr lang="en-US" sz="3200" dirty="0" smtClean="0">
                <a:solidFill>
                  <a:srgbClr val="000000"/>
                </a:solidFill>
              </a:rPr>
              <a:t> condition2)</a:t>
            </a:r>
          </a:p>
          <a:p>
            <a:pPr algn="just"/>
            <a:endParaRPr lang="en-US" sz="3200" u="sng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38477"/>
            <a:ext cx="2413715" cy="18440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877252"/>
            <a:ext cx="3581400" cy="1365634"/>
          </a:xfrm>
          <a:prstGeom prst="rect">
            <a:avLst/>
          </a:prstGeom>
        </p:spPr>
      </p:pic>
      <p:pic>
        <p:nvPicPr>
          <p:cNvPr id="10" name="Picture 2" descr="Image result for logical operators funn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645" y="2799695"/>
            <a:ext cx="2819400" cy="16247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31659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&amp;&amp;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AND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en-US" sz="3200" dirty="0"/>
              <a:t>(age &gt;= 21)  &amp;&amp;  (age &lt;= 60)</a:t>
            </a:r>
          </a:p>
          <a:p>
            <a:pPr algn="just"/>
            <a:endParaRPr lang="en-US" sz="3200" u="sng" dirty="0" smtClean="0">
              <a:solidFill>
                <a:srgbClr val="000000"/>
              </a:solidFill>
            </a:endParaRPr>
          </a:p>
          <a:p>
            <a:pPr algn="just"/>
            <a:r>
              <a:rPr lang="en-US" sz="3600" dirty="0" smtClean="0">
                <a:solidFill>
                  <a:srgbClr val="000000"/>
                </a:solidFill>
              </a:rPr>
              <a:t>Truth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3124200"/>
            <a:ext cx="8204200" cy="30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234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&amp;&amp;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AND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prstClr val="black"/>
                </a:solidFill>
              </a:rPr>
              <a:t>…the </a:t>
            </a:r>
            <a:r>
              <a:rPr lang="en-US" sz="3600" dirty="0">
                <a:solidFill>
                  <a:prstClr val="black"/>
                </a:solidFill>
              </a:rPr>
              <a:t>age is between 1 and 70 (inclusive</a:t>
            </a:r>
            <a:r>
              <a:rPr lang="en-US" sz="3600" dirty="0" smtClean="0">
                <a:solidFill>
                  <a:prstClr val="black"/>
                </a:solidFill>
              </a:rPr>
              <a:t>)…</a:t>
            </a:r>
          </a:p>
          <a:p>
            <a:endParaRPr lang="en-US" sz="3600" dirty="0">
              <a:solidFill>
                <a:prstClr val="black"/>
              </a:solidFill>
            </a:endParaRPr>
          </a:p>
          <a:p>
            <a:r>
              <a:rPr lang="en-US" sz="3600" dirty="0" smtClean="0">
                <a:solidFill>
                  <a:prstClr val="black"/>
                </a:solidFill>
              </a:rPr>
              <a:t>In case of a </a:t>
            </a:r>
            <a:r>
              <a:rPr lang="en-US" sz="3600" dirty="0">
                <a:solidFill>
                  <a:prstClr val="black"/>
                </a:solidFill>
              </a:rPr>
              <a:t>nested IF condition</a:t>
            </a:r>
          </a:p>
          <a:p>
            <a:pPr lvl="1"/>
            <a:r>
              <a:rPr lang="en-US" sz="3600" dirty="0" smtClean="0">
                <a:solidFill>
                  <a:prstClr val="black"/>
                </a:solidFill>
              </a:rPr>
              <a:t>IF </a:t>
            </a:r>
            <a:r>
              <a:rPr lang="en-US" sz="3600" dirty="0">
                <a:solidFill>
                  <a:prstClr val="black"/>
                </a:solidFill>
              </a:rPr>
              <a:t>age &gt;= 1 then</a:t>
            </a:r>
          </a:p>
          <a:p>
            <a:pPr lvl="2"/>
            <a:r>
              <a:rPr lang="en-US" sz="3600" dirty="0" smtClean="0">
                <a:solidFill>
                  <a:prstClr val="black"/>
                </a:solidFill>
              </a:rPr>
              <a:t>IF </a:t>
            </a:r>
            <a:r>
              <a:rPr lang="en-US" sz="3600" dirty="0">
                <a:solidFill>
                  <a:prstClr val="black"/>
                </a:solidFill>
              </a:rPr>
              <a:t>age &lt;= 70 then</a:t>
            </a:r>
          </a:p>
          <a:p>
            <a:pPr lvl="3"/>
            <a:r>
              <a:rPr lang="en-US" sz="3600" i="1" dirty="0">
                <a:solidFill>
                  <a:prstClr val="black"/>
                </a:solidFill>
              </a:rPr>
              <a:t>perform operations</a:t>
            </a:r>
          </a:p>
          <a:p>
            <a:pPr lvl="2"/>
            <a:r>
              <a:rPr lang="en-US" sz="3600" dirty="0">
                <a:solidFill>
                  <a:prstClr val="black"/>
                </a:solidFill>
              </a:rPr>
              <a:t>ENDIF</a:t>
            </a:r>
          </a:p>
          <a:p>
            <a:pPr lvl="1"/>
            <a:r>
              <a:rPr lang="en-US" sz="3600" dirty="0">
                <a:solidFill>
                  <a:prstClr val="black"/>
                </a:solidFill>
              </a:rPr>
              <a:t>ENDIF</a:t>
            </a:r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8753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&amp;&amp;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AND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670445"/>
            <a:ext cx="818197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187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|| – Logical OR –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>
                <a:solidFill>
                  <a:srgbClr val="000000"/>
                </a:solidFill>
              </a:rPr>
              <a:t>Executes if one or both conditions are true</a:t>
            </a:r>
          </a:p>
          <a:p>
            <a:pPr algn="ctr"/>
            <a:r>
              <a:rPr lang="en-US" sz="3200" dirty="0" smtClean="0">
                <a:solidFill>
                  <a:srgbClr val="000000"/>
                </a:solidFill>
              </a:rPr>
              <a:t>(condition1 </a:t>
            </a:r>
            <a:r>
              <a:rPr lang="en-US" sz="3200" b="1" dirty="0" smtClean="0">
                <a:solidFill>
                  <a:srgbClr val="FF0000"/>
                </a:solidFill>
              </a:rPr>
              <a:t>||</a:t>
            </a:r>
            <a:r>
              <a:rPr lang="en-US" sz="3200" dirty="0" smtClean="0">
                <a:solidFill>
                  <a:srgbClr val="000000"/>
                </a:solidFill>
              </a:rPr>
              <a:t> condition2)</a:t>
            </a:r>
          </a:p>
          <a:p>
            <a:pPr algn="just"/>
            <a:endParaRPr lang="en-US" sz="3200" u="sng" dirty="0" smtClean="0">
              <a:solidFill>
                <a:srgbClr val="000000"/>
              </a:solidFill>
            </a:endParaRPr>
          </a:p>
          <a:p>
            <a:pPr algn="just"/>
            <a:r>
              <a:rPr lang="en-US" sz="3600" dirty="0" smtClean="0">
                <a:solidFill>
                  <a:srgbClr val="000000"/>
                </a:solidFill>
              </a:rPr>
              <a:t>Truth table</a:t>
            </a: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8522200" cy="31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720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||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OR –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3200" dirty="0" smtClean="0">
                <a:solidFill>
                  <a:prstClr val="black"/>
                </a:solidFill>
              </a:rPr>
              <a:t>…if </a:t>
            </a:r>
            <a:r>
              <a:rPr lang="en-US" sz="3200" dirty="0">
                <a:solidFill>
                  <a:prstClr val="black"/>
                </a:solidFill>
              </a:rPr>
              <a:t>age is </a:t>
            </a:r>
            <a:r>
              <a:rPr lang="en-US" sz="3200" dirty="0" smtClean="0">
                <a:solidFill>
                  <a:prstClr val="black"/>
                </a:solidFill>
              </a:rPr>
              <a:t>15, 31, </a:t>
            </a:r>
            <a:r>
              <a:rPr lang="en-US" sz="3200" dirty="0">
                <a:solidFill>
                  <a:prstClr val="black"/>
                </a:solidFill>
              </a:rPr>
              <a:t>or 45 </a:t>
            </a:r>
            <a:r>
              <a:rPr lang="en-US" sz="3200" dirty="0" smtClean="0">
                <a:solidFill>
                  <a:prstClr val="black"/>
                </a:solidFill>
              </a:rPr>
              <a:t>then give </a:t>
            </a:r>
            <a:r>
              <a:rPr lang="en-US" sz="3200" dirty="0">
                <a:solidFill>
                  <a:prstClr val="black"/>
                </a:solidFill>
              </a:rPr>
              <a:t>10% </a:t>
            </a:r>
            <a:r>
              <a:rPr lang="en-US" sz="3200" dirty="0" smtClean="0">
                <a:solidFill>
                  <a:prstClr val="black"/>
                </a:solidFill>
              </a:rPr>
              <a:t>discount…</a:t>
            </a:r>
          </a:p>
          <a:p>
            <a:pPr algn="just"/>
            <a:endParaRPr lang="en-US" sz="3200" u="sng" dirty="0">
              <a:solidFill>
                <a:srgbClr val="000000"/>
              </a:solidFill>
            </a:endParaRPr>
          </a:p>
          <a:p>
            <a:r>
              <a:rPr lang="en-US" sz="3600" dirty="0" smtClean="0">
                <a:solidFill>
                  <a:prstClr val="black"/>
                </a:solidFill>
              </a:rPr>
              <a:t>In </a:t>
            </a:r>
            <a:r>
              <a:rPr lang="en-US" sz="3600" dirty="0">
                <a:solidFill>
                  <a:prstClr val="black"/>
                </a:solidFill>
              </a:rPr>
              <a:t>case of </a:t>
            </a:r>
            <a:r>
              <a:rPr lang="en-US" sz="3600" dirty="0" smtClean="0">
                <a:solidFill>
                  <a:prstClr val="black"/>
                </a:solidFill>
              </a:rPr>
              <a:t>an IF </a:t>
            </a:r>
            <a:r>
              <a:rPr lang="en-US" sz="3600" dirty="0">
                <a:solidFill>
                  <a:prstClr val="black"/>
                </a:solidFill>
              </a:rPr>
              <a:t>condition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IF age </a:t>
            </a:r>
            <a:r>
              <a:rPr lang="en-US" sz="3200" dirty="0" smtClean="0">
                <a:solidFill>
                  <a:prstClr val="black"/>
                </a:solidFill>
              </a:rPr>
              <a:t>== 15 then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	</a:t>
            </a:r>
            <a:r>
              <a:rPr lang="en-US" sz="3200" dirty="0" smtClean="0">
                <a:solidFill>
                  <a:prstClr val="black"/>
                </a:solidFill>
              </a:rPr>
              <a:t>give discount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ENDIF</a:t>
            </a:r>
          </a:p>
          <a:p>
            <a:pPr lvl="1"/>
            <a:r>
              <a:rPr lang="en-US" sz="3200" dirty="0" smtClean="0">
                <a:solidFill>
                  <a:prstClr val="black"/>
                </a:solidFill>
              </a:rPr>
              <a:t>IF </a:t>
            </a:r>
            <a:r>
              <a:rPr lang="en-US" sz="3200" dirty="0">
                <a:solidFill>
                  <a:prstClr val="black"/>
                </a:solidFill>
              </a:rPr>
              <a:t>age </a:t>
            </a:r>
            <a:r>
              <a:rPr lang="en-US" sz="3200" dirty="0" smtClean="0">
                <a:solidFill>
                  <a:prstClr val="black"/>
                </a:solidFill>
              </a:rPr>
              <a:t>== 31 then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	give </a:t>
            </a:r>
            <a:r>
              <a:rPr lang="en-US" sz="3200" dirty="0" smtClean="0">
                <a:solidFill>
                  <a:prstClr val="black"/>
                </a:solidFill>
              </a:rPr>
              <a:t>discount</a:t>
            </a:r>
          </a:p>
          <a:p>
            <a:pPr lvl="1"/>
            <a:r>
              <a:rPr lang="en-US" sz="3200" dirty="0" smtClean="0">
                <a:solidFill>
                  <a:prstClr val="black"/>
                </a:solidFill>
              </a:rPr>
              <a:t>ENDIF</a:t>
            </a:r>
          </a:p>
          <a:p>
            <a:pPr lvl="1"/>
            <a:endParaRPr lang="en-US" sz="3200" dirty="0" smtClean="0">
              <a:solidFill>
                <a:prstClr val="black"/>
              </a:solidFill>
            </a:endParaRPr>
          </a:p>
          <a:p>
            <a:pPr lvl="1"/>
            <a:endParaRPr lang="en-US" sz="3200" dirty="0">
              <a:solidFill>
                <a:prstClr val="black"/>
              </a:solidFill>
            </a:endParaRP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1265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||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OR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3200" dirty="0" smtClean="0">
                <a:solidFill>
                  <a:prstClr val="black"/>
                </a:solidFill>
              </a:rPr>
              <a:t>…if </a:t>
            </a:r>
            <a:r>
              <a:rPr lang="en-US" sz="3200" dirty="0">
                <a:solidFill>
                  <a:prstClr val="black"/>
                </a:solidFill>
              </a:rPr>
              <a:t>age </a:t>
            </a:r>
            <a:r>
              <a:rPr lang="en-US" sz="3200">
                <a:solidFill>
                  <a:prstClr val="black"/>
                </a:solidFill>
              </a:rPr>
              <a:t>is </a:t>
            </a:r>
            <a:r>
              <a:rPr lang="en-US" sz="3200" smtClean="0">
                <a:solidFill>
                  <a:prstClr val="black"/>
                </a:solidFill>
              </a:rPr>
              <a:t>15, 31, </a:t>
            </a:r>
            <a:r>
              <a:rPr lang="en-US" sz="3200" dirty="0">
                <a:solidFill>
                  <a:prstClr val="black"/>
                </a:solidFill>
              </a:rPr>
              <a:t>or 45 </a:t>
            </a:r>
            <a:r>
              <a:rPr lang="en-US" sz="3200" dirty="0" smtClean="0">
                <a:solidFill>
                  <a:prstClr val="black"/>
                </a:solidFill>
              </a:rPr>
              <a:t>then give </a:t>
            </a:r>
            <a:r>
              <a:rPr lang="en-US" sz="3200" dirty="0">
                <a:solidFill>
                  <a:prstClr val="black"/>
                </a:solidFill>
              </a:rPr>
              <a:t>10% </a:t>
            </a:r>
            <a:r>
              <a:rPr lang="en-US" sz="3200" dirty="0" smtClean="0">
                <a:solidFill>
                  <a:prstClr val="black"/>
                </a:solidFill>
              </a:rPr>
              <a:t>discount…</a:t>
            </a:r>
          </a:p>
          <a:p>
            <a:pPr algn="just"/>
            <a:endParaRPr lang="en-US" sz="3200" u="sng" dirty="0">
              <a:solidFill>
                <a:srgbClr val="000000"/>
              </a:solidFill>
            </a:endParaRPr>
          </a:p>
          <a:p>
            <a:r>
              <a:rPr lang="en-US" sz="3600" dirty="0" smtClean="0">
                <a:solidFill>
                  <a:prstClr val="black"/>
                </a:solidFill>
              </a:rPr>
              <a:t>In </a:t>
            </a:r>
            <a:r>
              <a:rPr lang="en-US" sz="3600" dirty="0">
                <a:solidFill>
                  <a:prstClr val="black"/>
                </a:solidFill>
              </a:rPr>
              <a:t>case of </a:t>
            </a:r>
            <a:r>
              <a:rPr lang="en-US" sz="3600" dirty="0" smtClean="0">
                <a:solidFill>
                  <a:prstClr val="black"/>
                </a:solidFill>
              </a:rPr>
              <a:t>an IF </a:t>
            </a:r>
            <a:r>
              <a:rPr lang="en-US" sz="3600" dirty="0">
                <a:solidFill>
                  <a:prstClr val="black"/>
                </a:solidFill>
              </a:rPr>
              <a:t>condition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IF age == 45 then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	give discount</a:t>
            </a:r>
          </a:p>
          <a:p>
            <a:pPr lvl="1"/>
            <a:r>
              <a:rPr lang="en-US" sz="3200" dirty="0">
                <a:solidFill>
                  <a:prstClr val="black"/>
                </a:solidFill>
              </a:rPr>
              <a:t>ENDIF</a:t>
            </a:r>
          </a:p>
          <a:p>
            <a:pPr lvl="1"/>
            <a:endParaRPr lang="en-US" sz="3200" dirty="0" smtClean="0">
              <a:solidFill>
                <a:prstClr val="black"/>
              </a:solidFill>
            </a:endParaRPr>
          </a:p>
          <a:p>
            <a:pPr lvl="1"/>
            <a:endParaRPr lang="en-US" sz="3200" dirty="0">
              <a:solidFill>
                <a:prstClr val="black"/>
              </a:solidFill>
            </a:endParaRP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7547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||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 Logical OR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–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n-US" sz="3200" dirty="0" smtClean="0">
                <a:solidFill>
                  <a:prstClr val="black"/>
                </a:solidFill>
              </a:rPr>
              <a:t>…if </a:t>
            </a:r>
            <a:r>
              <a:rPr lang="en-US" sz="3200" dirty="0">
                <a:solidFill>
                  <a:prstClr val="black"/>
                </a:solidFill>
              </a:rPr>
              <a:t>age </a:t>
            </a:r>
            <a:r>
              <a:rPr lang="en-US" sz="3200">
                <a:solidFill>
                  <a:prstClr val="black"/>
                </a:solidFill>
              </a:rPr>
              <a:t>is </a:t>
            </a:r>
            <a:r>
              <a:rPr lang="en-US" sz="3200" smtClean="0">
                <a:solidFill>
                  <a:prstClr val="black"/>
                </a:solidFill>
              </a:rPr>
              <a:t>15, 31, </a:t>
            </a:r>
            <a:r>
              <a:rPr lang="en-US" sz="3200" dirty="0">
                <a:solidFill>
                  <a:prstClr val="black"/>
                </a:solidFill>
              </a:rPr>
              <a:t>or 45 </a:t>
            </a:r>
            <a:r>
              <a:rPr lang="en-US" sz="3200" dirty="0" smtClean="0">
                <a:solidFill>
                  <a:prstClr val="black"/>
                </a:solidFill>
              </a:rPr>
              <a:t>then give </a:t>
            </a:r>
            <a:r>
              <a:rPr lang="en-US" sz="3200" dirty="0">
                <a:solidFill>
                  <a:prstClr val="black"/>
                </a:solidFill>
              </a:rPr>
              <a:t>10% </a:t>
            </a:r>
            <a:r>
              <a:rPr lang="en-US" sz="3200" dirty="0" smtClean="0">
                <a:solidFill>
                  <a:prstClr val="black"/>
                </a:solidFill>
              </a:rPr>
              <a:t>discount…</a:t>
            </a:r>
          </a:p>
          <a:p>
            <a:pPr algn="just"/>
            <a:endParaRPr lang="en-US" sz="3200" u="sng" dirty="0">
              <a:solidFill>
                <a:srgbClr val="000000"/>
              </a:solidFill>
            </a:endParaRPr>
          </a:p>
          <a:p>
            <a:pPr lvl="1"/>
            <a:endParaRPr lang="en-US" sz="3200" dirty="0" smtClean="0">
              <a:solidFill>
                <a:prstClr val="black"/>
              </a:solidFill>
            </a:endParaRPr>
          </a:p>
          <a:p>
            <a:pPr lvl="1"/>
            <a:endParaRPr lang="en-US" sz="3200" dirty="0">
              <a:solidFill>
                <a:prstClr val="black"/>
              </a:solidFill>
            </a:endParaRP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" y="2286000"/>
            <a:ext cx="90011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716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! – Logical NOT (logical negation)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>
                <a:solidFill>
                  <a:srgbClr val="000000"/>
                </a:solidFill>
              </a:rPr>
              <a:t>Used to reverse a condition’s meaning</a:t>
            </a:r>
          </a:p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!</a:t>
            </a:r>
            <a:r>
              <a:rPr lang="en-US" sz="3200" dirty="0" smtClean="0">
                <a:solidFill>
                  <a:srgbClr val="000000"/>
                </a:solidFill>
              </a:rPr>
              <a:t>(condition)</a:t>
            </a:r>
          </a:p>
          <a:p>
            <a:pPr algn="just"/>
            <a:endParaRPr lang="en-US" sz="3200" u="sng" dirty="0" smtClean="0">
              <a:solidFill>
                <a:srgbClr val="000000"/>
              </a:solidFill>
            </a:endParaRPr>
          </a:p>
          <a:p>
            <a:pPr algn="just"/>
            <a:r>
              <a:rPr lang="en-US" sz="3600" dirty="0" smtClean="0">
                <a:solidFill>
                  <a:srgbClr val="000000"/>
                </a:solidFill>
              </a:rPr>
              <a:t>Truth table</a:t>
            </a: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733800"/>
            <a:ext cx="4648200" cy="23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341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! – Logical NOT – Example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0" y="1364159"/>
            <a:ext cx="91440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>
                <a:solidFill>
                  <a:prstClr val="black"/>
                </a:solidFill>
              </a:rPr>
              <a:t>…if </a:t>
            </a:r>
            <a:r>
              <a:rPr lang="en-US" sz="3200" dirty="0">
                <a:solidFill>
                  <a:prstClr val="black"/>
                </a:solidFill>
              </a:rPr>
              <a:t>age is </a:t>
            </a:r>
            <a:r>
              <a:rPr lang="en-US" sz="3200" dirty="0" smtClean="0">
                <a:solidFill>
                  <a:prstClr val="black"/>
                </a:solidFill>
              </a:rPr>
              <a:t>NOT more than 30 </a:t>
            </a:r>
            <a:r>
              <a:rPr lang="en-US" sz="3200" dirty="0">
                <a:solidFill>
                  <a:prstClr val="black"/>
                </a:solidFill>
              </a:rPr>
              <a:t>then give </a:t>
            </a:r>
            <a:r>
              <a:rPr lang="en-US" sz="3200" dirty="0" smtClean="0">
                <a:solidFill>
                  <a:prstClr val="black"/>
                </a:solidFill>
              </a:rPr>
              <a:t>5% discount…</a:t>
            </a:r>
          </a:p>
          <a:p>
            <a:endParaRPr lang="en-US" sz="3200" u="sng" dirty="0">
              <a:solidFill>
                <a:srgbClr val="000000"/>
              </a:solidFill>
            </a:endParaRPr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if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(!(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age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FF8000"/>
                </a:solidFill>
                <a:latin typeface="Courier New" panose="02070309020205020404" pitchFamily="49" charset="0"/>
              </a:rPr>
              <a:t>30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))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give 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discount </a:t>
            </a:r>
            <a:endParaRPr lang="en-US" sz="3200" dirty="0">
              <a:solidFill>
                <a:prstClr val="black"/>
              </a:solidFill>
            </a:endParaRPr>
          </a:p>
          <a:p>
            <a:endParaRPr lang="en-US" sz="3200" dirty="0">
              <a:solidFill>
                <a:srgbClr val="000000"/>
              </a:solidFill>
            </a:endParaRPr>
          </a:p>
          <a:p>
            <a:r>
              <a:rPr lang="en-US" sz="3200" dirty="0" smtClean="0">
                <a:solidFill>
                  <a:srgbClr val="000000"/>
                </a:solidFill>
              </a:rPr>
              <a:t>…if day is not Saturday or Sunday, trigger alarm…</a:t>
            </a:r>
          </a:p>
          <a:p>
            <a:endParaRPr lang="en-US" sz="3200" dirty="0" smtClean="0">
              <a:solidFill>
                <a:srgbClr val="000000"/>
              </a:solidFill>
            </a:endParaRPr>
          </a:p>
          <a:p>
            <a:pPr algn="ctr"/>
            <a:r>
              <a:rPr lang="en-US" sz="26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0080"/>
                </a:solidFill>
                <a:latin typeface="Courier New" panose="02070309020205020404" pitchFamily="49" charset="0"/>
              </a:rPr>
              <a:t>(!(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day </a:t>
            </a:r>
            <a:r>
              <a:rPr lang="en-US" sz="26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808080"/>
                </a:solidFill>
                <a:latin typeface="Courier New" panose="02070309020205020404" pitchFamily="49" charset="0"/>
              </a:rPr>
              <a:t>"Saturday"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day </a:t>
            </a:r>
            <a:r>
              <a:rPr lang="en-US" sz="26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808080"/>
                </a:solidFill>
                <a:latin typeface="Courier New" panose="02070309020205020404" pitchFamily="49" charset="0"/>
              </a:rPr>
              <a:t>"Sunday"</a:t>
            </a:r>
            <a:r>
              <a:rPr lang="en-US" sz="2600" b="1" dirty="0">
                <a:solidFill>
                  <a:srgbClr val="000080"/>
                </a:solidFill>
                <a:latin typeface="Courier New" panose="02070309020205020404" pitchFamily="49" charset="0"/>
              </a:rPr>
              <a:t>))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trigger 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alarm</a:t>
            </a:r>
            <a:endParaRPr lang="en-US" sz="2600" dirty="0">
              <a:solidFill>
                <a:prstClr val="black"/>
              </a:solidFill>
            </a:endParaRPr>
          </a:p>
          <a:p>
            <a:endParaRPr lang="en-US" sz="3200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5867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0" y="1364159"/>
            <a:ext cx="72390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>
                <a:solidFill>
                  <a:prstClr val="black"/>
                </a:solidFill>
              </a:rPr>
              <a:t>Evaluate the following expressions:</a:t>
            </a:r>
          </a:p>
          <a:p>
            <a:endParaRPr lang="en-US" sz="3200" dirty="0" smtClean="0">
              <a:solidFill>
                <a:prstClr val="black"/>
              </a:solidFill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&amp;&amp;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y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!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flag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&amp;&amp;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done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2000" y="3602309"/>
            <a:ext cx="32766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Assume</a:t>
            </a:r>
          </a:p>
          <a:p>
            <a:pPr lvl="2"/>
            <a:r>
              <a:rPr lang="en-US" sz="2800" b="1" dirty="0">
                <a:solidFill>
                  <a:srgbClr val="C00000"/>
                </a:solidFill>
              </a:rPr>
              <a:t>x = 5</a:t>
            </a:r>
          </a:p>
          <a:p>
            <a:pPr lvl="2"/>
            <a:r>
              <a:rPr lang="en-US" sz="2800" b="1" dirty="0" smtClean="0">
                <a:solidFill>
                  <a:srgbClr val="C00000"/>
                </a:solidFill>
              </a:rPr>
              <a:t>flag </a:t>
            </a:r>
            <a:r>
              <a:rPr lang="en-US" sz="2800" b="1" dirty="0">
                <a:solidFill>
                  <a:srgbClr val="C00000"/>
                </a:solidFill>
              </a:rPr>
              <a:t>= true</a:t>
            </a:r>
          </a:p>
          <a:p>
            <a:pPr lvl="2"/>
            <a:r>
              <a:rPr lang="en-US" sz="2800" b="1" dirty="0">
                <a:solidFill>
                  <a:srgbClr val="C00000"/>
                </a:solidFill>
              </a:rPr>
              <a:t>done = false</a:t>
            </a:r>
          </a:p>
          <a:p>
            <a:pPr lvl="2"/>
            <a:r>
              <a:rPr lang="en-US" sz="2800" b="1" dirty="0">
                <a:solidFill>
                  <a:srgbClr val="C00000"/>
                </a:solidFill>
              </a:rPr>
              <a:t>y = 1</a:t>
            </a:r>
          </a:p>
          <a:p>
            <a:pPr lvl="2"/>
            <a:r>
              <a:rPr lang="en-US" sz="2800" b="1" dirty="0">
                <a:solidFill>
                  <a:srgbClr val="C00000"/>
                </a:solidFill>
              </a:rPr>
              <a:t>z = 0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896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 – Answers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0" y="1364159"/>
            <a:ext cx="72390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>
                <a:solidFill>
                  <a:prstClr val="black"/>
                </a:solidFill>
              </a:rPr>
              <a:t>Evaluate the following expressions:</a:t>
            </a:r>
          </a:p>
          <a:p>
            <a:endParaRPr lang="en-US" sz="3200" dirty="0" smtClean="0">
              <a:solidFill>
                <a:prstClr val="black"/>
              </a:solidFill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&amp;&amp;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y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1 </a:t>
            </a:r>
            <a:r>
              <a:rPr lang="en-US" sz="3200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-&gt; false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!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flag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&amp;&amp;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done </a:t>
            </a:r>
            <a:r>
              <a:rPr lang="en-US" sz="3200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-&gt; false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sz="3200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-&gt; true</a:t>
            </a:r>
            <a:endParaRPr lang="en-US" sz="3200" dirty="0">
              <a:solidFill>
                <a:srgbClr val="C00000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2000" y="3602309"/>
            <a:ext cx="32766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Assume</a:t>
            </a:r>
          </a:p>
          <a:p>
            <a:pPr lvl="2"/>
            <a:r>
              <a:rPr lang="en-US" sz="2800" dirty="0">
                <a:solidFill>
                  <a:prstClr val="black"/>
                </a:solidFill>
              </a:rPr>
              <a:t>x = 5</a:t>
            </a:r>
          </a:p>
          <a:p>
            <a:pPr lvl="2"/>
            <a:r>
              <a:rPr lang="en-US" sz="2800" dirty="0" smtClean="0">
                <a:solidFill>
                  <a:prstClr val="black"/>
                </a:solidFill>
              </a:rPr>
              <a:t>flag </a:t>
            </a:r>
            <a:r>
              <a:rPr lang="en-US" sz="2800" dirty="0">
                <a:solidFill>
                  <a:prstClr val="black"/>
                </a:solidFill>
              </a:rPr>
              <a:t>= true</a:t>
            </a:r>
          </a:p>
          <a:p>
            <a:pPr lvl="2"/>
            <a:r>
              <a:rPr lang="en-US" sz="2800" dirty="0">
                <a:solidFill>
                  <a:prstClr val="black"/>
                </a:solidFill>
              </a:rPr>
              <a:t>done = false</a:t>
            </a:r>
          </a:p>
          <a:p>
            <a:pPr lvl="2"/>
            <a:r>
              <a:rPr lang="en-US" sz="2800" dirty="0">
                <a:solidFill>
                  <a:prstClr val="black"/>
                </a:solidFill>
              </a:rPr>
              <a:t>y = 1</a:t>
            </a:r>
          </a:p>
          <a:p>
            <a:pPr lvl="2"/>
            <a:r>
              <a:rPr lang="en-US" sz="2800" dirty="0">
                <a:solidFill>
                  <a:prstClr val="black"/>
                </a:solidFill>
              </a:rPr>
              <a:t>z = 0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2421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717863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Testing </a:t>
            </a:r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and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4098" name="Picture 2" descr="Image result for debugg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990521"/>
            <a:ext cx="3886200" cy="24525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4161900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Testing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and 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Debugging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60"/>
            <a:ext cx="8534400" cy="4945244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200" dirty="0">
                <a:solidFill>
                  <a:srgbClr val="000000"/>
                </a:solidFill>
                <a:latin typeface="Times New Roman"/>
              </a:rPr>
              <a:t>Bug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i="1" dirty="0">
                <a:solidFill>
                  <a:srgbClr val="000000"/>
                </a:solidFill>
                <a:latin typeface="Times New Roman"/>
              </a:rPr>
              <a:t>A mistake in a program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200" dirty="0">
                <a:solidFill>
                  <a:srgbClr val="000000"/>
                </a:solidFill>
                <a:latin typeface="Times New Roman"/>
              </a:rPr>
              <a:t>Debugging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i="1" dirty="0">
                <a:solidFill>
                  <a:srgbClr val="000000"/>
                </a:solidFill>
                <a:latin typeface="Times New Roman"/>
              </a:rPr>
              <a:t>Eliminating mistakes in programs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Term used when a moth caused a failed relay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on the Harvard Mark 1 computer.  Grace Hopper 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and other programmers taped the moth in logbook 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stating:  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        “First actual case of a bug being found.”</a:t>
            </a:r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4058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304800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Syntax errors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Violation of the grammar rules of the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/>
              </a:rPr>
              <a:t>language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Syntax errors are also called </a:t>
            </a:r>
            <a:r>
              <a:rPr lang="en-US" altLang="en-US" sz="2400" b="1" i="1" dirty="0">
                <a:solidFill>
                  <a:srgbClr val="0070C0"/>
                </a:solidFill>
                <a:latin typeface="Times New Roman"/>
              </a:rPr>
              <a:t>compiler errors, compile-time </a:t>
            </a:r>
            <a:r>
              <a:rPr lang="en-US" altLang="en-US" sz="2400" b="1" i="1" dirty="0" smtClean="0">
                <a:solidFill>
                  <a:srgbClr val="0070C0"/>
                </a:solidFill>
                <a:latin typeface="Times New Roman"/>
              </a:rPr>
              <a:t>errors or </a:t>
            </a:r>
            <a:r>
              <a:rPr lang="en-US" altLang="en-US" sz="2400" b="1" i="1" dirty="0">
                <a:solidFill>
                  <a:srgbClr val="0070C0"/>
                </a:solidFill>
                <a:latin typeface="Times New Roman"/>
              </a:rPr>
              <a:t>compilation </a:t>
            </a:r>
            <a:r>
              <a:rPr lang="en-US" altLang="en-US" sz="2400" b="1" i="1" dirty="0" smtClean="0">
                <a:solidFill>
                  <a:srgbClr val="0070C0"/>
                </a:solidFill>
                <a:latin typeface="Times New Roman"/>
              </a:rPr>
              <a:t>errors.</a:t>
            </a:r>
            <a:endParaRPr lang="en-US" altLang="en-US" sz="2400" dirty="0">
              <a:solidFill>
                <a:srgbClr val="000000"/>
              </a:solidFill>
              <a:latin typeface="Times New Roman"/>
            </a:endParaRP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Discovered by the compiler</a:t>
            </a:r>
          </a:p>
          <a:p>
            <a:pPr marL="1143000" lvl="2" indent="-2286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en-US" sz="2000" dirty="0">
                <a:solidFill>
                  <a:srgbClr val="000000"/>
                </a:solidFill>
                <a:latin typeface="Times New Roman"/>
              </a:rPr>
              <a:t>Error messages may not always show correct location of </a:t>
            </a:r>
            <a:br>
              <a:rPr lang="en-US" altLang="en-US" sz="20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000" dirty="0">
                <a:solidFill>
                  <a:srgbClr val="000000"/>
                </a:solidFill>
                <a:latin typeface="Times New Roman"/>
              </a:rPr>
              <a:t>errors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 smtClean="0">
                <a:solidFill>
                  <a:srgbClr val="000000"/>
                </a:solidFill>
                <a:latin typeface="Times New Roman"/>
              </a:rPr>
              <a:t>You 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cannot execute your program until you correct all the syntax errors in it. </a:t>
            </a:r>
            <a:endParaRPr lang="en-US" altLang="en-US" sz="2400" dirty="0" smtClean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7068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Run-time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errors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Error conditions detected by the computer at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/>
              </a:rPr>
              <a:t>run-time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Errors such as division by zero occur as a program runs, so they’re called </a:t>
            </a:r>
            <a:r>
              <a:rPr lang="en-US" altLang="en-US" sz="2400" b="1" i="1" dirty="0">
                <a:solidFill>
                  <a:srgbClr val="0070C0"/>
                </a:solidFill>
                <a:latin typeface="Times New Roman"/>
              </a:rPr>
              <a:t>runtime errors or execution-time errors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. </a:t>
            </a:r>
            <a:endParaRPr lang="en-US" altLang="en-US" sz="2400" dirty="0" smtClean="0">
              <a:solidFill>
                <a:srgbClr val="000000"/>
              </a:solidFill>
              <a:latin typeface="Times New Roman"/>
            </a:endParaRP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b="1" i="1" dirty="0">
                <a:solidFill>
                  <a:srgbClr val="0070C0"/>
                </a:solidFill>
                <a:latin typeface="Times New Roman"/>
              </a:rPr>
              <a:t>Fatal runtime errors 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cause programs to terminate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/>
              </a:rPr>
              <a:t>immediately without 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having successfully performed their jobs. </a:t>
            </a:r>
            <a:endParaRPr lang="en-US" altLang="en-US" sz="2400" dirty="0" smtClean="0">
              <a:solidFill>
                <a:srgbClr val="000000"/>
              </a:solidFill>
              <a:latin typeface="Times New Roman"/>
            </a:endParaRP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b="1" i="1" dirty="0">
                <a:solidFill>
                  <a:srgbClr val="0070C0"/>
                </a:solidFill>
                <a:latin typeface="Times New Roman"/>
              </a:rPr>
              <a:t>Nonfatal runtime errors 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allow 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/>
              </a:rPr>
              <a:t>programs to </a:t>
            </a: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run to completion, often producing incorrect results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/>
              </a:rPr>
              <a:t>.</a:t>
            </a:r>
            <a:endParaRPr lang="en-US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924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Logic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errors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Errors in the program’s algorithm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Most difficult to diagnose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Times New Roman"/>
              </a:rPr>
              <a:t>Computer does not recognize an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8512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 smtClean="0"/>
              <a:t>What kind of error in the program given below: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sz="2400" b="1" dirty="0"/>
          </a:p>
          <a:p>
            <a:pPr marL="800100" lvl="1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283156"/>
            <a:ext cx="4648200" cy="313932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"\n"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10200" y="2590800"/>
            <a:ext cx="3352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</a:rPr>
              <a:t>Syntax Error</a:t>
            </a:r>
          </a:p>
          <a:p>
            <a:r>
              <a:rPr lang="en-US" sz="4000" b="1" dirty="0" smtClean="0">
                <a:solidFill>
                  <a:srgbClr val="002060"/>
                </a:solidFill>
              </a:rPr>
              <a:t>Missing semicolon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2819400" y="3429000"/>
            <a:ext cx="2057400" cy="685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67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/>
              <a:t>What kind of error in the program given below: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sz="2400" b="1" dirty="0"/>
          </a:p>
          <a:p>
            <a:pPr marL="800100" lvl="1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283156"/>
            <a:ext cx="4648200" cy="313932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x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2;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"\n"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10200" y="2590800"/>
            <a:ext cx="3581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solidFill>
                  <a:srgbClr val="C00000"/>
                </a:solidFill>
              </a:rPr>
              <a:t>Syntax Error</a:t>
            </a:r>
          </a:p>
          <a:p>
            <a:r>
              <a:rPr lang="en-US" sz="4000" b="1" dirty="0" smtClean="0">
                <a:solidFill>
                  <a:srgbClr val="002060"/>
                </a:solidFill>
              </a:rPr>
              <a:t>‘y’ </a:t>
            </a:r>
            <a:r>
              <a:rPr lang="en-US" sz="4000" b="1" dirty="0">
                <a:solidFill>
                  <a:srgbClr val="002060"/>
                </a:solidFill>
              </a:rPr>
              <a:t>: undeclared identifier</a:t>
            </a:r>
          </a:p>
        </p:txBody>
      </p:sp>
      <p:sp>
        <p:nvSpPr>
          <p:cNvPr id="10" name="Left Arrow 9"/>
          <p:cNvSpPr/>
          <p:nvPr/>
        </p:nvSpPr>
        <p:spPr>
          <a:xfrm>
            <a:off x="3352800" y="3402062"/>
            <a:ext cx="2057400" cy="685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34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/>
              <a:t>What kind of error in the program given below: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sz="2400" b="1" dirty="0"/>
          </a:p>
          <a:p>
            <a:pPr marL="800100" lvl="1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283156"/>
            <a:ext cx="4648200" cy="323165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x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y </a:t>
            </a:r>
            <a:r>
              <a:rPr lang="en-US" sz="2400" b="1" dirty="0">
                <a:solidFill>
                  <a:srgbClr val="0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+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FF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2</a:t>
            </a: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=</a:t>
            </a:r>
            <a:r>
              <a:rPr lang="en-US" sz="2400" b="1" dirty="0" smtClean="0">
                <a:solidFill>
                  <a:srgbClr val="FF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x</a:t>
            </a:r>
            <a:r>
              <a:rPr lang="en-US" sz="2400" b="1" dirty="0" smtClean="0">
                <a:solidFill>
                  <a:srgbClr val="FF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;</a:t>
            </a:r>
            <a:r>
              <a:rPr lang="en-US" sz="2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"\n"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0642" y="2129268"/>
            <a:ext cx="3733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</a:rPr>
              <a:t>Syntax Error</a:t>
            </a:r>
          </a:p>
          <a:p>
            <a:r>
              <a:rPr lang="en-US" sz="4000" b="1" dirty="0" smtClean="0">
                <a:solidFill>
                  <a:srgbClr val="002060"/>
                </a:solidFill>
              </a:rPr>
              <a:t>‘=’ </a:t>
            </a:r>
            <a:r>
              <a:rPr lang="en-US" sz="4000" b="1" dirty="0">
                <a:solidFill>
                  <a:srgbClr val="002060"/>
                </a:solidFill>
              </a:rPr>
              <a:t>: left operand must be l-value</a:t>
            </a:r>
          </a:p>
        </p:txBody>
      </p:sp>
      <p:sp>
        <p:nvSpPr>
          <p:cNvPr id="10" name="Left Arrow 9"/>
          <p:cNvSpPr/>
          <p:nvPr/>
        </p:nvSpPr>
        <p:spPr>
          <a:xfrm>
            <a:off x="3352800" y="3402062"/>
            <a:ext cx="2057400" cy="685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3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36805"/>
            <a:ext cx="7308224" cy="507831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File dividedanger.cpp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dividend,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two integers from the user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"Please enter two integers to divide:"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dividend &gt;&gt;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 them and report the result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dividend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"/"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divisor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&lt;&lt;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dividend/divisor &lt;&lt; endl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625" y="21593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3625" y="1055169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/>
              <a:t>What kind of error in the program given below</a:t>
            </a:r>
            <a:r>
              <a:rPr lang="en-US" sz="2400" b="1" dirty="0" smtClean="0"/>
              <a:t>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1458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36805"/>
            <a:ext cx="7308224" cy="507831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File dividedanger.cpp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dividend,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two integers from the user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"Please enter two integers to divide:"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dividend &gt;&gt;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 them and report the result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dividend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"/"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divisor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&lt;&lt; </a:t>
            </a:r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dividend/divisor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endl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625" y="21593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3625" y="1055169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/>
              <a:t>What kind of error in the program given below</a:t>
            </a:r>
            <a:r>
              <a:rPr lang="en-US" sz="2400" b="1" dirty="0" smtClean="0"/>
              <a:t>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4499019" y="5410200"/>
            <a:ext cx="2057400" cy="685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14345" y="4864078"/>
            <a:ext cx="22548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Runtime</a:t>
            </a:r>
          </a:p>
          <a:p>
            <a:r>
              <a:rPr lang="en-US" sz="4400" b="1" dirty="0" smtClean="0">
                <a:solidFill>
                  <a:srgbClr val="C0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6537097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The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expression </a:t>
            </a:r>
            <a:r>
              <a:rPr lang="en-US" altLang="en-US" sz="2800" b="1" dirty="0" smtClean="0">
                <a:solidFill>
                  <a:srgbClr val="000000"/>
                </a:solidFill>
                <a:latin typeface="Times New Roman"/>
              </a:rPr>
              <a:t>dividend/divisor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 is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potentially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dangerous.</a:t>
            </a: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If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the user enters, for example, 32 and 4, the program works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nicely </a:t>
            </a:r>
            <a:r>
              <a:rPr lang="en-US" sz="2800" dirty="0">
                <a:solidFill>
                  <a:srgbClr val="000000"/>
                </a:solidFill>
                <a:latin typeface="Times New Roman"/>
              </a:rPr>
              <a:t>and displays the answer of 8.</a:t>
            </a: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581400"/>
            <a:ext cx="677227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716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If the user instead types the numbers 32 and 0, the program reports an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error and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terminates. </a:t>
            </a:r>
            <a:endParaRPr lang="en-US" altLang="en-US" sz="2800" dirty="0" smtClean="0">
              <a:solidFill>
                <a:srgbClr val="000000"/>
              </a:solidFill>
              <a:latin typeface="Times New Roman"/>
            </a:endParaRP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800" b="1" i="1" dirty="0" smtClean="0">
                <a:solidFill>
                  <a:srgbClr val="000000"/>
                </a:solidFill>
                <a:latin typeface="Times New Roman"/>
              </a:rPr>
              <a:t>Division </a:t>
            </a:r>
            <a:r>
              <a:rPr lang="en-US" altLang="en-US" sz="2800" b="1" i="1" dirty="0">
                <a:solidFill>
                  <a:srgbClr val="000000"/>
                </a:solidFill>
                <a:latin typeface="Times New Roman"/>
              </a:rPr>
              <a:t>by zero is undefined in mathematics, and integer division by zero in C++ is illegal.</a:t>
            </a: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endParaRPr lang="en-US" altLang="en-US" sz="2800" dirty="0" smtClean="0">
              <a:solidFill>
                <a:srgbClr val="000000"/>
              </a:solidFill>
              <a:latin typeface="Times New Roman"/>
            </a:endParaRP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</a:pP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When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the program attempts the division at run time,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the system </a:t>
            </a: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detects the attempt and terminates </a:t>
            </a:r>
            <a:r>
              <a:rPr lang="en-US" altLang="en-US" sz="2800" dirty="0" smtClean="0">
                <a:solidFill>
                  <a:srgbClr val="000000"/>
                </a:solidFill>
                <a:latin typeface="Times New Roman"/>
              </a:rPr>
              <a:t>the program.</a:t>
            </a: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80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36805"/>
            <a:ext cx="7308224" cy="507831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File dividedanger.cpp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dividend,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two integers from the user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"Please enter two integers to divide:"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dividend &gt;&gt;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 them and report the result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dividend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"/"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divisor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&lt;&lt;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dividend/divisor &lt;&lt; endl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625" y="21593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3625" y="1055169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/>
              <a:t>What kind of error in the program given below</a:t>
            </a:r>
            <a:r>
              <a:rPr lang="en-US" sz="2400" b="1" dirty="0" smtClean="0"/>
              <a:t>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0" y="2022853"/>
            <a:ext cx="3886200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In what other way can this program crash</a:t>
            </a:r>
          </a:p>
          <a:p>
            <a:pPr algn="ctr"/>
            <a:r>
              <a:rPr lang="en-US" sz="11500" b="1" dirty="0" smtClean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144360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36805"/>
            <a:ext cx="7308224" cy="507831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File dividedanger.cpp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dividend,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two integers from the user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"Please enter two integers to divide:"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dividend &gt;&gt; divisor;</a:t>
            </a:r>
          </a:p>
          <a:p>
            <a:pPr lvl="1"/>
            <a:endParaRPr lang="en-US" dirty="0" smtClean="0">
              <a:solidFill>
                <a:srgbClr val="4D9A4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4D9A4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Divide them and report the result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divisor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"/"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dirty="0">
                <a:solidFill>
                  <a:srgbClr val="9A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&lt;&lt; </a:t>
            </a:r>
            <a:r>
              <a:rPr lang="en-US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divisor/dividend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endl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625" y="21593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Errors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3625" y="1055169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400" b="1" dirty="0"/>
              <a:t>What kind of error in the program given below</a:t>
            </a:r>
            <a:r>
              <a:rPr lang="en-US" sz="2400" b="1" dirty="0" smtClean="0"/>
              <a:t>: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4499019" y="5410200"/>
            <a:ext cx="2057400" cy="6858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14345" y="4864078"/>
            <a:ext cx="22548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C00000"/>
                </a:solidFill>
              </a:rPr>
              <a:t>Logic</a:t>
            </a:r>
          </a:p>
          <a:p>
            <a:r>
              <a:rPr lang="en-US" sz="4400" b="1" dirty="0" smtClean="0">
                <a:solidFill>
                  <a:srgbClr val="C0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992689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Program Errors – Conclusion 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60"/>
            <a:ext cx="8534400" cy="4945244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200" dirty="0">
                <a:solidFill>
                  <a:srgbClr val="000000"/>
                </a:solidFill>
                <a:latin typeface="Times New Roman"/>
              </a:rPr>
              <a:t>Can you…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Describe the three kinds of program errors?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Tell what kind of errors the compiler catches?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What kind of error is produced if you forget  a 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punctuation symbol such as a semi-colon?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endParaRPr lang="en-US" altLang="en-US" sz="2800" dirty="0">
              <a:solidFill>
                <a:srgbClr val="000000"/>
              </a:solidFill>
              <a:latin typeface="Times New Roman"/>
            </a:endParaRP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Tell what type of error is produced when a program </a:t>
            </a:r>
            <a:br>
              <a:rPr lang="en-US" altLang="en-US" sz="2800" dirty="0">
                <a:solidFill>
                  <a:srgbClr val="000000"/>
                </a:solidFill>
                <a:latin typeface="Times New Roman"/>
              </a:rPr>
            </a:br>
            <a:r>
              <a:rPr lang="en-US" altLang="en-US" sz="2800" dirty="0">
                <a:solidFill>
                  <a:srgbClr val="000000"/>
                </a:solidFill>
                <a:latin typeface="Times New Roman"/>
              </a:rPr>
              <a:t>runs but produces incorrect results?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0382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17281</TotalTime>
  <Words>1253</Words>
  <Application>Microsoft Office PowerPoint</Application>
  <PresentationFormat>On-screen Show (4:3)</PresentationFormat>
  <Paragraphs>344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Calibri</vt:lpstr>
      <vt:lpstr>Cambria</vt:lpstr>
      <vt:lpstr>Courier New</vt:lpstr>
      <vt:lpstr>Times New Roman</vt:lpstr>
      <vt:lpstr>Trebuchet MS</vt:lpstr>
      <vt:lpstr>Wingdings</vt:lpstr>
      <vt:lpstr>Wingdings 2</vt:lpstr>
      <vt:lpstr>Office Theme</vt:lpstr>
      <vt:lpstr>1_Office Theme</vt:lpstr>
      <vt:lpstr>Civic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1116</cp:revision>
  <dcterms:created xsi:type="dcterms:W3CDTF">2006-08-16T00:00:00Z</dcterms:created>
  <dcterms:modified xsi:type="dcterms:W3CDTF">2018-10-12T05:37:31Z</dcterms:modified>
</cp:coreProperties>
</file>