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2" r:id="rId2"/>
  </p:sldMasterIdLst>
  <p:notesMasterIdLst>
    <p:notesMasterId r:id="rId31"/>
  </p:notesMasterIdLst>
  <p:sldIdLst>
    <p:sldId id="257" r:id="rId3"/>
    <p:sldId id="617" r:id="rId4"/>
    <p:sldId id="618" r:id="rId5"/>
    <p:sldId id="619" r:id="rId6"/>
    <p:sldId id="698" r:id="rId7"/>
    <p:sldId id="620" r:id="rId8"/>
    <p:sldId id="621" r:id="rId9"/>
    <p:sldId id="622" r:id="rId10"/>
    <p:sldId id="623" r:id="rId11"/>
    <p:sldId id="624" r:id="rId12"/>
    <p:sldId id="625" r:id="rId13"/>
    <p:sldId id="626" r:id="rId14"/>
    <p:sldId id="627" r:id="rId15"/>
    <p:sldId id="628" r:id="rId16"/>
    <p:sldId id="629" r:id="rId17"/>
    <p:sldId id="630" r:id="rId18"/>
    <p:sldId id="631" r:id="rId19"/>
    <p:sldId id="663" r:id="rId20"/>
    <p:sldId id="664" r:id="rId21"/>
    <p:sldId id="665" r:id="rId22"/>
    <p:sldId id="666" r:id="rId23"/>
    <p:sldId id="696" r:id="rId24"/>
    <p:sldId id="678" r:id="rId25"/>
    <p:sldId id="679" r:id="rId26"/>
    <p:sldId id="697" r:id="rId27"/>
    <p:sldId id="680" r:id="rId28"/>
    <p:sldId id="681" r:id="rId29"/>
    <p:sldId id="682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77419" autoAdjust="0"/>
  </p:normalViewPr>
  <p:slideViewPr>
    <p:cSldViewPr>
      <p:cViewPr varScale="1">
        <p:scale>
          <a:sx n="74" d="100"/>
          <a:sy n="74" d="100"/>
        </p:scale>
        <p:origin x="126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12F8C8-4AB1-4EC7-8A80-DF0BAD6D312F}" type="datetimeFigureOut">
              <a:rPr lang="en-US" smtClean="0"/>
              <a:pPr/>
              <a:t>2/18/2018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378537-16E5-4CC2-9695-625595435CC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665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DD54AAF-9BF3-4853-8FDE-D596CE60BAD0}" type="slidenum">
              <a:rPr lang="en-US"/>
              <a:pPr/>
              <a:t>1</a:t>
            </a:fld>
            <a:endParaRPr lang="en-US"/>
          </a:p>
        </p:txBody>
      </p:sp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4708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768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Text Box 266241"/>
          <p:cNvSpPr txBox="1"/>
          <p:nvPr/>
        </p:nvSpPr>
        <p:spPr>
          <a:xfrm>
            <a:off x="7086600" y="6324600"/>
            <a:ext cx="1981200" cy="4873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sz="1400">
                <a:latin typeface="Times New Roman" panose="02020603050405020304" pitchFamily="18" charset="0"/>
                <a:sym typeface="Symbol" panose="05050102010706020507" pitchFamily="18" charset="2"/>
              </a:rPr>
              <a:t></a:t>
            </a:r>
            <a:r>
              <a:rPr sz="1200">
                <a:latin typeface="Times New Roman" panose="02020603050405020304" pitchFamily="18" charset="0"/>
              </a:rPr>
              <a:t> 2003 Prentice Hall, Inc.</a:t>
            </a:r>
            <a:br>
              <a:rPr sz="1200">
                <a:latin typeface="Times New Roman" panose="02020603050405020304" pitchFamily="18" charset="0"/>
              </a:rPr>
            </a:br>
            <a:r>
              <a:rPr sz="1200">
                <a:latin typeface="Times New Roman" panose="02020603050405020304" pitchFamily="18" charset="0"/>
              </a:rPr>
              <a:t>All rights reserved.</a:t>
            </a:r>
          </a:p>
        </p:txBody>
      </p:sp>
      <p:sp>
        <p:nvSpPr>
          <p:cNvPr id="266243" name="Text Box 266242"/>
          <p:cNvSpPr txBox="1"/>
          <p:nvPr/>
        </p:nvSpPr>
        <p:spPr>
          <a:xfrm>
            <a:off x="7162800" y="152400"/>
            <a:ext cx="1981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ctr" eaLnBrk="0" hangingPunct="0">
              <a:spcBef>
                <a:spcPct val="50000"/>
              </a:spcBef>
            </a:pPr>
            <a:r>
              <a:rPr sz="2000" u="sng">
                <a:solidFill>
                  <a:srgbClr val="000000"/>
                </a:solidFill>
                <a:latin typeface="AvantGarde" pitchFamily="34" charset="0"/>
              </a:rPr>
              <a:t>Outline</a:t>
            </a:r>
          </a:p>
        </p:txBody>
      </p:sp>
      <p:grpSp>
        <p:nvGrpSpPr>
          <p:cNvPr id="266244" name="Group 266243"/>
          <p:cNvGrpSpPr/>
          <p:nvPr/>
        </p:nvGrpSpPr>
        <p:grpSpPr>
          <a:xfrm>
            <a:off x="7086600" y="76200"/>
            <a:ext cx="304800" cy="685800"/>
            <a:chOff x="4032" y="3840"/>
            <a:chExt cx="192" cy="432"/>
          </a:xfrm>
        </p:grpSpPr>
        <p:sp>
          <p:nvSpPr>
            <p:cNvPr id="266245" name="Action Button: Back or Previous 266244">
              <a:hlinkClick r:id="" action="ppaction://hlinkshowjump?jump=previousslide"/>
            </p:cNvPr>
            <p:cNvSpPr/>
            <p:nvPr userDrawn="1"/>
          </p:nvSpPr>
          <p:spPr>
            <a:xfrm rot="5400000">
              <a:off x="4032" y="3840"/>
              <a:ext cx="192" cy="192"/>
            </a:xfrm>
            <a:prstGeom prst="actionButtonBackPrevious">
              <a:avLst/>
            </a:prstGeom>
            <a:solidFill>
              <a:srgbClr val="C0C0C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246" name="Action Button: Back or Previous 266245">
              <a:hlinkClick r:id="" action="ppaction://hlinkshowjump?jump=nextslide"/>
            </p:cNvPr>
            <p:cNvSpPr/>
            <p:nvPr userDrawn="1"/>
          </p:nvSpPr>
          <p:spPr>
            <a:xfrm rot="16200000">
              <a:off x="4032" y="4080"/>
              <a:ext cx="192" cy="192"/>
            </a:xfrm>
            <a:prstGeom prst="actionButtonBackPrevious">
              <a:avLst/>
            </a:prstGeom>
            <a:solidFill>
              <a:srgbClr val="C0C0C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6247" name="Rectangle 266246"/>
          <p:cNvSpPr/>
          <p:nvPr/>
        </p:nvSpPr>
        <p:spPr>
          <a:xfrm>
            <a:off x="6705600" y="838200"/>
            <a:ext cx="2438400" cy="6019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sz="1400" b="1">
              <a:latin typeface="AvantGarde" pitchFamily="34" charset="0"/>
            </a:endParaRPr>
          </a:p>
        </p:txBody>
      </p:sp>
      <p:sp>
        <p:nvSpPr>
          <p:cNvPr id="266248" name="Subtitle 266247"/>
          <p:cNvSpPr>
            <a:spLocks noGrp="1"/>
          </p:cNvSpPr>
          <p:nvPr>
            <p:ph type="subTitle" sz="quarter" idx="1"/>
          </p:nvPr>
        </p:nvSpPr>
        <p:spPr>
          <a:xfrm>
            <a:off x="0" y="0"/>
            <a:ext cx="7010400" cy="56388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tIns="182880" bIns="182880" anchor="t"/>
          <a:lstStyle>
            <a:lvl1pPr marL="0" lvl="0" indent="0">
              <a:buNone/>
              <a:defRPr sz="1200" b="1">
                <a:latin typeface="Courier New" panose="02070309020205020404" pitchFamily="49" charset="0"/>
              </a:defRPr>
            </a:lvl1pPr>
            <a:lvl2pPr marL="457200" lvl="1" indent="0" algn="ctr">
              <a:buNone/>
              <a:defRPr sz="1200" b="1">
                <a:latin typeface="Courier New" panose="02070309020205020404" pitchFamily="49" charset="0"/>
              </a:defRPr>
            </a:lvl2pPr>
            <a:lvl3pPr marL="914400" lvl="2" indent="0" algn="ctr">
              <a:buNone/>
              <a:defRPr sz="1200" b="1">
                <a:latin typeface="Courier New" panose="02070309020205020404" pitchFamily="49" charset="0"/>
              </a:defRPr>
            </a:lvl3pPr>
            <a:lvl4pPr marL="1371600" lvl="3" indent="0" algn="ctr">
              <a:buNone/>
              <a:defRPr sz="1200" b="1">
                <a:latin typeface="Courier New" panose="02070309020205020404" pitchFamily="49" charset="0"/>
              </a:defRPr>
            </a:lvl4pPr>
            <a:lvl5pPr marL="1828800" lvl="4" indent="0" algn="ctr">
              <a:buNone/>
              <a:defRPr sz="1200" b="1">
                <a:latin typeface="Courier New" panose="02070309020205020404" pitchFamily="49" charset="0"/>
              </a:defRPr>
            </a:lvl5pPr>
          </a:lstStyle>
          <a:p>
            <a:pPr lvl="0"/>
            <a:r>
              <a:rPr dirty="0"/>
              <a:t>Click to edit Master subtitle style</a:t>
            </a:r>
          </a:p>
        </p:txBody>
      </p:sp>
      <p:sp>
        <p:nvSpPr>
          <p:cNvPr id="266249" name="Slide Number Placeholder 266248"/>
          <p:cNvSpPr>
            <a:spLocks noGrp="1"/>
          </p:cNvSpPr>
          <p:nvPr>
            <p:ph type="sldNum" sz="quarter" idx="4"/>
          </p:nvPr>
        </p:nvSpPr>
        <p:spPr>
          <a:xfrm>
            <a:off x="8686800" y="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algn="r">
              <a:defRPr sz="1400"/>
            </a:lvl1pPr>
          </a:lstStyle>
          <a:p>
            <a:pPr eaLnBrk="0" hangingPunct="0">
              <a:spcBef>
                <a:spcPct val="50000"/>
              </a:spcBef>
            </a:pPr>
            <a:fld id="{9A0DB2DC-4C9A-4742-B13C-FB6460FD3503}" type="slidenum">
              <a:rPr lang="en-US">
                <a:latin typeface="Times New Roman" panose="02020603050405020304" pitchFamily="18" charset="0"/>
              </a:rPr>
              <a:pPr eaLnBrk="0" hangingPunct="0">
                <a:spcBef>
                  <a:spcPct val="50000"/>
                </a:spcBef>
              </a:pPr>
              <a:t>‹#›</a:t>
            </a:fld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266250" name="Title 266249"/>
          <p:cNvSpPr>
            <a:spLocks noGrp="1"/>
          </p:cNvSpPr>
          <p:nvPr>
            <p:ph type="ctrTitle" sz="quarter"/>
          </p:nvPr>
        </p:nvSpPr>
        <p:spPr>
          <a:xfrm>
            <a:off x="7086600" y="838200"/>
            <a:ext cx="2057400" cy="4800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lvl="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lvl="0"/>
            <a:r>
              <a:rPr dirty="0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spcBef>
                <a:spcPct val="50000"/>
              </a:spcBef>
            </a:pPr>
            <a:fld id="{9A0DB2DC-4C9A-4742-B13C-FB6460FD3503}" type="slidenum">
              <a:rPr lang="en-US">
                <a:latin typeface="Times New Roman" panose="02020603050405020304" pitchFamily="18" charset="0"/>
              </a:rPr>
              <a:pPr lvl="0" eaLnBrk="0" hangingPunct="0">
                <a:spcBef>
                  <a:spcPct val="50000"/>
                </a:spcBef>
              </a:pPr>
              <a:t>‹#›</a:t>
            </a:fld>
            <a:endParaRPr 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spcBef>
                <a:spcPct val="50000"/>
              </a:spcBef>
            </a:pPr>
            <a:fld id="{9A0DB2DC-4C9A-4742-B13C-FB6460FD3503}" type="slidenum">
              <a:rPr lang="en-US">
                <a:latin typeface="Times New Roman" panose="02020603050405020304" pitchFamily="18" charset="0"/>
              </a:rPr>
              <a:pPr lvl="0" eaLnBrk="0" hangingPunct="0">
                <a:spcBef>
                  <a:spcPct val="50000"/>
                </a:spcBef>
              </a:pPr>
              <a:t>‹#›</a:t>
            </a:fld>
            <a:endParaRPr 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219200"/>
            <a:ext cx="3808476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724" y="1219200"/>
            <a:ext cx="3808476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spcBef>
                <a:spcPct val="50000"/>
              </a:spcBef>
            </a:pPr>
            <a:fld id="{9A0DB2DC-4C9A-4742-B13C-FB6460FD3503}" type="slidenum">
              <a:rPr lang="en-US">
                <a:latin typeface="Times New Roman" panose="02020603050405020304" pitchFamily="18" charset="0"/>
              </a:rPr>
              <a:pPr lvl="0" eaLnBrk="0" hangingPunct="0">
                <a:spcBef>
                  <a:spcPct val="50000"/>
                </a:spcBef>
              </a:pPr>
              <a:t>‹#›</a:t>
            </a:fld>
            <a:endParaRPr 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spcBef>
                <a:spcPct val="50000"/>
              </a:spcBef>
            </a:pPr>
            <a:fld id="{9A0DB2DC-4C9A-4742-B13C-FB6460FD3503}" type="slidenum">
              <a:rPr lang="en-US">
                <a:latin typeface="Times New Roman" panose="02020603050405020304" pitchFamily="18" charset="0"/>
              </a:rPr>
              <a:pPr lvl="0" eaLnBrk="0" hangingPunct="0">
                <a:spcBef>
                  <a:spcPct val="50000"/>
                </a:spcBef>
              </a:pPr>
              <a:t>‹#›</a:t>
            </a:fld>
            <a:endParaRPr 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spcBef>
                <a:spcPct val="50000"/>
              </a:spcBef>
            </a:pPr>
            <a:fld id="{9A0DB2DC-4C9A-4742-B13C-FB6460FD3503}" type="slidenum">
              <a:rPr lang="en-US">
                <a:latin typeface="Times New Roman" panose="02020603050405020304" pitchFamily="18" charset="0"/>
              </a:rPr>
              <a:pPr lvl="0" eaLnBrk="0" hangingPunct="0">
                <a:spcBef>
                  <a:spcPct val="50000"/>
                </a:spcBef>
              </a:pPr>
              <a:t>‹#›</a:t>
            </a:fld>
            <a:endParaRPr 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spcBef>
                <a:spcPct val="50000"/>
              </a:spcBef>
            </a:pPr>
            <a:fld id="{9A0DB2DC-4C9A-4742-B13C-FB6460FD3503}" type="slidenum">
              <a:rPr lang="en-US">
                <a:latin typeface="Times New Roman" panose="02020603050405020304" pitchFamily="18" charset="0"/>
              </a:rPr>
              <a:pPr lvl="0" eaLnBrk="0" hangingPunct="0">
                <a:spcBef>
                  <a:spcPct val="50000"/>
                </a:spcBef>
              </a:pPr>
              <a:t>‹#›</a:t>
            </a:fld>
            <a:endParaRPr 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spcBef>
                <a:spcPct val="50000"/>
              </a:spcBef>
            </a:pPr>
            <a:fld id="{9A0DB2DC-4C9A-4742-B13C-FB6460FD3503}" type="slidenum">
              <a:rPr lang="en-US">
                <a:latin typeface="Times New Roman" panose="02020603050405020304" pitchFamily="18" charset="0"/>
              </a:rPr>
              <a:pPr lvl="0" eaLnBrk="0" hangingPunct="0">
                <a:spcBef>
                  <a:spcPct val="50000"/>
                </a:spcBef>
              </a:pPr>
              <a:t>‹#›</a:t>
            </a:fld>
            <a:endParaRPr 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spcBef>
                <a:spcPct val="50000"/>
              </a:spcBef>
            </a:pPr>
            <a:fld id="{9A0DB2DC-4C9A-4742-B13C-FB6460FD3503}" type="slidenum">
              <a:rPr lang="en-US">
                <a:latin typeface="Times New Roman" panose="02020603050405020304" pitchFamily="18" charset="0"/>
              </a:rPr>
              <a:pPr lvl="0" eaLnBrk="0" hangingPunct="0">
                <a:spcBef>
                  <a:spcPct val="50000"/>
                </a:spcBef>
              </a:pPr>
              <a:t>‹#›</a:t>
            </a:fld>
            <a:endParaRPr 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spcBef>
                <a:spcPct val="50000"/>
              </a:spcBef>
            </a:pPr>
            <a:fld id="{9A0DB2DC-4C9A-4742-B13C-FB6460FD3503}" type="slidenum">
              <a:rPr lang="en-US">
                <a:latin typeface="Times New Roman" panose="02020603050405020304" pitchFamily="18" charset="0"/>
              </a:rPr>
              <a:pPr lvl="0" eaLnBrk="0" hangingPunct="0">
                <a:spcBef>
                  <a:spcPct val="50000"/>
                </a:spcBef>
              </a:pPr>
              <a:t>‹#›</a:t>
            </a:fld>
            <a:endParaRPr 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76200"/>
            <a:ext cx="1943100" cy="6400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76200"/>
            <a:ext cx="5716657" cy="6400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spcBef>
                <a:spcPct val="50000"/>
              </a:spcBef>
            </a:pPr>
            <a:fld id="{9A0DB2DC-4C9A-4742-B13C-FB6460FD3503}" type="slidenum">
              <a:rPr lang="en-US">
                <a:latin typeface="Times New Roman" panose="02020603050405020304" pitchFamily="18" charset="0"/>
              </a:rPr>
              <a:pPr lvl="0" eaLnBrk="0" hangingPunct="0">
                <a:spcBef>
                  <a:spcPct val="50000"/>
                </a:spcBef>
              </a:pPr>
              <a:t>‹#›</a:t>
            </a:fld>
            <a:endParaRPr 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24" name="Rectangle 265223"/>
          <p:cNvSpPr/>
          <p:nvPr userDrawn="1"/>
        </p:nvSpPr>
        <p:spPr>
          <a:xfrm>
            <a:off x="381000" y="76200"/>
            <a:ext cx="8339138" cy="1066800"/>
          </a:xfrm>
          <a:prstGeom prst="rect">
            <a:avLst/>
          </a:prstGeom>
          <a:gradFill rotWithShape="1">
            <a:gsLst>
              <a:gs pos="0">
                <a:srgbClr val="CCCC00"/>
              </a:gs>
              <a:gs pos="100000">
                <a:srgbClr val="FFFFFF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/>
          <a:lstStyle/>
          <a:p>
            <a:pPr lvl="0" algn="ctr" eaLnBrk="1" hangingPunct="1"/>
            <a:endParaRPr sz="2400">
              <a:latin typeface="Times New Roman" panose="02020603050405020304" pitchFamily="18" charset="0"/>
            </a:endParaRPr>
          </a:p>
        </p:txBody>
      </p:sp>
      <p:sp>
        <p:nvSpPr>
          <p:cNvPr id="265218" name="Title 265217"/>
          <p:cNvSpPr>
            <a:spLocks noGrp="1"/>
          </p:cNvSpPr>
          <p:nvPr>
            <p:ph type="title"/>
          </p:nvPr>
        </p:nvSpPr>
        <p:spPr>
          <a:xfrm>
            <a:off x="685800" y="76200"/>
            <a:ext cx="7772400" cy="1066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dirty="0"/>
              <a:t>Title</a:t>
            </a:r>
          </a:p>
        </p:txBody>
      </p:sp>
      <p:sp>
        <p:nvSpPr>
          <p:cNvPr id="265223" name="Oval 265222"/>
          <p:cNvSpPr/>
          <p:nvPr userDrawn="1"/>
        </p:nvSpPr>
        <p:spPr>
          <a:xfrm>
            <a:off x="76200" y="990600"/>
            <a:ext cx="609600" cy="533400"/>
          </a:xfrm>
          <a:prstGeom prst="ellipse">
            <a:avLst/>
          </a:prstGeom>
          <a:noFill/>
          <a:ln w="127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lvl="0" algn="ctr" eaLnBrk="1" hangingPunct="1">
              <a:buClrTx/>
            </a:pPr>
            <a:endParaRPr sz="1800">
              <a:latin typeface="Arial" panose="020B0604020202020204" pitchFamily="34" charset="0"/>
            </a:endParaRPr>
          </a:p>
        </p:txBody>
      </p:sp>
      <p:sp>
        <p:nvSpPr>
          <p:cNvPr id="265226" name="Freeform 265225"/>
          <p:cNvSpPr/>
          <p:nvPr userDrawn="1"/>
        </p:nvSpPr>
        <p:spPr>
          <a:xfrm>
            <a:off x="381000" y="76200"/>
            <a:ext cx="228600" cy="1066800"/>
          </a:xfrm>
          <a:custGeom>
            <a:avLst/>
            <a:gdLst/>
            <a:ahLst/>
            <a:cxnLst/>
            <a:rect l="0" t="0" r="0" b="0"/>
            <a:pathLst>
              <a:path w="1000" h="1000">
                <a:moveTo>
                  <a:pt x="1000" y="1000"/>
                </a:moveTo>
                <a:lnTo>
                  <a:pt x="0" y="1000"/>
                </a:ln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7620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5227" name="Freeform 265226"/>
          <p:cNvSpPr/>
          <p:nvPr userDrawn="1"/>
        </p:nvSpPr>
        <p:spPr>
          <a:xfrm>
            <a:off x="8229600" y="76200"/>
            <a:ext cx="261938" cy="1066800"/>
          </a:xfrm>
          <a:custGeom>
            <a:avLst/>
            <a:gdLst/>
            <a:ahLst/>
            <a:cxnLst/>
            <a:rect l="0" t="0" r="0" b="0"/>
            <a:pathLst>
              <a:path w="1000" h="1000">
                <a:moveTo>
                  <a:pt x="0" y="0"/>
                </a:moveTo>
                <a:lnTo>
                  <a:pt x="1000" y="0"/>
                </a:lnTo>
                <a:lnTo>
                  <a:pt x="1000" y="1000"/>
                </a:lnTo>
                <a:lnTo>
                  <a:pt x="0" y="1000"/>
                </a:lnTo>
              </a:path>
            </a:pathLst>
          </a:custGeom>
          <a:noFill/>
          <a:ln w="76200" cap="flat" cmpd="sng">
            <a:solidFill>
              <a:schemeClr val="accent1">
                <a:alpha val="100000"/>
              </a:schemeClr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5219" name="Text Placeholder 265218"/>
          <p:cNvSpPr>
            <a:spLocks noGrp="1"/>
          </p:cNvSpPr>
          <p:nvPr>
            <p:ph type="body" idx="1"/>
          </p:nvPr>
        </p:nvSpPr>
        <p:spPr>
          <a:xfrm>
            <a:off x="685800" y="1219200"/>
            <a:ext cx="7772400" cy="5257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265220" name="Text Box 265219"/>
          <p:cNvSpPr txBox="1"/>
          <p:nvPr/>
        </p:nvSpPr>
        <p:spPr>
          <a:xfrm>
            <a:off x="0" y="6553200"/>
            <a:ext cx="3581400" cy="304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ctr" eaLnBrk="1" hangingPunct="1">
              <a:spcBef>
                <a:spcPct val="50000"/>
              </a:spcBef>
            </a:pPr>
            <a:r>
              <a:rPr sz="1400">
                <a:latin typeface="Times New Roman" panose="02020603050405020304" pitchFamily="18" charset="0"/>
                <a:sym typeface="Symbol" panose="05050102010706020507" pitchFamily="18" charset="2"/>
              </a:rPr>
              <a:t></a:t>
            </a:r>
            <a:r>
              <a:rPr sz="1200">
                <a:latin typeface="Times New Roman" panose="02020603050405020304" pitchFamily="18" charset="0"/>
              </a:rPr>
              <a:t> 2003 Prentice Hall, Inc.  All rights reserved.</a:t>
            </a:r>
          </a:p>
        </p:txBody>
      </p:sp>
      <p:sp>
        <p:nvSpPr>
          <p:cNvPr id="265221" name="Slide Number Placeholder 265220"/>
          <p:cNvSpPr>
            <a:spLocks noGrp="1"/>
          </p:cNvSpPr>
          <p:nvPr>
            <p:ph type="sldNum" sz="quarter" idx="4"/>
          </p:nvPr>
        </p:nvSpPr>
        <p:spPr>
          <a:xfrm>
            <a:off x="7210425" y="28575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eaLnBrk="0" hangingPunct="0">
              <a:spcBef>
                <a:spcPct val="50000"/>
              </a:spcBef>
            </a:pPr>
            <a:fld id="{9A0DB2DC-4C9A-4742-B13C-FB6460FD3503}" type="slidenum">
              <a:rPr lang="en-US">
                <a:latin typeface="Times New Roman" panose="02020603050405020304" pitchFamily="18" charset="0"/>
              </a:rPr>
              <a:pPr lvl="0" eaLnBrk="0" hangingPunct="0">
                <a:spcBef>
                  <a:spcPct val="50000"/>
                </a:spcBef>
              </a:pPr>
              <a:t>‹#›</a:t>
            </a:fld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265229" name="Oval 265228"/>
          <p:cNvSpPr/>
          <p:nvPr userDrawn="1"/>
        </p:nvSpPr>
        <p:spPr>
          <a:xfrm>
            <a:off x="0" y="1371600"/>
            <a:ext cx="457200" cy="381000"/>
          </a:xfrm>
          <a:prstGeom prst="ellipse">
            <a:avLst/>
          </a:prstGeom>
          <a:noFill/>
          <a:ln w="127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lvl="0" algn="ctr" eaLnBrk="1" hangingPunct="1">
              <a:buClrTx/>
            </a:pPr>
            <a:endParaRPr sz="1800">
              <a:latin typeface="Arial" panose="020B0604020202020204" pitchFamily="34" charset="0"/>
            </a:endParaRPr>
          </a:p>
        </p:txBody>
      </p:sp>
      <p:sp>
        <p:nvSpPr>
          <p:cNvPr id="265232" name="Oval 265231"/>
          <p:cNvSpPr/>
          <p:nvPr userDrawn="1"/>
        </p:nvSpPr>
        <p:spPr>
          <a:xfrm>
            <a:off x="8686800" y="0"/>
            <a:ext cx="457200" cy="381000"/>
          </a:xfrm>
          <a:prstGeom prst="ellipse">
            <a:avLst/>
          </a:prstGeom>
          <a:noFill/>
          <a:ln w="127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lvl="0" algn="ctr" eaLnBrk="1" hangingPunct="1">
              <a:buClrTx/>
            </a:pPr>
            <a:endParaRPr sz="180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1"/>
        </a:buClr>
        <a:buChar char="•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1"/>
        </a:buClr>
        <a:buChar char="•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1"/>
        </a:buClr>
        <a:buChar char="•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1"/>
        </a:buClr>
        <a:buChar char="•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Verdana" panose="020B0604030504040204" pitchFamily="34" charset="0"/>
          <a:ea typeface="Times New Roman" panose="02020603050405020304" pitchFamily="18" charset="0"/>
          <a:cs typeface="+mn-cs"/>
        </a:defRPr>
      </a:lvl2pPr>
      <a:lvl3pPr marL="914400" lvl="2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Verdana" panose="020B0604030504040204" pitchFamily="34" charset="0"/>
          <a:ea typeface="Times New Roman" panose="02020603050405020304" pitchFamily="18" charset="0"/>
          <a:cs typeface="+mn-cs"/>
        </a:defRPr>
      </a:lvl3pPr>
      <a:lvl4pPr marL="1371600" lvl="3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Verdana" panose="020B0604030504040204" pitchFamily="34" charset="0"/>
          <a:ea typeface="Times New Roman" panose="02020603050405020304" pitchFamily="18" charset="0"/>
          <a:cs typeface="+mn-cs"/>
        </a:defRPr>
      </a:lvl4pPr>
      <a:lvl5pPr marL="1828800" lvl="4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Verdana" panose="020B0604030504040204" pitchFamily="34" charset="0"/>
          <a:ea typeface="Times New Roman" panose="02020603050405020304" pitchFamily="18" charset="0"/>
          <a:cs typeface="+mn-cs"/>
        </a:defRPr>
      </a:lvl5pPr>
      <a:lvl6pPr marL="2286000" lvl="5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Verdana" panose="020B0604030504040204" pitchFamily="34" charset="0"/>
          <a:ea typeface="Times New Roman" panose="02020603050405020304" pitchFamily="18" charset="0"/>
          <a:cs typeface="+mn-cs"/>
        </a:defRPr>
      </a:lvl6pPr>
      <a:lvl7pPr marL="2743200" lvl="6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Verdana" panose="020B0604030504040204" pitchFamily="34" charset="0"/>
          <a:ea typeface="Times New Roman" panose="02020603050405020304" pitchFamily="18" charset="0"/>
          <a:cs typeface="+mn-cs"/>
        </a:defRPr>
      </a:lvl7pPr>
      <a:lvl8pPr marL="3200400" lvl="7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Verdana" panose="020B0604030504040204" pitchFamily="34" charset="0"/>
          <a:ea typeface="Times New Roman" panose="02020603050405020304" pitchFamily="18" charset="0"/>
          <a:cs typeface="+mn-cs"/>
        </a:defRPr>
      </a:lvl8pPr>
      <a:lvl9pPr marL="3657600" lvl="8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Verdana" panose="020B0604030504040204" pitchFamily="34" charset="0"/>
          <a:ea typeface="Times New Roman" panose="02020603050405020304" pitchFamily="18" charset="0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371600"/>
            <a:ext cx="7772400" cy="147002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 smtClean="0">
                <a:solidFill>
                  <a:schemeClr val="bg1"/>
                </a:solidFill>
              </a:rPr>
              <a:t>CS-111</a:t>
            </a:r>
            <a:r>
              <a:rPr lang="en-US" sz="4000" dirty="0">
                <a:solidFill>
                  <a:schemeClr val="bg1"/>
                </a:solidFill>
              </a:rPr>
              <a:t/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b="1" dirty="0" smtClean="0">
                <a:solidFill>
                  <a:schemeClr val="bg1"/>
                </a:solidFill>
              </a:rPr>
              <a:t>Fundamentals of Computer </a:t>
            </a:r>
            <a:r>
              <a:rPr lang="en-US" sz="4000" b="1" dirty="0">
                <a:solidFill>
                  <a:schemeClr val="bg1"/>
                </a:solidFill>
              </a:rPr>
              <a:t>Programming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733800"/>
            <a:ext cx="6400800" cy="175260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Lecture 2 (Part – I)</a:t>
            </a:r>
          </a:p>
          <a:p>
            <a:pPr algn="ctr"/>
            <a:r>
              <a:rPr lang="en-US" dirty="0" smtClean="0">
                <a:solidFill>
                  <a:schemeClr val="bg1"/>
                </a:solidFill>
              </a:rPr>
              <a:t>Program Development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029200" cy="365125"/>
          </a:xfrm>
        </p:spPr>
        <p:txBody>
          <a:bodyPr/>
          <a:lstStyle/>
          <a:p>
            <a:r>
              <a:rPr lang="en-US" sz="1800" b="1" dirty="0" smtClean="0">
                <a:solidFill>
                  <a:schemeClr val="bg1"/>
                </a:solidFill>
              </a:rPr>
              <a:t>Institute of Geographical Information Systems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http://www.nust.edu.pk/SiteCollectionImages/logo_SEECS_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772400" y="5867400"/>
            <a:ext cx="1143000" cy="923925"/>
          </a:xfrm>
          <a:prstGeom prst="rect">
            <a:avLst/>
          </a:prstGeom>
          <a:noFill/>
        </p:spPr>
      </p:pic>
      <p:sp>
        <p:nvSpPr>
          <p:cNvPr id="15" name="Rectangle 14"/>
          <p:cNvSpPr/>
          <p:nvPr/>
        </p:nvSpPr>
        <p:spPr>
          <a:xfrm>
            <a:off x="0" y="5867400"/>
            <a:ext cx="2286000" cy="990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Course Instructor:</a:t>
            </a:r>
          </a:p>
          <a:p>
            <a:pPr algn="ctr"/>
            <a:r>
              <a:rPr lang="en-US" b="1" dirty="0" smtClean="0"/>
              <a:t>Qurrat-</a:t>
            </a:r>
            <a:r>
              <a:rPr lang="en-US" b="1" dirty="0" err="1" smtClean="0"/>
              <a:t>ul</a:t>
            </a:r>
            <a:r>
              <a:rPr lang="en-US" b="1" dirty="0" smtClean="0"/>
              <a:t>-</a:t>
            </a:r>
            <a:r>
              <a:rPr lang="en-US" b="1" dirty="0" err="1" smtClean="0"/>
              <a:t>ain</a:t>
            </a:r>
            <a:r>
              <a:rPr lang="en-US" b="1" dirty="0" smtClean="0"/>
              <a:t> Babar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5015865" y="6144994"/>
            <a:ext cx="289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NUST Institute of Civil Engineering (NICE)</a:t>
            </a:r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828800" y="449759"/>
            <a:ext cx="5257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Road Map for Today</a:t>
            </a:r>
            <a:endParaRPr lang="en-US" sz="4400" b="1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676400"/>
            <a:ext cx="8534400" cy="34290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Tx/>
              <a:buFontTx/>
              <a:buChar char="•"/>
              <a:defRPr/>
            </a:pPr>
            <a:r>
              <a:rPr kumimoji="0" lang="en-US" sz="32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RECAP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Tx/>
              <a:buFontTx/>
              <a:buChar char="•"/>
              <a:defRPr/>
            </a:pPr>
            <a:r>
              <a:rPr kumimoji="0" lang="en-US" sz="32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Developing</a:t>
            </a:r>
            <a:r>
              <a:rPr kumimoji="0" lang="en-US" sz="3200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 a program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Tx/>
              <a:buFontTx/>
              <a:buChar char="•"/>
              <a:defRPr/>
            </a:pPr>
            <a:r>
              <a:rPr kumimoji="0" lang="en-US" sz="3200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Introduction to C++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Tx/>
              <a:buFontTx/>
              <a:buChar char="•"/>
              <a:defRPr/>
            </a:pPr>
            <a:r>
              <a:rPr kumimoji="0" lang="en-US" sz="3200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Typical C++ Environment 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2337137"/>
            <a:ext cx="8610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 smtClean="0">
                <a:solidFill>
                  <a:srgbClr val="0070C0"/>
                </a:solidFill>
              </a:rPr>
              <a:t>Developing a Program</a:t>
            </a:r>
            <a:endParaRPr lang="en-US" sz="6000" b="1" dirty="0">
              <a:solidFill>
                <a:srgbClr val="0070C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8480C6-4987-4F8C-A0DF-6C6E0350513E}" type="slidenum">
              <a:rPr lang="en-US"/>
              <a:pPr/>
              <a:t>4</a:t>
            </a:fld>
            <a:endParaRPr lang="en-US"/>
          </a:p>
        </p:txBody>
      </p:sp>
      <p:sp>
        <p:nvSpPr>
          <p:cNvPr id="1792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066800"/>
          </a:xfrm>
        </p:spPr>
        <p:txBody>
          <a:bodyPr/>
          <a:lstStyle/>
          <a:p>
            <a:r>
              <a:rPr lang="en-US" sz="36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 Solving and Implementation</a:t>
            </a:r>
            <a:endParaRPr lang="en-US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9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772400" cy="5257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>
                <a:solidFill>
                  <a:srgbClr val="0070C0"/>
                </a:solidFill>
              </a:rPr>
              <a:t>1.  </a:t>
            </a:r>
            <a:r>
              <a:rPr lang="en-US" sz="3200" b="1" i="1" dirty="0" smtClean="0">
                <a:solidFill>
                  <a:srgbClr val="0070C0"/>
                </a:solidFill>
              </a:rPr>
              <a:t>Problem Solving</a:t>
            </a:r>
            <a:endParaRPr lang="en-US" sz="3200" b="1" i="1" dirty="0">
              <a:solidFill>
                <a:srgbClr val="0070C0"/>
              </a:solidFill>
            </a:endParaRPr>
          </a:p>
          <a:p>
            <a:pPr lvl="1">
              <a:buClr>
                <a:srgbClr val="92D050"/>
              </a:buClr>
            </a:pPr>
            <a:r>
              <a:rPr lang="en-US" sz="2800" dirty="0" smtClean="0"/>
              <a:t>Define: Clearly describe a problem</a:t>
            </a:r>
            <a:endParaRPr lang="en-US" sz="2800" dirty="0"/>
          </a:p>
          <a:p>
            <a:pPr lvl="1">
              <a:buClr>
                <a:srgbClr val="92D050"/>
              </a:buClr>
            </a:pPr>
            <a:r>
              <a:rPr lang="en-US" sz="2800" dirty="0" smtClean="0"/>
              <a:t>Design its solution: Produce an ordered sequence of steps  that describes solution to the problem</a:t>
            </a:r>
          </a:p>
          <a:p>
            <a:pPr>
              <a:buNone/>
            </a:pPr>
            <a:r>
              <a:rPr lang="en-US" sz="3200" b="1" dirty="0" smtClean="0">
                <a:solidFill>
                  <a:srgbClr val="0070C0"/>
                </a:solidFill>
              </a:rPr>
              <a:t>2.  </a:t>
            </a:r>
            <a:r>
              <a:rPr lang="en-US" sz="3200" b="1" i="1" dirty="0" smtClean="0">
                <a:solidFill>
                  <a:srgbClr val="0070C0"/>
                </a:solidFill>
              </a:rPr>
              <a:t>Implementation Phase</a:t>
            </a:r>
          </a:p>
          <a:p>
            <a:pPr lvl="1">
              <a:buClr>
                <a:srgbClr val="92D050"/>
              </a:buClr>
            </a:pPr>
            <a:r>
              <a:rPr lang="en-US" sz="2800" dirty="0" smtClean="0"/>
              <a:t>Implement the program in some programming language</a:t>
            </a:r>
          </a:p>
          <a:p>
            <a:pPr lvl="1">
              <a:buClr>
                <a:srgbClr val="92D050"/>
              </a:buClr>
            </a:pPr>
            <a:r>
              <a:rPr lang="en-US" sz="2800" dirty="0" smtClean="0"/>
              <a:t>Write code, compile, link, test, debug</a:t>
            </a:r>
            <a:endParaRPr 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0" y="1076980"/>
            <a:ext cx="800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FFC000"/>
                </a:solidFill>
              </a:rPr>
              <a:t>A programming task can be divided into two phases:</a:t>
            </a:r>
            <a:endParaRPr lang="en-US" sz="2800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8480C6-4987-4F8C-A0DF-6C6E0350513E}" type="slidenum">
              <a:rPr lang="en-US"/>
              <a:pPr/>
              <a:t>5</a:t>
            </a:fld>
            <a:endParaRPr lang="en-US"/>
          </a:p>
        </p:txBody>
      </p:sp>
      <p:sp>
        <p:nvSpPr>
          <p:cNvPr id="1792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066800"/>
          </a:xfrm>
        </p:spPr>
        <p:txBody>
          <a:bodyPr/>
          <a:lstStyle/>
          <a:p>
            <a:r>
              <a:rPr lang="en-US" sz="36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 Solving and Implementation</a:t>
            </a:r>
            <a:endParaRPr lang="en-US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900" y="1066800"/>
            <a:ext cx="6172200" cy="5561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222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8480C6-4987-4F8C-A0DF-6C6E0350513E}" type="slidenum">
              <a:rPr lang="en-US"/>
              <a:pPr/>
              <a:t>6</a:t>
            </a:fld>
            <a:endParaRPr lang="en-US"/>
          </a:p>
        </p:txBody>
      </p:sp>
      <p:sp>
        <p:nvSpPr>
          <p:cNvPr id="1792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066800"/>
          </a:xfrm>
        </p:spPr>
        <p:txBody>
          <a:bodyPr/>
          <a:lstStyle/>
          <a:p>
            <a:pPr algn="l"/>
            <a:r>
              <a:rPr lang="en-US" sz="36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Define a Problem:</a:t>
            </a:r>
            <a:endParaRPr lang="en-US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9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2438400"/>
            <a:ext cx="9144000" cy="5257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/>
              <a:t>Display whether the temperature entered by the user is below or above freezing point?</a:t>
            </a:r>
          </a:p>
          <a:p>
            <a:pPr>
              <a:buNone/>
            </a:pPr>
            <a:endParaRPr lang="en-US" b="1" dirty="0" smtClean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b="1" dirty="0" smtClean="0"/>
              <a:t>Input;          </a:t>
            </a:r>
            <a:r>
              <a:rPr lang="en-US" sz="2800" b="1" dirty="0" smtClean="0">
                <a:solidFill>
                  <a:srgbClr val="0070C0"/>
                </a:solidFill>
              </a:rPr>
              <a:t>Read the temperature from keyboard</a:t>
            </a:r>
          </a:p>
          <a:p>
            <a:pPr>
              <a:buNone/>
            </a:pPr>
            <a:r>
              <a:rPr lang="en-US" sz="2800" b="1" dirty="0" smtClean="0"/>
              <a:t>Processing;</a:t>
            </a:r>
            <a:r>
              <a:rPr lang="en-US" sz="2800" b="1" dirty="0" smtClean="0">
                <a:solidFill>
                  <a:srgbClr val="0070C0"/>
                </a:solidFill>
              </a:rPr>
              <a:t>	 Test the temperature – below or above  			 freezing point</a:t>
            </a:r>
          </a:p>
          <a:p>
            <a:pPr>
              <a:buNone/>
            </a:pPr>
            <a:r>
              <a:rPr lang="en-US" b="1" dirty="0" smtClean="0"/>
              <a:t>Output;       </a:t>
            </a:r>
            <a:r>
              <a:rPr lang="en-US" sz="2800" b="1" dirty="0" smtClean="0">
                <a:solidFill>
                  <a:srgbClr val="0070C0"/>
                </a:solidFill>
              </a:rPr>
              <a:t>Display the result on 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76980"/>
            <a:ext cx="8001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FFC000"/>
                </a:solidFill>
              </a:rPr>
              <a:t>Break the definition of the problem down into manageable steps. Example: input, processing, output</a:t>
            </a:r>
            <a:endParaRPr lang="en-US" sz="2800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8480C6-4987-4F8C-A0DF-6C6E0350513E}" type="slidenum">
              <a:rPr lang="en-US"/>
              <a:pPr/>
              <a:t>7</a:t>
            </a:fld>
            <a:endParaRPr lang="en-US"/>
          </a:p>
        </p:txBody>
      </p:sp>
      <p:sp>
        <p:nvSpPr>
          <p:cNvPr id="1792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066800"/>
          </a:xfrm>
        </p:spPr>
        <p:txBody>
          <a:bodyPr/>
          <a:lstStyle/>
          <a:p>
            <a:r>
              <a:rPr lang="en-US" sz="36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Design the solution</a:t>
            </a:r>
            <a:endParaRPr lang="en-US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9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5257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>
                <a:solidFill>
                  <a:srgbClr val="0070C0"/>
                </a:solidFill>
              </a:rPr>
              <a:t>Algorithm:</a:t>
            </a:r>
            <a:endParaRPr lang="en-US" sz="3200" b="1" i="1" dirty="0">
              <a:solidFill>
                <a:srgbClr val="0070C0"/>
              </a:solidFill>
            </a:endParaRPr>
          </a:p>
          <a:p>
            <a:pPr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dirty="0" smtClean="0"/>
              <a:t>A precise rule or set of rules specifying how to solve a problem</a:t>
            </a:r>
          </a:p>
          <a:p>
            <a:pPr>
              <a:buClr>
                <a:srgbClr val="0070C0"/>
              </a:buClr>
              <a:buFont typeface="Arial" panose="020B0604020202020204" pitchFamily="34" charset="0"/>
              <a:buChar char="•"/>
            </a:pPr>
            <a:endParaRPr lang="en-US" sz="1000" dirty="0" smtClean="0"/>
          </a:p>
          <a:p>
            <a:pPr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dirty="0" smtClean="0"/>
              <a:t>A sequence of language independent steps which may be followed to solve a problem. An algorithm can be developed with a:</a:t>
            </a:r>
          </a:p>
          <a:p>
            <a:pPr lvl="1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en-US" sz="2800" b="1" dirty="0" smtClean="0"/>
              <a:t>Pseudo code</a:t>
            </a:r>
          </a:p>
          <a:p>
            <a:pPr lvl="1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en-US" sz="2800" b="1" dirty="0" smtClean="0"/>
              <a:t>Flowchart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8480C6-4987-4F8C-A0DF-6C6E0350513E}" type="slidenum">
              <a:rPr lang="en-US"/>
              <a:pPr/>
              <a:t>8</a:t>
            </a:fld>
            <a:endParaRPr lang="en-US"/>
          </a:p>
        </p:txBody>
      </p:sp>
      <p:sp>
        <p:nvSpPr>
          <p:cNvPr id="1792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066800"/>
          </a:xfrm>
        </p:spPr>
        <p:txBody>
          <a:bodyPr/>
          <a:lstStyle/>
          <a:p>
            <a:r>
              <a:rPr lang="en-US" sz="36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Algorithm</a:t>
            </a:r>
            <a:endParaRPr lang="en-US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9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52578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3600" b="1" dirty="0" smtClean="0">
                <a:solidFill>
                  <a:srgbClr val="0070C0"/>
                </a:solidFill>
              </a:rPr>
              <a:t>Pseudo code</a:t>
            </a:r>
            <a:endParaRPr lang="en-US" sz="3600" b="1" i="1" dirty="0">
              <a:solidFill>
                <a:srgbClr val="0070C0"/>
              </a:solidFill>
            </a:endParaRPr>
          </a:p>
          <a:p>
            <a:pPr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dirty="0" smtClean="0"/>
              <a:t>Artificial, informal language that helps us develop algorithms </a:t>
            </a:r>
          </a:p>
          <a:p>
            <a:pPr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dirty="0" smtClean="0"/>
              <a:t>Similar to everyday English</a:t>
            </a:r>
          </a:p>
          <a:p>
            <a:pPr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dirty="0" smtClean="0"/>
              <a:t>Not actually executed on Computers</a:t>
            </a:r>
          </a:p>
          <a:p>
            <a:pPr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dirty="0" smtClean="0"/>
              <a:t>Helps us think out a program before writing it</a:t>
            </a:r>
          </a:p>
          <a:p>
            <a:pPr lvl="1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en-US" sz="2800" dirty="0" smtClean="0"/>
              <a:t>Easy to convert into a corresponding  C++ program</a:t>
            </a:r>
          </a:p>
          <a:p>
            <a:pPr lvl="1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en-US" sz="2800" dirty="0" smtClean="0"/>
              <a:t>Consists only of executable statements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8480C6-4987-4F8C-A0DF-6C6E0350513E}" type="slidenum">
              <a:rPr lang="en-US"/>
              <a:pPr/>
              <a:t>9</a:t>
            </a:fld>
            <a:endParaRPr lang="en-US"/>
          </a:p>
        </p:txBody>
      </p:sp>
      <p:sp>
        <p:nvSpPr>
          <p:cNvPr id="1792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066800"/>
          </a:xfrm>
        </p:spPr>
        <p:txBody>
          <a:bodyPr/>
          <a:lstStyle/>
          <a:p>
            <a:r>
              <a:rPr lang="en-US" sz="36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Algorithm</a:t>
            </a:r>
            <a:endParaRPr lang="en-US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9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5257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600" b="1" dirty="0" smtClean="0">
                <a:solidFill>
                  <a:srgbClr val="0070C0"/>
                </a:solidFill>
              </a:rPr>
              <a:t>Flowchart</a:t>
            </a:r>
            <a:endParaRPr lang="en-US" sz="3600" b="1" i="1" dirty="0">
              <a:solidFill>
                <a:srgbClr val="0070C0"/>
              </a:solidFill>
            </a:endParaRPr>
          </a:p>
          <a:p>
            <a:pPr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dirty="0" smtClean="0"/>
              <a:t>Diagrammatic or graphical </a:t>
            </a:r>
            <a:r>
              <a:rPr lang="en-US" dirty="0" err="1" smtClean="0"/>
              <a:t>represenations</a:t>
            </a:r>
            <a:r>
              <a:rPr lang="en-US" dirty="0" smtClean="0"/>
              <a:t> of steps for solving the given problem.</a:t>
            </a:r>
          </a:p>
          <a:p>
            <a:pPr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dirty="0" smtClean="0"/>
              <a:t>Use standard symbols developed by ANSI (American National Standard Institute)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8480C6-4987-4F8C-A0DF-6C6E0350513E}" type="slidenum">
              <a:rPr lang="en-US"/>
              <a:pPr/>
              <a:t>10</a:t>
            </a:fld>
            <a:endParaRPr lang="en-US"/>
          </a:p>
        </p:txBody>
      </p:sp>
      <p:sp>
        <p:nvSpPr>
          <p:cNvPr id="1792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066800"/>
          </a:xfrm>
        </p:spPr>
        <p:txBody>
          <a:bodyPr/>
          <a:lstStyle/>
          <a:p>
            <a:r>
              <a:rPr lang="en-US" sz="36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Building Blocks of Flowchart</a:t>
            </a:r>
            <a:endParaRPr lang="en-US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9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525780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200000"/>
              </a:lnSpc>
              <a:buNone/>
            </a:pPr>
            <a:r>
              <a:rPr lang="en-US" dirty="0" smtClean="0"/>
              <a:t>Start and End </a:t>
            </a:r>
          </a:p>
          <a:p>
            <a:pPr>
              <a:lnSpc>
                <a:spcPct val="200000"/>
              </a:lnSpc>
              <a:buNone/>
            </a:pPr>
            <a:r>
              <a:rPr lang="en-US" dirty="0" smtClean="0"/>
              <a:t>Connector</a:t>
            </a:r>
          </a:p>
          <a:p>
            <a:pPr>
              <a:lnSpc>
                <a:spcPct val="200000"/>
              </a:lnSpc>
              <a:buNone/>
            </a:pPr>
            <a:r>
              <a:rPr lang="en-US" dirty="0" smtClean="0"/>
              <a:t>Arrows</a:t>
            </a:r>
          </a:p>
          <a:p>
            <a:pPr>
              <a:lnSpc>
                <a:spcPct val="200000"/>
              </a:lnSpc>
              <a:buNone/>
            </a:pPr>
            <a:r>
              <a:rPr lang="en-US" dirty="0" smtClean="0"/>
              <a:t>Processing Steps</a:t>
            </a:r>
          </a:p>
          <a:p>
            <a:pPr>
              <a:lnSpc>
                <a:spcPct val="200000"/>
              </a:lnSpc>
              <a:buNone/>
            </a:pPr>
            <a:r>
              <a:rPr lang="en-US" dirty="0" smtClean="0"/>
              <a:t>Input/ Output</a:t>
            </a:r>
          </a:p>
          <a:p>
            <a:pPr>
              <a:lnSpc>
                <a:spcPct val="200000"/>
              </a:lnSpc>
              <a:buNone/>
            </a:pPr>
            <a:r>
              <a:rPr lang="en-US" dirty="0" smtClean="0"/>
              <a:t>Decision</a:t>
            </a:r>
          </a:p>
        </p:txBody>
      </p:sp>
      <p:sp>
        <p:nvSpPr>
          <p:cNvPr id="5" name="Flowchart: Terminator 4"/>
          <p:cNvSpPr/>
          <p:nvPr/>
        </p:nvSpPr>
        <p:spPr bwMode="auto">
          <a:xfrm>
            <a:off x="5486400" y="1524000"/>
            <a:ext cx="1752600" cy="457200"/>
          </a:xfrm>
          <a:prstGeom prst="flowChartTerminator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Helvetica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Flowchart: Connector 5"/>
          <p:cNvSpPr/>
          <p:nvPr/>
        </p:nvSpPr>
        <p:spPr bwMode="auto">
          <a:xfrm>
            <a:off x="6019800" y="2438400"/>
            <a:ext cx="533400" cy="533400"/>
          </a:xfrm>
          <a:prstGeom prst="flowChartConnector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Helvetica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Arrow Connector 7"/>
          <p:cNvCxnSpPr/>
          <p:nvPr/>
        </p:nvCxnSpPr>
        <p:spPr bwMode="auto">
          <a:xfrm rot="5400000">
            <a:off x="6019006" y="3428206"/>
            <a:ext cx="609600" cy="158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" name="Flowchart: Process 8"/>
          <p:cNvSpPr/>
          <p:nvPr/>
        </p:nvSpPr>
        <p:spPr bwMode="auto">
          <a:xfrm>
            <a:off x="5638800" y="4038600"/>
            <a:ext cx="1524000" cy="685800"/>
          </a:xfrm>
          <a:prstGeom prst="flowChartProcess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Helvetica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Flowchart: Data 9"/>
          <p:cNvSpPr/>
          <p:nvPr/>
        </p:nvSpPr>
        <p:spPr bwMode="auto">
          <a:xfrm>
            <a:off x="5334000" y="5029200"/>
            <a:ext cx="1905000" cy="533400"/>
          </a:xfrm>
          <a:prstGeom prst="flowChartInputOutpu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Helvetica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Flowchart: Decision 10"/>
          <p:cNvSpPr/>
          <p:nvPr/>
        </p:nvSpPr>
        <p:spPr bwMode="auto">
          <a:xfrm>
            <a:off x="5410200" y="5791200"/>
            <a:ext cx="1752600" cy="914400"/>
          </a:xfrm>
          <a:prstGeom prst="flowChartDecisio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Helvetica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63417-AE59-40AD-B7C0-A3CE22D2C5E6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9216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2640" y="457200"/>
            <a:ext cx="8658719" cy="59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Flowchart: Process 6"/>
          <p:cNvSpPr/>
          <p:nvPr/>
        </p:nvSpPr>
        <p:spPr bwMode="auto">
          <a:xfrm>
            <a:off x="0" y="4267200"/>
            <a:ext cx="9144000" cy="2590800"/>
          </a:xfrm>
          <a:prstGeom prst="flowChartProcess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Helvetica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9600" y="3048000"/>
            <a:ext cx="38100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0</a:t>
            </a:r>
            <a:endParaRPr 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8480C6-4987-4F8C-A0DF-6C6E0350513E}" type="slidenum">
              <a:rPr lang="en-US"/>
              <a:pPr/>
              <a:t>12</a:t>
            </a:fld>
            <a:endParaRPr lang="en-US"/>
          </a:p>
        </p:txBody>
      </p:sp>
      <p:sp>
        <p:nvSpPr>
          <p:cNvPr id="1792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066800"/>
          </a:xfrm>
        </p:spPr>
        <p:txBody>
          <a:bodyPr/>
          <a:lstStyle/>
          <a:p>
            <a:r>
              <a:rPr lang="en-US" sz="3600" b="1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Algorithm – Pseudo code</a:t>
            </a:r>
            <a:endParaRPr lang="en-US" sz="3600" b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9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5257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	Example -1: </a:t>
            </a:r>
          </a:p>
          <a:p>
            <a:pPr>
              <a:buNone/>
            </a:pPr>
            <a:r>
              <a:rPr lang="en-US" dirty="0" smtClean="0"/>
              <a:t>	Print “Enter Temperature”</a:t>
            </a:r>
          </a:p>
          <a:p>
            <a:pPr>
              <a:buNone/>
            </a:pPr>
            <a:r>
              <a:rPr lang="en-US" dirty="0" smtClean="0"/>
              <a:t>	Read the Temp </a:t>
            </a:r>
          </a:p>
          <a:p>
            <a:pPr>
              <a:buNone/>
            </a:pPr>
            <a:r>
              <a:rPr lang="en-US" dirty="0" smtClean="0"/>
              <a:t>	if (Temp &lt; 0) then </a:t>
            </a:r>
          </a:p>
          <a:p>
            <a:pPr>
              <a:buNone/>
            </a:pPr>
            <a:r>
              <a:rPr lang="en-US" dirty="0" smtClean="0"/>
              <a:t>	Print “BELOW FREEZING” </a:t>
            </a:r>
          </a:p>
          <a:p>
            <a:pPr>
              <a:buNone/>
            </a:pPr>
            <a:r>
              <a:rPr lang="en-US" dirty="0" smtClean="0"/>
              <a:t>	else </a:t>
            </a:r>
          </a:p>
          <a:p>
            <a:pPr>
              <a:buNone/>
            </a:pPr>
            <a:r>
              <a:rPr lang="en-US" dirty="0" smtClean="0"/>
              <a:t>	Print “ABOVE FREEZING” 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err="1" smtClean="0"/>
              <a:t>endif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Straight Arrow Connector 51"/>
          <p:cNvCxnSpPr/>
          <p:nvPr/>
        </p:nvCxnSpPr>
        <p:spPr bwMode="auto">
          <a:xfrm rot="5400000">
            <a:off x="4190206" y="3050202"/>
            <a:ext cx="609600" cy="158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1" name="Straight Arrow Connector 50"/>
          <p:cNvCxnSpPr/>
          <p:nvPr/>
        </p:nvCxnSpPr>
        <p:spPr bwMode="auto">
          <a:xfrm rot="5400000">
            <a:off x="4191794" y="1983402"/>
            <a:ext cx="609600" cy="158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457200" y="6511746"/>
            <a:ext cx="2133600" cy="365125"/>
          </a:xfrm>
        </p:spPr>
        <p:txBody>
          <a:bodyPr/>
          <a:lstStyle/>
          <a:p>
            <a:fld id="{BE8480C6-4987-4F8C-A0DF-6C6E0350513E}" type="slidenum">
              <a:rPr lang="en-US"/>
              <a:pPr/>
              <a:t>13</a:t>
            </a:fld>
            <a:endParaRPr lang="en-US"/>
          </a:p>
        </p:txBody>
      </p:sp>
      <p:sp>
        <p:nvSpPr>
          <p:cNvPr id="179202" name="Rectangle 2"/>
          <p:cNvSpPr>
            <a:spLocks noGrp="1" noChangeArrowheads="1"/>
          </p:cNvSpPr>
          <p:nvPr>
            <p:ph type="title"/>
          </p:nvPr>
        </p:nvSpPr>
        <p:spPr>
          <a:xfrm>
            <a:off x="-2514600" y="0"/>
            <a:ext cx="7772400" cy="1066800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Algorithm – </a:t>
            </a:r>
            <a:br>
              <a:rPr lang="en-US" sz="3600" b="1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600" b="1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Flowchart</a:t>
            </a:r>
            <a:endParaRPr lang="en-US" sz="3600" b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lowchart: Terminator 4"/>
          <p:cNvSpPr/>
          <p:nvPr/>
        </p:nvSpPr>
        <p:spPr bwMode="auto">
          <a:xfrm>
            <a:off x="3657600" y="0"/>
            <a:ext cx="1676400" cy="476071"/>
          </a:xfrm>
          <a:prstGeom prst="flowChartTerminator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Helvetica" pitchFamily="34" charset="0"/>
                <a:cs typeface="Times New Roman" panose="02020603050405020304" pitchFamily="18" charset="0"/>
              </a:rPr>
              <a:t>Start</a:t>
            </a:r>
          </a:p>
        </p:txBody>
      </p:sp>
      <p:sp>
        <p:nvSpPr>
          <p:cNvPr id="6" name="Flowchart: Data 5"/>
          <p:cNvSpPr/>
          <p:nvPr/>
        </p:nvSpPr>
        <p:spPr bwMode="auto">
          <a:xfrm>
            <a:off x="3581400" y="2313821"/>
            <a:ext cx="1676400" cy="584775"/>
          </a:xfrm>
          <a:prstGeom prst="flowChartInputOutpu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Helvetica" pitchFamily="34" charset="0"/>
                <a:cs typeface="Times New Roman" panose="02020603050405020304" pitchFamily="18" charset="0"/>
              </a:rPr>
              <a:t>Read Temp</a:t>
            </a:r>
          </a:p>
        </p:txBody>
      </p:sp>
      <p:sp>
        <p:nvSpPr>
          <p:cNvPr id="7" name="Flowchart: Decision 6"/>
          <p:cNvSpPr/>
          <p:nvPr/>
        </p:nvSpPr>
        <p:spPr bwMode="auto">
          <a:xfrm>
            <a:off x="3657600" y="3355796"/>
            <a:ext cx="1600200" cy="1161633"/>
          </a:xfrm>
          <a:prstGeom prst="flowChartDecisio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Helvetica" pitchFamily="34" charset="0"/>
                <a:cs typeface="Times New Roman" panose="02020603050405020304" pitchFamily="18" charset="0"/>
              </a:rPr>
              <a:t>Temp&lt;0?</a:t>
            </a:r>
          </a:p>
        </p:txBody>
      </p:sp>
      <p:sp>
        <p:nvSpPr>
          <p:cNvPr id="10" name="Flowchart: Terminator 9"/>
          <p:cNvSpPr/>
          <p:nvPr/>
        </p:nvSpPr>
        <p:spPr bwMode="auto">
          <a:xfrm>
            <a:off x="3657600" y="6384925"/>
            <a:ext cx="1676400" cy="476071"/>
          </a:xfrm>
          <a:prstGeom prst="flowChartTerminator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Helvetica" pitchFamily="34" charset="0"/>
                <a:cs typeface="Times New Roman" panose="02020603050405020304" pitchFamily="18" charset="0"/>
              </a:rPr>
              <a:t>End</a:t>
            </a:r>
          </a:p>
        </p:txBody>
      </p:sp>
      <p:cxnSp>
        <p:nvCxnSpPr>
          <p:cNvPr id="20" name="Shape 19"/>
          <p:cNvCxnSpPr>
            <a:stCxn id="7" idx="3"/>
          </p:cNvCxnSpPr>
          <p:nvPr/>
        </p:nvCxnSpPr>
        <p:spPr bwMode="auto">
          <a:xfrm>
            <a:off x="5257800" y="3936613"/>
            <a:ext cx="1485900" cy="790783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2" name="Shape 21"/>
          <p:cNvCxnSpPr>
            <a:stCxn id="7" idx="1"/>
          </p:cNvCxnSpPr>
          <p:nvPr/>
        </p:nvCxnSpPr>
        <p:spPr bwMode="auto">
          <a:xfrm rot="10800000" flipV="1">
            <a:off x="2171700" y="3936612"/>
            <a:ext cx="1485900" cy="866983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4" name="Elbow Connector 23"/>
          <p:cNvCxnSpPr>
            <a:endCxn id="10" idx="0"/>
          </p:cNvCxnSpPr>
          <p:nvPr/>
        </p:nvCxnSpPr>
        <p:spPr bwMode="auto">
          <a:xfrm rot="5400000">
            <a:off x="5206484" y="4847709"/>
            <a:ext cx="826532" cy="2247900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7" name="TextBox 46"/>
          <p:cNvSpPr txBox="1"/>
          <p:nvPr/>
        </p:nvSpPr>
        <p:spPr>
          <a:xfrm>
            <a:off x="2362200" y="3508196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Yes</a:t>
            </a:r>
            <a:endParaRPr lang="en-US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5562600" y="3508196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No</a:t>
            </a:r>
            <a:endParaRPr lang="en-US" b="1" dirty="0"/>
          </a:p>
        </p:txBody>
      </p:sp>
      <p:cxnSp>
        <p:nvCxnSpPr>
          <p:cNvPr id="61" name="Shape 60"/>
          <p:cNvCxnSpPr>
            <a:endCxn id="10" idx="0"/>
          </p:cNvCxnSpPr>
          <p:nvPr/>
        </p:nvCxnSpPr>
        <p:spPr bwMode="auto">
          <a:xfrm rot="16200000" flipH="1">
            <a:off x="2958584" y="4847709"/>
            <a:ext cx="750332" cy="2324100"/>
          </a:xfrm>
          <a:prstGeom prst="bentConnector3">
            <a:avLst>
              <a:gd name="adj1" fmla="val 43230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4" name="Flowchart: Data 63"/>
          <p:cNvSpPr/>
          <p:nvPr/>
        </p:nvSpPr>
        <p:spPr bwMode="auto">
          <a:xfrm>
            <a:off x="1371600" y="4828421"/>
            <a:ext cx="1981200" cy="830997"/>
          </a:xfrm>
          <a:prstGeom prst="flowChartInputOutpu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sz="1600" b="1" dirty="0" smtClean="0">
                <a:solidFill>
                  <a:schemeClr val="bg1"/>
                </a:solidFill>
                <a:latin typeface="Helvetica" pitchFamily="34" charset="0"/>
                <a:cs typeface="Times New Roman" panose="02020603050405020304" pitchFamily="18" charset="0"/>
              </a:rPr>
              <a:t>Print “Below Freezing”</a:t>
            </a:r>
          </a:p>
        </p:txBody>
      </p:sp>
      <p:sp>
        <p:nvSpPr>
          <p:cNvPr id="65" name="Flowchart: Data 64"/>
          <p:cNvSpPr/>
          <p:nvPr/>
        </p:nvSpPr>
        <p:spPr bwMode="auto">
          <a:xfrm>
            <a:off x="5791200" y="4727396"/>
            <a:ext cx="1981200" cy="830997"/>
          </a:xfrm>
          <a:prstGeom prst="flowChartInputOutpu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sz="1600" b="1" dirty="0" smtClean="0">
                <a:solidFill>
                  <a:schemeClr val="bg1"/>
                </a:solidFill>
                <a:latin typeface="Helvetica" pitchFamily="34" charset="0"/>
                <a:cs typeface="Times New Roman" panose="02020603050405020304" pitchFamily="18" charset="0"/>
              </a:rPr>
              <a:t>Print “Above Freezing”</a:t>
            </a:r>
          </a:p>
        </p:txBody>
      </p:sp>
      <p:sp>
        <p:nvSpPr>
          <p:cNvPr id="18" name="Flowchart: Data 17"/>
          <p:cNvSpPr/>
          <p:nvPr/>
        </p:nvSpPr>
        <p:spPr bwMode="auto">
          <a:xfrm>
            <a:off x="3581400" y="857071"/>
            <a:ext cx="1981200" cy="830997"/>
          </a:xfrm>
          <a:prstGeom prst="flowChartInputOutpu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sz="1600" b="1" dirty="0" smtClean="0">
                <a:solidFill>
                  <a:schemeClr val="bg1"/>
                </a:solidFill>
                <a:latin typeface="Helvetica" pitchFamily="34" charset="0"/>
                <a:cs typeface="Times New Roman" panose="02020603050405020304" pitchFamily="18" charset="0"/>
              </a:rPr>
              <a:t>Print “Enter Temp”</a:t>
            </a:r>
          </a:p>
        </p:txBody>
      </p:sp>
      <p:cxnSp>
        <p:nvCxnSpPr>
          <p:cNvPr id="19" name="Straight Arrow Connector 18"/>
          <p:cNvCxnSpPr/>
          <p:nvPr/>
        </p:nvCxnSpPr>
        <p:spPr bwMode="auto">
          <a:xfrm rot="5400000">
            <a:off x="4343400" y="609600"/>
            <a:ext cx="457200" cy="158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63417-AE59-40AD-B7C0-A3CE22D2C5E6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942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7646" y="517796"/>
            <a:ext cx="8880154" cy="5654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63417-AE59-40AD-B7C0-A3CE22D2C5E6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952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678730"/>
            <a:ext cx="8839200" cy="23692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523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0" y="2819400"/>
            <a:ext cx="5772664" cy="322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26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52400" y="304800"/>
            <a:ext cx="8109778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9" name="Straight Arrow Connector 68"/>
          <p:cNvCxnSpPr/>
          <p:nvPr/>
        </p:nvCxnSpPr>
        <p:spPr bwMode="auto">
          <a:xfrm rot="5400000">
            <a:off x="4801394" y="5790406"/>
            <a:ext cx="609600" cy="158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8" name="Straight Arrow Connector 67"/>
          <p:cNvCxnSpPr/>
          <p:nvPr/>
        </p:nvCxnSpPr>
        <p:spPr bwMode="auto">
          <a:xfrm rot="5400000">
            <a:off x="4799806" y="4628535"/>
            <a:ext cx="609600" cy="158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63417-AE59-40AD-B7C0-A3CE22D2C5E6}" type="slidenum">
              <a:rPr lang="en-US" smtClean="0"/>
              <a:pPr/>
              <a:t>16</a:t>
            </a:fld>
            <a:endParaRPr lang="en-US"/>
          </a:p>
        </p:txBody>
      </p:sp>
      <p:cxnSp>
        <p:nvCxnSpPr>
          <p:cNvPr id="44" name="Straight Arrow Connector 43"/>
          <p:cNvCxnSpPr/>
          <p:nvPr/>
        </p:nvCxnSpPr>
        <p:spPr bwMode="auto">
          <a:xfrm rot="5400000">
            <a:off x="4799806" y="3409335"/>
            <a:ext cx="609600" cy="158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5" name="Straight Arrow Connector 44"/>
          <p:cNvCxnSpPr/>
          <p:nvPr/>
        </p:nvCxnSpPr>
        <p:spPr bwMode="auto">
          <a:xfrm rot="5400000">
            <a:off x="4801394" y="2132806"/>
            <a:ext cx="609600" cy="158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6" name="Flowchart: Terminator 45"/>
          <p:cNvSpPr/>
          <p:nvPr/>
        </p:nvSpPr>
        <p:spPr bwMode="auto">
          <a:xfrm>
            <a:off x="4267200" y="1505129"/>
            <a:ext cx="1676400" cy="476071"/>
          </a:xfrm>
          <a:prstGeom prst="flowChartTerminator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Helvetica" pitchFamily="34" charset="0"/>
                <a:cs typeface="Times New Roman" panose="02020603050405020304" pitchFamily="18" charset="0"/>
              </a:rPr>
              <a:t>Start</a:t>
            </a:r>
          </a:p>
        </p:txBody>
      </p:sp>
      <p:sp>
        <p:nvSpPr>
          <p:cNvPr id="48" name="Flowchart: Decision 47"/>
          <p:cNvSpPr/>
          <p:nvPr/>
        </p:nvSpPr>
        <p:spPr bwMode="auto">
          <a:xfrm>
            <a:off x="4267200" y="3714929"/>
            <a:ext cx="1600200" cy="672525"/>
          </a:xfrm>
          <a:prstGeom prst="flowChartDecisio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Helvetica" pitchFamily="34" charset="0"/>
                <a:cs typeface="Times New Roman" panose="02020603050405020304" pitchFamily="18" charset="0"/>
              </a:rPr>
              <a:t>N=51</a:t>
            </a:r>
          </a:p>
        </p:txBody>
      </p:sp>
      <p:sp>
        <p:nvSpPr>
          <p:cNvPr id="49" name="Flowchart: Process 48"/>
          <p:cNvSpPr/>
          <p:nvPr/>
        </p:nvSpPr>
        <p:spPr bwMode="auto">
          <a:xfrm>
            <a:off x="6705600" y="3638729"/>
            <a:ext cx="1447800" cy="707886"/>
          </a:xfrm>
          <a:prstGeom prst="flowChartProcess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sz="1600" b="1" dirty="0" smtClean="0">
                <a:solidFill>
                  <a:schemeClr val="bg1"/>
                </a:solidFill>
                <a:latin typeface="Helvetica" pitchFamily="34" charset="0"/>
                <a:cs typeface="Times New Roman" panose="02020603050405020304" pitchFamily="18" charset="0"/>
              </a:rPr>
              <a:t>Sum=</a:t>
            </a:r>
            <a:r>
              <a:rPr lang="en-US" sz="1600" b="1" dirty="0" err="1" smtClean="0">
                <a:solidFill>
                  <a:schemeClr val="bg1"/>
                </a:solidFill>
                <a:latin typeface="Helvetica" pitchFamily="34" charset="0"/>
                <a:cs typeface="Times New Roman" panose="02020603050405020304" pitchFamily="18" charset="0"/>
              </a:rPr>
              <a:t>Sum+N</a:t>
            </a:r>
            <a:endParaRPr lang="en-US" sz="1600" b="1" dirty="0" smtClean="0">
              <a:solidFill>
                <a:schemeClr val="bg1"/>
              </a:solidFill>
              <a:latin typeface="Helvetica" pitchFamily="34" charset="0"/>
              <a:cs typeface="Times New Roman" panose="02020603050405020304" pitchFamily="18" charset="0"/>
            </a:endParaRPr>
          </a:p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sz="1600" b="1" dirty="0" smtClean="0">
                <a:solidFill>
                  <a:schemeClr val="bg1"/>
                </a:solidFill>
                <a:latin typeface="Helvetica" pitchFamily="34" charset="0"/>
                <a:cs typeface="Times New Roman" panose="02020603050405020304" pitchFamily="18" charset="0"/>
              </a:rPr>
              <a:t>N=N+1</a:t>
            </a:r>
          </a:p>
        </p:txBody>
      </p:sp>
      <p:sp>
        <p:nvSpPr>
          <p:cNvPr id="50" name="Flowchart: Terminator 49"/>
          <p:cNvSpPr/>
          <p:nvPr/>
        </p:nvSpPr>
        <p:spPr bwMode="auto">
          <a:xfrm>
            <a:off x="4267200" y="6096000"/>
            <a:ext cx="1676400" cy="476071"/>
          </a:xfrm>
          <a:prstGeom prst="flowChartTerminator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Helvetica" pitchFamily="34" charset="0"/>
                <a:cs typeface="Times New Roman" panose="02020603050405020304" pitchFamily="18" charset="0"/>
              </a:rPr>
              <a:t>End</a:t>
            </a:r>
          </a:p>
        </p:txBody>
      </p:sp>
      <p:cxnSp>
        <p:nvCxnSpPr>
          <p:cNvPr id="51" name="Shape 50"/>
          <p:cNvCxnSpPr>
            <a:stCxn id="49" idx="0"/>
          </p:cNvCxnSpPr>
          <p:nvPr/>
        </p:nvCxnSpPr>
        <p:spPr bwMode="auto">
          <a:xfrm rot="16200000" flipV="1">
            <a:off x="6191250" y="2400479"/>
            <a:ext cx="152400" cy="2324100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5" name="TextBox 54"/>
          <p:cNvSpPr txBox="1"/>
          <p:nvPr/>
        </p:nvSpPr>
        <p:spPr>
          <a:xfrm>
            <a:off x="4419600" y="4400729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Yes</a:t>
            </a:r>
            <a:endParaRPr lang="en-US" b="1" dirty="0"/>
          </a:p>
        </p:txBody>
      </p:sp>
      <p:sp>
        <p:nvSpPr>
          <p:cNvPr id="56" name="TextBox 55"/>
          <p:cNvSpPr txBox="1"/>
          <p:nvPr/>
        </p:nvSpPr>
        <p:spPr>
          <a:xfrm>
            <a:off x="5943600" y="4248329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No</a:t>
            </a:r>
            <a:endParaRPr lang="en-US" b="1" dirty="0"/>
          </a:p>
        </p:txBody>
      </p:sp>
      <p:sp>
        <p:nvSpPr>
          <p:cNvPr id="58" name="Flowchart: Process 57"/>
          <p:cNvSpPr/>
          <p:nvPr/>
        </p:nvSpPr>
        <p:spPr bwMode="auto">
          <a:xfrm>
            <a:off x="4495800" y="2438400"/>
            <a:ext cx="1295400" cy="707886"/>
          </a:xfrm>
          <a:prstGeom prst="flowChartProcess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Helvetica" pitchFamily="34" charset="0"/>
                <a:cs typeface="Times New Roman" panose="02020603050405020304" pitchFamily="18" charset="0"/>
              </a:rPr>
              <a:t>Sum=0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1600" b="1" dirty="0" smtClean="0">
                <a:solidFill>
                  <a:schemeClr val="bg1"/>
                </a:solidFill>
                <a:latin typeface="Helvetica" pitchFamily="34" charset="0"/>
                <a:cs typeface="Times New Roman" panose="02020603050405020304" pitchFamily="18" charset="0"/>
              </a:rPr>
              <a:t>N=1</a:t>
            </a:r>
            <a:endParaRPr kumimoji="0" lang="en-US" sz="16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Helvetica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72" name="Straight Arrow Connector 71"/>
          <p:cNvCxnSpPr/>
          <p:nvPr/>
        </p:nvCxnSpPr>
        <p:spPr bwMode="auto">
          <a:xfrm flipV="1">
            <a:off x="5867400" y="4019729"/>
            <a:ext cx="836612" cy="1887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5" name="Flowchart: Data 74"/>
          <p:cNvSpPr/>
          <p:nvPr/>
        </p:nvSpPr>
        <p:spPr bwMode="auto">
          <a:xfrm>
            <a:off x="4267200" y="4953000"/>
            <a:ext cx="1676400" cy="584775"/>
          </a:xfrm>
          <a:prstGeom prst="flowChartInputOutpu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Helvetica" pitchFamily="34" charset="0"/>
                <a:cs typeface="Times New Roman" panose="02020603050405020304" pitchFamily="18" charset="0"/>
              </a:rPr>
              <a:t>Print Sum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63417-AE59-40AD-B7C0-A3CE22D2C5E6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685800" y="304800"/>
            <a:ext cx="7772400" cy="10668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Example 3: Adding two Numbers</a:t>
            </a: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  <p:pic>
        <p:nvPicPr>
          <p:cNvPr id="983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495" y="1479550"/>
            <a:ext cx="6197358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Straight Arrow Connector 6"/>
          <p:cNvCxnSpPr/>
          <p:nvPr/>
        </p:nvCxnSpPr>
        <p:spPr bwMode="auto">
          <a:xfrm rot="5400000">
            <a:off x="6934994" y="5866606"/>
            <a:ext cx="609600" cy="158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" name="Straight Arrow Connector 7"/>
          <p:cNvCxnSpPr/>
          <p:nvPr/>
        </p:nvCxnSpPr>
        <p:spPr bwMode="auto">
          <a:xfrm rot="5400000">
            <a:off x="6933406" y="4876006"/>
            <a:ext cx="609600" cy="158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" name="Straight Arrow Connector 9"/>
          <p:cNvCxnSpPr/>
          <p:nvPr/>
        </p:nvCxnSpPr>
        <p:spPr bwMode="auto">
          <a:xfrm rot="5400000">
            <a:off x="6858794" y="1675606"/>
            <a:ext cx="609600" cy="158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1" name="Flowchart: Terminator 10"/>
          <p:cNvSpPr/>
          <p:nvPr/>
        </p:nvSpPr>
        <p:spPr bwMode="auto">
          <a:xfrm>
            <a:off x="6324600" y="1047929"/>
            <a:ext cx="1676400" cy="476071"/>
          </a:xfrm>
          <a:prstGeom prst="flowChartTerminator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Helvetica" pitchFamily="34" charset="0"/>
                <a:cs typeface="Times New Roman" panose="02020603050405020304" pitchFamily="18" charset="0"/>
              </a:rPr>
              <a:t>Start</a:t>
            </a:r>
          </a:p>
        </p:txBody>
      </p:sp>
      <p:sp>
        <p:nvSpPr>
          <p:cNvPr id="13" name="Flowchart: Process 12"/>
          <p:cNvSpPr/>
          <p:nvPr/>
        </p:nvSpPr>
        <p:spPr bwMode="auto">
          <a:xfrm>
            <a:off x="6477000" y="4114800"/>
            <a:ext cx="1447800" cy="584775"/>
          </a:xfrm>
          <a:prstGeom prst="flowChartProcess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sz="1600" b="1" dirty="0" smtClean="0">
                <a:solidFill>
                  <a:schemeClr val="bg1"/>
                </a:solidFill>
                <a:latin typeface="Helvetica" pitchFamily="34" charset="0"/>
                <a:cs typeface="Times New Roman" panose="02020603050405020304" pitchFamily="18" charset="0"/>
              </a:rPr>
              <a:t>Sum=num1+num2</a:t>
            </a:r>
          </a:p>
        </p:txBody>
      </p:sp>
      <p:sp>
        <p:nvSpPr>
          <p:cNvPr id="14" name="Flowchart: Terminator 13"/>
          <p:cNvSpPr/>
          <p:nvPr/>
        </p:nvSpPr>
        <p:spPr bwMode="auto">
          <a:xfrm>
            <a:off x="6400800" y="6229529"/>
            <a:ext cx="1676400" cy="476071"/>
          </a:xfrm>
          <a:prstGeom prst="flowChartTerminator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Helvetica" pitchFamily="34" charset="0"/>
                <a:cs typeface="Times New Roman" panose="02020603050405020304" pitchFamily="18" charset="0"/>
              </a:rPr>
              <a:t>End</a:t>
            </a:r>
          </a:p>
        </p:txBody>
      </p:sp>
      <p:cxnSp>
        <p:nvCxnSpPr>
          <p:cNvPr id="21" name="Straight Arrow Connector 20"/>
          <p:cNvCxnSpPr/>
          <p:nvPr/>
        </p:nvCxnSpPr>
        <p:spPr bwMode="auto">
          <a:xfrm rot="5400000">
            <a:off x="6857206" y="2717581"/>
            <a:ext cx="609600" cy="158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2" name="Flowchart: Data 21"/>
          <p:cNvSpPr/>
          <p:nvPr/>
        </p:nvSpPr>
        <p:spPr bwMode="auto">
          <a:xfrm>
            <a:off x="6248400" y="1981200"/>
            <a:ext cx="1676400" cy="584775"/>
          </a:xfrm>
          <a:prstGeom prst="flowChartInputOutpu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Helvetica" pitchFamily="34" charset="0"/>
                <a:cs typeface="Times New Roman" panose="02020603050405020304" pitchFamily="18" charset="0"/>
              </a:rPr>
              <a:t>Read num1</a:t>
            </a:r>
          </a:p>
        </p:txBody>
      </p:sp>
      <p:cxnSp>
        <p:nvCxnSpPr>
          <p:cNvPr id="23" name="Straight Arrow Connector 22"/>
          <p:cNvCxnSpPr/>
          <p:nvPr/>
        </p:nvCxnSpPr>
        <p:spPr bwMode="auto">
          <a:xfrm rot="5400000">
            <a:off x="6933406" y="3784381"/>
            <a:ext cx="609600" cy="158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4" name="Flowchart: Data 23"/>
          <p:cNvSpPr/>
          <p:nvPr/>
        </p:nvSpPr>
        <p:spPr bwMode="auto">
          <a:xfrm>
            <a:off x="6324600" y="3048000"/>
            <a:ext cx="1676400" cy="584775"/>
          </a:xfrm>
          <a:prstGeom prst="flowChartInputOutpu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Helvetica" pitchFamily="34" charset="0"/>
                <a:cs typeface="Times New Roman" panose="02020603050405020304" pitchFamily="18" charset="0"/>
              </a:rPr>
              <a:t>Read num2</a:t>
            </a:r>
          </a:p>
        </p:txBody>
      </p:sp>
      <p:sp>
        <p:nvSpPr>
          <p:cNvPr id="25" name="Flowchart: Data 24"/>
          <p:cNvSpPr/>
          <p:nvPr/>
        </p:nvSpPr>
        <p:spPr bwMode="auto">
          <a:xfrm>
            <a:off x="6400800" y="5206425"/>
            <a:ext cx="1676400" cy="584775"/>
          </a:xfrm>
          <a:prstGeom prst="flowChartInputOutpu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Helvetica" pitchFamily="34" charset="0"/>
                <a:cs typeface="Times New Roman" panose="02020603050405020304" pitchFamily="18" charset="0"/>
              </a:rPr>
              <a:t>Print Sum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4" grpId="0" bldLvl="0" animBg="1"/>
      <p:bldP spid="22" grpId="0" bldLvl="0" animBg="1"/>
      <p:bldP spid="24" grpId="0" bldLvl="0" animBg="1"/>
      <p:bldP spid="25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2337137"/>
            <a:ext cx="86106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 smtClean="0">
                <a:solidFill>
                  <a:srgbClr val="0070C0"/>
                </a:solidFill>
              </a:rPr>
              <a:t>Introduction to C++</a:t>
            </a:r>
            <a:endParaRPr lang="en-US" sz="6000" b="1" dirty="0">
              <a:solidFill>
                <a:srgbClr val="0070C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82" name="Title 48128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890905"/>
          </a:xfrm>
        </p:spPr>
        <p:txBody>
          <a:bodyPr anchor="b"/>
          <a:lstStyle/>
          <a:p>
            <a:pPr>
              <a:buClr>
                <a:srgbClr val="CC0000"/>
              </a:buClr>
              <a:buFont typeface="Wingdings" panose="05000000000000000000" pitchFamily="2" charset="2"/>
              <a:buNone/>
            </a:pPr>
            <a:r>
              <a:rPr lang="en-US" altLang="x-none" dirty="0">
                <a:solidFill>
                  <a:srgbClr val="0070C0"/>
                </a:solidFill>
                <a:latin typeface="Arial" panose="020B0604020202020204" pitchFamily="34" charset="0"/>
              </a:rPr>
              <a:t>Introduction to C++</a:t>
            </a:r>
          </a:p>
        </p:txBody>
      </p:sp>
      <p:sp>
        <p:nvSpPr>
          <p:cNvPr id="481283" name="Text Placeholder 481282"/>
          <p:cNvSpPr>
            <a:spLocks noGrp="1"/>
          </p:cNvSpPr>
          <p:nvPr>
            <p:ph type="body" idx="1"/>
          </p:nvPr>
        </p:nvSpPr>
        <p:spPr/>
        <p:txBody>
          <a:bodyPr wrap="none">
            <a:normAutofit fontScale="92500" lnSpcReduction="10000"/>
          </a:bodyPr>
          <a:lstStyle/>
          <a:p>
            <a:pPr algn="l"/>
            <a:r>
              <a:rPr lang="en-US" altLang="x-none" dirty="0"/>
              <a:t>Where did C++ come from?</a:t>
            </a:r>
          </a:p>
          <a:p>
            <a:pPr lvl="1" algn="l"/>
            <a:r>
              <a:rPr lang="en-US" altLang="x-none" dirty="0"/>
              <a:t>Derived from the C language</a:t>
            </a:r>
          </a:p>
          <a:p>
            <a:pPr lvl="1" algn="l"/>
            <a:r>
              <a:rPr lang="en-US" altLang="x-none" dirty="0"/>
              <a:t>C was derived from the B language</a:t>
            </a:r>
          </a:p>
          <a:p>
            <a:pPr lvl="1" algn="l"/>
            <a:r>
              <a:rPr lang="en-US" altLang="x-none" dirty="0"/>
              <a:t>It was originally called </a:t>
            </a:r>
            <a:r>
              <a:rPr lang="en-US" altLang="x-none" b="1" dirty="0"/>
              <a:t>“C with Classes”</a:t>
            </a:r>
            <a:r>
              <a:rPr lang="en-US" altLang="x-none" dirty="0"/>
              <a:t> and </a:t>
            </a:r>
          </a:p>
          <a:p>
            <a:pPr marL="457200" lvl="1" indent="0" algn="l">
              <a:buNone/>
            </a:pPr>
            <a:r>
              <a:rPr lang="en-US" altLang="x-none" dirty="0"/>
              <a:t>    was renamed C++ in 1983</a:t>
            </a:r>
          </a:p>
          <a:p>
            <a:pPr lvl="1" algn="l"/>
            <a:endParaRPr lang="en-US" altLang="x-none" dirty="0"/>
          </a:p>
          <a:p>
            <a:pPr algn="l"/>
            <a:r>
              <a:rPr lang="en-US" altLang="x-none" dirty="0"/>
              <a:t>Why the ‘++’?</a:t>
            </a:r>
          </a:p>
          <a:p>
            <a:pPr lvl="1" algn="l"/>
            <a:r>
              <a:rPr lang="en-US" altLang="x-none" dirty="0"/>
              <a:t>++ is shorthand for adding 1 to a number in </a:t>
            </a:r>
          </a:p>
          <a:p>
            <a:pPr marL="457200" lvl="1" indent="0" algn="l">
              <a:buNone/>
            </a:pPr>
            <a:r>
              <a:rPr lang="en-US" altLang="x-none" dirty="0"/>
              <a:t>programming, so C++ roughly means </a:t>
            </a:r>
          </a:p>
          <a:p>
            <a:pPr marL="457200" lvl="1" indent="0" algn="l">
              <a:buNone/>
            </a:pPr>
            <a:r>
              <a:rPr lang="en-US" altLang="x-none" b="1" dirty="0"/>
              <a:t>“one better than C.”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altLang="x-none" dirty="0">
                <a:latin typeface="Times New Roman" panose="02020603050405020304" pitchFamily="18" charset="0"/>
              </a:rPr>
              <a:t>Copyright © 2003 Pearson Education, Inc.</a:t>
            </a:r>
            <a:endParaRPr lang="en-CA" altLang="en-US" sz="10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986" name="Title 553985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850900"/>
          </a:xfrm>
        </p:spPr>
        <p:txBody>
          <a:bodyPr anchor="b">
            <a:normAutofit/>
          </a:bodyPr>
          <a:lstStyle/>
          <a:p>
            <a:r>
              <a:rPr lang="en-US" altLang="x-none" dirty="0">
                <a:solidFill>
                  <a:srgbClr val="0070C0"/>
                </a:solidFill>
              </a:rPr>
              <a:t>C++ History</a:t>
            </a:r>
          </a:p>
        </p:txBody>
      </p:sp>
      <p:sp>
        <p:nvSpPr>
          <p:cNvPr id="553987" name="Text Placeholder 553986"/>
          <p:cNvSpPr>
            <a:spLocks noGrp="1"/>
          </p:cNvSpPr>
          <p:nvPr>
            <p:ph type="body" idx="1"/>
          </p:nvPr>
        </p:nvSpPr>
        <p:spPr>
          <a:xfrm>
            <a:off x="457200" y="1335405"/>
            <a:ext cx="8229600" cy="4525963"/>
          </a:xfrm>
        </p:spPr>
        <p:txBody>
          <a:bodyPr wrap="none"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x-none" dirty="0"/>
              <a:t>C developed by Dennis Ritchie at AT&amp;T</a:t>
            </a:r>
            <a:br>
              <a:rPr lang="en-US" altLang="x-none" dirty="0"/>
            </a:br>
            <a:r>
              <a:rPr lang="en-US" altLang="x-none" dirty="0"/>
              <a:t>Bell Labs in the 1970s.</a:t>
            </a:r>
          </a:p>
          <a:p>
            <a:pPr lvl="1">
              <a:lnSpc>
                <a:spcPct val="90000"/>
              </a:lnSpc>
            </a:pPr>
            <a:r>
              <a:rPr lang="en-US" altLang="x-none" dirty="0"/>
              <a:t>Used to maintain UNIX systems</a:t>
            </a:r>
          </a:p>
          <a:p>
            <a:pPr lvl="1">
              <a:lnSpc>
                <a:spcPct val="90000"/>
              </a:lnSpc>
            </a:pPr>
            <a:r>
              <a:rPr lang="en-US" altLang="x-none" dirty="0"/>
              <a:t>Many commercial applications written in c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altLang="x-none" dirty="0"/>
          </a:p>
          <a:p>
            <a:pPr>
              <a:lnSpc>
                <a:spcPct val="90000"/>
              </a:lnSpc>
            </a:pPr>
            <a:r>
              <a:rPr lang="en-US" altLang="x-none" dirty="0"/>
              <a:t>C++ developed by </a:t>
            </a:r>
            <a:r>
              <a:rPr lang="en-US" altLang="x-none" dirty="0" err="1"/>
              <a:t>Bjarne</a:t>
            </a:r>
            <a:r>
              <a:rPr lang="en-US" altLang="x-none" dirty="0"/>
              <a:t> </a:t>
            </a:r>
            <a:r>
              <a:rPr lang="en-US" altLang="x-none" dirty="0" err="1"/>
              <a:t>Stroustrup</a:t>
            </a:r>
            <a:r>
              <a:rPr lang="en-US" altLang="x-none" dirty="0"/>
              <a:t> at AT&amp;T</a:t>
            </a:r>
            <a:br>
              <a:rPr lang="en-US" altLang="x-none" dirty="0"/>
            </a:br>
            <a:r>
              <a:rPr lang="en-US" altLang="x-none" dirty="0"/>
              <a:t>Bell Labs in the 1980s.</a:t>
            </a:r>
          </a:p>
          <a:p>
            <a:pPr lvl="1">
              <a:lnSpc>
                <a:spcPct val="90000"/>
              </a:lnSpc>
            </a:pPr>
            <a:r>
              <a:rPr lang="en-US" altLang="x-none" dirty="0"/>
              <a:t>Overcame several shortcomings of C</a:t>
            </a:r>
          </a:p>
          <a:p>
            <a:pPr lvl="1">
              <a:lnSpc>
                <a:spcPct val="90000"/>
              </a:lnSpc>
            </a:pPr>
            <a:r>
              <a:rPr lang="en-US" altLang="x-none" dirty="0"/>
              <a:t>Incorporated object oriented programming</a:t>
            </a:r>
          </a:p>
          <a:p>
            <a:pPr lvl="1">
              <a:lnSpc>
                <a:spcPct val="90000"/>
              </a:lnSpc>
            </a:pPr>
            <a:r>
              <a:rPr lang="en-US" altLang="x-none" dirty="0"/>
              <a:t>C remains a subset of C++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altLang="x-none" dirty="0">
                <a:latin typeface="Times New Roman" panose="02020603050405020304" pitchFamily="18" charset="0"/>
              </a:rPr>
              <a:t>Copyright © 2003 Pearson Education, Inc.</a:t>
            </a:r>
            <a:endParaRPr lang="en-CA" altLang="en-US" sz="10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010" name="Title 55500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x-none" dirty="0">
                <a:solidFill>
                  <a:srgbClr val="0070C0"/>
                </a:solidFill>
              </a:rPr>
              <a:t>A Sample C++ Program</a:t>
            </a:r>
          </a:p>
        </p:txBody>
      </p:sp>
      <p:sp>
        <p:nvSpPr>
          <p:cNvPr id="555011" name="Text Placeholder 555010"/>
          <p:cNvSpPr>
            <a:spLocks noGrp="1"/>
          </p:cNvSpPr>
          <p:nvPr>
            <p:ph type="body" idx="1"/>
          </p:nvPr>
        </p:nvSpPr>
        <p:spPr/>
        <p:txBody>
          <a:bodyPr wrap="none"/>
          <a:lstStyle/>
          <a:p>
            <a:pPr>
              <a:lnSpc>
                <a:spcPct val="80000"/>
              </a:lnSpc>
            </a:pPr>
            <a:r>
              <a:rPr lang="en-US" altLang="x-none" sz="2800" dirty="0"/>
              <a:t>A simple C++ program begins this way</a:t>
            </a:r>
            <a:br>
              <a:rPr lang="en-US" altLang="x-none" sz="2800" dirty="0"/>
            </a:br>
            <a:r>
              <a:rPr lang="en-US" altLang="x-none" sz="2800" dirty="0"/>
              <a:t/>
            </a:r>
            <a:br>
              <a:rPr lang="en-US" altLang="x-none" sz="2800" dirty="0"/>
            </a:br>
            <a:r>
              <a:rPr lang="en-US" altLang="x-none" sz="2800" dirty="0"/>
              <a:t>	</a:t>
            </a:r>
            <a:r>
              <a:rPr lang="en-US" altLang="x-none" sz="2800" b="1" dirty="0"/>
              <a:t>#include &lt;</a:t>
            </a:r>
            <a:r>
              <a:rPr lang="en-US" altLang="x-none" sz="2800" b="1" dirty="0" err="1"/>
              <a:t>iostream</a:t>
            </a:r>
            <a:r>
              <a:rPr lang="en-US" altLang="x-none" sz="2800" b="1" dirty="0"/>
              <a:t>&gt;</a:t>
            </a:r>
            <a:br>
              <a:rPr lang="en-US" altLang="x-none" sz="2800" b="1" dirty="0"/>
            </a:br>
            <a:r>
              <a:rPr lang="en-US" altLang="x-none" sz="2800" b="1" dirty="0"/>
              <a:t>	using namespace std;</a:t>
            </a:r>
            <a:br>
              <a:rPr lang="en-US" altLang="x-none" sz="2800" b="1" dirty="0"/>
            </a:br>
            <a:r>
              <a:rPr lang="en-US" altLang="x-none" sz="2800" b="1" dirty="0"/>
              <a:t/>
            </a:r>
            <a:br>
              <a:rPr lang="en-US" altLang="x-none" sz="2800" b="1" dirty="0"/>
            </a:br>
            <a:r>
              <a:rPr lang="en-US" altLang="x-none" sz="2800" b="1" dirty="0"/>
              <a:t>	</a:t>
            </a:r>
            <a:r>
              <a:rPr lang="en-US" altLang="x-none" sz="2800" b="1" dirty="0" err="1"/>
              <a:t>int</a:t>
            </a:r>
            <a:r>
              <a:rPr lang="en-US" altLang="x-none" sz="2800" b="1" dirty="0"/>
              <a:t> main()</a:t>
            </a:r>
            <a:br>
              <a:rPr lang="en-US" altLang="x-none" sz="2800" b="1" dirty="0"/>
            </a:br>
            <a:r>
              <a:rPr lang="en-US" altLang="x-none" sz="2800" b="1" dirty="0"/>
              <a:t>	{</a:t>
            </a:r>
            <a:r>
              <a:rPr lang="en-US" altLang="x-none" sz="2800" dirty="0"/>
              <a:t/>
            </a:r>
            <a:br>
              <a:rPr lang="en-US" altLang="x-none" sz="2800" dirty="0"/>
            </a:br>
            <a:endParaRPr lang="en-US" altLang="x-none" sz="2800" dirty="0"/>
          </a:p>
          <a:p>
            <a:pPr>
              <a:lnSpc>
                <a:spcPct val="80000"/>
              </a:lnSpc>
            </a:pPr>
            <a:r>
              <a:rPr lang="en-US" altLang="x-none" sz="2800" dirty="0"/>
              <a:t>And ends this way</a:t>
            </a:r>
            <a:br>
              <a:rPr lang="en-US" altLang="x-none" sz="2800" dirty="0"/>
            </a:br>
            <a:r>
              <a:rPr lang="en-US" altLang="x-none" sz="2800" dirty="0"/>
              <a:t/>
            </a:r>
            <a:br>
              <a:rPr lang="en-US" altLang="x-none" sz="2800" dirty="0"/>
            </a:br>
            <a:r>
              <a:rPr lang="en-US" altLang="x-none" sz="2800" dirty="0"/>
              <a:t>  	</a:t>
            </a:r>
            <a:r>
              <a:rPr lang="en-US" altLang="x-none" sz="2800" b="1" dirty="0"/>
              <a:t>	return 0;</a:t>
            </a:r>
            <a:br>
              <a:rPr lang="en-US" altLang="x-none" sz="2800" b="1" dirty="0"/>
            </a:br>
            <a:r>
              <a:rPr lang="en-US" altLang="x-none" sz="2800" b="1" dirty="0"/>
              <a:t>	}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altLang="x-none" dirty="0">
                <a:latin typeface="Times New Roman" panose="02020603050405020304" pitchFamily="18" charset="0"/>
              </a:rPr>
              <a:t>Copyright © 2003 Pearson Education, Inc.</a:t>
            </a:r>
            <a:endParaRPr lang="en-CA" altLang="en-US" sz="10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2337137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4800" b="1">
                <a:solidFill>
                  <a:srgbClr val="0099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antGarde" pitchFamily="34" charset="0"/>
                <a:ea typeface="+mn-ea"/>
                <a:cs typeface="+mn-ea"/>
                <a:sym typeface="+mn-ea"/>
              </a:rPr>
              <a:t>Typical C++ Environment</a:t>
            </a:r>
            <a:endParaRPr lang="en-US" sz="4800" b="1" dirty="0">
              <a:solidFill>
                <a:srgbClr val="0099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vantGarde" pitchFamily="34" charset="0"/>
              <a:ea typeface="+mn-ea"/>
              <a:cs typeface="+mn-ea"/>
              <a:sym typeface="+mn-ea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Title 232449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b="1"/>
              <a:t>Basics of a Typical C++ Environment</a:t>
            </a:r>
          </a:p>
        </p:txBody>
      </p:sp>
      <p:sp>
        <p:nvSpPr>
          <p:cNvPr id="232451" name="Text Placeholder 23245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C++ systems</a:t>
            </a:r>
          </a:p>
          <a:p>
            <a:pPr lvl="1"/>
            <a:r>
              <a:t>Program-development environment</a:t>
            </a:r>
          </a:p>
          <a:p>
            <a:pPr lvl="1"/>
            <a:r>
              <a:t>Language</a:t>
            </a:r>
          </a:p>
          <a:p>
            <a:pPr lvl="1"/>
            <a:r>
              <a:t>C++ Standard Library</a:t>
            </a:r>
          </a:p>
          <a:p>
            <a:r>
              <a:t>C++ program names extensions</a:t>
            </a:r>
          </a:p>
          <a:p>
            <a:pPr lvl="1"/>
            <a:r>
              <a:rPr err="1"/>
              <a:t>.cpp</a:t>
            </a:r>
          </a:p>
          <a:p>
            <a:pPr lvl="1"/>
            <a:r>
              <a:rPr err="1"/>
              <a:t>.cxx</a:t>
            </a:r>
          </a:p>
          <a:p>
            <a:pPr lvl="1"/>
            <a:r>
              <a:t>.cc</a:t>
            </a:r>
          </a:p>
          <a:p>
            <a:pPr lvl="1"/>
            <a:r>
              <a:t>.C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Title 18227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b="1"/>
              <a:t>Basics of a Typical C++ Environment</a:t>
            </a:r>
          </a:p>
        </p:txBody>
      </p:sp>
      <p:sp>
        <p:nvSpPr>
          <p:cNvPr id="182275" name="Text Box 182274"/>
          <p:cNvSpPr txBox="1"/>
          <p:nvPr/>
        </p:nvSpPr>
        <p:spPr>
          <a:xfrm>
            <a:off x="1295400" y="1379577"/>
            <a:ext cx="5486400" cy="49859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457200" indent="-457200">
              <a:spcBef>
                <a:spcPct val="50000"/>
              </a:spcBef>
            </a:pPr>
            <a:r>
              <a:rPr sz="3200">
                <a:solidFill>
                  <a:srgbClr val="000000"/>
                </a:solidFill>
                <a:latin typeface="Times New Roman" panose="02020603050405020304" pitchFamily="18" charset="0"/>
              </a:rPr>
              <a:t>Phases of C++ Programs</a:t>
            </a:r>
            <a:r>
              <a:rPr sz="3600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</a:p>
          <a:p>
            <a:pPr marL="914400" lvl="1" indent="-457200" eaLnBrk="0" hangingPunct="0">
              <a:spcBef>
                <a:spcPct val="50000"/>
              </a:spcBef>
              <a:buAutoNum type="arabicPeriod"/>
            </a:pPr>
            <a:r>
              <a:rPr sz="2800">
                <a:solidFill>
                  <a:srgbClr val="000000"/>
                </a:solidFill>
                <a:latin typeface="Times New Roman" panose="02020603050405020304" pitchFamily="18" charset="0"/>
              </a:rPr>
              <a:t>Edit</a:t>
            </a:r>
          </a:p>
          <a:p>
            <a:pPr marL="914400" lvl="1" indent="-457200" eaLnBrk="0" hangingPunct="0">
              <a:spcBef>
                <a:spcPct val="50000"/>
              </a:spcBef>
              <a:buAutoNum type="arabicPeriod"/>
            </a:pPr>
            <a:r>
              <a:rPr sz="2800">
                <a:solidFill>
                  <a:srgbClr val="000000"/>
                </a:solidFill>
                <a:latin typeface="Times New Roman" panose="02020603050405020304" pitchFamily="18" charset="0"/>
              </a:rPr>
              <a:t>Preprocess</a:t>
            </a:r>
          </a:p>
          <a:p>
            <a:pPr marL="914400" lvl="1" indent="-457200" eaLnBrk="0" hangingPunct="0">
              <a:spcBef>
                <a:spcPct val="50000"/>
              </a:spcBef>
              <a:buAutoNum type="arabicPeriod"/>
            </a:pPr>
            <a:r>
              <a:rPr sz="2800">
                <a:solidFill>
                  <a:srgbClr val="000000"/>
                </a:solidFill>
                <a:latin typeface="Times New Roman" panose="02020603050405020304" pitchFamily="18" charset="0"/>
              </a:rPr>
              <a:t>Compile</a:t>
            </a:r>
          </a:p>
          <a:p>
            <a:pPr marL="914400" lvl="1" indent="-457200" eaLnBrk="0" hangingPunct="0">
              <a:spcBef>
                <a:spcPct val="50000"/>
              </a:spcBef>
              <a:buAutoNum type="arabicPeriod"/>
            </a:pPr>
            <a:r>
              <a:rPr sz="2800">
                <a:solidFill>
                  <a:srgbClr val="000000"/>
                </a:solidFill>
                <a:latin typeface="Times New Roman" panose="02020603050405020304" pitchFamily="18" charset="0"/>
              </a:rPr>
              <a:t>Link</a:t>
            </a:r>
          </a:p>
          <a:p>
            <a:pPr marL="914400" lvl="1" indent="-457200" eaLnBrk="0" hangingPunct="0">
              <a:spcBef>
                <a:spcPct val="50000"/>
              </a:spcBef>
              <a:buAutoNum type="arabicPeriod"/>
            </a:pPr>
            <a:r>
              <a:rPr sz="2800">
                <a:solidFill>
                  <a:srgbClr val="000000"/>
                </a:solidFill>
                <a:latin typeface="Times New Roman" panose="02020603050405020304" pitchFamily="18" charset="0"/>
              </a:rPr>
              <a:t>Load</a:t>
            </a:r>
          </a:p>
          <a:p>
            <a:pPr marL="914400" lvl="1" indent="-457200" eaLnBrk="0" hangingPunct="0">
              <a:spcBef>
                <a:spcPct val="50000"/>
              </a:spcBef>
              <a:buAutoNum type="arabicPeriod"/>
            </a:pPr>
            <a:r>
              <a:rPr sz="2800">
                <a:solidFill>
                  <a:srgbClr val="000000"/>
                </a:solidFill>
                <a:latin typeface="Times New Roman" panose="02020603050405020304" pitchFamily="18" charset="0"/>
              </a:rPr>
              <a:t>Execute </a:t>
            </a:r>
          </a:p>
          <a:p>
            <a:pPr marL="457200" indent="-457200">
              <a:spcBef>
                <a:spcPct val="50000"/>
              </a:spcBef>
            </a:pPr>
            <a:endParaRPr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spcBef>
                <a:spcPct val="50000"/>
              </a:spcBef>
            </a:pPr>
            <a:fld id="{9A0DB2DC-4C9A-4742-B13C-FB6460FD3503}" type="slidenum">
              <a:rPr lang="en-US">
                <a:latin typeface="Times New Roman" panose="02020603050405020304" pitchFamily="18" charset="0"/>
              </a:rPr>
              <a:pPr lvl="0" eaLnBrk="0" hangingPunct="0">
                <a:spcBef>
                  <a:spcPct val="50000"/>
                </a:spcBef>
              </a:pPr>
              <a:t>24</a:t>
            </a:fld>
            <a:endParaRPr 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Title 18227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b="1"/>
              <a:t>Basics of a Typical C++ Environment</a:t>
            </a:r>
          </a:p>
        </p:txBody>
      </p:sp>
      <p:grpSp>
        <p:nvGrpSpPr>
          <p:cNvPr id="3" name="Group 182428"/>
          <p:cNvGrpSpPr/>
          <p:nvPr/>
        </p:nvGrpSpPr>
        <p:grpSpPr>
          <a:xfrm>
            <a:off x="1981200" y="1285875"/>
            <a:ext cx="6400801" cy="5572125"/>
            <a:chOff x="2638" y="762"/>
            <a:chExt cx="4032" cy="3510"/>
          </a:xfrm>
        </p:grpSpPr>
        <p:sp>
          <p:nvSpPr>
            <p:cNvPr id="182277" name="Freeform 182276"/>
            <p:cNvSpPr/>
            <p:nvPr/>
          </p:nvSpPr>
          <p:spPr>
            <a:xfrm>
              <a:off x="2638" y="2381"/>
              <a:ext cx="756" cy="288"/>
            </a:xfrm>
            <a:custGeom>
              <a:avLst/>
              <a:gdLst/>
              <a:ahLst/>
              <a:cxnLst/>
              <a:rect l="0" t="0" r="0" b="0"/>
              <a:pathLst>
                <a:path w="20000" h="20000">
                  <a:moveTo>
                    <a:pt x="19988" y="0"/>
                  </a:moveTo>
                  <a:lnTo>
                    <a:pt x="19988" y="19972"/>
                  </a:lnTo>
                  <a:lnTo>
                    <a:pt x="0" y="19972"/>
                  </a:lnTo>
                  <a:lnTo>
                    <a:pt x="0" y="0"/>
                  </a:lnTo>
                  <a:lnTo>
                    <a:pt x="19988" y="0"/>
                  </a:lnTo>
                  <a:close/>
                </a:path>
              </a:pathLst>
            </a:custGeom>
            <a:solidFill>
              <a:srgbClr val="4DB3E6"/>
            </a:solidFill>
            <a:ln w="3175" cap="flat" cmpd="sng">
              <a:solidFill>
                <a:srgbClr val="4DB3E6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278" name="Freeform 182277"/>
            <p:cNvSpPr/>
            <p:nvPr/>
          </p:nvSpPr>
          <p:spPr>
            <a:xfrm>
              <a:off x="2638" y="1545"/>
              <a:ext cx="756" cy="288"/>
            </a:xfrm>
            <a:custGeom>
              <a:avLst/>
              <a:gdLst/>
              <a:ahLst/>
              <a:cxnLst/>
              <a:rect l="0" t="0" r="0" b="0"/>
              <a:pathLst>
                <a:path w="20000" h="20000">
                  <a:moveTo>
                    <a:pt x="19988" y="0"/>
                  </a:moveTo>
                  <a:lnTo>
                    <a:pt x="19988" y="19972"/>
                  </a:lnTo>
                  <a:lnTo>
                    <a:pt x="0" y="19972"/>
                  </a:lnTo>
                  <a:lnTo>
                    <a:pt x="0" y="0"/>
                  </a:lnTo>
                  <a:lnTo>
                    <a:pt x="19988" y="0"/>
                  </a:lnTo>
                  <a:close/>
                </a:path>
              </a:pathLst>
            </a:custGeom>
            <a:solidFill>
              <a:srgbClr val="4DB3E6"/>
            </a:solidFill>
            <a:ln w="3175" cap="flat" cmpd="sng">
              <a:solidFill>
                <a:srgbClr val="4DB3E6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279" name="Freeform 182278"/>
            <p:cNvSpPr/>
            <p:nvPr/>
          </p:nvSpPr>
          <p:spPr>
            <a:xfrm>
              <a:off x="2638" y="2381"/>
              <a:ext cx="756" cy="288"/>
            </a:xfrm>
            <a:custGeom>
              <a:avLst/>
              <a:gdLst/>
              <a:ahLst/>
              <a:cxnLst/>
              <a:rect l="0" t="0" r="0" b="0"/>
              <a:pathLst>
                <a:path w="20000" h="20000">
                  <a:moveTo>
                    <a:pt x="19988" y="0"/>
                  </a:moveTo>
                  <a:lnTo>
                    <a:pt x="19988" y="19972"/>
                  </a:lnTo>
                  <a:lnTo>
                    <a:pt x="0" y="19972"/>
                  </a:lnTo>
                  <a:lnTo>
                    <a:pt x="0" y="0"/>
                  </a:lnTo>
                  <a:lnTo>
                    <a:pt x="19988" y="0"/>
                  </a:lnTo>
                  <a:close/>
                </a:path>
              </a:pathLst>
            </a:custGeom>
            <a:noFill/>
            <a:ln w="31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280" name="Rectangle 182279"/>
            <p:cNvSpPr/>
            <p:nvPr/>
          </p:nvSpPr>
          <p:spPr>
            <a:xfrm>
              <a:off x="2844" y="2472"/>
              <a:ext cx="342" cy="112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/>
            <a:lstStyle/>
            <a:p>
              <a:pPr eaLnBrk="1" hangingPunct="1"/>
              <a:r>
                <a:rPr sz="1000">
                  <a:solidFill>
                    <a:srgbClr val="000000"/>
                  </a:solidFill>
                  <a:latin typeface="Times New Roman" panose="02020603050405020304" pitchFamily="18" charset="0"/>
                  <a:ea typeface="Mincho" charset="-128"/>
                </a:rPr>
                <a:t>Loader</a:t>
              </a:r>
              <a:endParaRPr sz="12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endParaRPr sz="2400">
                <a:latin typeface="Times New Roman" panose="02020603050405020304" pitchFamily="18" charset="0"/>
                <a:ea typeface="Mincho" charset="-128"/>
              </a:endParaRPr>
            </a:p>
          </p:txBody>
        </p:sp>
        <p:sp>
          <p:nvSpPr>
            <p:cNvPr id="182281" name="Freeform 182280"/>
            <p:cNvSpPr/>
            <p:nvPr/>
          </p:nvSpPr>
          <p:spPr>
            <a:xfrm>
              <a:off x="3396" y="912"/>
              <a:ext cx="324" cy="0"/>
            </a:xfrm>
            <a:custGeom>
              <a:avLst/>
              <a:gdLst/>
              <a:ahLst/>
              <a:cxnLst/>
              <a:rect l="0" t="0" r="0" b="0"/>
              <a:pathLst>
                <a:path w="20000" h="20000">
                  <a:moveTo>
                    <a:pt x="1997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3175" cap="flat" cmpd="sng">
              <a:solidFill>
                <a:srgbClr val="000000"/>
              </a:solidFill>
              <a:prstDash val="solid"/>
              <a:headEnd type="triangle" w="med" len="sm"/>
              <a:tailEnd type="triangle" w="med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282" name="Freeform 182281"/>
            <p:cNvSpPr/>
            <p:nvPr/>
          </p:nvSpPr>
          <p:spPr>
            <a:xfrm>
              <a:off x="3396" y="1305"/>
              <a:ext cx="324" cy="0"/>
            </a:xfrm>
            <a:custGeom>
              <a:avLst/>
              <a:gdLst/>
              <a:ahLst/>
              <a:cxnLst/>
              <a:rect l="0" t="0" r="0" b="0"/>
              <a:pathLst>
                <a:path w="20000" h="20000">
                  <a:moveTo>
                    <a:pt x="1997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3175" cap="flat" cmpd="sng">
              <a:solidFill>
                <a:srgbClr val="000000"/>
              </a:solidFill>
              <a:prstDash val="solid"/>
              <a:headEnd type="triangle" w="med" len="sm"/>
              <a:tailEnd type="triangle" w="med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283" name="Freeform 182282"/>
            <p:cNvSpPr/>
            <p:nvPr/>
          </p:nvSpPr>
          <p:spPr>
            <a:xfrm>
              <a:off x="3396" y="2525"/>
              <a:ext cx="324" cy="0"/>
            </a:xfrm>
            <a:custGeom>
              <a:avLst/>
              <a:gdLst/>
              <a:ahLst/>
              <a:cxnLst/>
              <a:rect l="0" t="0" r="0" b="0"/>
              <a:pathLst>
                <a:path w="20000" h="20000">
                  <a:moveTo>
                    <a:pt x="1997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3175" cap="flat" cmpd="sng">
              <a:solidFill>
                <a:srgbClr val="000000"/>
              </a:solidFill>
              <a:prstDash val="solid"/>
              <a:headEnd type="triangle" w="med" len="sm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284" name="Rectangle 182283"/>
            <p:cNvSpPr/>
            <p:nvPr/>
          </p:nvSpPr>
          <p:spPr>
            <a:xfrm>
              <a:off x="3720" y="2310"/>
              <a:ext cx="486" cy="1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/>
            <a:lstStyle/>
            <a:p>
              <a:pPr indent="228600" algn="ctr" eaLnBrk="1" hangingPunct="1"/>
              <a:r>
                <a:rPr sz="900">
                  <a:solidFill>
                    <a:srgbClr val="000000"/>
                  </a:solidFill>
                  <a:latin typeface="AvantGarde" pitchFamily="34" charset="0"/>
                </a:rPr>
                <a:t>Primary</a:t>
              </a:r>
              <a:endParaRPr sz="1000">
                <a:solidFill>
                  <a:srgbClr val="000000"/>
                </a:solidFill>
                <a:latin typeface="Times" pitchFamily="18" charset="0"/>
              </a:endParaRPr>
            </a:p>
            <a:p>
              <a:pPr indent="228600" algn="ctr"/>
              <a:r>
                <a:rPr sz="900">
                  <a:solidFill>
                    <a:srgbClr val="000000"/>
                  </a:solidFill>
                  <a:latin typeface="AvantGarde" pitchFamily="34" charset="0"/>
                </a:rPr>
                <a:t>Memory</a:t>
              </a:r>
              <a:endParaRPr sz="1000">
                <a:solidFill>
                  <a:srgbClr val="000000"/>
                </a:solidFill>
                <a:latin typeface="Times" pitchFamily="18" charset="0"/>
              </a:endParaRPr>
            </a:p>
            <a:p>
              <a:pPr indent="228600"/>
              <a:endParaRPr sz="2400">
                <a:latin typeface="Times New Roman" panose="02020603050405020304" pitchFamily="18" charset="0"/>
              </a:endParaRPr>
            </a:p>
          </p:txBody>
        </p:sp>
        <p:sp>
          <p:nvSpPr>
            <p:cNvPr id="182285" name="Freeform 182284"/>
            <p:cNvSpPr/>
            <p:nvPr/>
          </p:nvSpPr>
          <p:spPr>
            <a:xfrm>
              <a:off x="3396" y="3533"/>
              <a:ext cx="324" cy="0"/>
            </a:xfrm>
            <a:custGeom>
              <a:avLst/>
              <a:gdLst/>
              <a:ahLst/>
              <a:cxnLst/>
              <a:rect l="0" t="0" r="0" b="0"/>
              <a:pathLst>
                <a:path w="20000" h="20000">
                  <a:moveTo>
                    <a:pt x="19972" y="0"/>
                  </a:moveTo>
                  <a:lnTo>
                    <a:pt x="0" y="0"/>
                  </a:lnTo>
                </a:path>
              </a:pathLst>
            </a:custGeom>
            <a:noFill/>
            <a:ln w="3175" cap="flat" cmpd="sng">
              <a:solidFill>
                <a:srgbClr val="000000"/>
              </a:solidFill>
              <a:prstDash val="solid"/>
              <a:headEnd type="triangle" w="med" len="sm"/>
              <a:tailEnd type="triangle" w="med" len="sm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" name="Group 182285"/>
            <p:cNvGrpSpPr/>
            <p:nvPr/>
          </p:nvGrpSpPr>
          <p:grpSpPr>
            <a:xfrm>
              <a:off x="4260" y="2304"/>
              <a:ext cx="108" cy="960"/>
              <a:chOff x="0" y="0"/>
              <a:chExt cx="19999" cy="19999"/>
            </a:xfrm>
          </p:grpSpPr>
          <p:sp>
            <p:nvSpPr>
              <p:cNvPr id="182287" name="Freeform 182286"/>
              <p:cNvSpPr/>
              <p:nvPr/>
            </p:nvSpPr>
            <p:spPr>
              <a:xfrm>
                <a:off x="0" y="0"/>
                <a:ext cx="10041" cy="5006"/>
              </a:xfrm>
              <a:custGeom>
                <a:avLst/>
                <a:gdLst>
                  <a:gd name="txL" fmla="*/ 0 w 21600"/>
                  <a:gd name="txT" fmla="*/ 0 h 21600"/>
                  <a:gd name="txR" fmla="*/ 21600 w 21600"/>
                  <a:gd name="txB" fmla="*/ 21600 h 21600"/>
                </a:gdLst>
                <a:ahLst/>
                <a:cxnLst>
                  <a:cxn ang="270">
                    <a:pos x="0" y="0"/>
                  </a:cxn>
                  <a:cxn ang="90">
                    <a:pos x="21600" y="21600"/>
                  </a:cxn>
                  <a:cxn ang="90">
                    <a:pos x="0" y="21600"/>
                  </a:cxn>
                </a:cxnLst>
                <a:rect l="txL" t="txT" r="txR" b="txB"/>
                <a:pathLst>
                  <a:path w="21600" h="21600" fill="none">
                    <a:moveTo>
                      <a:pt x="0" y="0"/>
                    </a:moveTo>
                    <a:arcTo wR="21600" hR="21600" stAng="-5400000" swAng="5400000"/>
                  </a:path>
                  <a:path w="21600" h="21600" stroke="0">
                    <a:moveTo>
                      <a:pt x="0" y="0"/>
                    </a:moveTo>
                    <a:arcTo wR="21600" hR="21600" stAng="-5400000" swAng="5400000"/>
                    <a:lnTo>
                      <a:pt x="0" y="21600"/>
                    </a:lnTo>
                    <a:close/>
                  </a:path>
                </a:pathLst>
              </a:custGeom>
              <a:noFill/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288" name="Freeform 182287"/>
              <p:cNvSpPr/>
              <p:nvPr/>
            </p:nvSpPr>
            <p:spPr>
              <a:xfrm flipV="1">
                <a:off x="0" y="14993"/>
                <a:ext cx="10041" cy="5006"/>
              </a:xfrm>
              <a:custGeom>
                <a:avLst/>
                <a:gdLst>
                  <a:gd name="txL" fmla="*/ 0 w 21600"/>
                  <a:gd name="txT" fmla="*/ 0 h 21600"/>
                  <a:gd name="txR" fmla="*/ 21600 w 21600"/>
                  <a:gd name="txB" fmla="*/ 21600 h 21600"/>
                </a:gdLst>
                <a:ahLst/>
                <a:cxnLst>
                  <a:cxn ang="270">
                    <a:pos x="0" y="0"/>
                  </a:cxn>
                  <a:cxn ang="90">
                    <a:pos x="21600" y="21600"/>
                  </a:cxn>
                  <a:cxn ang="90">
                    <a:pos x="0" y="21600"/>
                  </a:cxn>
                </a:cxnLst>
                <a:rect l="txL" t="txT" r="txR" b="txB"/>
                <a:pathLst>
                  <a:path w="21600" h="21600" fill="none">
                    <a:moveTo>
                      <a:pt x="0" y="0"/>
                    </a:moveTo>
                    <a:arcTo wR="21600" hR="21600" stAng="-5400000" swAng="5400000"/>
                  </a:path>
                  <a:path w="21600" h="21600" stroke="0">
                    <a:moveTo>
                      <a:pt x="0" y="0"/>
                    </a:moveTo>
                    <a:arcTo wR="21600" hR="21600" stAng="-5400000" swAng="5400000"/>
                    <a:lnTo>
                      <a:pt x="0" y="21600"/>
                    </a:lnTo>
                    <a:close/>
                  </a:path>
                </a:pathLst>
              </a:custGeom>
              <a:noFill/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289" name="Freeform 182288"/>
              <p:cNvSpPr/>
              <p:nvPr/>
            </p:nvSpPr>
            <p:spPr>
              <a:xfrm flipH="1">
                <a:off x="9958" y="9995"/>
                <a:ext cx="10041" cy="5006"/>
              </a:xfrm>
              <a:custGeom>
                <a:avLst/>
                <a:gdLst>
                  <a:gd name="txL" fmla="*/ 0 w 21600"/>
                  <a:gd name="txT" fmla="*/ 0 h 21600"/>
                  <a:gd name="txR" fmla="*/ 21600 w 21600"/>
                  <a:gd name="txB" fmla="*/ 21600 h 21600"/>
                </a:gdLst>
                <a:ahLst/>
                <a:cxnLst>
                  <a:cxn ang="270">
                    <a:pos x="0" y="0"/>
                  </a:cxn>
                  <a:cxn ang="90">
                    <a:pos x="21600" y="21600"/>
                  </a:cxn>
                  <a:cxn ang="90">
                    <a:pos x="0" y="21600"/>
                  </a:cxn>
                </a:cxnLst>
                <a:rect l="txL" t="txT" r="txR" b="txB"/>
                <a:pathLst>
                  <a:path w="21600" h="21600" fill="none">
                    <a:moveTo>
                      <a:pt x="0" y="0"/>
                    </a:moveTo>
                    <a:arcTo wR="21600" hR="21600" stAng="-5400000" swAng="5400000"/>
                  </a:path>
                  <a:path w="21600" h="21600" stroke="0">
                    <a:moveTo>
                      <a:pt x="0" y="0"/>
                    </a:moveTo>
                    <a:arcTo wR="21600" hR="21600" stAng="-5400000" swAng="5400000"/>
                    <a:lnTo>
                      <a:pt x="0" y="21600"/>
                    </a:lnTo>
                    <a:close/>
                  </a:path>
                </a:pathLst>
              </a:custGeom>
              <a:noFill/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290" name="Freeform 182289"/>
              <p:cNvSpPr/>
              <p:nvPr/>
            </p:nvSpPr>
            <p:spPr>
              <a:xfrm flipH="1" flipV="1">
                <a:off x="9958" y="4998"/>
                <a:ext cx="10041" cy="5006"/>
              </a:xfrm>
              <a:custGeom>
                <a:avLst/>
                <a:gdLst>
                  <a:gd name="txL" fmla="*/ 0 w 21600"/>
                  <a:gd name="txT" fmla="*/ 0 h 21600"/>
                  <a:gd name="txR" fmla="*/ 21600 w 21600"/>
                  <a:gd name="txB" fmla="*/ 21600 h 21600"/>
                </a:gdLst>
                <a:ahLst/>
                <a:cxnLst>
                  <a:cxn ang="270">
                    <a:pos x="0" y="0"/>
                  </a:cxn>
                  <a:cxn ang="90">
                    <a:pos x="21600" y="21600"/>
                  </a:cxn>
                  <a:cxn ang="90">
                    <a:pos x="0" y="21600"/>
                  </a:cxn>
                </a:cxnLst>
                <a:rect l="txL" t="txT" r="txR" b="txB"/>
                <a:pathLst>
                  <a:path w="21600" h="21600" fill="none">
                    <a:moveTo>
                      <a:pt x="0" y="0"/>
                    </a:moveTo>
                    <a:arcTo wR="21600" hR="21600" stAng="-5400000" swAng="5400000"/>
                  </a:path>
                  <a:path w="21600" h="21600" stroke="0">
                    <a:moveTo>
                      <a:pt x="0" y="0"/>
                    </a:moveTo>
                    <a:arcTo wR="21600" hR="21600" stAng="-5400000" swAng="5400000"/>
                    <a:lnTo>
                      <a:pt x="0" y="21600"/>
                    </a:lnTo>
                    <a:close/>
                  </a:path>
                </a:pathLst>
              </a:custGeom>
              <a:noFill/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" name="Group 182290"/>
            <p:cNvGrpSpPr/>
            <p:nvPr/>
          </p:nvGrpSpPr>
          <p:grpSpPr>
            <a:xfrm>
              <a:off x="4260" y="3312"/>
              <a:ext cx="108" cy="960"/>
              <a:chOff x="0" y="0"/>
              <a:chExt cx="19999" cy="19999"/>
            </a:xfrm>
          </p:grpSpPr>
          <p:sp>
            <p:nvSpPr>
              <p:cNvPr id="182292" name="Freeform 182291"/>
              <p:cNvSpPr/>
              <p:nvPr/>
            </p:nvSpPr>
            <p:spPr>
              <a:xfrm>
                <a:off x="0" y="0"/>
                <a:ext cx="10041" cy="5006"/>
              </a:xfrm>
              <a:custGeom>
                <a:avLst/>
                <a:gdLst>
                  <a:gd name="txL" fmla="*/ 0 w 21600"/>
                  <a:gd name="txT" fmla="*/ 0 h 21600"/>
                  <a:gd name="txR" fmla="*/ 21600 w 21600"/>
                  <a:gd name="txB" fmla="*/ 21600 h 21600"/>
                </a:gdLst>
                <a:ahLst/>
                <a:cxnLst>
                  <a:cxn ang="270">
                    <a:pos x="0" y="0"/>
                  </a:cxn>
                  <a:cxn ang="90">
                    <a:pos x="21600" y="21600"/>
                  </a:cxn>
                  <a:cxn ang="90">
                    <a:pos x="0" y="21600"/>
                  </a:cxn>
                </a:cxnLst>
                <a:rect l="txL" t="txT" r="txR" b="txB"/>
                <a:pathLst>
                  <a:path w="21600" h="21600" fill="none">
                    <a:moveTo>
                      <a:pt x="0" y="0"/>
                    </a:moveTo>
                    <a:arcTo wR="21600" hR="21600" stAng="-5400000" swAng="5400000"/>
                  </a:path>
                  <a:path w="21600" h="21600" stroke="0">
                    <a:moveTo>
                      <a:pt x="0" y="0"/>
                    </a:moveTo>
                    <a:arcTo wR="21600" hR="21600" stAng="-5400000" swAng="5400000"/>
                    <a:lnTo>
                      <a:pt x="0" y="21600"/>
                    </a:lnTo>
                    <a:close/>
                  </a:path>
                </a:pathLst>
              </a:custGeom>
              <a:noFill/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293" name="Freeform 182292"/>
              <p:cNvSpPr/>
              <p:nvPr/>
            </p:nvSpPr>
            <p:spPr>
              <a:xfrm flipV="1">
                <a:off x="0" y="14993"/>
                <a:ext cx="10041" cy="5006"/>
              </a:xfrm>
              <a:custGeom>
                <a:avLst/>
                <a:gdLst>
                  <a:gd name="txL" fmla="*/ 0 w 21600"/>
                  <a:gd name="txT" fmla="*/ 0 h 21600"/>
                  <a:gd name="txR" fmla="*/ 21600 w 21600"/>
                  <a:gd name="txB" fmla="*/ 21600 h 21600"/>
                </a:gdLst>
                <a:ahLst/>
                <a:cxnLst>
                  <a:cxn ang="270">
                    <a:pos x="0" y="0"/>
                  </a:cxn>
                  <a:cxn ang="90">
                    <a:pos x="21600" y="21600"/>
                  </a:cxn>
                  <a:cxn ang="90">
                    <a:pos x="0" y="21600"/>
                  </a:cxn>
                </a:cxnLst>
                <a:rect l="txL" t="txT" r="txR" b="txB"/>
                <a:pathLst>
                  <a:path w="21600" h="21600" fill="none">
                    <a:moveTo>
                      <a:pt x="0" y="0"/>
                    </a:moveTo>
                    <a:arcTo wR="21600" hR="21600" stAng="-5400000" swAng="5400000"/>
                  </a:path>
                  <a:path w="21600" h="21600" stroke="0">
                    <a:moveTo>
                      <a:pt x="0" y="0"/>
                    </a:moveTo>
                    <a:arcTo wR="21600" hR="21600" stAng="-5400000" swAng="5400000"/>
                    <a:lnTo>
                      <a:pt x="0" y="21600"/>
                    </a:lnTo>
                    <a:close/>
                  </a:path>
                </a:pathLst>
              </a:custGeom>
              <a:noFill/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294" name="Freeform 182293"/>
              <p:cNvSpPr/>
              <p:nvPr/>
            </p:nvSpPr>
            <p:spPr>
              <a:xfrm flipH="1">
                <a:off x="9958" y="9995"/>
                <a:ext cx="10041" cy="5006"/>
              </a:xfrm>
              <a:custGeom>
                <a:avLst/>
                <a:gdLst>
                  <a:gd name="txL" fmla="*/ 0 w 21600"/>
                  <a:gd name="txT" fmla="*/ 0 h 21600"/>
                  <a:gd name="txR" fmla="*/ 21600 w 21600"/>
                  <a:gd name="txB" fmla="*/ 21600 h 21600"/>
                </a:gdLst>
                <a:ahLst/>
                <a:cxnLst>
                  <a:cxn ang="270">
                    <a:pos x="0" y="0"/>
                  </a:cxn>
                  <a:cxn ang="90">
                    <a:pos x="21600" y="21600"/>
                  </a:cxn>
                  <a:cxn ang="90">
                    <a:pos x="0" y="21600"/>
                  </a:cxn>
                </a:cxnLst>
                <a:rect l="txL" t="txT" r="txR" b="txB"/>
                <a:pathLst>
                  <a:path w="21600" h="21600" fill="none">
                    <a:moveTo>
                      <a:pt x="0" y="0"/>
                    </a:moveTo>
                    <a:arcTo wR="21600" hR="21600" stAng="-5400000" swAng="5400000"/>
                  </a:path>
                  <a:path w="21600" h="21600" stroke="0">
                    <a:moveTo>
                      <a:pt x="0" y="0"/>
                    </a:moveTo>
                    <a:arcTo wR="21600" hR="21600" stAng="-5400000" swAng="5400000"/>
                    <a:lnTo>
                      <a:pt x="0" y="21600"/>
                    </a:lnTo>
                    <a:close/>
                  </a:path>
                </a:pathLst>
              </a:custGeom>
              <a:noFill/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295" name="Freeform 182294"/>
              <p:cNvSpPr/>
              <p:nvPr/>
            </p:nvSpPr>
            <p:spPr>
              <a:xfrm flipH="1" flipV="1">
                <a:off x="9958" y="4998"/>
                <a:ext cx="10041" cy="5006"/>
              </a:xfrm>
              <a:custGeom>
                <a:avLst/>
                <a:gdLst>
                  <a:gd name="txL" fmla="*/ 0 w 21600"/>
                  <a:gd name="txT" fmla="*/ 0 h 21600"/>
                  <a:gd name="txR" fmla="*/ 21600 w 21600"/>
                  <a:gd name="txB" fmla="*/ 21600 h 21600"/>
                </a:gdLst>
                <a:ahLst/>
                <a:cxnLst>
                  <a:cxn ang="270">
                    <a:pos x="0" y="0"/>
                  </a:cxn>
                  <a:cxn ang="90">
                    <a:pos x="21600" y="21600"/>
                  </a:cxn>
                  <a:cxn ang="90">
                    <a:pos x="0" y="21600"/>
                  </a:cxn>
                </a:cxnLst>
                <a:rect l="txL" t="txT" r="txR" b="txB"/>
                <a:pathLst>
                  <a:path w="21600" h="21600" fill="none">
                    <a:moveTo>
                      <a:pt x="0" y="0"/>
                    </a:moveTo>
                    <a:arcTo wR="21600" hR="21600" stAng="-5400000" swAng="5400000"/>
                  </a:path>
                  <a:path w="21600" h="21600" stroke="0">
                    <a:moveTo>
                      <a:pt x="0" y="0"/>
                    </a:moveTo>
                    <a:arcTo wR="21600" hR="21600" stAng="-5400000" swAng="5400000"/>
                    <a:lnTo>
                      <a:pt x="0" y="21600"/>
                    </a:lnTo>
                    <a:close/>
                  </a:path>
                </a:pathLst>
              </a:custGeom>
              <a:noFill/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" name="Group 182295"/>
            <p:cNvGrpSpPr/>
            <p:nvPr/>
          </p:nvGrpSpPr>
          <p:grpSpPr>
            <a:xfrm>
              <a:off x="4260" y="768"/>
              <a:ext cx="108" cy="288"/>
              <a:chOff x="0" y="0"/>
              <a:chExt cx="19999" cy="20001"/>
            </a:xfrm>
          </p:grpSpPr>
          <p:sp>
            <p:nvSpPr>
              <p:cNvPr id="182297" name="Freeform 182296"/>
              <p:cNvSpPr/>
              <p:nvPr/>
            </p:nvSpPr>
            <p:spPr>
              <a:xfrm>
                <a:off x="0" y="0"/>
                <a:ext cx="10041" cy="5021"/>
              </a:xfrm>
              <a:custGeom>
                <a:avLst/>
                <a:gdLst>
                  <a:gd name="txL" fmla="*/ 0 w 21600"/>
                  <a:gd name="txT" fmla="*/ 0 h 21600"/>
                  <a:gd name="txR" fmla="*/ 21600 w 21600"/>
                  <a:gd name="txB" fmla="*/ 21600 h 21600"/>
                </a:gdLst>
                <a:ahLst/>
                <a:cxnLst>
                  <a:cxn ang="270">
                    <a:pos x="0" y="0"/>
                  </a:cxn>
                  <a:cxn ang="90">
                    <a:pos x="21600" y="21600"/>
                  </a:cxn>
                  <a:cxn ang="90">
                    <a:pos x="0" y="21600"/>
                  </a:cxn>
                </a:cxnLst>
                <a:rect l="txL" t="txT" r="txR" b="txB"/>
                <a:pathLst>
                  <a:path w="21600" h="21600" fill="none">
                    <a:moveTo>
                      <a:pt x="0" y="0"/>
                    </a:moveTo>
                    <a:arcTo wR="21600" hR="21600" stAng="-5400000" swAng="5400000"/>
                  </a:path>
                  <a:path w="21600" h="21600" stroke="0">
                    <a:moveTo>
                      <a:pt x="0" y="0"/>
                    </a:moveTo>
                    <a:arcTo wR="21600" hR="21600" stAng="-5400000" swAng="5400000"/>
                    <a:lnTo>
                      <a:pt x="0" y="21600"/>
                    </a:lnTo>
                    <a:close/>
                  </a:path>
                </a:pathLst>
              </a:custGeom>
              <a:noFill/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298" name="Freeform 182297"/>
              <p:cNvSpPr/>
              <p:nvPr/>
            </p:nvSpPr>
            <p:spPr>
              <a:xfrm flipV="1">
                <a:off x="0" y="14980"/>
                <a:ext cx="10041" cy="5021"/>
              </a:xfrm>
              <a:custGeom>
                <a:avLst/>
                <a:gdLst>
                  <a:gd name="txL" fmla="*/ 0 w 21600"/>
                  <a:gd name="txT" fmla="*/ 0 h 21600"/>
                  <a:gd name="txR" fmla="*/ 21600 w 21600"/>
                  <a:gd name="txB" fmla="*/ 21600 h 21600"/>
                </a:gdLst>
                <a:ahLst/>
                <a:cxnLst>
                  <a:cxn ang="270">
                    <a:pos x="0" y="0"/>
                  </a:cxn>
                  <a:cxn ang="90">
                    <a:pos x="21600" y="21600"/>
                  </a:cxn>
                  <a:cxn ang="90">
                    <a:pos x="0" y="21600"/>
                  </a:cxn>
                </a:cxnLst>
                <a:rect l="txL" t="txT" r="txR" b="txB"/>
                <a:pathLst>
                  <a:path w="21600" h="21600" fill="none">
                    <a:moveTo>
                      <a:pt x="0" y="0"/>
                    </a:moveTo>
                    <a:arcTo wR="21600" hR="21600" stAng="-5400000" swAng="5400000"/>
                  </a:path>
                  <a:path w="21600" h="21600" stroke="0">
                    <a:moveTo>
                      <a:pt x="0" y="0"/>
                    </a:moveTo>
                    <a:arcTo wR="21600" hR="21600" stAng="-5400000" swAng="5400000"/>
                    <a:lnTo>
                      <a:pt x="0" y="21600"/>
                    </a:lnTo>
                    <a:close/>
                  </a:path>
                </a:pathLst>
              </a:custGeom>
              <a:noFill/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299" name="Freeform 182298"/>
              <p:cNvSpPr/>
              <p:nvPr/>
            </p:nvSpPr>
            <p:spPr>
              <a:xfrm flipH="1">
                <a:off x="9958" y="9987"/>
                <a:ext cx="10041" cy="5021"/>
              </a:xfrm>
              <a:custGeom>
                <a:avLst/>
                <a:gdLst>
                  <a:gd name="txL" fmla="*/ 0 w 21600"/>
                  <a:gd name="txT" fmla="*/ 0 h 21600"/>
                  <a:gd name="txR" fmla="*/ 21600 w 21600"/>
                  <a:gd name="txB" fmla="*/ 21600 h 21600"/>
                </a:gdLst>
                <a:ahLst/>
                <a:cxnLst>
                  <a:cxn ang="270">
                    <a:pos x="0" y="0"/>
                  </a:cxn>
                  <a:cxn ang="90">
                    <a:pos x="21600" y="21600"/>
                  </a:cxn>
                  <a:cxn ang="90">
                    <a:pos x="0" y="21600"/>
                  </a:cxn>
                </a:cxnLst>
                <a:rect l="txL" t="txT" r="txR" b="txB"/>
                <a:pathLst>
                  <a:path w="21600" h="21600" fill="none">
                    <a:moveTo>
                      <a:pt x="0" y="0"/>
                    </a:moveTo>
                    <a:arcTo wR="21600" hR="21600" stAng="-5400000" swAng="5400000"/>
                  </a:path>
                  <a:path w="21600" h="21600" stroke="0">
                    <a:moveTo>
                      <a:pt x="0" y="0"/>
                    </a:moveTo>
                    <a:arcTo wR="21600" hR="21600" stAng="-5400000" swAng="5400000"/>
                    <a:lnTo>
                      <a:pt x="0" y="21600"/>
                    </a:lnTo>
                    <a:close/>
                  </a:path>
                </a:pathLst>
              </a:custGeom>
              <a:noFill/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00" name="Freeform 182299"/>
              <p:cNvSpPr/>
              <p:nvPr/>
            </p:nvSpPr>
            <p:spPr>
              <a:xfrm flipH="1" flipV="1">
                <a:off x="9958" y="4993"/>
                <a:ext cx="10041" cy="5021"/>
              </a:xfrm>
              <a:custGeom>
                <a:avLst/>
                <a:gdLst>
                  <a:gd name="txL" fmla="*/ 0 w 21600"/>
                  <a:gd name="txT" fmla="*/ 0 h 21600"/>
                  <a:gd name="txR" fmla="*/ 21600 w 21600"/>
                  <a:gd name="txB" fmla="*/ 21600 h 21600"/>
                </a:gdLst>
                <a:ahLst/>
                <a:cxnLst>
                  <a:cxn ang="270">
                    <a:pos x="0" y="0"/>
                  </a:cxn>
                  <a:cxn ang="90">
                    <a:pos x="21600" y="21600"/>
                  </a:cxn>
                  <a:cxn ang="90">
                    <a:pos x="0" y="21600"/>
                  </a:cxn>
                </a:cxnLst>
                <a:rect l="txL" t="txT" r="txR" b="txB"/>
                <a:pathLst>
                  <a:path w="21600" h="21600" fill="none">
                    <a:moveTo>
                      <a:pt x="0" y="0"/>
                    </a:moveTo>
                    <a:arcTo wR="21600" hR="21600" stAng="-5400000" swAng="5400000"/>
                  </a:path>
                  <a:path w="21600" h="21600" stroke="0">
                    <a:moveTo>
                      <a:pt x="0" y="0"/>
                    </a:moveTo>
                    <a:arcTo wR="21600" hR="21600" stAng="-5400000" swAng="5400000"/>
                    <a:lnTo>
                      <a:pt x="0" y="21600"/>
                    </a:lnTo>
                    <a:close/>
                  </a:path>
                </a:pathLst>
              </a:custGeom>
              <a:noFill/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82301" name="Freeform 182300"/>
            <p:cNvSpPr/>
            <p:nvPr/>
          </p:nvSpPr>
          <p:spPr>
            <a:xfrm>
              <a:off x="4260" y="1155"/>
              <a:ext cx="54" cy="72"/>
            </a:xfrm>
            <a:custGeom>
              <a:avLst/>
              <a:gdLst>
                <a:gd name="txL" fmla="*/ 0 w 21600"/>
                <a:gd name="txT" fmla="*/ 0 h 21600"/>
                <a:gd name="txR" fmla="*/ 21600 w 21600"/>
                <a:gd name="txB" fmla="*/ 21600 h 21600"/>
              </a:gdLst>
              <a:ahLst/>
              <a:cxnLst>
                <a:cxn ang="270">
                  <a:pos x="0" y="0"/>
                </a:cxn>
                <a:cxn ang="90">
                  <a:pos x="21600" y="21600"/>
                </a:cxn>
                <a:cxn ang="90">
                  <a:pos x="0" y="21600"/>
                </a:cxn>
              </a:cxnLst>
              <a:rect l="txL" t="txT" r="txR" b="txB"/>
              <a:pathLst>
                <a:path w="21600" h="21600" fill="none">
                  <a:moveTo>
                    <a:pt x="0" y="0"/>
                  </a:moveTo>
                  <a:arcTo wR="21600" hR="21600" stAng="-5400000" swAng="5400000"/>
                </a:path>
                <a:path w="21600" h="21600" stroke="0">
                  <a:moveTo>
                    <a:pt x="0" y="0"/>
                  </a:moveTo>
                  <a:arcTo wR="21600" hR="21600" stAng="-5400000" swAng="5400000"/>
                  <a:lnTo>
                    <a:pt x="0" y="21600"/>
                  </a:lnTo>
                  <a:close/>
                </a:path>
              </a:pathLst>
            </a:custGeom>
            <a:noFill/>
            <a:ln w="31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302" name="Freeform 182301"/>
            <p:cNvSpPr/>
            <p:nvPr/>
          </p:nvSpPr>
          <p:spPr>
            <a:xfrm flipV="1">
              <a:off x="4260" y="1371"/>
              <a:ext cx="54" cy="72"/>
            </a:xfrm>
            <a:custGeom>
              <a:avLst/>
              <a:gdLst>
                <a:gd name="txL" fmla="*/ 0 w 21600"/>
                <a:gd name="txT" fmla="*/ 0 h 21600"/>
                <a:gd name="txR" fmla="*/ 21600 w 21600"/>
                <a:gd name="txB" fmla="*/ 21600 h 21600"/>
              </a:gdLst>
              <a:ahLst/>
              <a:cxnLst>
                <a:cxn ang="270">
                  <a:pos x="0" y="0"/>
                </a:cxn>
                <a:cxn ang="90">
                  <a:pos x="21600" y="21600"/>
                </a:cxn>
                <a:cxn ang="90">
                  <a:pos x="0" y="21600"/>
                </a:cxn>
              </a:cxnLst>
              <a:rect l="txL" t="txT" r="txR" b="txB"/>
              <a:pathLst>
                <a:path w="21600" h="21600" fill="none">
                  <a:moveTo>
                    <a:pt x="0" y="0"/>
                  </a:moveTo>
                  <a:arcTo wR="21600" hR="21600" stAng="-5400000" swAng="5400000"/>
                </a:path>
                <a:path w="21600" h="21600" stroke="0">
                  <a:moveTo>
                    <a:pt x="0" y="0"/>
                  </a:moveTo>
                  <a:arcTo wR="21600" hR="21600" stAng="-5400000" swAng="5400000"/>
                  <a:lnTo>
                    <a:pt x="0" y="21600"/>
                  </a:lnTo>
                  <a:close/>
                </a:path>
              </a:pathLst>
            </a:custGeom>
            <a:noFill/>
            <a:ln w="31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303" name="Freeform 182302"/>
            <p:cNvSpPr/>
            <p:nvPr/>
          </p:nvSpPr>
          <p:spPr>
            <a:xfrm flipH="1">
              <a:off x="4314" y="1299"/>
              <a:ext cx="54" cy="72"/>
            </a:xfrm>
            <a:custGeom>
              <a:avLst/>
              <a:gdLst>
                <a:gd name="txL" fmla="*/ 0 w 21600"/>
                <a:gd name="txT" fmla="*/ 0 h 21600"/>
                <a:gd name="txR" fmla="*/ 21600 w 21600"/>
                <a:gd name="txB" fmla="*/ 21600 h 21600"/>
              </a:gdLst>
              <a:ahLst/>
              <a:cxnLst>
                <a:cxn ang="270">
                  <a:pos x="0" y="0"/>
                </a:cxn>
                <a:cxn ang="90">
                  <a:pos x="21600" y="21600"/>
                </a:cxn>
                <a:cxn ang="90">
                  <a:pos x="0" y="21600"/>
                </a:cxn>
              </a:cxnLst>
              <a:rect l="txL" t="txT" r="txR" b="txB"/>
              <a:pathLst>
                <a:path w="21600" h="21600" fill="none">
                  <a:moveTo>
                    <a:pt x="0" y="0"/>
                  </a:moveTo>
                  <a:arcTo wR="21600" hR="21600" stAng="-5400000" swAng="5400000"/>
                </a:path>
                <a:path w="21600" h="21600" stroke="0">
                  <a:moveTo>
                    <a:pt x="0" y="0"/>
                  </a:moveTo>
                  <a:arcTo wR="21600" hR="21600" stAng="-5400000" swAng="5400000"/>
                  <a:lnTo>
                    <a:pt x="0" y="21600"/>
                  </a:lnTo>
                  <a:close/>
                </a:path>
              </a:pathLst>
            </a:custGeom>
            <a:noFill/>
            <a:ln w="31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304" name="Freeform 182303"/>
            <p:cNvSpPr/>
            <p:nvPr/>
          </p:nvSpPr>
          <p:spPr>
            <a:xfrm flipH="1" flipV="1">
              <a:off x="4314" y="1227"/>
              <a:ext cx="54" cy="72"/>
            </a:xfrm>
            <a:custGeom>
              <a:avLst/>
              <a:gdLst>
                <a:gd name="txL" fmla="*/ 0 w 21600"/>
                <a:gd name="txT" fmla="*/ 0 h 21600"/>
                <a:gd name="txR" fmla="*/ 21600 w 21600"/>
                <a:gd name="txB" fmla="*/ 21600 h 21600"/>
              </a:gdLst>
              <a:ahLst/>
              <a:cxnLst>
                <a:cxn ang="270">
                  <a:pos x="0" y="0"/>
                </a:cxn>
                <a:cxn ang="90">
                  <a:pos x="21600" y="21600"/>
                </a:cxn>
                <a:cxn ang="90">
                  <a:pos x="0" y="21600"/>
                </a:cxn>
              </a:cxnLst>
              <a:rect l="txL" t="txT" r="txR" b="txB"/>
              <a:pathLst>
                <a:path w="21600" h="21600" fill="none">
                  <a:moveTo>
                    <a:pt x="0" y="0"/>
                  </a:moveTo>
                  <a:arcTo wR="21600" hR="21600" stAng="-5400000" swAng="5400000"/>
                </a:path>
                <a:path w="21600" h="21600" stroke="0">
                  <a:moveTo>
                    <a:pt x="0" y="0"/>
                  </a:moveTo>
                  <a:arcTo wR="21600" hR="21600" stAng="-5400000" swAng="5400000"/>
                  <a:lnTo>
                    <a:pt x="0" y="21600"/>
                  </a:lnTo>
                  <a:close/>
                </a:path>
              </a:pathLst>
            </a:custGeom>
            <a:noFill/>
            <a:ln w="31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305" name="Rectangle 182304"/>
            <p:cNvSpPr/>
            <p:nvPr/>
          </p:nvSpPr>
          <p:spPr>
            <a:xfrm>
              <a:off x="4419" y="787"/>
              <a:ext cx="2203" cy="304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/>
            <a:lstStyle/>
            <a:p>
              <a:r>
                <a:rPr sz="1600">
                  <a:solidFill>
                    <a:srgbClr val="000000"/>
                  </a:solidFill>
                  <a:latin typeface="Trebuchet MS" pitchFamily="34" charset="0"/>
                </a:rPr>
                <a:t>Program is created </a:t>
              </a:r>
              <a:r>
                <a:rPr sz="1600" smtClean="0">
                  <a:solidFill>
                    <a:srgbClr val="000000"/>
                  </a:solidFill>
                  <a:latin typeface="Trebuchet MS" pitchFamily="34" charset="0"/>
                </a:rPr>
                <a:t>in</a:t>
              </a:r>
              <a:r>
                <a:rPr lang="en-US" sz="1600" dirty="0" smtClean="0">
                  <a:solidFill>
                    <a:srgbClr val="000000"/>
                  </a:solidFill>
                  <a:latin typeface="Trebuchet MS" pitchFamily="34" charset="0"/>
                </a:rPr>
                <a:t> </a:t>
              </a:r>
              <a:r>
                <a:rPr sz="1600" smtClean="0">
                  <a:solidFill>
                    <a:srgbClr val="000000"/>
                  </a:solidFill>
                  <a:latin typeface="Trebuchet MS" pitchFamily="34" charset="0"/>
                </a:rPr>
                <a:t>the </a:t>
              </a:r>
              <a:r>
                <a:rPr sz="1600">
                  <a:solidFill>
                    <a:srgbClr val="000000"/>
                  </a:solidFill>
                  <a:latin typeface="Trebuchet MS" pitchFamily="34" charset="0"/>
                </a:rPr>
                <a:t>editor and </a:t>
              </a:r>
              <a:r>
                <a:rPr sz="1600" smtClean="0">
                  <a:solidFill>
                    <a:srgbClr val="000000"/>
                  </a:solidFill>
                  <a:latin typeface="Trebuchet MS" pitchFamily="34" charset="0"/>
                </a:rPr>
                <a:t>stored</a:t>
              </a:r>
              <a:r>
                <a:rPr lang="en-US" sz="1600" dirty="0" smtClean="0">
                  <a:solidFill>
                    <a:srgbClr val="000000"/>
                  </a:solidFill>
                  <a:latin typeface="Trebuchet MS" pitchFamily="34" charset="0"/>
                </a:rPr>
                <a:t> </a:t>
              </a:r>
              <a:r>
                <a:rPr sz="1600" smtClean="0">
                  <a:solidFill>
                    <a:srgbClr val="000000"/>
                  </a:solidFill>
                  <a:latin typeface="Trebuchet MS" pitchFamily="34" charset="0"/>
                </a:rPr>
                <a:t>on </a:t>
              </a:r>
              <a:r>
                <a:rPr sz="1600">
                  <a:solidFill>
                    <a:srgbClr val="000000"/>
                  </a:solidFill>
                  <a:latin typeface="Trebuchet MS" pitchFamily="34" charset="0"/>
                </a:rPr>
                <a:t>disk.</a:t>
              </a:r>
            </a:p>
            <a:p>
              <a:endParaRPr sz="1200" b="1">
                <a:latin typeface="Times New Roman" panose="02020603050405020304" pitchFamily="18" charset="0"/>
              </a:endParaRPr>
            </a:p>
          </p:txBody>
        </p:sp>
        <p:sp>
          <p:nvSpPr>
            <p:cNvPr id="182306" name="Rectangle 182305"/>
            <p:cNvSpPr/>
            <p:nvPr/>
          </p:nvSpPr>
          <p:spPr>
            <a:xfrm>
              <a:off x="4462" y="1200"/>
              <a:ext cx="2208" cy="27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/>
            <a:lstStyle/>
            <a:p>
              <a:pPr eaLnBrk="1" hangingPunct="1"/>
              <a:r>
                <a:rPr sz="1600">
                  <a:solidFill>
                    <a:srgbClr val="000000"/>
                  </a:solidFill>
                  <a:latin typeface="Trebuchet MS" pitchFamily="34" charset="0"/>
                </a:rPr>
                <a:t>Preprocessor </a:t>
              </a:r>
              <a:r>
                <a:rPr sz="1600" smtClean="0">
                  <a:solidFill>
                    <a:srgbClr val="000000"/>
                  </a:solidFill>
                  <a:latin typeface="Trebuchet MS" pitchFamily="34" charset="0"/>
                </a:rPr>
                <a:t>program</a:t>
              </a:r>
              <a:r>
                <a:rPr lang="en-US" sz="1600" dirty="0" smtClean="0">
                  <a:solidFill>
                    <a:srgbClr val="000000"/>
                  </a:solidFill>
                  <a:latin typeface="Trebuchet MS" pitchFamily="34" charset="0"/>
                </a:rPr>
                <a:t> </a:t>
              </a:r>
              <a:r>
                <a:rPr sz="1600" smtClean="0">
                  <a:solidFill>
                    <a:srgbClr val="000000"/>
                  </a:solidFill>
                  <a:latin typeface="Trebuchet MS" pitchFamily="34" charset="0"/>
                </a:rPr>
                <a:t>processes the code.</a:t>
              </a:r>
            </a:p>
            <a:p>
              <a:endParaRPr sz="1200" b="1">
                <a:latin typeface="Times New Roman" panose="02020603050405020304" pitchFamily="18" charset="0"/>
              </a:endParaRPr>
            </a:p>
          </p:txBody>
        </p:sp>
        <p:sp>
          <p:nvSpPr>
            <p:cNvPr id="182307" name="Rectangle 182306"/>
            <p:cNvSpPr/>
            <p:nvPr/>
          </p:nvSpPr>
          <p:spPr>
            <a:xfrm>
              <a:off x="4422" y="2703"/>
              <a:ext cx="2248" cy="465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/>
            <a:lstStyle/>
            <a:p>
              <a:pPr algn="just"/>
              <a:r>
                <a:rPr sz="1600">
                  <a:solidFill>
                    <a:srgbClr val="000000"/>
                  </a:solidFill>
                  <a:latin typeface="Trebuchet MS" pitchFamily="34" charset="0"/>
                </a:rPr>
                <a:t>Loader puts program</a:t>
              </a:r>
            </a:p>
            <a:p>
              <a:pPr algn="just"/>
              <a:r>
                <a:rPr sz="1600">
                  <a:solidFill>
                    <a:srgbClr val="000000"/>
                  </a:solidFill>
                  <a:latin typeface="Trebuchet MS" pitchFamily="34" charset="0"/>
                </a:rPr>
                <a:t>in memory.</a:t>
              </a:r>
            </a:p>
            <a:p>
              <a:endParaRPr sz="1200" b="1">
                <a:latin typeface="Times New Roman" panose="02020603050405020304" pitchFamily="18" charset="0"/>
              </a:endParaRPr>
            </a:p>
          </p:txBody>
        </p:sp>
        <p:sp>
          <p:nvSpPr>
            <p:cNvPr id="182308" name="Rectangle 182307"/>
            <p:cNvSpPr/>
            <p:nvPr/>
          </p:nvSpPr>
          <p:spPr>
            <a:xfrm>
              <a:off x="4414" y="3456"/>
              <a:ext cx="2208" cy="579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/>
            <a:lstStyle/>
            <a:p>
              <a:pPr algn="just" eaLnBrk="1" hangingPunct="1"/>
              <a:r>
                <a:rPr sz="1600">
                  <a:solidFill>
                    <a:srgbClr val="000000"/>
                  </a:solidFill>
                  <a:latin typeface="Trebuchet MS" pitchFamily="34" charset="0"/>
                </a:rPr>
                <a:t>CPU takes </a:t>
              </a:r>
              <a:r>
                <a:rPr sz="1600" smtClean="0">
                  <a:solidFill>
                    <a:srgbClr val="000000"/>
                  </a:solidFill>
                  <a:latin typeface="Trebuchet MS" pitchFamily="34" charset="0"/>
                </a:rPr>
                <a:t>each</a:t>
              </a:r>
              <a:r>
                <a:rPr lang="en-US" sz="1600" dirty="0" smtClean="0">
                  <a:solidFill>
                    <a:srgbClr val="000000"/>
                  </a:solidFill>
                  <a:latin typeface="Trebuchet MS" pitchFamily="34" charset="0"/>
                </a:rPr>
                <a:t> </a:t>
              </a:r>
              <a:r>
                <a:rPr sz="1600" smtClean="0">
                  <a:solidFill>
                    <a:srgbClr val="000000"/>
                  </a:solidFill>
                  <a:latin typeface="Trebuchet MS" pitchFamily="34" charset="0"/>
                </a:rPr>
                <a:t>instruction and</a:t>
              </a:r>
              <a:r>
                <a:rPr lang="en-US" sz="1600" dirty="0" smtClean="0">
                  <a:solidFill>
                    <a:srgbClr val="000000"/>
                  </a:solidFill>
                  <a:latin typeface="Trebuchet MS" pitchFamily="34" charset="0"/>
                </a:rPr>
                <a:t> </a:t>
              </a:r>
              <a:r>
                <a:rPr sz="1600" smtClean="0">
                  <a:solidFill>
                    <a:srgbClr val="000000"/>
                  </a:solidFill>
                  <a:latin typeface="Trebuchet MS" pitchFamily="34" charset="0"/>
                </a:rPr>
                <a:t>executes </a:t>
              </a:r>
              <a:r>
                <a:rPr sz="1600">
                  <a:solidFill>
                    <a:srgbClr val="000000"/>
                  </a:solidFill>
                  <a:latin typeface="Trebuchet MS" pitchFamily="34" charset="0"/>
                </a:rPr>
                <a:t>it, </a:t>
              </a:r>
              <a:r>
                <a:rPr sz="1600" smtClean="0">
                  <a:solidFill>
                    <a:srgbClr val="000000"/>
                  </a:solidFill>
                  <a:latin typeface="Trebuchet MS" pitchFamily="34" charset="0"/>
                </a:rPr>
                <a:t>possibly</a:t>
              </a:r>
              <a:r>
                <a:rPr lang="en-US" sz="1600" dirty="0" smtClean="0">
                  <a:solidFill>
                    <a:srgbClr val="000000"/>
                  </a:solidFill>
                  <a:latin typeface="Trebuchet MS" pitchFamily="34" charset="0"/>
                </a:rPr>
                <a:t> </a:t>
              </a:r>
              <a:r>
                <a:rPr sz="1600" smtClean="0">
                  <a:solidFill>
                    <a:srgbClr val="000000"/>
                  </a:solidFill>
                  <a:latin typeface="Trebuchet MS" pitchFamily="34" charset="0"/>
                </a:rPr>
                <a:t>storing </a:t>
              </a:r>
              <a:r>
                <a:rPr sz="1600">
                  <a:solidFill>
                    <a:srgbClr val="000000"/>
                  </a:solidFill>
                  <a:latin typeface="Trebuchet MS" pitchFamily="34" charset="0"/>
                </a:rPr>
                <a:t>new </a:t>
              </a:r>
              <a:r>
                <a:rPr sz="1600" smtClean="0">
                  <a:solidFill>
                    <a:srgbClr val="000000"/>
                  </a:solidFill>
                  <a:latin typeface="Trebuchet MS" pitchFamily="34" charset="0"/>
                </a:rPr>
                <a:t>data</a:t>
              </a:r>
              <a:r>
                <a:rPr lang="en-US" sz="1600" dirty="0" smtClean="0">
                  <a:solidFill>
                    <a:srgbClr val="000000"/>
                  </a:solidFill>
                  <a:latin typeface="Trebuchet MS" pitchFamily="34" charset="0"/>
                </a:rPr>
                <a:t> </a:t>
              </a:r>
              <a:r>
                <a:rPr sz="1600" smtClean="0">
                  <a:solidFill>
                    <a:srgbClr val="000000"/>
                  </a:solidFill>
                  <a:latin typeface="Trebuchet MS" pitchFamily="34" charset="0"/>
                </a:rPr>
                <a:t>values </a:t>
              </a:r>
              <a:r>
                <a:rPr sz="1600">
                  <a:solidFill>
                    <a:srgbClr val="000000"/>
                  </a:solidFill>
                  <a:latin typeface="Trebuchet MS" pitchFamily="34" charset="0"/>
                </a:rPr>
                <a:t>as the </a:t>
              </a:r>
              <a:r>
                <a:rPr sz="1600" smtClean="0">
                  <a:solidFill>
                    <a:srgbClr val="000000"/>
                  </a:solidFill>
                  <a:latin typeface="Trebuchet MS" pitchFamily="34" charset="0"/>
                </a:rPr>
                <a:t>program</a:t>
              </a:r>
              <a:r>
                <a:rPr lang="en-US" sz="1600" dirty="0" smtClean="0">
                  <a:solidFill>
                    <a:srgbClr val="000000"/>
                  </a:solidFill>
                  <a:latin typeface="Trebuchet MS" pitchFamily="34" charset="0"/>
                </a:rPr>
                <a:t> </a:t>
              </a:r>
              <a:r>
                <a:rPr sz="1600" smtClean="0">
                  <a:solidFill>
                    <a:srgbClr val="000000"/>
                  </a:solidFill>
                  <a:latin typeface="Trebuchet MS" pitchFamily="34" charset="0"/>
                </a:rPr>
                <a:t>executes</a:t>
              </a:r>
              <a:r>
                <a:rPr sz="1600">
                  <a:solidFill>
                    <a:srgbClr val="000000"/>
                  </a:solidFill>
                  <a:latin typeface="Trebuchet MS" pitchFamily="34" charset="0"/>
                </a:rPr>
                <a:t>.</a:t>
              </a:r>
            </a:p>
            <a:p>
              <a:endParaRPr sz="1200" b="1">
                <a:latin typeface="Times New Roman" panose="02020603050405020304" pitchFamily="18" charset="0"/>
              </a:endParaRPr>
            </a:p>
          </p:txBody>
        </p:sp>
        <p:sp>
          <p:nvSpPr>
            <p:cNvPr id="182309" name="Freeform 182308"/>
            <p:cNvSpPr/>
            <p:nvPr/>
          </p:nvSpPr>
          <p:spPr>
            <a:xfrm>
              <a:off x="2638" y="1545"/>
              <a:ext cx="756" cy="288"/>
            </a:xfrm>
            <a:custGeom>
              <a:avLst/>
              <a:gdLst/>
              <a:ahLst/>
              <a:cxnLst/>
              <a:rect l="0" t="0" r="0" b="0"/>
              <a:pathLst>
                <a:path w="20000" h="20000">
                  <a:moveTo>
                    <a:pt x="19988" y="0"/>
                  </a:moveTo>
                  <a:lnTo>
                    <a:pt x="19988" y="19972"/>
                  </a:lnTo>
                  <a:lnTo>
                    <a:pt x="0" y="19972"/>
                  </a:lnTo>
                  <a:lnTo>
                    <a:pt x="0" y="0"/>
                  </a:lnTo>
                  <a:lnTo>
                    <a:pt x="19988" y="0"/>
                  </a:lnTo>
                  <a:close/>
                </a:path>
              </a:pathLst>
            </a:custGeom>
            <a:noFill/>
            <a:ln w="31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310" name="Rectangle 182309"/>
            <p:cNvSpPr/>
            <p:nvPr/>
          </p:nvSpPr>
          <p:spPr>
            <a:xfrm>
              <a:off x="2790" y="1635"/>
              <a:ext cx="450" cy="112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/>
            <a:lstStyle/>
            <a:p>
              <a:pPr eaLnBrk="1" hangingPunct="1"/>
              <a:r>
                <a:rPr sz="1000">
                  <a:solidFill>
                    <a:srgbClr val="000000"/>
                  </a:solidFill>
                  <a:latin typeface="Times New Roman" panose="02020603050405020304" pitchFamily="18" charset="0"/>
                  <a:ea typeface="Mincho" charset="-128"/>
                </a:rPr>
                <a:t>Compiler</a:t>
              </a:r>
              <a:endParaRPr sz="12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endParaRPr sz="2400">
                <a:latin typeface="Times New Roman" panose="02020603050405020304" pitchFamily="18" charset="0"/>
                <a:ea typeface="Mincho" charset="-128"/>
              </a:endParaRPr>
            </a:p>
          </p:txBody>
        </p:sp>
        <p:sp>
          <p:nvSpPr>
            <p:cNvPr id="182311" name="Freeform 182310"/>
            <p:cNvSpPr/>
            <p:nvPr/>
          </p:nvSpPr>
          <p:spPr>
            <a:xfrm>
              <a:off x="3396" y="1689"/>
              <a:ext cx="324" cy="0"/>
            </a:xfrm>
            <a:custGeom>
              <a:avLst/>
              <a:gdLst/>
              <a:ahLst/>
              <a:cxnLst/>
              <a:rect l="0" t="0" r="0" b="0"/>
              <a:pathLst>
                <a:path w="20000" h="20000">
                  <a:moveTo>
                    <a:pt x="19972" y="0"/>
                  </a:moveTo>
                  <a:lnTo>
                    <a:pt x="0" y="0"/>
                  </a:lnTo>
                </a:path>
              </a:pathLst>
            </a:custGeom>
            <a:noFill/>
            <a:ln w="3175" cap="flat" cmpd="sng">
              <a:solidFill>
                <a:srgbClr val="000000"/>
              </a:solidFill>
              <a:prstDash val="solid"/>
              <a:headEnd type="triangle" w="med" len="sm"/>
              <a:tailEnd type="triangle" w="med" len="sm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7" name="Group 182311"/>
            <p:cNvGrpSpPr/>
            <p:nvPr/>
          </p:nvGrpSpPr>
          <p:grpSpPr>
            <a:xfrm>
              <a:off x="4260" y="1538"/>
              <a:ext cx="108" cy="288"/>
              <a:chOff x="0" y="0"/>
              <a:chExt cx="19999" cy="20001"/>
            </a:xfrm>
          </p:grpSpPr>
          <p:sp>
            <p:nvSpPr>
              <p:cNvPr id="182313" name="Freeform 182312"/>
              <p:cNvSpPr/>
              <p:nvPr/>
            </p:nvSpPr>
            <p:spPr>
              <a:xfrm>
                <a:off x="0" y="0"/>
                <a:ext cx="10041" cy="5021"/>
              </a:xfrm>
              <a:custGeom>
                <a:avLst/>
                <a:gdLst>
                  <a:gd name="txL" fmla="*/ 0 w 21600"/>
                  <a:gd name="txT" fmla="*/ 0 h 21600"/>
                  <a:gd name="txR" fmla="*/ 21600 w 21600"/>
                  <a:gd name="txB" fmla="*/ 21600 h 21600"/>
                </a:gdLst>
                <a:ahLst/>
                <a:cxnLst>
                  <a:cxn ang="270">
                    <a:pos x="0" y="0"/>
                  </a:cxn>
                  <a:cxn ang="90">
                    <a:pos x="21600" y="21600"/>
                  </a:cxn>
                  <a:cxn ang="90">
                    <a:pos x="0" y="21600"/>
                  </a:cxn>
                </a:cxnLst>
                <a:rect l="txL" t="txT" r="txR" b="txB"/>
                <a:pathLst>
                  <a:path w="21600" h="21600" fill="none">
                    <a:moveTo>
                      <a:pt x="0" y="0"/>
                    </a:moveTo>
                    <a:arcTo wR="21600" hR="21600" stAng="-5400000" swAng="5400000"/>
                  </a:path>
                  <a:path w="21600" h="21600" stroke="0">
                    <a:moveTo>
                      <a:pt x="0" y="0"/>
                    </a:moveTo>
                    <a:arcTo wR="21600" hR="21600" stAng="-5400000" swAng="5400000"/>
                    <a:lnTo>
                      <a:pt x="0" y="21600"/>
                    </a:lnTo>
                    <a:close/>
                  </a:path>
                </a:pathLst>
              </a:custGeom>
              <a:noFill/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14" name="Freeform 182313"/>
              <p:cNvSpPr/>
              <p:nvPr/>
            </p:nvSpPr>
            <p:spPr>
              <a:xfrm flipV="1">
                <a:off x="0" y="14980"/>
                <a:ext cx="10041" cy="5021"/>
              </a:xfrm>
              <a:custGeom>
                <a:avLst/>
                <a:gdLst>
                  <a:gd name="txL" fmla="*/ 0 w 21600"/>
                  <a:gd name="txT" fmla="*/ 0 h 21600"/>
                  <a:gd name="txR" fmla="*/ 21600 w 21600"/>
                  <a:gd name="txB" fmla="*/ 21600 h 21600"/>
                </a:gdLst>
                <a:ahLst/>
                <a:cxnLst>
                  <a:cxn ang="270">
                    <a:pos x="0" y="0"/>
                  </a:cxn>
                  <a:cxn ang="90">
                    <a:pos x="21600" y="21600"/>
                  </a:cxn>
                  <a:cxn ang="90">
                    <a:pos x="0" y="21600"/>
                  </a:cxn>
                </a:cxnLst>
                <a:rect l="txL" t="txT" r="txR" b="txB"/>
                <a:pathLst>
                  <a:path w="21600" h="21600" fill="none">
                    <a:moveTo>
                      <a:pt x="0" y="0"/>
                    </a:moveTo>
                    <a:arcTo wR="21600" hR="21600" stAng="-5400000" swAng="5400000"/>
                  </a:path>
                  <a:path w="21600" h="21600" stroke="0">
                    <a:moveTo>
                      <a:pt x="0" y="0"/>
                    </a:moveTo>
                    <a:arcTo wR="21600" hR="21600" stAng="-5400000" swAng="5400000"/>
                    <a:lnTo>
                      <a:pt x="0" y="21600"/>
                    </a:lnTo>
                    <a:close/>
                  </a:path>
                </a:pathLst>
              </a:custGeom>
              <a:noFill/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15" name="Freeform 182314"/>
              <p:cNvSpPr/>
              <p:nvPr/>
            </p:nvSpPr>
            <p:spPr>
              <a:xfrm flipH="1">
                <a:off x="9958" y="9987"/>
                <a:ext cx="10041" cy="5021"/>
              </a:xfrm>
              <a:custGeom>
                <a:avLst/>
                <a:gdLst>
                  <a:gd name="txL" fmla="*/ 0 w 21600"/>
                  <a:gd name="txT" fmla="*/ 0 h 21600"/>
                  <a:gd name="txR" fmla="*/ 21600 w 21600"/>
                  <a:gd name="txB" fmla="*/ 21600 h 21600"/>
                </a:gdLst>
                <a:ahLst/>
                <a:cxnLst>
                  <a:cxn ang="270">
                    <a:pos x="0" y="0"/>
                  </a:cxn>
                  <a:cxn ang="90">
                    <a:pos x="21600" y="21600"/>
                  </a:cxn>
                  <a:cxn ang="90">
                    <a:pos x="0" y="21600"/>
                  </a:cxn>
                </a:cxnLst>
                <a:rect l="txL" t="txT" r="txR" b="txB"/>
                <a:pathLst>
                  <a:path w="21600" h="21600" fill="none">
                    <a:moveTo>
                      <a:pt x="0" y="0"/>
                    </a:moveTo>
                    <a:arcTo wR="21600" hR="21600" stAng="-5400000" swAng="5400000"/>
                  </a:path>
                  <a:path w="21600" h="21600" stroke="0">
                    <a:moveTo>
                      <a:pt x="0" y="0"/>
                    </a:moveTo>
                    <a:arcTo wR="21600" hR="21600" stAng="-5400000" swAng="5400000"/>
                    <a:lnTo>
                      <a:pt x="0" y="21600"/>
                    </a:lnTo>
                    <a:close/>
                  </a:path>
                </a:pathLst>
              </a:custGeom>
              <a:noFill/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16" name="Freeform 182315"/>
              <p:cNvSpPr/>
              <p:nvPr/>
            </p:nvSpPr>
            <p:spPr>
              <a:xfrm flipH="1" flipV="1">
                <a:off x="9958" y="4993"/>
                <a:ext cx="10041" cy="5021"/>
              </a:xfrm>
              <a:custGeom>
                <a:avLst/>
                <a:gdLst>
                  <a:gd name="txL" fmla="*/ 0 w 21600"/>
                  <a:gd name="txT" fmla="*/ 0 h 21600"/>
                  <a:gd name="txR" fmla="*/ 21600 w 21600"/>
                  <a:gd name="txB" fmla="*/ 21600 h 21600"/>
                </a:gdLst>
                <a:ahLst/>
                <a:cxnLst>
                  <a:cxn ang="270">
                    <a:pos x="0" y="0"/>
                  </a:cxn>
                  <a:cxn ang="90">
                    <a:pos x="21600" y="21600"/>
                  </a:cxn>
                  <a:cxn ang="90">
                    <a:pos x="0" y="21600"/>
                  </a:cxn>
                </a:cxnLst>
                <a:rect l="txL" t="txT" r="txR" b="txB"/>
                <a:pathLst>
                  <a:path w="21600" h="21600" fill="none">
                    <a:moveTo>
                      <a:pt x="0" y="0"/>
                    </a:moveTo>
                    <a:arcTo wR="21600" hR="21600" stAng="-5400000" swAng="5400000"/>
                  </a:path>
                  <a:path w="21600" h="21600" stroke="0">
                    <a:moveTo>
                      <a:pt x="0" y="0"/>
                    </a:moveTo>
                    <a:arcTo wR="21600" hR="21600" stAng="-5400000" swAng="5400000"/>
                    <a:lnTo>
                      <a:pt x="0" y="21600"/>
                    </a:lnTo>
                    <a:close/>
                  </a:path>
                </a:pathLst>
              </a:custGeom>
              <a:noFill/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82317" name="Rectangle 182316"/>
            <p:cNvSpPr/>
            <p:nvPr/>
          </p:nvSpPr>
          <p:spPr>
            <a:xfrm>
              <a:off x="4419" y="1520"/>
              <a:ext cx="1963" cy="304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/>
            <a:lstStyle/>
            <a:p>
              <a:r>
                <a:rPr sz="1600">
                  <a:solidFill>
                    <a:srgbClr val="000000"/>
                  </a:solidFill>
                  <a:latin typeface="Trebuchet MS" pitchFamily="34" charset="0"/>
                </a:rPr>
                <a:t>Compiler </a:t>
              </a:r>
              <a:r>
                <a:rPr sz="1600" smtClean="0">
                  <a:solidFill>
                    <a:srgbClr val="000000"/>
                  </a:solidFill>
                  <a:latin typeface="Trebuchet MS" pitchFamily="34" charset="0"/>
                </a:rPr>
                <a:t>creates</a:t>
              </a:r>
              <a:r>
                <a:rPr lang="en-US" sz="1600" dirty="0" smtClean="0">
                  <a:solidFill>
                    <a:srgbClr val="000000"/>
                  </a:solidFill>
                  <a:latin typeface="Trebuchet MS" pitchFamily="34" charset="0"/>
                </a:rPr>
                <a:t> </a:t>
              </a:r>
              <a:r>
                <a:rPr sz="1600" smtClean="0">
                  <a:solidFill>
                    <a:srgbClr val="000000"/>
                  </a:solidFill>
                  <a:latin typeface="Trebuchet MS" pitchFamily="34" charset="0"/>
                </a:rPr>
                <a:t>object </a:t>
              </a:r>
              <a:r>
                <a:rPr sz="1600">
                  <a:solidFill>
                    <a:srgbClr val="000000"/>
                  </a:solidFill>
                  <a:latin typeface="Trebuchet MS" pitchFamily="34" charset="0"/>
                </a:rPr>
                <a:t>code and </a:t>
              </a:r>
              <a:r>
                <a:rPr sz="1600" smtClean="0">
                  <a:solidFill>
                    <a:srgbClr val="000000"/>
                  </a:solidFill>
                  <a:latin typeface="Trebuchet MS" pitchFamily="34" charset="0"/>
                </a:rPr>
                <a:t>stores</a:t>
              </a:r>
              <a:r>
                <a:rPr lang="en-US" sz="1600" dirty="0" smtClean="0">
                  <a:solidFill>
                    <a:srgbClr val="000000"/>
                  </a:solidFill>
                  <a:latin typeface="Trebuchet MS" pitchFamily="34" charset="0"/>
                </a:rPr>
                <a:t> </a:t>
              </a:r>
              <a:r>
                <a:rPr sz="1600" smtClean="0">
                  <a:solidFill>
                    <a:srgbClr val="000000"/>
                  </a:solidFill>
                  <a:latin typeface="Trebuchet MS" pitchFamily="34" charset="0"/>
                </a:rPr>
                <a:t>it </a:t>
              </a:r>
              <a:r>
                <a:rPr sz="1600">
                  <a:solidFill>
                    <a:srgbClr val="000000"/>
                  </a:solidFill>
                  <a:latin typeface="Trebuchet MS" pitchFamily="34" charset="0"/>
                </a:rPr>
                <a:t>on disk.</a:t>
              </a:r>
            </a:p>
            <a:p>
              <a:endParaRPr sz="1200" b="1">
                <a:latin typeface="Times New Roman" panose="02020603050405020304" pitchFamily="18" charset="0"/>
              </a:endParaRPr>
            </a:p>
          </p:txBody>
        </p:sp>
        <p:sp>
          <p:nvSpPr>
            <p:cNvPr id="182318" name="Freeform 182317"/>
            <p:cNvSpPr/>
            <p:nvPr/>
          </p:nvSpPr>
          <p:spPr>
            <a:xfrm>
              <a:off x="3396" y="2072"/>
              <a:ext cx="324" cy="0"/>
            </a:xfrm>
            <a:custGeom>
              <a:avLst/>
              <a:gdLst/>
              <a:ahLst/>
              <a:cxnLst/>
              <a:rect l="0" t="0" r="0" b="0"/>
              <a:pathLst>
                <a:path w="20000" h="20000">
                  <a:moveTo>
                    <a:pt x="19972" y="0"/>
                  </a:moveTo>
                  <a:lnTo>
                    <a:pt x="0" y="0"/>
                  </a:lnTo>
                </a:path>
              </a:pathLst>
            </a:custGeom>
            <a:noFill/>
            <a:ln w="3175" cap="flat" cmpd="sng">
              <a:solidFill>
                <a:srgbClr val="000000"/>
              </a:solidFill>
              <a:prstDash val="solid"/>
              <a:headEnd type="triangle" w="med" len="sm"/>
              <a:tailEnd type="triangle" w="med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319" name="Freeform 182318"/>
            <p:cNvSpPr/>
            <p:nvPr/>
          </p:nvSpPr>
          <p:spPr>
            <a:xfrm>
              <a:off x="4260" y="1921"/>
              <a:ext cx="54" cy="72"/>
            </a:xfrm>
            <a:custGeom>
              <a:avLst/>
              <a:gdLst>
                <a:gd name="txL" fmla="*/ 0 w 21600"/>
                <a:gd name="txT" fmla="*/ 0 h 21600"/>
                <a:gd name="txR" fmla="*/ 21600 w 21600"/>
                <a:gd name="txB" fmla="*/ 21600 h 21600"/>
              </a:gdLst>
              <a:ahLst/>
              <a:cxnLst>
                <a:cxn ang="270">
                  <a:pos x="0" y="0"/>
                </a:cxn>
                <a:cxn ang="90">
                  <a:pos x="21600" y="21600"/>
                </a:cxn>
                <a:cxn ang="90">
                  <a:pos x="0" y="21600"/>
                </a:cxn>
              </a:cxnLst>
              <a:rect l="txL" t="txT" r="txR" b="txB"/>
              <a:pathLst>
                <a:path w="21600" h="21600" fill="none">
                  <a:moveTo>
                    <a:pt x="0" y="0"/>
                  </a:moveTo>
                  <a:arcTo wR="21600" hR="21600" stAng="-5400000" swAng="5400000"/>
                </a:path>
                <a:path w="21600" h="21600" stroke="0">
                  <a:moveTo>
                    <a:pt x="0" y="0"/>
                  </a:moveTo>
                  <a:arcTo wR="21600" hR="21600" stAng="-5400000" swAng="5400000"/>
                  <a:lnTo>
                    <a:pt x="0" y="21600"/>
                  </a:lnTo>
                  <a:close/>
                </a:path>
              </a:pathLst>
            </a:custGeom>
            <a:noFill/>
            <a:ln w="31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320" name="Freeform 182319"/>
            <p:cNvSpPr/>
            <p:nvPr/>
          </p:nvSpPr>
          <p:spPr>
            <a:xfrm flipV="1">
              <a:off x="4260" y="2137"/>
              <a:ext cx="54" cy="72"/>
            </a:xfrm>
            <a:custGeom>
              <a:avLst/>
              <a:gdLst>
                <a:gd name="txL" fmla="*/ 0 w 21600"/>
                <a:gd name="txT" fmla="*/ 0 h 21600"/>
                <a:gd name="txR" fmla="*/ 21600 w 21600"/>
                <a:gd name="txB" fmla="*/ 21600 h 21600"/>
              </a:gdLst>
              <a:ahLst/>
              <a:cxnLst>
                <a:cxn ang="270">
                  <a:pos x="0" y="0"/>
                </a:cxn>
                <a:cxn ang="90">
                  <a:pos x="21600" y="21600"/>
                </a:cxn>
                <a:cxn ang="90">
                  <a:pos x="0" y="21600"/>
                </a:cxn>
              </a:cxnLst>
              <a:rect l="txL" t="txT" r="txR" b="txB"/>
              <a:pathLst>
                <a:path w="21600" h="21600" fill="none">
                  <a:moveTo>
                    <a:pt x="0" y="0"/>
                  </a:moveTo>
                  <a:arcTo wR="21600" hR="21600" stAng="-5400000" swAng="5400000"/>
                </a:path>
                <a:path w="21600" h="21600" stroke="0">
                  <a:moveTo>
                    <a:pt x="0" y="0"/>
                  </a:moveTo>
                  <a:arcTo wR="21600" hR="21600" stAng="-5400000" swAng="5400000"/>
                  <a:lnTo>
                    <a:pt x="0" y="21600"/>
                  </a:lnTo>
                  <a:close/>
                </a:path>
              </a:pathLst>
            </a:custGeom>
            <a:noFill/>
            <a:ln w="31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321" name="Freeform 182320"/>
            <p:cNvSpPr/>
            <p:nvPr/>
          </p:nvSpPr>
          <p:spPr>
            <a:xfrm flipH="1">
              <a:off x="4314" y="2065"/>
              <a:ext cx="54" cy="72"/>
            </a:xfrm>
            <a:custGeom>
              <a:avLst/>
              <a:gdLst>
                <a:gd name="txL" fmla="*/ 0 w 21600"/>
                <a:gd name="txT" fmla="*/ 0 h 21600"/>
                <a:gd name="txR" fmla="*/ 21600 w 21600"/>
                <a:gd name="txB" fmla="*/ 21600 h 21600"/>
              </a:gdLst>
              <a:ahLst/>
              <a:cxnLst>
                <a:cxn ang="270">
                  <a:pos x="0" y="0"/>
                </a:cxn>
                <a:cxn ang="90">
                  <a:pos x="21600" y="21600"/>
                </a:cxn>
                <a:cxn ang="90">
                  <a:pos x="0" y="21600"/>
                </a:cxn>
              </a:cxnLst>
              <a:rect l="txL" t="txT" r="txR" b="txB"/>
              <a:pathLst>
                <a:path w="21600" h="21600" fill="none">
                  <a:moveTo>
                    <a:pt x="0" y="0"/>
                  </a:moveTo>
                  <a:arcTo wR="21600" hR="21600" stAng="-5400000" swAng="5400000"/>
                </a:path>
                <a:path w="21600" h="21600" stroke="0">
                  <a:moveTo>
                    <a:pt x="0" y="0"/>
                  </a:moveTo>
                  <a:arcTo wR="21600" hR="21600" stAng="-5400000" swAng="5400000"/>
                  <a:lnTo>
                    <a:pt x="0" y="21600"/>
                  </a:lnTo>
                  <a:close/>
                </a:path>
              </a:pathLst>
            </a:custGeom>
            <a:noFill/>
            <a:ln w="31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322" name="Freeform 182321"/>
            <p:cNvSpPr/>
            <p:nvPr/>
          </p:nvSpPr>
          <p:spPr>
            <a:xfrm flipH="1" flipV="1">
              <a:off x="4314" y="1993"/>
              <a:ext cx="54" cy="72"/>
            </a:xfrm>
            <a:custGeom>
              <a:avLst/>
              <a:gdLst>
                <a:gd name="txL" fmla="*/ 0 w 21600"/>
                <a:gd name="txT" fmla="*/ 0 h 21600"/>
                <a:gd name="txR" fmla="*/ 21600 w 21600"/>
                <a:gd name="txB" fmla="*/ 21600 h 21600"/>
              </a:gdLst>
              <a:ahLst/>
              <a:cxnLst>
                <a:cxn ang="270">
                  <a:pos x="0" y="0"/>
                </a:cxn>
                <a:cxn ang="90">
                  <a:pos x="21600" y="21600"/>
                </a:cxn>
                <a:cxn ang="90">
                  <a:pos x="0" y="21600"/>
                </a:cxn>
              </a:cxnLst>
              <a:rect l="txL" t="txT" r="txR" b="txB"/>
              <a:pathLst>
                <a:path w="21600" h="21600" fill="none">
                  <a:moveTo>
                    <a:pt x="0" y="0"/>
                  </a:moveTo>
                  <a:arcTo wR="21600" hR="21600" stAng="-5400000" swAng="5400000"/>
                </a:path>
                <a:path w="21600" h="21600" stroke="0">
                  <a:moveTo>
                    <a:pt x="0" y="0"/>
                  </a:moveTo>
                  <a:arcTo wR="21600" hR="21600" stAng="-5400000" swAng="5400000"/>
                  <a:lnTo>
                    <a:pt x="0" y="21600"/>
                  </a:lnTo>
                  <a:close/>
                </a:path>
              </a:pathLst>
            </a:custGeom>
            <a:noFill/>
            <a:ln w="31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323" name="Rectangle 182322"/>
            <p:cNvSpPr/>
            <p:nvPr/>
          </p:nvSpPr>
          <p:spPr>
            <a:xfrm>
              <a:off x="4419" y="1920"/>
              <a:ext cx="2203" cy="384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/>
            <a:lstStyle/>
            <a:p>
              <a:pPr algn="just" eaLnBrk="1" hangingPunct="1"/>
              <a:r>
                <a:rPr sz="1600">
                  <a:solidFill>
                    <a:srgbClr val="000000"/>
                  </a:solidFill>
                  <a:latin typeface="Trebuchet MS" pitchFamily="34" charset="0"/>
                </a:rPr>
                <a:t>Linker links the </a:t>
              </a:r>
              <a:r>
                <a:rPr sz="1600" smtClean="0">
                  <a:solidFill>
                    <a:srgbClr val="000000"/>
                  </a:solidFill>
                  <a:latin typeface="Trebuchet MS" pitchFamily="34" charset="0"/>
                </a:rPr>
                <a:t>object</a:t>
              </a:r>
              <a:r>
                <a:rPr lang="en-US" sz="1600" dirty="0" smtClean="0">
                  <a:solidFill>
                    <a:srgbClr val="000000"/>
                  </a:solidFill>
                  <a:latin typeface="Trebuchet MS" pitchFamily="34" charset="0"/>
                </a:rPr>
                <a:t> </a:t>
              </a:r>
              <a:r>
                <a:rPr sz="1600" smtClean="0">
                  <a:solidFill>
                    <a:srgbClr val="000000"/>
                  </a:solidFill>
                  <a:latin typeface="Trebuchet MS" pitchFamily="34" charset="0"/>
                </a:rPr>
                <a:t>code </a:t>
              </a:r>
              <a:r>
                <a:rPr sz="1600">
                  <a:solidFill>
                    <a:srgbClr val="000000"/>
                  </a:solidFill>
                  <a:latin typeface="Trebuchet MS" pitchFamily="34" charset="0"/>
                </a:rPr>
                <a:t>with the </a:t>
              </a:r>
              <a:r>
                <a:rPr sz="1600" smtClean="0">
                  <a:solidFill>
                    <a:srgbClr val="000000"/>
                  </a:solidFill>
                  <a:latin typeface="Trebuchet MS" pitchFamily="34" charset="0"/>
                </a:rPr>
                <a:t>libraries,</a:t>
              </a:r>
              <a:r>
                <a:rPr lang="en-US" sz="1600" dirty="0" smtClean="0">
                  <a:solidFill>
                    <a:srgbClr val="000000"/>
                  </a:solidFill>
                  <a:latin typeface="Trebuchet MS" pitchFamily="34" charset="0"/>
                </a:rPr>
                <a:t> C</a:t>
              </a:r>
              <a:r>
                <a:rPr sz="1600" smtClean="0">
                  <a:solidFill>
                    <a:srgbClr val="000000"/>
                  </a:solidFill>
                  <a:latin typeface="Trebuchet MS" pitchFamily="34" charset="0"/>
                </a:rPr>
                <a:t>reates</a:t>
              </a:r>
              <a:r>
                <a:rPr lang="en-US" sz="1600" dirty="0" smtClean="0">
                  <a:solidFill>
                    <a:srgbClr val="000000"/>
                  </a:solidFill>
                  <a:latin typeface="Trebuchet MS" pitchFamily="34" charset="0"/>
                </a:rPr>
                <a:t> </a:t>
              </a:r>
              <a:r>
                <a:rPr sz="1600" smtClean="0">
                  <a:solidFill>
                    <a:srgbClr val="000000"/>
                  </a:solidFill>
                  <a:latin typeface="Trebuchet MS" pitchFamily="34" charset="0"/>
                  <a:cs typeface="Courier New" panose="02070309020205020404" pitchFamily="49" charset="0"/>
                </a:rPr>
                <a:t>an </a:t>
              </a:r>
              <a:r>
                <a:rPr sz="1600">
                  <a:solidFill>
                    <a:srgbClr val="000000"/>
                  </a:solidFill>
                  <a:latin typeface="Trebuchet MS" pitchFamily="34" charset="0"/>
                  <a:cs typeface="Courier New" panose="02070309020205020404" pitchFamily="49" charset="0"/>
                </a:rPr>
                <a:t>executable file </a:t>
              </a:r>
              <a:r>
                <a:rPr sz="1600">
                  <a:solidFill>
                    <a:srgbClr val="000000"/>
                  </a:solidFill>
                  <a:latin typeface="Trebuchet MS" pitchFamily="34" charset="0"/>
                </a:rPr>
                <a:t>and stores it on disk</a:t>
              </a:r>
            </a:p>
            <a:p>
              <a:endParaRPr sz="2000" b="1">
                <a:latin typeface="Times New Roman" panose="02020603050405020304" pitchFamily="18" charset="0"/>
                <a:ea typeface="Courier New" panose="02070309020205020404" pitchFamily="49" charset="0"/>
              </a:endParaRPr>
            </a:p>
          </p:txBody>
        </p:sp>
        <p:grpSp>
          <p:nvGrpSpPr>
            <p:cNvPr id="8" name="Group 182323"/>
            <p:cNvGrpSpPr/>
            <p:nvPr/>
          </p:nvGrpSpPr>
          <p:grpSpPr>
            <a:xfrm>
              <a:off x="2638" y="762"/>
              <a:ext cx="756" cy="288"/>
              <a:chOff x="0" y="0"/>
              <a:chExt cx="20000" cy="20000"/>
            </a:xfrm>
          </p:grpSpPr>
          <p:sp>
            <p:nvSpPr>
              <p:cNvPr id="182325" name="Freeform 182324"/>
              <p:cNvSpPr/>
              <p:nvPr/>
            </p:nvSpPr>
            <p:spPr>
              <a:xfrm>
                <a:off x="0" y="0"/>
                <a:ext cx="20000" cy="20000"/>
              </a:xfrm>
              <a:custGeom>
                <a:avLst/>
                <a:gdLst/>
                <a:ahLst/>
                <a:cxnLst/>
                <a:rect l="0" t="0" r="0" b="0"/>
                <a:pathLst>
                  <a:path w="20000" h="20000">
                    <a:moveTo>
                      <a:pt x="19988" y="0"/>
                    </a:moveTo>
                    <a:lnTo>
                      <a:pt x="19988" y="19972"/>
                    </a:lnTo>
                    <a:lnTo>
                      <a:pt x="0" y="19972"/>
                    </a:lnTo>
                    <a:lnTo>
                      <a:pt x="0" y="0"/>
                    </a:lnTo>
                    <a:lnTo>
                      <a:pt x="19988" y="0"/>
                    </a:lnTo>
                    <a:close/>
                  </a:path>
                </a:pathLst>
              </a:custGeom>
              <a:solidFill>
                <a:srgbClr val="4DB3E6"/>
              </a:solidFill>
              <a:ln w="3175" cap="flat" cmpd="sng">
                <a:solidFill>
                  <a:srgbClr val="4DB3E6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26" name="Freeform 182325"/>
              <p:cNvSpPr/>
              <p:nvPr/>
            </p:nvSpPr>
            <p:spPr>
              <a:xfrm>
                <a:off x="0" y="0"/>
                <a:ext cx="20000" cy="20000"/>
              </a:xfrm>
              <a:custGeom>
                <a:avLst/>
                <a:gdLst/>
                <a:ahLst/>
                <a:cxnLst/>
                <a:rect l="0" t="0" r="0" b="0"/>
                <a:pathLst>
                  <a:path w="20000" h="20000">
                    <a:moveTo>
                      <a:pt x="19988" y="0"/>
                    </a:moveTo>
                    <a:lnTo>
                      <a:pt x="19988" y="19972"/>
                    </a:lnTo>
                    <a:lnTo>
                      <a:pt x="0" y="19972"/>
                    </a:lnTo>
                    <a:lnTo>
                      <a:pt x="0" y="0"/>
                    </a:lnTo>
                    <a:lnTo>
                      <a:pt x="19988" y="0"/>
                    </a:lnTo>
                    <a:close/>
                  </a:path>
                </a:pathLst>
              </a:custGeom>
              <a:noFill/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27" name="Rectangle 182326"/>
              <p:cNvSpPr/>
              <p:nvPr/>
            </p:nvSpPr>
            <p:spPr>
              <a:xfrm>
                <a:off x="5464" y="6306"/>
                <a:ext cx="9060" cy="780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/>
              <a:lstStyle/>
              <a:p>
                <a:pPr eaLnBrk="1" hangingPunct="1"/>
                <a:r>
                  <a:rPr sz="1000">
                    <a:solidFill>
                      <a:srgbClr val="000000"/>
                    </a:solidFill>
                    <a:latin typeface="Times New Roman" panose="02020603050405020304" pitchFamily="18" charset="0"/>
                    <a:ea typeface="Mincho" charset="-128"/>
                  </a:rPr>
                  <a:t>Editor</a:t>
                </a:r>
                <a:endParaRPr sz="12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  <a:p>
                <a:endParaRPr sz="2400">
                  <a:latin typeface="Times New Roman" panose="02020603050405020304" pitchFamily="18" charset="0"/>
                  <a:ea typeface="Mincho" charset="-128"/>
                </a:endParaRPr>
              </a:p>
            </p:txBody>
          </p:sp>
        </p:grpSp>
        <p:grpSp>
          <p:nvGrpSpPr>
            <p:cNvPr id="9" name="Group 182327"/>
            <p:cNvGrpSpPr/>
            <p:nvPr/>
          </p:nvGrpSpPr>
          <p:grpSpPr>
            <a:xfrm>
              <a:off x="2638" y="1161"/>
              <a:ext cx="756" cy="288"/>
              <a:chOff x="0" y="0"/>
              <a:chExt cx="20000" cy="20000"/>
            </a:xfrm>
          </p:grpSpPr>
          <p:sp>
            <p:nvSpPr>
              <p:cNvPr id="182329" name="Freeform 182328"/>
              <p:cNvSpPr/>
              <p:nvPr/>
            </p:nvSpPr>
            <p:spPr>
              <a:xfrm>
                <a:off x="0" y="0"/>
                <a:ext cx="20000" cy="20000"/>
              </a:xfrm>
              <a:custGeom>
                <a:avLst/>
                <a:gdLst/>
                <a:ahLst/>
                <a:cxnLst/>
                <a:rect l="0" t="0" r="0" b="0"/>
                <a:pathLst>
                  <a:path w="20000" h="20000">
                    <a:moveTo>
                      <a:pt x="19988" y="0"/>
                    </a:moveTo>
                    <a:lnTo>
                      <a:pt x="19988" y="19972"/>
                    </a:lnTo>
                    <a:lnTo>
                      <a:pt x="0" y="19972"/>
                    </a:lnTo>
                    <a:lnTo>
                      <a:pt x="0" y="0"/>
                    </a:lnTo>
                    <a:lnTo>
                      <a:pt x="19988" y="0"/>
                    </a:lnTo>
                    <a:close/>
                  </a:path>
                </a:pathLst>
              </a:custGeom>
              <a:solidFill>
                <a:srgbClr val="4DB3E6"/>
              </a:solidFill>
              <a:ln w="3175" cap="flat" cmpd="sng">
                <a:solidFill>
                  <a:srgbClr val="4DB3E6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" name="Group 182329"/>
              <p:cNvGrpSpPr/>
              <p:nvPr/>
            </p:nvGrpSpPr>
            <p:grpSpPr>
              <a:xfrm>
                <a:off x="0" y="0"/>
                <a:ext cx="20000" cy="20000"/>
                <a:chOff x="0" y="0"/>
                <a:chExt cx="20000" cy="20000"/>
              </a:xfrm>
            </p:grpSpPr>
            <p:sp>
              <p:nvSpPr>
                <p:cNvPr id="182331" name="Freeform 182330"/>
                <p:cNvSpPr/>
                <p:nvPr/>
              </p:nvSpPr>
              <p:spPr>
                <a:xfrm>
                  <a:off x="0" y="0"/>
                  <a:ext cx="20000" cy="2000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0000" h="20000">
                      <a:moveTo>
                        <a:pt x="19988" y="0"/>
                      </a:moveTo>
                      <a:lnTo>
                        <a:pt x="19988" y="19972"/>
                      </a:lnTo>
                      <a:lnTo>
                        <a:pt x="0" y="19972"/>
                      </a:lnTo>
                      <a:lnTo>
                        <a:pt x="0" y="0"/>
                      </a:lnTo>
                      <a:lnTo>
                        <a:pt x="19988" y="0"/>
                      </a:lnTo>
                      <a:close/>
                    </a:path>
                  </a:pathLst>
                </a:custGeom>
                <a:noFill/>
                <a:ln w="31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332" name="Rectangle 182331"/>
                <p:cNvSpPr/>
                <p:nvPr/>
              </p:nvSpPr>
              <p:spPr>
                <a:xfrm>
                  <a:off x="1179" y="5861"/>
                  <a:ext cx="17631" cy="7806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txBody>
                <a:bodyPr lIns="0" tIns="0" rIns="0" bIns="0"/>
                <a:lstStyle/>
                <a:p>
                  <a:pPr eaLnBrk="1" hangingPunct="1"/>
                  <a:r>
                    <a:rPr sz="1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Mincho" charset="-128"/>
                    </a:rPr>
                    <a:t>Preprocessor</a:t>
                  </a:r>
                  <a:endParaRPr sz="12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  <a:p>
                  <a:endParaRPr sz="2400">
                    <a:latin typeface="Times New Roman" panose="02020603050405020304" pitchFamily="18" charset="0"/>
                    <a:ea typeface="Mincho" charset="-128"/>
                  </a:endParaRPr>
                </a:p>
              </p:txBody>
            </p:sp>
          </p:grpSp>
        </p:grpSp>
        <p:grpSp>
          <p:nvGrpSpPr>
            <p:cNvPr id="11" name="Group 182332"/>
            <p:cNvGrpSpPr/>
            <p:nvPr/>
          </p:nvGrpSpPr>
          <p:grpSpPr>
            <a:xfrm>
              <a:off x="2638" y="1928"/>
              <a:ext cx="756" cy="288"/>
              <a:chOff x="0" y="0"/>
              <a:chExt cx="20000" cy="20000"/>
            </a:xfrm>
          </p:grpSpPr>
          <p:sp>
            <p:nvSpPr>
              <p:cNvPr id="182334" name="Freeform 182333"/>
              <p:cNvSpPr/>
              <p:nvPr/>
            </p:nvSpPr>
            <p:spPr>
              <a:xfrm>
                <a:off x="0" y="0"/>
                <a:ext cx="20000" cy="20000"/>
              </a:xfrm>
              <a:custGeom>
                <a:avLst/>
                <a:gdLst/>
                <a:ahLst/>
                <a:cxnLst/>
                <a:rect l="0" t="0" r="0" b="0"/>
                <a:pathLst>
                  <a:path w="20000" h="20000">
                    <a:moveTo>
                      <a:pt x="19988" y="0"/>
                    </a:moveTo>
                    <a:lnTo>
                      <a:pt x="19988" y="19972"/>
                    </a:lnTo>
                    <a:lnTo>
                      <a:pt x="0" y="19972"/>
                    </a:lnTo>
                    <a:lnTo>
                      <a:pt x="0" y="0"/>
                    </a:lnTo>
                    <a:lnTo>
                      <a:pt x="19988" y="0"/>
                    </a:lnTo>
                    <a:close/>
                  </a:path>
                </a:pathLst>
              </a:custGeom>
              <a:solidFill>
                <a:srgbClr val="4DB3E6"/>
              </a:solidFill>
              <a:ln w="3175" cap="flat" cmpd="sng">
                <a:solidFill>
                  <a:srgbClr val="4DB3E6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2" name="Group 182334"/>
              <p:cNvGrpSpPr/>
              <p:nvPr/>
            </p:nvGrpSpPr>
            <p:grpSpPr>
              <a:xfrm>
                <a:off x="0" y="0"/>
                <a:ext cx="20000" cy="20000"/>
                <a:chOff x="0" y="0"/>
                <a:chExt cx="20000" cy="20000"/>
              </a:xfrm>
            </p:grpSpPr>
            <p:sp>
              <p:nvSpPr>
                <p:cNvPr id="182336" name="Freeform 182335"/>
                <p:cNvSpPr/>
                <p:nvPr/>
              </p:nvSpPr>
              <p:spPr>
                <a:xfrm>
                  <a:off x="0" y="0"/>
                  <a:ext cx="20000" cy="2000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0000" h="20000">
                      <a:moveTo>
                        <a:pt x="19988" y="0"/>
                      </a:moveTo>
                      <a:lnTo>
                        <a:pt x="19988" y="19972"/>
                      </a:lnTo>
                      <a:lnTo>
                        <a:pt x="0" y="19972"/>
                      </a:lnTo>
                      <a:lnTo>
                        <a:pt x="0" y="0"/>
                      </a:lnTo>
                      <a:lnTo>
                        <a:pt x="19988" y="0"/>
                      </a:lnTo>
                      <a:close/>
                    </a:path>
                  </a:pathLst>
                </a:custGeom>
                <a:noFill/>
                <a:ln w="31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337" name="Rectangle 182336"/>
                <p:cNvSpPr/>
                <p:nvPr/>
              </p:nvSpPr>
              <p:spPr>
                <a:xfrm>
                  <a:off x="5464" y="5889"/>
                  <a:ext cx="9060" cy="7805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txBody>
                <a:bodyPr lIns="0" tIns="0" rIns="0" bIns="0"/>
                <a:lstStyle/>
                <a:p>
                  <a:pPr eaLnBrk="1" hangingPunct="1"/>
                  <a:r>
                    <a:rPr sz="1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Mincho" charset="-128"/>
                    </a:rPr>
                    <a:t>Linker</a:t>
                  </a:r>
                  <a:endParaRPr sz="12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  <a:p>
                  <a:endParaRPr sz="2400">
                    <a:latin typeface="Times New Roman" panose="02020603050405020304" pitchFamily="18" charset="0"/>
                    <a:ea typeface="Mincho" charset="-128"/>
                  </a:endParaRPr>
                </a:p>
              </p:txBody>
            </p:sp>
          </p:grpSp>
        </p:grpSp>
        <p:grpSp>
          <p:nvGrpSpPr>
            <p:cNvPr id="13" name="Group 182337"/>
            <p:cNvGrpSpPr/>
            <p:nvPr/>
          </p:nvGrpSpPr>
          <p:grpSpPr>
            <a:xfrm>
              <a:off x="2638" y="3389"/>
              <a:ext cx="756" cy="288"/>
              <a:chOff x="0" y="0"/>
              <a:chExt cx="20000" cy="20000"/>
            </a:xfrm>
          </p:grpSpPr>
          <p:grpSp>
            <p:nvGrpSpPr>
              <p:cNvPr id="14" name="Group 182338"/>
              <p:cNvGrpSpPr/>
              <p:nvPr/>
            </p:nvGrpSpPr>
            <p:grpSpPr>
              <a:xfrm>
                <a:off x="0" y="0"/>
                <a:ext cx="20000" cy="20000"/>
                <a:chOff x="0" y="0"/>
                <a:chExt cx="20000" cy="20000"/>
              </a:xfrm>
            </p:grpSpPr>
            <p:sp>
              <p:nvSpPr>
                <p:cNvPr id="182340" name="Freeform 182339"/>
                <p:cNvSpPr/>
                <p:nvPr/>
              </p:nvSpPr>
              <p:spPr>
                <a:xfrm>
                  <a:off x="0" y="0"/>
                  <a:ext cx="20000" cy="2000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0000" h="20000">
                      <a:moveTo>
                        <a:pt x="19988" y="0"/>
                      </a:moveTo>
                      <a:lnTo>
                        <a:pt x="19988" y="19972"/>
                      </a:lnTo>
                      <a:lnTo>
                        <a:pt x="0" y="19972"/>
                      </a:lnTo>
                      <a:lnTo>
                        <a:pt x="0" y="0"/>
                      </a:lnTo>
                      <a:lnTo>
                        <a:pt x="19988" y="0"/>
                      </a:lnTo>
                      <a:close/>
                    </a:path>
                  </a:pathLst>
                </a:custGeom>
                <a:solidFill>
                  <a:srgbClr val="4DB3E6"/>
                </a:solidFill>
                <a:ln w="3175" cap="flat" cmpd="sng">
                  <a:solidFill>
                    <a:srgbClr val="4DB3E6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341" name="Rectangle 182340"/>
                <p:cNvSpPr/>
                <p:nvPr/>
              </p:nvSpPr>
              <p:spPr>
                <a:xfrm>
                  <a:off x="9750" y="12222"/>
                  <a:ext cx="488" cy="225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txBody>
                <a:bodyPr lIns="0" tIns="0" rIns="0" bIns="0"/>
                <a:lstStyle/>
                <a:p>
                  <a:pPr eaLnBrk="1" hangingPunct="1"/>
                  <a:r>
                    <a:rPr sz="1200">
                      <a:latin typeface="Times New Roman" panose="02020603050405020304" pitchFamily="18" charset="0"/>
                    </a:rPr>
                    <a:t> </a:t>
                  </a:r>
                </a:p>
                <a:p>
                  <a:endParaRPr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5" name="Group 182341"/>
              <p:cNvGrpSpPr/>
              <p:nvPr/>
            </p:nvGrpSpPr>
            <p:grpSpPr>
              <a:xfrm>
                <a:off x="0" y="0"/>
                <a:ext cx="20000" cy="20000"/>
                <a:chOff x="0" y="0"/>
                <a:chExt cx="20000" cy="20000"/>
              </a:xfrm>
            </p:grpSpPr>
            <p:sp>
              <p:nvSpPr>
                <p:cNvPr id="182343" name="Freeform 182342"/>
                <p:cNvSpPr/>
                <p:nvPr/>
              </p:nvSpPr>
              <p:spPr>
                <a:xfrm>
                  <a:off x="0" y="0"/>
                  <a:ext cx="20000" cy="2000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0000" h="20000">
                      <a:moveTo>
                        <a:pt x="19988" y="0"/>
                      </a:moveTo>
                      <a:lnTo>
                        <a:pt x="19988" y="19972"/>
                      </a:lnTo>
                      <a:lnTo>
                        <a:pt x="0" y="19972"/>
                      </a:lnTo>
                      <a:lnTo>
                        <a:pt x="0" y="0"/>
                      </a:lnTo>
                      <a:lnTo>
                        <a:pt x="19988" y="0"/>
                      </a:lnTo>
                      <a:close/>
                    </a:path>
                  </a:pathLst>
                </a:custGeom>
                <a:noFill/>
                <a:ln w="31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344" name="Rectangle 182343"/>
                <p:cNvSpPr/>
                <p:nvPr/>
              </p:nvSpPr>
              <p:spPr>
                <a:xfrm>
                  <a:off x="7607" y="6667"/>
                  <a:ext cx="4774" cy="7805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txBody>
                <a:bodyPr lIns="0" tIns="0" rIns="0" bIns="0"/>
                <a:lstStyle/>
                <a:p>
                  <a:pPr eaLnBrk="1" hangingPunct="1"/>
                  <a:r>
                    <a:rPr sz="1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Mincho" charset="-128"/>
                    </a:rPr>
                    <a:t>CPU</a:t>
                  </a:r>
                  <a:endParaRPr sz="12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  <a:p>
                  <a:endParaRPr sz="2400">
                    <a:latin typeface="Times New Roman" panose="02020603050405020304" pitchFamily="18" charset="0"/>
                    <a:ea typeface="Mincho" charset="-128"/>
                  </a:endParaRPr>
                </a:p>
              </p:txBody>
            </p:sp>
          </p:grpSp>
        </p:grpSp>
        <p:sp>
          <p:nvSpPr>
            <p:cNvPr id="182345" name="Rectangle 182344"/>
            <p:cNvSpPr/>
            <p:nvPr/>
          </p:nvSpPr>
          <p:spPr>
            <a:xfrm>
              <a:off x="3720" y="3310"/>
              <a:ext cx="486" cy="1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/>
            <a:lstStyle/>
            <a:p>
              <a:pPr indent="228600" algn="ctr" eaLnBrk="1" hangingPunct="1"/>
              <a:r>
                <a:rPr sz="900">
                  <a:solidFill>
                    <a:srgbClr val="000000"/>
                  </a:solidFill>
                  <a:latin typeface="AvantGarde" pitchFamily="34" charset="0"/>
                </a:rPr>
                <a:t>Primary</a:t>
              </a:r>
              <a:endParaRPr sz="1000">
                <a:solidFill>
                  <a:srgbClr val="000000"/>
                </a:solidFill>
                <a:latin typeface="Times" pitchFamily="18" charset="0"/>
              </a:endParaRPr>
            </a:p>
            <a:p>
              <a:pPr indent="228600" algn="ctr"/>
              <a:r>
                <a:rPr sz="900">
                  <a:solidFill>
                    <a:srgbClr val="000000"/>
                  </a:solidFill>
                  <a:latin typeface="AvantGarde" pitchFamily="34" charset="0"/>
                </a:rPr>
                <a:t>Memory</a:t>
              </a:r>
              <a:endParaRPr sz="1000">
                <a:solidFill>
                  <a:srgbClr val="000000"/>
                </a:solidFill>
                <a:latin typeface="Times" pitchFamily="18" charset="0"/>
              </a:endParaRPr>
            </a:p>
            <a:p>
              <a:pPr indent="228600"/>
              <a:endParaRPr sz="2400">
                <a:latin typeface="Times New Roman" panose="02020603050405020304" pitchFamily="18" charset="0"/>
              </a:endParaRPr>
            </a:p>
          </p:txBody>
        </p:sp>
        <p:grpSp>
          <p:nvGrpSpPr>
            <p:cNvPr id="16" name="Group 182345"/>
            <p:cNvGrpSpPr/>
            <p:nvPr/>
          </p:nvGrpSpPr>
          <p:grpSpPr>
            <a:xfrm>
              <a:off x="3720" y="3477"/>
              <a:ext cx="487" cy="764"/>
              <a:chOff x="-2" y="1"/>
              <a:chExt cx="20003" cy="19999"/>
            </a:xfrm>
          </p:grpSpPr>
          <p:sp>
            <p:nvSpPr>
              <p:cNvPr id="182347" name="Rectangle 182346"/>
              <p:cNvSpPr/>
              <p:nvPr/>
            </p:nvSpPr>
            <p:spPr>
              <a:xfrm>
                <a:off x="8336" y="12593"/>
                <a:ext cx="2237" cy="5458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/>
              <a:lstStyle/>
              <a:p>
                <a:pPr indent="228600" algn="ctr" eaLnBrk="1" hangingPunct="1"/>
                <a:r>
                  <a:rPr sz="700" b="1">
                    <a:solidFill>
                      <a:srgbClr val="000000"/>
                    </a:solidFill>
                    <a:latin typeface="Courier" pitchFamily="49" charset="0"/>
                  </a:rPr>
                  <a:t>.</a:t>
                </a:r>
                <a:endParaRPr sz="1000">
                  <a:solidFill>
                    <a:srgbClr val="000000"/>
                  </a:solidFill>
                  <a:latin typeface="Times" pitchFamily="18" charset="0"/>
                </a:endParaRPr>
              </a:p>
              <a:p>
                <a:pPr indent="228600" algn="ctr"/>
                <a:r>
                  <a:rPr sz="700" b="1">
                    <a:solidFill>
                      <a:srgbClr val="000000"/>
                    </a:solidFill>
                    <a:latin typeface="Courier" pitchFamily="49" charset="0"/>
                  </a:rPr>
                  <a:t>.</a:t>
                </a:r>
                <a:endParaRPr sz="1000">
                  <a:solidFill>
                    <a:srgbClr val="000000"/>
                  </a:solidFill>
                  <a:latin typeface="Times" pitchFamily="18" charset="0"/>
                </a:endParaRPr>
              </a:p>
              <a:p>
                <a:pPr indent="228600" algn="ctr"/>
                <a:r>
                  <a:rPr sz="700" b="1">
                    <a:solidFill>
                      <a:srgbClr val="000000"/>
                    </a:solidFill>
                    <a:latin typeface="Courier" pitchFamily="49" charset="0"/>
                  </a:rPr>
                  <a:t>.</a:t>
                </a:r>
                <a:endParaRPr sz="1000">
                  <a:solidFill>
                    <a:srgbClr val="000000"/>
                  </a:solidFill>
                  <a:latin typeface="Times" pitchFamily="18" charset="0"/>
                </a:endParaRPr>
              </a:p>
              <a:p>
                <a:pPr indent="228600"/>
                <a:endParaRPr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2348" name="Freeform 182347"/>
              <p:cNvSpPr/>
              <p:nvPr/>
            </p:nvSpPr>
            <p:spPr>
              <a:xfrm>
                <a:off x="-2" y="1"/>
                <a:ext cx="19837" cy="19999"/>
              </a:xfrm>
              <a:custGeom>
                <a:avLst/>
                <a:gdLst/>
                <a:ahLst/>
                <a:cxnLst/>
                <a:rect l="0" t="0" r="0" b="0"/>
                <a:pathLst>
                  <a:path w="20000" h="20000">
                    <a:moveTo>
                      <a:pt x="19981" y="0"/>
                    </a:moveTo>
                    <a:lnTo>
                      <a:pt x="19981" y="19990"/>
                    </a:lnTo>
                    <a:lnTo>
                      <a:pt x="0" y="19990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solidFill>
                <a:srgbClr val="4DB3E6"/>
              </a:solidFill>
              <a:ln w="3175" cap="flat" cmpd="sng">
                <a:solidFill>
                  <a:srgbClr val="4DB3E6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49" name="Freeform 182348"/>
              <p:cNvSpPr/>
              <p:nvPr/>
            </p:nvSpPr>
            <p:spPr>
              <a:xfrm>
                <a:off x="35" y="22"/>
                <a:ext cx="19966" cy="2493"/>
              </a:xfrm>
              <a:custGeom>
                <a:avLst/>
                <a:gdLst/>
                <a:ahLst/>
                <a:cxnLst/>
                <a:rect l="0" t="0" r="0" b="0"/>
                <a:pathLst>
                  <a:path w="20000" h="20000">
                    <a:moveTo>
                      <a:pt x="19981" y="0"/>
                    </a:moveTo>
                    <a:lnTo>
                      <a:pt x="19981" y="19916"/>
                    </a:lnTo>
                    <a:lnTo>
                      <a:pt x="0" y="19916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noFill/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50" name="Freeform 182349"/>
              <p:cNvSpPr/>
              <p:nvPr/>
            </p:nvSpPr>
            <p:spPr>
              <a:xfrm>
                <a:off x="35" y="2536"/>
                <a:ext cx="19966" cy="2515"/>
              </a:xfrm>
              <a:custGeom>
                <a:avLst/>
                <a:gdLst/>
                <a:ahLst/>
                <a:cxnLst/>
                <a:rect l="0" t="0" r="0" b="0"/>
                <a:pathLst>
                  <a:path w="20000" h="20000">
                    <a:moveTo>
                      <a:pt x="19981" y="0"/>
                    </a:moveTo>
                    <a:lnTo>
                      <a:pt x="19981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noFill/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51" name="Freeform 182350"/>
              <p:cNvSpPr/>
              <p:nvPr/>
            </p:nvSpPr>
            <p:spPr>
              <a:xfrm>
                <a:off x="35" y="5009"/>
                <a:ext cx="19966" cy="2493"/>
              </a:xfrm>
              <a:custGeom>
                <a:avLst/>
                <a:gdLst/>
                <a:ahLst/>
                <a:cxnLst/>
                <a:rect l="0" t="0" r="0" b="0"/>
                <a:pathLst>
                  <a:path w="20000" h="20000">
                    <a:moveTo>
                      <a:pt x="19981" y="0"/>
                    </a:moveTo>
                    <a:lnTo>
                      <a:pt x="19981" y="19916"/>
                    </a:lnTo>
                    <a:lnTo>
                      <a:pt x="0" y="19916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noFill/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52" name="Freeform 182351"/>
              <p:cNvSpPr/>
              <p:nvPr/>
            </p:nvSpPr>
            <p:spPr>
              <a:xfrm>
                <a:off x="35" y="7512"/>
                <a:ext cx="19966" cy="2494"/>
              </a:xfrm>
              <a:custGeom>
                <a:avLst/>
                <a:gdLst/>
                <a:ahLst/>
                <a:cxnLst/>
                <a:rect l="0" t="0" r="0" b="0"/>
                <a:pathLst>
                  <a:path w="20000" h="20000">
                    <a:moveTo>
                      <a:pt x="19981" y="0"/>
                    </a:moveTo>
                    <a:lnTo>
                      <a:pt x="19981" y="19916"/>
                    </a:lnTo>
                    <a:lnTo>
                      <a:pt x="0" y="19916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noFill/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53" name="Freeform 182352"/>
              <p:cNvSpPr/>
              <p:nvPr/>
            </p:nvSpPr>
            <p:spPr>
              <a:xfrm>
                <a:off x="35" y="10006"/>
                <a:ext cx="19966" cy="2493"/>
              </a:xfrm>
              <a:custGeom>
                <a:avLst/>
                <a:gdLst/>
                <a:ahLst/>
                <a:cxnLst/>
                <a:rect l="0" t="0" r="0" b="0"/>
                <a:pathLst>
                  <a:path w="20000" h="20000">
                    <a:moveTo>
                      <a:pt x="19981" y="0"/>
                    </a:moveTo>
                    <a:lnTo>
                      <a:pt x="19981" y="19916"/>
                    </a:lnTo>
                    <a:lnTo>
                      <a:pt x="0" y="19916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noFill/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54" name="Freeform 182353"/>
              <p:cNvSpPr/>
              <p:nvPr/>
            </p:nvSpPr>
            <p:spPr>
              <a:xfrm>
                <a:off x="35" y="12510"/>
                <a:ext cx="19966" cy="4997"/>
              </a:xfrm>
              <a:custGeom>
                <a:avLst/>
                <a:gdLst/>
                <a:ahLst/>
                <a:cxnLst/>
                <a:rect l="0" t="0" r="0" b="0"/>
                <a:pathLst>
                  <a:path w="20000" h="20000">
                    <a:moveTo>
                      <a:pt x="19981" y="0"/>
                    </a:moveTo>
                    <a:lnTo>
                      <a:pt x="19981" y="19958"/>
                    </a:lnTo>
                    <a:lnTo>
                      <a:pt x="0" y="19958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noFill/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55" name="Freeform 182354"/>
              <p:cNvSpPr/>
              <p:nvPr/>
            </p:nvSpPr>
            <p:spPr>
              <a:xfrm>
                <a:off x="35" y="17507"/>
                <a:ext cx="19966" cy="2493"/>
              </a:xfrm>
              <a:custGeom>
                <a:avLst/>
                <a:gdLst/>
                <a:ahLst/>
                <a:cxnLst/>
                <a:rect l="0" t="0" r="0" b="0"/>
                <a:pathLst>
                  <a:path w="20000" h="20000">
                    <a:moveTo>
                      <a:pt x="19981" y="0"/>
                    </a:moveTo>
                    <a:lnTo>
                      <a:pt x="19981" y="19916"/>
                    </a:lnTo>
                    <a:lnTo>
                      <a:pt x="0" y="19916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noFill/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56" name="Rectangle 182355"/>
              <p:cNvSpPr/>
              <p:nvPr/>
            </p:nvSpPr>
            <p:spPr>
              <a:xfrm>
                <a:off x="8890" y="12510"/>
                <a:ext cx="2237" cy="5426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/>
              <a:lstStyle/>
              <a:p>
                <a:pPr indent="228600" algn="ctr" eaLnBrk="1" hangingPunct="1"/>
                <a:r>
                  <a:rPr sz="700" b="1">
                    <a:solidFill>
                      <a:srgbClr val="000000"/>
                    </a:solidFill>
                    <a:latin typeface="Courier" pitchFamily="49" charset="0"/>
                  </a:rPr>
                  <a:t>.</a:t>
                </a:r>
                <a:endParaRPr sz="1000">
                  <a:solidFill>
                    <a:srgbClr val="000000"/>
                  </a:solidFill>
                  <a:latin typeface="Times" pitchFamily="18" charset="0"/>
                </a:endParaRPr>
              </a:p>
              <a:p>
                <a:pPr indent="228600" algn="ctr"/>
                <a:r>
                  <a:rPr sz="700" b="1">
                    <a:solidFill>
                      <a:srgbClr val="000000"/>
                    </a:solidFill>
                    <a:latin typeface="Courier" pitchFamily="49" charset="0"/>
                  </a:rPr>
                  <a:t>.</a:t>
                </a:r>
                <a:endParaRPr sz="1000">
                  <a:solidFill>
                    <a:srgbClr val="000000"/>
                  </a:solidFill>
                  <a:latin typeface="Times" pitchFamily="18" charset="0"/>
                </a:endParaRPr>
              </a:p>
              <a:p>
                <a:pPr indent="228600" algn="ctr"/>
                <a:r>
                  <a:rPr sz="700" b="1">
                    <a:solidFill>
                      <a:srgbClr val="000000"/>
                    </a:solidFill>
                    <a:latin typeface="Courier" pitchFamily="49" charset="0"/>
                  </a:rPr>
                  <a:t>.</a:t>
                </a:r>
                <a:endParaRPr sz="1000">
                  <a:solidFill>
                    <a:srgbClr val="000000"/>
                  </a:solidFill>
                  <a:latin typeface="Times" pitchFamily="18" charset="0"/>
                </a:endParaRPr>
              </a:p>
              <a:p>
                <a:pPr indent="228600"/>
                <a:endParaRPr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7" name="Group 182356"/>
            <p:cNvGrpSpPr/>
            <p:nvPr/>
          </p:nvGrpSpPr>
          <p:grpSpPr>
            <a:xfrm>
              <a:off x="3720" y="2477"/>
              <a:ext cx="487" cy="765"/>
              <a:chOff x="0" y="0"/>
              <a:chExt cx="20000" cy="20000"/>
            </a:xfrm>
          </p:grpSpPr>
          <p:sp>
            <p:nvSpPr>
              <p:cNvPr id="182358" name="Freeform 182357"/>
              <p:cNvSpPr/>
              <p:nvPr/>
            </p:nvSpPr>
            <p:spPr>
              <a:xfrm>
                <a:off x="0" y="0"/>
                <a:ext cx="19834" cy="19969"/>
              </a:xfrm>
              <a:custGeom>
                <a:avLst/>
                <a:gdLst/>
                <a:ahLst/>
                <a:cxnLst/>
                <a:rect l="0" t="0" r="0" b="0"/>
                <a:pathLst>
                  <a:path w="20000" h="20000">
                    <a:moveTo>
                      <a:pt x="19981" y="0"/>
                    </a:moveTo>
                    <a:lnTo>
                      <a:pt x="19981" y="19990"/>
                    </a:lnTo>
                    <a:lnTo>
                      <a:pt x="0" y="19990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solidFill>
                <a:srgbClr val="4DB3E6"/>
              </a:solidFill>
              <a:ln w="3175" cap="flat" cmpd="sng">
                <a:solidFill>
                  <a:srgbClr val="4DB3E6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59" name="Freeform 182358"/>
              <p:cNvSpPr/>
              <p:nvPr/>
            </p:nvSpPr>
            <p:spPr>
              <a:xfrm>
                <a:off x="37" y="21"/>
                <a:ext cx="19963" cy="2490"/>
              </a:xfrm>
              <a:custGeom>
                <a:avLst/>
                <a:gdLst/>
                <a:ahLst/>
                <a:cxnLst/>
                <a:rect l="0" t="0" r="0" b="0"/>
                <a:pathLst>
                  <a:path w="20000" h="20000">
                    <a:moveTo>
                      <a:pt x="19981" y="0"/>
                    </a:moveTo>
                    <a:lnTo>
                      <a:pt x="19981" y="19916"/>
                    </a:lnTo>
                    <a:lnTo>
                      <a:pt x="0" y="19916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noFill/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60" name="Freeform 182359"/>
              <p:cNvSpPr/>
              <p:nvPr/>
            </p:nvSpPr>
            <p:spPr>
              <a:xfrm>
                <a:off x="37" y="2531"/>
                <a:ext cx="19963" cy="2511"/>
              </a:xfrm>
              <a:custGeom>
                <a:avLst/>
                <a:gdLst/>
                <a:ahLst/>
                <a:cxnLst/>
                <a:rect l="0" t="0" r="0" b="0"/>
                <a:pathLst>
                  <a:path w="20000" h="20000">
                    <a:moveTo>
                      <a:pt x="19981" y="0"/>
                    </a:moveTo>
                    <a:lnTo>
                      <a:pt x="19981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noFill/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8" name="Group 182360"/>
              <p:cNvGrpSpPr/>
              <p:nvPr/>
            </p:nvGrpSpPr>
            <p:grpSpPr>
              <a:xfrm>
                <a:off x="37" y="5042"/>
                <a:ext cx="19963" cy="14958"/>
                <a:chOff x="-4" y="-1"/>
                <a:chExt cx="20008" cy="20001"/>
              </a:xfrm>
            </p:grpSpPr>
            <p:sp>
              <p:nvSpPr>
                <p:cNvPr id="182362" name="Rectangle 182361"/>
                <p:cNvSpPr/>
                <p:nvPr/>
              </p:nvSpPr>
              <p:spPr>
                <a:xfrm>
                  <a:off x="8314" y="10112"/>
                  <a:ext cx="2242" cy="7286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txBody>
                <a:bodyPr lIns="0" tIns="0" rIns="0" bIns="0"/>
                <a:lstStyle/>
                <a:p>
                  <a:pPr indent="228600" algn="ctr" eaLnBrk="1" hangingPunct="1"/>
                  <a:r>
                    <a:rPr sz="700" b="1">
                      <a:solidFill>
                        <a:srgbClr val="000000"/>
                      </a:solidFill>
                      <a:latin typeface="Courier" pitchFamily="49" charset="0"/>
                    </a:rPr>
                    <a:t>.</a:t>
                  </a:r>
                  <a:endParaRPr sz="1000">
                    <a:solidFill>
                      <a:srgbClr val="000000"/>
                    </a:solidFill>
                    <a:latin typeface="Times" pitchFamily="18" charset="0"/>
                  </a:endParaRPr>
                </a:p>
                <a:p>
                  <a:pPr indent="228600" algn="ctr"/>
                  <a:r>
                    <a:rPr sz="700" b="1">
                      <a:solidFill>
                        <a:srgbClr val="000000"/>
                      </a:solidFill>
                      <a:latin typeface="Courier" pitchFamily="49" charset="0"/>
                    </a:rPr>
                    <a:t>.</a:t>
                  </a:r>
                  <a:endParaRPr sz="1000">
                    <a:solidFill>
                      <a:srgbClr val="000000"/>
                    </a:solidFill>
                    <a:latin typeface="Times" pitchFamily="18" charset="0"/>
                  </a:endParaRPr>
                </a:p>
                <a:p>
                  <a:pPr indent="228600" algn="ctr"/>
                  <a:r>
                    <a:rPr sz="700" b="1">
                      <a:solidFill>
                        <a:srgbClr val="000000"/>
                      </a:solidFill>
                      <a:latin typeface="Courier" pitchFamily="49" charset="0"/>
                    </a:rPr>
                    <a:t>.</a:t>
                  </a:r>
                  <a:endParaRPr sz="1000">
                    <a:solidFill>
                      <a:srgbClr val="000000"/>
                    </a:solidFill>
                    <a:latin typeface="Times" pitchFamily="18" charset="0"/>
                  </a:endParaRPr>
                </a:p>
                <a:p>
                  <a:pPr indent="228600"/>
                  <a:endParaRPr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82363" name="Freeform 182362"/>
                <p:cNvSpPr/>
                <p:nvPr/>
              </p:nvSpPr>
              <p:spPr>
                <a:xfrm>
                  <a:off x="-4" y="-1"/>
                  <a:ext cx="20008" cy="333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0000" h="20000">
                      <a:moveTo>
                        <a:pt x="19981" y="0"/>
                      </a:moveTo>
                      <a:lnTo>
                        <a:pt x="19981" y="19916"/>
                      </a:lnTo>
                      <a:lnTo>
                        <a:pt x="0" y="19916"/>
                      </a:lnTo>
                      <a:lnTo>
                        <a:pt x="0" y="0"/>
                      </a:lnTo>
                      <a:lnTo>
                        <a:pt x="19981" y="0"/>
                      </a:lnTo>
                      <a:close/>
                    </a:path>
                  </a:pathLst>
                </a:custGeom>
                <a:noFill/>
                <a:ln w="31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364" name="Freeform 182363"/>
                <p:cNvSpPr/>
                <p:nvPr/>
              </p:nvSpPr>
              <p:spPr>
                <a:xfrm>
                  <a:off x="-4" y="3329"/>
                  <a:ext cx="20008" cy="33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0000" h="20000">
                      <a:moveTo>
                        <a:pt x="19981" y="0"/>
                      </a:moveTo>
                      <a:lnTo>
                        <a:pt x="19981" y="19916"/>
                      </a:lnTo>
                      <a:lnTo>
                        <a:pt x="0" y="19916"/>
                      </a:lnTo>
                      <a:lnTo>
                        <a:pt x="0" y="0"/>
                      </a:lnTo>
                      <a:lnTo>
                        <a:pt x="19981" y="0"/>
                      </a:lnTo>
                      <a:close/>
                    </a:path>
                  </a:pathLst>
                </a:custGeom>
                <a:noFill/>
                <a:ln w="31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365" name="Freeform 182364"/>
                <p:cNvSpPr/>
                <p:nvPr/>
              </p:nvSpPr>
              <p:spPr>
                <a:xfrm>
                  <a:off x="-4" y="6657"/>
                  <a:ext cx="20008" cy="3329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0000" h="20000">
                      <a:moveTo>
                        <a:pt x="19981" y="0"/>
                      </a:moveTo>
                      <a:lnTo>
                        <a:pt x="19981" y="19916"/>
                      </a:lnTo>
                      <a:lnTo>
                        <a:pt x="0" y="19916"/>
                      </a:lnTo>
                      <a:lnTo>
                        <a:pt x="0" y="0"/>
                      </a:lnTo>
                      <a:lnTo>
                        <a:pt x="19981" y="0"/>
                      </a:lnTo>
                      <a:close/>
                    </a:path>
                  </a:pathLst>
                </a:custGeom>
                <a:noFill/>
                <a:ln w="31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366" name="Freeform 182365"/>
                <p:cNvSpPr/>
                <p:nvPr/>
              </p:nvSpPr>
              <p:spPr>
                <a:xfrm>
                  <a:off x="-4" y="10000"/>
                  <a:ext cx="20008" cy="667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0000" h="20000">
                      <a:moveTo>
                        <a:pt x="19981" y="0"/>
                      </a:moveTo>
                      <a:lnTo>
                        <a:pt x="19981" y="19958"/>
                      </a:lnTo>
                      <a:lnTo>
                        <a:pt x="0" y="19958"/>
                      </a:lnTo>
                      <a:lnTo>
                        <a:pt x="0" y="0"/>
                      </a:lnTo>
                      <a:lnTo>
                        <a:pt x="19981" y="0"/>
                      </a:lnTo>
                      <a:close/>
                    </a:path>
                  </a:pathLst>
                </a:custGeom>
                <a:noFill/>
                <a:ln w="31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367" name="Freeform 182366"/>
                <p:cNvSpPr/>
                <p:nvPr/>
              </p:nvSpPr>
              <p:spPr>
                <a:xfrm>
                  <a:off x="-4" y="16672"/>
                  <a:ext cx="20008" cy="33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0000" h="20000">
                      <a:moveTo>
                        <a:pt x="19981" y="0"/>
                      </a:moveTo>
                      <a:lnTo>
                        <a:pt x="19981" y="19916"/>
                      </a:lnTo>
                      <a:lnTo>
                        <a:pt x="0" y="19916"/>
                      </a:lnTo>
                      <a:lnTo>
                        <a:pt x="0" y="0"/>
                      </a:lnTo>
                      <a:lnTo>
                        <a:pt x="19981" y="0"/>
                      </a:lnTo>
                      <a:close/>
                    </a:path>
                  </a:pathLst>
                </a:custGeom>
                <a:noFill/>
                <a:ln w="31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368" name="Rectangle 182367"/>
                <p:cNvSpPr/>
                <p:nvPr/>
              </p:nvSpPr>
              <p:spPr>
                <a:xfrm>
                  <a:off x="8870" y="10000"/>
                  <a:ext cx="2242" cy="7244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txBody>
                <a:bodyPr lIns="0" tIns="0" rIns="0" bIns="0"/>
                <a:lstStyle/>
                <a:p>
                  <a:pPr indent="228600" algn="ctr" eaLnBrk="1" hangingPunct="1"/>
                  <a:r>
                    <a:rPr sz="700" b="1">
                      <a:solidFill>
                        <a:srgbClr val="000000"/>
                      </a:solidFill>
                      <a:latin typeface="Courier" pitchFamily="49" charset="0"/>
                    </a:rPr>
                    <a:t>.</a:t>
                  </a:r>
                  <a:endParaRPr sz="1000">
                    <a:solidFill>
                      <a:srgbClr val="000000"/>
                    </a:solidFill>
                    <a:latin typeface="Times" pitchFamily="18" charset="0"/>
                  </a:endParaRPr>
                </a:p>
                <a:p>
                  <a:pPr indent="228600" algn="ctr"/>
                  <a:r>
                    <a:rPr sz="700" b="1">
                      <a:solidFill>
                        <a:srgbClr val="000000"/>
                      </a:solidFill>
                      <a:latin typeface="Courier" pitchFamily="49" charset="0"/>
                    </a:rPr>
                    <a:t>.</a:t>
                  </a:r>
                  <a:endParaRPr sz="1000">
                    <a:solidFill>
                      <a:srgbClr val="000000"/>
                    </a:solidFill>
                    <a:latin typeface="Times" pitchFamily="18" charset="0"/>
                  </a:endParaRPr>
                </a:p>
                <a:p>
                  <a:pPr indent="228600" algn="ctr"/>
                  <a:r>
                    <a:rPr sz="700" b="1">
                      <a:solidFill>
                        <a:srgbClr val="000000"/>
                      </a:solidFill>
                      <a:latin typeface="Courier" pitchFamily="49" charset="0"/>
                    </a:rPr>
                    <a:t>.</a:t>
                  </a:r>
                  <a:endParaRPr sz="1000">
                    <a:solidFill>
                      <a:srgbClr val="000000"/>
                    </a:solidFill>
                    <a:latin typeface="Times" pitchFamily="18" charset="0"/>
                  </a:endParaRPr>
                </a:p>
                <a:p>
                  <a:pPr indent="228600"/>
                  <a:endParaRPr sz="2400"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19" name="Group 182368"/>
            <p:cNvGrpSpPr/>
            <p:nvPr/>
          </p:nvGrpSpPr>
          <p:grpSpPr>
            <a:xfrm>
              <a:off x="3720" y="815"/>
              <a:ext cx="486" cy="195"/>
              <a:chOff x="0" y="1"/>
              <a:chExt cx="20000" cy="19999"/>
            </a:xfrm>
          </p:grpSpPr>
          <p:grpSp>
            <p:nvGrpSpPr>
              <p:cNvPr id="20" name="Group 182369"/>
              <p:cNvGrpSpPr/>
              <p:nvPr/>
            </p:nvGrpSpPr>
            <p:grpSpPr>
              <a:xfrm>
                <a:off x="0" y="83"/>
                <a:ext cx="20000" cy="19917"/>
                <a:chOff x="0" y="3"/>
                <a:chExt cx="20000" cy="19997"/>
              </a:xfrm>
            </p:grpSpPr>
            <p:sp>
              <p:nvSpPr>
                <p:cNvPr id="182371" name="Oval 182370"/>
                <p:cNvSpPr/>
                <p:nvPr/>
              </p:nvSpPr>
              <p:spPr>
                <a:xfrm>
                  <a:off x="0" y="15011"/>
                  <a:ext cx="20000" cy="4989"/>
                </a:xfrm>
                <a:prstGeom prst="ellipse">
                  <a:avLst/>
                </a:prstGeom>
                <a:solidFill>
                  <a:srgbClr val="4DB3E6"/>
                </a:solidFill>
                <a:ln w="3175" cap="flat" cmpd="sng">
                  <a:solidFill>
                    <a:srgbClr val="4DB3E6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372" name="Freeform 182371"/>
                <p:cNvSpPr/>
                <p:nvPr/>
              </p:nvSpPr>
              <p:spPr>
                <a:xfrm>
                  <a:off x="19" y="2559"/>
                  <a:ext cx="19981" cy="1484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0000" h="20000">
                      <a:moveTo>
                        <a:pt x="19981" y="0"/>
                      </a:moveTo>
                      <a:lnTo>
                        <a:pt x="19981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81" y="0"/>
                      </a:lnTo>
                      <a:close/>
                    </a:path>
                  </a:pathLst>
                </a:custGeom>
                <a:solidFill>
                  <a:srgbClr val="4DB3E6"/>
                </a:solidFill>
                <a:ln w="3175" cap="flat" cmpd="sng">
                  <a:solidFill>
                    <a:srgbClr val="4DB3E6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373" name="Oval 182372"/>
                <p:cNvSpPr/>
                <p:nvPr/>
              </p:nvSpPr>
              <p:spPr>
                <a:xfrm>
                  <a:off x="0" y="3"/>
                  <a:ext cx="20000" cy="4989"/>
                </a:xfrm>
                <a:prstGeom prst="ellipse">
                  <a:avLst/>
                </a:prstGeom>
                <a:solidFill>
                  <a:srgbClr val="4DB3E6"/>
                </a:solidFill>
                <a:ln w="3175" cap="flat" cmpd="sng">
                  <a:solidFill>
                    <a:srgbClr val="4DB3E6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82374" name="Oval 182373"/>
              <p:cNvSpPr/>
              <p:nvPr/>
            </p:nvSpPr>
            <p:spPr>
              <a:xfrm>
                <a:off x="0" y="14990"/>
                <a:ext cx="20000" cy="4969"/>
              </a:xfrm>
              <a:prstGeom prst="ellipse">
                <a:avLst/>
              </a:prstGeom>
              <a:noFill/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75" name="Freeform 182374"/>
              <p:cNvSpPr/>
              <p:nvPr/>
            </p:nvSpPr>
            <p:spPr>
              <a:xfrm>
                <a:off x="19" y="2547"/>
                <a:ext cx="19981" cy="14784"/>
              </a:xfrm>
              <a:custGeom>
                <a:avLst/>
                <a:gdLst/>
                <a:ahLst/>
                <a:cxnLst/>
                <a:rect l="0" t="0" r="0" b="0"/>
                <a:pathLst>
                  <a:path w="20000" h="20000">
                    <a:moveTo>
                      <a:pt x="19981" y="0"/>
                    </a:moveTo>
                    <a:lnTo>
                      <a:pt x="19981" y="19944"/>
                    </a:lnTo>
                    <a:lnTo>
                      <a:pt x="0" y="19944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noFill/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76" name="Freeform 182375"/>
              <p:cNvSpPr/>
              <p:nvPr/>
            </p:nvSpPr>
            <p:spPr>
              <a:xfrm>
                <a:off x="204" y="14949"/>
                <a:ext cx="19611" cy="2669"/>
              </a:xfrm>
              <a:custGeom>
                <a:avLst/>
                <a:gdLst/>
                <a:ahLst/>
                <a:cxnLst/>
                <a:rect l="0" t="0" r="0" b="0"/>
                <a:pathLst>
                  <a:path w="20000" h="20000">
                    <a:moveTo>
                      <a:pt x="19981" y="0"/>
                    </a:moveTo>
                    <a:lnTo>
                      <a:pt x="19981" y="19692"/>
                    </a:lnTo>
                    <a:lnTo>
                      <a:pt x="0" y="19692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solidFill>
                <a:srgbClr val="4DB3E6"/>
              </a:solidFill>
              <a:ln w="3175" cap="flat" cmpd="sng">
                <a:solidFill>
                  <a:srgbClr val="4DB3E6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77" name="Rectangle 182376"/>
              <p:cNvSpPr/>
              <p:nvPr/>
            </p:nvSpPr>
            <p:spPr>
              <a:xfrm>
                <a:off x="5180" y="6530"/>
                <a:ext cx="9640" cy="1154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/>
              <a:lstStyle/>
              <a:p>
                <a:pPr eaLnBrk="1" hangingPunct="1"/>
                <a:r>
                  <a:rPr sz="1000">
                    <a:solidFill>
                      <a:srgbClr val="000000"/>
                    </a:solidFill>
                    <a:latin typeface="Times New Roman" panose="02020603050405020304" pitchFamily="18" charset="0"/>
                    <a:ea typeface="Mincho" charset="-128"/>
                  </a:rPr>
                  <a:t>Disk</a:t>
                </a:r>
                <a:endParaRPr sz="12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  <a:p>
                <a:endParaRPr sz="2400">
                  <a:latin typeface="Times New Roman" panose="02020603050405020304" pitchFamily="18" charset="0"/>
                  <a:ea typeface="Mincho" charset="-128"/>
                </a:endParaRPr>
              </a:p>
            </p:txBody>
          </p:sp>
          <p:sp>
            <p:nvSpPr>
              <p:cNvPr id="182378" name="Freeform 182377"/>
              <p:cNvSpPr/>
              <p:nvPr/>
            </p:nvSpPr>
            <p:spPr>
              <a:xfrm>
                <a:off x="148" y="2136"/>
                <a:ext cx="19759" cy="2752"/>
              </a:xfrm>
              <a:custGeom>
                <a:avLst/>
                <a:gdLst/>
                <a:ahLst/>
                <a:cxnLst/>
                <a:rect l="0" t="0" r="0" b="0"/>
                <a:pathLst>
                  <a:path w="20000" h="20000">
                    <a:moveTo>
                      <a:pt x="19981" y="0"/>
                    </a:moveTo>
                    <a:lnTo>
                      <a:pt x="19981" y="19701"/>
                    </a:lnTo>
                    <a:lnTo>
                      <a:pt x="0" y="19701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solidFill>
                <a:srgbClr val="4DB3E6"/>
              </a:solidFill>
              <a:ln w="3175" cap="flat" cmpd="sng">
                <a:solidFill>
                  <a:srgbClr val="4DB3E6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79" name="Oval 182378"/>
              <p:cNvSpPr/>
              <p:nvPr/>
            </p:nvSpPr>
            <p:spPr>
              <a:xfrm>
                <a:off x="0" y="1"/>
                <a:ext cx="20000" cy="4969"/>
              </a:xfrm>
              <a:prstGeom prst="ellipse">
                <a:avLst/>
              </a:prstGeom>
              <a:noFill/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1" name="Group 182379"/>
            <p:cNvGrpSpPr/>
            <p:nvPr/>
          </p:nvGrpSpPr>
          <p:grpSpPr>
            <a:xfrm>
              <a:off x="3720" y="1207"/>
              <a:ext cx="486" cy="195"/>
              <a:chOff x="0" y="1"/>
              <a:chExt cx="20000" cy="19999"/>
            </a:xfrm>
          </p:grpSpPr>
          <p:grpSp>
            <p:nvGrpSpPr>
              <p:cNvPr id="22" name="Group 182380"/>
              <p:cNvGrpSpPr/>
              <p:nvPr/>
            </p:nvGrpSpPr>
            <p:grpSpPr>
              <a:xfrm>
                <a:off x="0" y="83"/>
                <a:ext cx="20000" cy="19917"/>
                <a:chOff x="0" y="3"/>
                <a:chExt cx="20000" cy="19997"/>
              </a:xfrm>
            </p:grpSpPr>
            <p:sp>
              <p:nvSpPr>
                <p:cNvPr id="182382" name="Oval 182381"/>
                <p:cNvSpPr/>
                <p:nvPr/>
              </p:nvSpPr>
              <p:spPr>
                <a:xfrm>
                  <a:off x="0" y="15011"/>
                  <a:ext cx="20000" cy="4989"/>
                </a:xfrm>
                <a:prstGeom prst="ellipse">
                  <a:avLst/>
                </a:prstGeom>
                <a:solidFill>
                  <a:srgbClr val="4DB3E6"/>
                </a:solidFill>
                <a:ln w="3175" cap="flat" cmpd="sng">
                  <a:solidFill>
                    <a:srgbClr val="4DB3E6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383" name="Freeform 182382"/>
                <p:cNvSpPr/>
                <p:nvPr/>
              </p:nvSpPr>
              <p:spPr>
                <a:xfrm>
                  <a:off x="19" y="2559"/>
                  <a:ext cx="19981" cy="1484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0000" h="20000">
                      <a:moveTo>
                        <a:pt x="19981" y="0"/>
                      </a:moveTo>
                      <a:lnTo>
                        <a:pt x="19981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81" y="0"/>
                      </a:lnTo>
                      <a:close/>
                    </a:path>
                  </a:pathLst>
                </a:custGeom>
                <a:solidFill>
                  <a:srgbClr val="4DB3E6"/>
                </a:solidFill>
                <a:ln w="3175" cap="flat" cmpd="sng">
                  <a:solidFill>
                    <a:srgbClr val="4DB3E6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384" name="Oval 182383"/>
                <p:cNvSpPr/>
                <p:nvPr/>
              </p:nvSpPr>
              <p:spPr>
                <a:xfrm>
                  <a:off x="0" y="3"/>
                  <a:ext cx="20000" cy="4989"/>
                </a:xfrm>
                <a:prstGeom prst="ellipse">
                  <a:avLst/>
                </a:prstGeom>
                <a:solidFill>
                  <a:srgbClr val="4DB3E6"/>
                </a:solidFill>
                <a:ln w="3175" cap="flat" cmpd="sng">
                  <a:solidFill>
                    <a:srgbClr val="4DB3E6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82385" name="Oval 182384"/>
              <p:cNvSpPr/>
              <p:nvPr/>
            </p:nvSpPr>
            <p:spPr>
              <a:xfrm>
                <a:off x="0" y="14990"/>
                <a:ext cx="20000" cy="4969"/>
              </a:xfrm>
              <a:prstGeom prst="ellipse">
                <a:avLst/>
              </a:prstGeom>
              <a:noFill/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86" name="Freeform 182385"/>
              <p:cNvSpPr/>
              <p:nvPr/>
            </p:nvSpPr>
            <p:spPr>
              <a:xfrm>
                <a:off x="19" y="2547"/>
                <a:ext cx="19981" cy="14784"/>
              </a:xfrm>
              <a:custGeom>
                <a:avLst/>
                <a:gdLst/>
                <a:ahLst/>
                <a:cxnLst/>
                <a:rect l="0" t="0" r="0" b="0"/>
                <a:pathLst>
                  <a:path w="20000" h="20000">
                    <a:moveTo>
                      <a:pt x="19981" y="0"/>
                    </a:moveTo>
                    <a:lnTo>
                      <a:pt x="19981" y="19944"/>
                    </a:lnTo>
                    <a:lnTo>
                      <a:pt x="0" y="19944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noFill/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87" name="Freeform 182386"/>
              <p:cNvSpPr/>
              <p:nvPr/>
            </p:nvSpPr>
            <p:spPr>
              <a:xfrm>
                <a:off x="204" y="14949"/>
                <a:ext cx="19611" cy="2669"/>
              </a:xfrm>
              <a:custGeom>
                <a:avLst/>
                <a:gdLst/>
                <a:ahLst/>
                <a:cxnLst/>
                <a:rect l="0" t="0" r="0" b="0"/>
                <a:pathLst>
                  <a:path w="20000" h="20000">
                    <a:moveTo>
                      <a:pt x="19981" y="0"/>
                    </a:moveTo>
                    <a:lnTo>
                      <a:pt x="19981" y="19692"/>
                    </a:lnTo>
                    <a:lnTo>
                      <a:pt x="0" y="19692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solidFill>
                <a:srgbClr val="4DB3E6"/>
              </a:solidFill>
              <a:ln w="3175" cap="flat" cmpd="sng">
                <a:solidFill>
                  <a:srgbClr val="4DB3E6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88" name="Rectangle 182387"/>
              <p:cNvSpPr/>
              <p:nvPr/>
            </p:nvSpPr>
            <p:spPr>
              <a:xfrm>
                <a:off x="5180" y="6530"/>
                <a:ext cx="9640" cy="1154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/>
              <a:lstStyle/>
              <a:p>
                <a:pPr eaLnBrk="1" hangingPunct="1"/>
                <a:r>
                  <a:rPr sz="1000">
                    <a:solidFill>
                      <a:srgbClr val="000000"/>
                    </a:solidFill>
                    <a:latin typeface="Times New Roman" panose="02020603050405020304" pitchFamily="18" charset="0"/>
                    <a:ea typeface="Mincho" charset="-128"/>
                  </a:rPr>
                  <a:t>Disk</a:t>
                </a:r>
                <a:endParaRPr sz="12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  <a:p>
                <a:endParaRPr sz="2400">
                  <a:latin typeface="Times New Roman" panose="02020603050405020304" pitchFamily="18" charset="0"/>
                  <a:ea typeface="Mincho" charset="-128"/>
                </a:endParaRPr>
              </a:p>
            </p:txBody>
          </p:sp>
          <p:sp>
            <p:nvSpPr>
              <p:cNvPr id="182389" name="Freeform 182388"/>
              <p:cNvSpPr/>
              <p:nvPr/>
            </p:nvSpPr>
            <p:spPr>
              <a:xfrm>
                <a:off x="148" y="2136"/>
                <a:ext cx="19759" cy="2752"/>
              </a:xfrm>
              <a:custGeom>
                <a:avLst/>
                <a:gdLst/>
                <a:ahLst/>
                <a:cxnLst/>
                <a:rect l="0" t="0" r="0" b="0"/>
                <a:pathLst>
                  <a:path w="20000" h="20000">
                    <a:moveTo>
                      <a:pt x="19981" y="0"/>
                    </a:moveTo>
                    <a:lnTo>
                      <a:pt x="19981" y="19701"/>
                    </a:lnTo>
                    <a:lnTo>
                      <a:pt x="0" y="19701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solidFill>
                <a:srgbClr val="4DB3E6"/>
              </a:solidFill>
              <a:ln w="3175" cap="flat" cmpd="sng">
                <a:solidFill>
                  <a:srgbClr val="4DB3E6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90" name="Oval 182389"/>
              <p:cNvSpPr/>
              <p:nvPr/>
            </p:nvSpPr>
            <p:spPr>
              <a:xfrm>
                <a:off x="0" y="1"/>
                <a:ext cx="20000" cy="4969"/>
              </a:xfrm>
              <a:prstGeom prst="ellipse">
                <a:avLst/>
              </a:prstGeom>
              <a:noFill/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3" name="Group 182390"/>
            <p:cNvGrpSpPr/>
            <p:nvPr/>
          </p:nvGrpSpPr>
          <p:grpSpPr>
            <a:xfrm>
              <a:off x="3720" y="1595"/>
              <a:ext cx="486" cy="195"/>
              <a:chOff x="0" y="1"/>
              <a:chExt cx="20000" cy="19999"/>
            </a:xfrm>
          </p:grpSpPr>
          <p:grpSp>
            <p:nvGrpSpPr>
              <p:cNvPr id="24" name="Group 182391"/>
              <p:cNvGrpSpPr/>
              <p:nvPr/>
            </p:nvGrpSpPr>
            <p:grpSpPr>
              <a:xfrm>
                <a:off x="0" y="83"/>
                <a:ext cx="20000" cy="19917"/>
                <a:chOff x="0" y="3"/>
                <a:chExt cx="20000" cy="19997"/>
              </a:xfrm>
            </p:grpSpPr>
            <p:sp>
              <p:nvSpPr>
                <p:cNvPr id="182393" name="Oval 182392"/>
                <p:cNvSpPr/>
                <p:nvPr/>
              </p:nvSpPr>
              <p:spPr>
                <a:xfrm>
                  <a:off x="0" y="15011"/>
                  <a:ext cx="20000" cy="4989"/>
                </a:xfrm>
                <a:prstGeom prst="ellipse">
                  <a:avLst/>
                </a:prstGeom>
                <a:solidFill>
                  <a:srgbClr val="4DB3E6"/>
                </a:solidFill>
                <a:ln w="3175" cap="flat" cmpd="sng">
                  <a:solidFill>
                    <a:srgbClr val="4DB3E6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394" name="Freeform 182393"/>
                <p:cNvSpPr/>
                <p:nvPr/>
              </p:nvSpPr>
              <p:spPr>
                <a:xfrm>
                  <a:off x="19" y="2559"/>
                  <a:ext cx="19981" cy="1484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0000" h="20000">
                      <a:moveTo>
                        <a:pt x="19981" y="0"/>
                      </a:moveTo>
                      <a:lnTo>
                        <a:pt x="19981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81" y="0"/>
                      </a:lnTo>
                      <a:close/>
                    </a:path>
                  </a:pathLst>
                </a:custGeom>
                <a:solidFill>
                  <a:srgbClr val="4DB3E6"/>
                </a:solidFill>
                <a:ln w="3175" cap="flat" cmpd="sng">
                  <a:solidFill>
                    <a:srgbClr val="4DB3E6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395" name="Oval 182394"/>
                <p:cNvSpPr/>
                <p:nvPr/>
              </p:nvSpPr>
              <p:spPr>
                <a:xfrm>
                  <a:off x="0" y="3"/>
                  <a:ext cx="20000" cy="4989"/>
                </a:xfrm>
                <a:prstGeom prst="ellipse">
                  <a:avLst/>
                </a:prstGeom>
                <a:solidFill>
                  <a:srgbClr val="4DB3E6"/>
                </a:solidFill>
                <a:ln w="3175" cap="flat" cmpd="sng">
                  <a:solidFill>
                    <a:srgbClr val="4DB3E6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82396" name="Oval 182395"/>
              <p:cNvSpPr/>
              <p:nvPr/>
            </p:nvSpPr>
            <p:spPr>
              <a:xfrm>
                <a:off x="0" y="14990"/>
                <a:ext cx="20000" cy="4969"/>
              </a:xfrm>
              <a:prstGeom prst="ellipse">
                <a:avLst/>
              </a:prstGeom>
              <a:noFill/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97" name="Freeform 182396"/>
              <p:cNvSpPr/>
              <p:nvPr/>
            </p:nvSpPr>
            <p:spPr>
              <a:xfrm>
                <a:off x="19" y="2547"/>
                <a:ext cx="19981" cy="14784"/>
              </a:xfrm>
              <a:custGeom>
                <a:avLst/>
                <a:gdLst/>
                <a:ahLst/>
                <a:cxnLst/>
                <a:rect l="0" t="0" r="0" b="0"/>
                <a:pathLst>
                  <a:path w="20000" h="20000">
                    <a:moveTo>
                      <a:pt x="19981" y="0"/>
                    </a:moveTo>
                    <a:lnTo>
                      <a:pt x="19981" y="19944"/>
                    </a:lnTo>
                    <a:lnTo>
                      <a:pt x="0" y="19944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noFill/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98" name="Freeform 182397"/>
              <p:cNvSpPr/>
              <p:nvPr/>
            </p:nvSpPr>
            <p:spPr>
              <a:xfrm>
                <a:off x="204" y="14949"/>
                <a:ext cx="19611" cy="2669"/>
              </a:xfrm>
              <a:custGeom>
                <a:avLst/>
                <a:gdLst/>
                <a:ahLst/>
                <a:cxnLst/>
                <a:rect l="0" t="0" r="0" b="0"/>
                <a:pathLst>
                  <a:path w="20000" h="20000">
                    <a:moveTo>
                      <a:pt x="19981" y="0"/>
                    </a:moveTo>
                    <a:lnTo>
                      <a:pt x="19981" y="19692"/>
                    </a:lnTo>
                    <a:lnTo>
                      <a:pt x="0" y="19692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solidFill>
                <a:srgbClr val="4DB3E6"/>
              </a:solidFill>
              <a:ln w="3175" cap="flat" cmpd="sng">
                <a:solidFill>
                  <a:srgbClr val="4DB3E6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99" name="Rectangle 182398"/>
              <p:cNvSpPr/>
              <p:nvPr/>
            </p:nvSpPr>
            <p:spPr>
              <a:xfrm>
                <a:off x="5180" y="6530"/>
                <a:ext cx="9640" cy="1154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/>
              <a:lstStyle/>
              <a:p>
                <a:pPr eaLnBrk="1" hangingPunct="1"/>
                <a:r>
                  <a:rPr sz="1000">
                    <a:solidFill>
                      <a:srgbClr val="000000"/>
                    </a:solidFill>
                    <a:latin typeface="Times New Roman" panose="02020603050405020304" pitchFamily="18" charset="0"/>
                    <a:ea typeface="Mincho" charset="-128"/>
                  </a:rPr>
                  <a:t>Disk</a:t>
                </a:r>
                <a:endParaRPr sz="12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  <a:p>
                <a:endParaRPr sz="2400">
                  <a:latin typeface="Times New Roman" panose="02020603050405020304" pitchFamily="18" charset="0"/>
                  <a:ea typeface="Mincho" charset="-128"/>
                </a:endParaRPr>
              </a:p>
            </p:txBody>
          </p:sp>
          <p:sp>
            <p:nvSpPr>
              <p:cNvPr id="182400" name="Freeform 182399"/>
              <p:cNvSpPr/>
              <p:nvPr/>
            </p:nvSpPr>
            <p:spPr>
              <a:xfrm>
                <a:off x="148" y="2136"/>
                <a:ext cx="19759" cy="2752"/>
              </a:xfrm>
              <a:custGeom>
                <a:avLst/>
                <a:gdLst/>
                <a:ahLst/>
                <a:cxnLst/>
                <a:rect l="0" t="0" r="0" b="0"/>
                <a:pathLst>
                  <a:path w="20000" h="20000">
                    <a:moveTo>
                      <a:pt x="19981" y="0"/>
                    </a:moveTo>
                    <a:lnTo>
                      <a:pt x="19981" y="19701"/>
                    </a:lnTo>
                    <a:lnTo>
                      <a:pt x="0" y="19701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solidFill>
                <a:srgbClr val="4DB3E6"/>
              </a:solidFill>
              <a:ln w="3175" cap="flat" cmpd="sng">
                <a:solidFill>
                  <a:srgbClr val="4DB3E6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401" name="Oval 182400"/>
              <p:cNvSpPr/>
              <p:nvPr/>
            </p:nvSpPr>
            <p:spPr>
              <a:xfrm>
                <a:off x="0" y="1"/>
                <a:ext cx="20000" cy="4969"/>
              </a:xfrm>
              <a:prstGeom prst="ellipse">
                <a:avLst/>
              </a:prstGeom>
              <a:noFill/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5" name="Group 182401"/>
            <p:cNvGrpSpPr/>
            <p:nvPr/>
          </p:nvGrpSpPr>
          <p:grpSpPr>
            <a:xfrm>
              <a:off x="3720" y="1975"/>
              <a:ext cx="486" cy="195"/>
              <a:chOff x="0" y="1"/>
              <a:chExt cx="20000" cy="19999"/>
            </a:xfrm>
          </p:grpSpPr>
          <p:grpSp>
            <p:nvGrpSpPr>
              <p:cNvPr id="26" name="Group 182402"/>
              <p:cNvGrpSpPr/>
              <p:nvPr/>
            </p:nvGrpSpPr>
            <p:grpSpPr>
              <a:xfrm>
                <a:off x="0" y="83"/>
                <a:ext cx="20000" cy="19917"/>
                <a:chOff x="0" y="3"/>
                <a:chExt cx="20000" cy="19997"/>
              </a:xfrm>
            </p:grpSpPr>
            <p:sp>
              <p:nvSpPr>
                <p:cNvPr id="182404" name="Oval 182403"/>
                <p:cNvSpPr/>
                <p:nvPr/>
              </p:nvSpPr>
              <p:spPr>
                <a:xfrm>
                  <a:off x="0" y="15011"/>
                  <a:ext cx="20000" cy="4989"/>
                </a:xfrm>
                <a:prstGeom prst="ellipse">
                  <a:avLst/>
                </a:prstGeom>
                <a:solidFill>
                  <a:srgbClr val="4DB3E6"/>
                </a:solidFill>
                <a:ln w="3175" cap="flat" cmpd="sng">
                  <a:solidFill>
                    <a:srgbClr val="4DB3E6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405" name="Freeform 182404"/>
                <p:cNvSpPr/>
                <p:nvPr/>
              </p:nvSpPr>
              <p:spPr>
                <a:xfrm>
                  <a:off x="19" y="2559"/>
                  <a:ext cx="19981" cy="1484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0000" h="20000">
                      <a:moveTo>
                        <a:pt x="19981" y="0"/>
                      </a:moveTo>
                      <a:lnTo>
                        <a:pt x="19981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81" y="0"/>
                      </a:lnTo>
                      <a:close/>
                    </a:path>
                  </a:pathLst>
                </a:custGeom>
                <a:solidFill>
                  <a:srgbClr val="4DB3E6"/>
                </a:solidFill>
                <a:ln w="3175" cap="flat" cmpd="sng">
                  <a:solidFill>
                    <a:srgbClr val="4DB3E6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406" name="Oval 182405"/>
                <p:cNvSpPr/>
                <p:nvPr/>
              </p:nvSpPr>
              <p:spPr>
                <a:xfrm>
                  <a:off x="0" y="3"/>
                  <a:ext cx="20000" cy="4989"/>
                </a:xfrm>
                <a:prstGeom prst="ellipse">
                  <a:avLst/>
                </a:prstGeom>
                <a:solidFill>
                  <a:srgbClr val="4DB3E6"/>
                </a:solidFill>
                <a:ln w="3175" cap="flat" cmpd="sng">
                  <a:solidFill>
                    <a:srgbClr val="4DB3E6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82407" name="Oval 182406"/>
              <p:cNvSpPr/>
              <p:nvPr/>
            </p:nvSpPr>
            <p:spPr>
              <a:xfrm>
                <a:off x="0" y="14990"/>
                <a:ext cx="20000" cy="4969"/>
              </a:xfrm>
              <a:prstGeom prst="ellipse">
                <a:avLst/>
              </a:prstGeom>
              <a:noFill/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408" name="Freeform 182407"/>
              <p:cNvSpPr/>
              <p:nvPr/>
            </p:nvSpPr>
            <p:spPr>
              <a:xfrm>
                <a:off x="19" y="2547"/>
                <a:ext cx="19981" cy="14784"/>
              </a:xfrm>
              <a:custGeom>
                <a:avLst/>
                <a:gdLst/>
                <a:ahLst/>
                <a:cxnLst/>
                <a:rect l="0" t="0" r="0" b="0"/>
                <a:pathLst>
                  <a:path w="20000" h="20000">
                    <a:moveTo>
                      <a:pt x="19981" y="0"/>
                    </a:moveTo>
                    <a:lnTo>
                      <a:pt x="19981" y="19944"/>
                    </a:lnTo>
                    <a:lnTo>
                      <a:pt x="0" y="19944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noFill/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409" name="Freeform 182408"/>
              <p:cNvSpPr/>
              <p:nvPr/>
            </p:nvSpPr>
            <p:spPr>
              <a:xfrm>
                <a:off x="204" y="14949"/>
                <a:ext cx="19611" cy="2669"/>
              </a:xfrm>
              <a:custGeom>
                <a:avLst/>
                <a:gdLst/>
                <a:ahLst/>
                <a:cxnLst/>
                <a:rect l="0" t="0" r="0" b="0"/>
                <a:pathLst>
                  <a:path w="20000" h="20000">
                    <a:moveTo>
                      <a:pt x="19981" y="0"/>
                    </a:moveTo>
                    <a:lnTo>
                      <a:pt x="19981" y="19692"/>
                    </a:lnTo>
                    <a:lnTo>
                      <a:pt x="0" y="19692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solidFill>
                <a:srgbClr val="4DB3E6"/>
              </a:solidFill>
              <a:ln w="3175" cap="flat" cmpd="sng">
                <a:solidFill>
                  <a:srgbClr val="4DB3E6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410" name="Rectangle 182409"/>
              <p:cNvSpPr/>
              <p:nvPr/>
            </p:nvSpPr>
            <p:spPr>
              <a:xfrm>
                <a:off x="5180" y="6530"/>
                <a:ext cx="9640" cy="1154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/>
              <a:lstStyle/>
              <a:p>
                <a:pPr eaLnBrk="1" hangingPunct="1"/>
                <a:r>
                  <a:rPr sz="1000">
                    <a:solidFill>
                      <a:srgbClr val="000000"/>
                    </a:solidFill>
                    <a:latin typeface="Times New Roman" panose="02020603050405020304" pitchFamily="18" charset="0"/>
                    <a:ea typeface="Mincho" charset="-128"/>
                  </a:rPr>
                  <a:t>Disk</a:t>
                </a:r>
                <a:endParaRPr sz="12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  <a:p>
                <a:endParaRPr sz="2400">
                  <a:latin typeface="Times New Roman" panose="02020603050405020304" pitchFamily="18" charset="0"/>
                  <a:ea typeface="Mincho" charset="-128"/>
                </a:endParaRPr>
              </a:p>
            </p:txBody>
          </p:sp>
          <p:sp>
            <p:nvSpPr>
              <p:cNvPr id="182411" name="Freeform 182410"/>
              <p:cNvSpPr/>
              <p:nvPr/>
            </p:nvSpPr>
            <p:spPr>
              <a:xfrm>
                <a:off x="148" y="2136"/>
                <a:ext cx="19759" cy="2752"/>
              </a:xfrm>
              <a:custGeom>
                <a:avLst/>
                <a:gdLst/>
                <a:ahLst/>
                <a:cxnLst/>
                <a:rect l="0" t="0" r="0" b="0"/>
                <a:pathLst>
                  <a:path w="20000" h="20000">
                    <a:moveTo>
                      <a:pt x="19981" y="0"/>
                    </a:moveTo>
                    <a:lnTo>
                      <a:pt x="19981" y="19701"/>
                    </a:lnTo>
                    <a:lnTo>
                      <a:pt x="0" y="19701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solidFill>
                <a:srgbClr val="4DB3E6"/>
              </a:solidFill>
              <a:ln w="3175" cap="flat" cmpd="sng">
                <a:solidFill>
                  <a:srgbClr val="4DB3E6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412" name="Oval 182411"/>
              <p:cNvSpPr/>
              <p:nvPr/>
            </p:nvSpPr>
            <p:spPr>
              <a:xfrm>
                <a:off x="0" y="1"/>
                <a:ext cx="20000" cy="4969"/>
              </a:xfrm>
              <a:prstGeom prst="ellipse">
                <a:avLst/>
              </a:prstGeom>
              <a:noFill/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7" name="Group 182412"/>
            <p:cNvGrpSpPr/>
            <p:nvPr/>
          </p:nvGrpSpPr>
          <p:grpSpPr>
            <a:xfrm>
              <a:off x="2775" y="2841"/>
              <a:ext cx="487" cy="195"/>
              <a:chOff x="0" y="1"/>
              <a:chExt cx="20000" cy="19999"/>
            </a:xfrm>
          </p:grpSpPr>
          <p:grpSp>
            <p:nvGrpSpPr>
              <p:cNvPr id="28" name="Group 182413"/>
              <p:cNvGrpSpPr/>
              <p:nvPr/>
            </p:nvGrpSpPr>
            <p:grpSpPr>
              <a:xfrm>
                <a:off x="18" y="42"/>
                <a:ext cx="19982" cy="19958"/>
                <a:chOff x="0" y="2"/>
                <a:chExt cx="20000" cy="19998"/>
              </a:xfrm>
            </p:grpSpPr>
            <p:sp>
              <p:nvSpPr>
                <p:cNvPr id="182415" name="Oval 182414"/>
                <p:cNvSpPr/>
                <p:nvPr/>
              </p:nvSpPr>
              <p:spPr>
                <a:xfrm>
                  <a:off x="0" y="15021"/>
                  <a:ext cx="20000" cy="4979"/>
                </a:xfrm>
                <a:prstGeom prst="ellipse">
                  <a:avLst/>
                </a:prstGeom>
                <a:solidFill>
                  <a:srgbClr val="4DB3E6"/>
                </a:solidFill>
                <a:ln w="3175" cap="flat" cmpd="sng">
                  <a:solidFill>
                    <a:srgbClr val="4DB3E6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416" name="Freeform 182415"/>
                <p:cNvSpPr/>
                <p:nvPr/>
              </p:nvSpPr>
              <p:spPr>
                <a:xfrm>
                  <a:off x="18" y="2553"/>
                  <a:ext cx="19982" cy="1481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0000" h="20000">
                      <a:moveTo>
                        <a:pt x="19981" y="0"/>
                      </a:moveTo>
                      <a:lnTo>
                        <a:pt x="19981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81" y="0"/>
                      </a:lnTo>
                      <a:close/>
                    </a:path>
                  </a:pathLst>
                </a:custGeom>
                <a:solidFill>
                  <a:srgbClr val="4DB3E6"/>
                </a:solidFill>
                <a:ln w="3175" cap="flat" cmpd="sng">
                  <a:solidFill>
                    <a:srgbClr val="4DB3E6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417" name="Oval 182416"/>
                <p:cNvSpPr/>
                <p:nvPr/>
              </p:nvSpPr>
              <p:spPr>
                <a:xfrm>
                  <a:off x="0" y="2"/>
                  <a:ext cx="20000" cy="4979"/>
                </a:xfrm>
                <a:prstGeom prst="ellipse">
                  <a:avLst/>
                </a:prstGeom>
                <a:solidFill>
                  <a:srgbClr val="4DB3E6"/>
                </a:solidFill>
                <a:ln w="3175" cap="flat" cmpd="sng">
                  <a:solidFill>
                    <a:srgbClr val="4DB3E6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82418" name="Oval 182417"/>
              <p:cNvSpPr/>
              <p:nvPr/>
            </p:nvSpPr>
            <p:spPr>
              <a:xfrm>
                <a:off x="0" y="14949"/>
                <a:ext cx="19982" cy="4969"/>
              </a:xfrm>
              <a:prstGeom prst="ellipse">
                <a:avLst/>
              </a:prstGeom>
              <a:noFill/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419" name="Freeform 182418"/>
              <p:cNvSpPr/>
              <p:nvPr/>
            </p:nvSpPr>
            <p:spPr>
              <a:xfrm>
                <a:off x="18" y="2547"/>
                <a:ext cx="19964" cy="14784"/>
              </a:xfrm>
              <a:custGeom>
                <a:avLst/>
                <a:gdLst/>
                <a:ahLst/>
                <a:cxnLst/>
                <a:rect l="0" t="0" r="0" b="0"/>
                <a:pathLst>
                  <a:path w="20000" h="20000">
                    <a:moveTo>
                      <a:pt x="19981" y="0"/>
                    </a:moveTo>
                    <a:lnTo>
                      <a:pt x="19981" y="19944"/>
                    </a:lnTo>
                    <a:lnTo>
                      <a:pt x="0" y="19944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noFill/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420" name="Freeform 182419"/>
              <p:cNvSpPr/>
              <p:nvPr/>
            </p:nvSpPr>
            <p:spPr>
              <a:xfrm>
                <a:off x="203" y="14949"/>
                <a:ext cx="19594" cy="2669"/>
              </a:xfrm>
              <a:custGeom>
                <a:avLst/>
                <a:gdLst/>
                <a:ahLst/>
                <a:cxnLst/>
                <a:rect l="0" t="0" r="0" b="0"/>
                <a:pathLst>
                  <a:path w="20000" h="20000">
                    <a:moveTo>
                      <a:pt x="19981" y="0"/>
                    </a:moveTo>
                    <a:lnTo>
                      <a:pt x="19981" y="19692"/>
                    </a:lnTo>
                    <a:lnTo>
                      <a:pt x="0" y="19692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solidFill>
                <a:srgbClr val="4DB3E6"/>
              </a:solidFill>
              <a:ln w="3175" cap="flat" cmpd="sng">
                <a:solidFill>
                  <a:srgbClr val="4DB3E6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421" name="Rectangle 182420"/>
              <p:cNvSpPr/>
              <p:nvPr/>
            </p:nvSpPr>
            <p:spPr>
              <a:xfrm>
                <a:off x="5176" y="6489"/>
                <a:ext cx="9630" cy="1154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/>
              <a:lstStyle/>
              <a:p>
                <a:pPr eaLnBrk="1" hangingPunct="1"/>
                <a:r>
                  <a:rPr sz="1000">
                    <a:solidFill>
                      <a:srgbClr val="000000"/>
                    </a:solidFill>
                    <a:latin typeface="Times New Roman" panose="02020603050405020304" pitchFamily="18" charset="0"/>
                    <a:ea typeface="Mincho" charset="-128"/>
                  </a:rPr>
                  <a:t>Disk</a:t>
                </a:r>
                <a:endParaRPr sz="12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  <a:p>
                <a:endParaRPr sz="2400">
                  <a:latin typeface="Times New Roman" panose="02020603050405020304" pitchFamily="18" charset="0"/>
                  <a:ea typeface="Mincho" charset="-128"/>
                </a:endParaRPr>
              </a:p>
            </p:txBody>
          </p:sp>
          <p:sp>
            <p:nvSpPr>
              <p:cNvPr id="182422" name="Freeform 182421"/>
              <p:cNvSpPr/>
              <p:nvPr/>
            </p:nvSpPr>
            <p:spPr>
              <a:xfrm>
                <a:off x="166" y="2095"/>
                <a:ext cx="19742" cy="2752"/>
              </a:xfrm>
              <a:custGeom>
                <a:avLst/>
                <a:gdLst/>
                <a:ahLst/>
                <a:cxnLst/>
                <a:rect l="0" t="0" r="0" b="0"/>
                <a:pathLst>
                  <a:path w="20000" h="20000">
                    <a:moveTo>
                      <a:pt x="19981" y="0"/>
                    </a:moveTo>
                    <a:lnTo>
                      <a:pt x="19981" y="19701"/>
                    </a:lnTo>
                    <a:lnTo>
                      <a:pt x="0" y="19701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solidFill>
                <a:srgbClr val="4DB3E6"/>
              </a:solidFill>
              <a:ln w="3175" cap="flat" cmpd="sng">
                <a:solidFill>
                  <a:srgbClr val="4DB3E6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423" name="Oval 182422"/>
              <p:cNvSpPr/>
              <p:nvPr/>
            </p:nvSpPr>
            <p:spPr>
              <a:xfrm>
                <a:off x="0" y="1"/>
                <a:ext cx="19982" cy="4969"/>
              </a:xfrm>
              <a:prstGeom prst="ellipse">
                <a:avLst/>
              </a:prstGeom>
              <a:noFill/>
              <a:ln w="31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82424" name="Freeform 182423"/>
            <p:cNvSpPr/>
            <p:nvPr/>
          </p:nvSpPr>
          <p:spPr>
            <a:xfrm>
              <a:off x="3018" y="2669"/>
              <a:ext cx="0" cy="192"/>
            </a:xfrm>
            <a:custGeom>
              <a:avLst/>
              <a:gdLst/>
              <a:ahLst/>
              <a:cxnLst/>
              <a:rect l="0" t="0" r="0" b="0"/>
              <a:pathLst>
                <a:path w="20000" h="20000">
                  <a:moveTo>
                    <a:pt x="0" y="0"/>
                  </a:moveTo>
                  <a:lnTo>
                    <a:pt x="0" y="19958"/>
                  </a:lnTo>
                </a:path>
              </a:pathLst>
            </a:custGeom>
            <a:noFill/>
            <a:ln w="3175" cap="flat" cmpd="sng">
              <a:solidFill>
                <a:srgbClr val="000000"/>
              </a:solidFill>
              <a:prstDash val="solid"/>
              <a:headEnd type="triangle" w="med" len="sm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spcBef>
                <a:spcPct val="50000"/>
              </a:spcBef>
            </a:pPr>
            <a:fld id="{9A0DB2DC-4C9A-4742-B13C-FB6460FD3503}" type="slidenum">
              <a:rPr lang="en-US">
                <a:latin typeface="Times New Roman" panose="02020603050405020304" pitchFamily="18" charset="0"/>
              </a:rPr>
              <a:pPr lvl="0" eaLnBrk="0" hangingPunct="0">
                <a:spcBef>
                  <a:spcPct val="50000"/>
                </a:spcBef>
              </a:pPr>
              <a:t>25</a:t>
            </a:fld>
            <a:endParaRPr 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Title 23347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b="1"/>
              <a:t>Basics of a Typical C++ Environment</a:t>
            </a:r>
          </a:p>
        </p:txBody>
      </p:sp>
      <p:sp>
        <p:nvSpPr>
          <p:cNvPr id="233475" name="Text Placeholder 23347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Common Input/output functions</a:t>
            </a:r>
          </a:p>
          <a:p>
            <a:pPr lvl="1"/>
            <a:r>
              <a:rPr lang="en-US" b="1" dirty="0" smtClean="0">
                <a:solidFill>
                  <a:srgbClr val="009999"/>
                </a:solidFill>
                <a:latin typeface="Courier New" panose="02070309020205020404" pitchFamily="49" charset="0"/>
              </a:rPr>
              <a:t>c</a:t>
            </a:r>
            <a:r>
              <a:rPr b="1" smtClean="0">
                <a:solidFill>
                  <a:srgbClr val="009999"/>
                </a:solidFill>
                <a:latin typeface="Courier New" panose="02070309020205020404" pitchFamily="49" charset="0"/>
              </a:rPr>
              <a:t>in</a:t>
            </a:r>
            <a:r>
              <a:rPr lang="en-US" b="1" dirty="0" smtClean="0">
                <a:solidFill>
                  <a:srgbClr val="009999"/>
                </a:solidFill>
                <a:latin typeface="Courier New" panose="02070309020205020404" pitchFamily="49" charset="0"/>
              </a:rPr>
              <a:t> (See-in)</a:t>
            </a:r>
            <a:endParaRPr b="1">
              <a:solidFill>
                <a:srgbClr val="009999"/>
              </a:solidFill>
              <a:latin typeface="Courier New" panose="02070309020205020404" pitchFamily="49" charset="0"/>
            </a:endParaRPr>
          </a:p>
          <a:p>
            <a:pPr lvl="2"/>
            <a:r>
              <a:t>Standard input stream</a:t>
            </a:r>
          </a:p>
          <a:p>
            <a:pPr lvl="2"/>
            <a:r>
              <a:t>Normally keyboard</a:t>
            </a:r>
          </a:p>
          <a:p>
            <a:pPr lvl="1"/>
            <a:r>
              <a:rPr lang="en-US" b="1" dirty="0" smtClean="0">
                <a:solidFill>
                  <a:srgbClr val="009999"/>
                </a:solidFill>
                <a:latin typeface="Courier New" panose="02070309020205020404" pitchFamily="49" charset="0"/>
              </a:rPr>
              <a:t>c</a:t>
            </a:r>
            <a:r>
              <a:rPr b="1" smtClean="0">
                <a:solidFill>
                  <a:srgbClr val="009999"/>
                </a:solidFill>
                <a:latin typeface="Courier New" panose="02070309020205020404" pitchFamily="49" charset="0"/>
              </a:rPr>
              <a:t>out</a:t>
            </a:r>
            <a:r>
              <a:rPr lang="en-US" b="1" dirty="0" smtClean="0">
                <a:solidFill>
                  <a:srgbClr val="009999"/>
                </a:solidFill>
                <a:latin typeface="Courier New" panose="02070309020205020404" pitchFamily="49" charset="0"/>
              </a:rPr>
              <a:t> (See-out)</a:t>
            </a:r>
            <a:endParaRPr b="1">
              <a:solidFill>
                <a:srgbClr val="009999"/>
              </a:solidFill>
              <a:latin typeface="Courier New" panose="02070309020205020404" pitchFamily="49" charset="0"/>
            </a:endParaRPr>
          </a:p>
          <a:p>
            <a:pPr lvl="2"/>
            <a:r>
              <a:t>Standard output stream</a:t>
            </a:r>
          </a:p>
          <a:p>
            <a:pPr lvl="2"/>
            <a:r>
              <a:t>Normally computer screen</a:t>
            </a:r>
          </a:p>
          <a:p>
            <a:pPr lvl="1"/>
            <a:r>
              <a:rPr lang="en-US" b="1" dirty="0" smtClean="0">
                <a:solidFill>
                  <a:srgbClr val="009999"/>
                </a:solidFill>
                <a:latin typeface="Courier New" panose="02070309020205020404" pitchFamily="49" charset="0"/>
              </a:rPr>
              <a:t>c</a:t>
            </a:r>
            <a:r>
              <a:rPr b="1" smtClean="0">
                <a:solidFill>
                  <a:srgbClr val="009999"/>
                </a:solidFill>
                <a:latin typeface="Courier New" panose="02070309020205020404" pitchFamily="49" charset="0"/>
              </a:rPr>
              <a:t>err</a:t>
            </a:r>
            <a:r>
              <a:rPr lang="en-US" b="1" dirty="0" smtClean="0">
                <a:solidFill>
                  <a:srgbClr val="009999"/>
                </a:solidFill>
                <a:latin typeface="Courier New" panose="02070309020205020404" pitchFamily="49" charset="0"/>
              </a:rPr>
              <a:t> (See-err)</a:t>
            </a:r>
            <a:endParaRPr b="1">
              <a:solidFill>
                <a:srgbClr val="009999"/>
              </a:solidFill>
              <a:latin typeface="Courier New" panose="02070309020205020404" pitchFamily="49" charset="0"/>
            </a:endParaRPr>
          </a:p>
          <a:p>
            <a:pPr lvl="2"/>
            <a:r>
              <a:t>Standard error stream</a:t>
            </a:r>
          </a:p>
          <a:p>
            <a:pPr lvl="2"/>
            <a:r>
              <a:t>Display error messages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spcBef>
                <a:spcPct val="50000"/>
              </a:spcBef>
            </a:pPr>
            <a:fld id="{9A0DB2DC-4C9A-4742-B13C-FB6460FD3503}" type="slidenum">
              <a:rPr lang="en-US">
                <a:latin typeface="Times New Roman" panose="02020603050405020304" pitchFamily="18" charset="0"/>
              </a:rPr>
              <a:pPr lvl="0" eaLnBrk="0" hangingPunct="0">
                <a:spcBef>
                  <a:spcPct val="50000"/>
                </a:spcBef>
              </a:pPr>
              <a:t>26</a:t>
            </a:fld>
            <a:endParaRPr 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Title 236545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b="1"/>
              <a:t>A Simple Program: Printing a Line of Text</a:t>
            </a:r>
          </a:p>
        </p:txBody>
      </p:sp>
      <p:sp>
        <p:nvSpPr>
          <p:cNvPr id="236547" name="Text Placeholder 23654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Before writing the programs</a:t>
            </a:r>
          </a:p>
          <a:p>
            <a:pPr lvl="1"/>
            <a:r>
              <a:rPr b="1" dirty="0"/>
              <a:t>Comments</a:t>
            </a:r>
          </a:p>
          <a:p>
            <a:pPr lvl="2"/>
            <a:r>
              <a:rPr dirty="0"/>
              <a:t>Document programs</a:t>
            </a:r>
          </a:p>
          <a:p>
            <a:pPr lvl="2"/>
            <a:r>
              <a:rPr dirty="0"/>
              <a:t>Improve program readability</a:t>
            </a:r>
          </a:p>
          <a:p>
            <a:pPr lvl="2"/>
            <a:r>
              <a:rPr dirty="0"/>
              <a:t>Ignored by compiler</a:t>
            </a:r>
          </a:p>
          <a:p>
            <a:pPr lvl="2"/>
            <a:r>
              <a:rPr dirty="0"/>
              <a:t>Single-line </a:t>
            </a:r>
            <a:r>
              <a:rPr dirty="0" smtClean="0"/>
              <a:t>comment</a:t>
            </a:r>
            <a:endParaRPr lang="en-US" dirty="0" smtClean="0"/>
          </a:p>
          <a:p>
            <a:pPr lvl="3"/>
            <a:r>
              <a:rPr lang="en-US" dirty="0" smtClean="0"/>
              <a:t>Begin with </a:t>
            </a:r>
            <a:r>
              <a:rPr lang="en-US" b="1" dirty="0" smtClean="0">
                <a:latin typeface="Courier New" panose="02070309020205020404" pitchFamily="49" charset="0"/>
              </a:rPr>
              <a:t>//</a:t>
            </a:r>
          </a:p>
          <a:p>
            <a:pPr lvl="2"/>
            <a:r>
              <a:rPr lang="en-US" dirty="0" smtClean="0"/>
              <a:t>Multiple-line comment</a:t>
            </a:r>
          </a:p>
          <a:p>
            <a:pPr lvl="3"/>
            <a:r>
              <a:rPr lang="en-US" dirty="0" smtClean="0"/>
              <a:t>Begin with /* and end with */</a:t>
            </a:r>
          </a:p>
          <a:p>
            <a:pPr lvl="3"/>
            <a:r>
              <a:rPr lang="en-US" b="1" dirty="0" smtClean="0"/>
              <a:t>/* … */</a:t>
            </a:r>
            <a:endParaRPr b="1" dirty="0"/>
          </a:p>
          <a:p>
            <a:pPr lvl="1"/>
            <a:r>
              <a:rPr b="1" dirty="0" smtClean="0"/>
              <a:t>Preprocessor </a:t>
            </a:r>
            <a:r>
              <a:rPr b="1" dirty="0"/>
              <a:t>directives</a:t>
            </a:r>
          </a:p>
          <a:p>
            <a:pPr lvl="2"/>
            <a:r>
              <a:rPr dirty="0"/>
              <a:t>Processed by preprocessor before compiling</a:t>
            </a:r>
          </a:p>
          <a:p>
            <a:pPr lvl="2"/>
            <a:r>
              <a:rPr dirty="0"/>
              <a:t>Begin with </a:t>
            </a:r>
            <a:r>
              <a:rPr b="1" dirty="0">
                <a:latin typeface="Courier New" panose="02070309020205020404" pitchFamily="49" charset="0"/>
              </a:rPr>
              <a:t>#</a:t>
            </a:r>
          </a:p>
          <a:p>
            <a:pPr lvl="1">
              <a:buNone/>
            </a:pPr>
            <a:endParaRPr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spcBef>
                <a:spcPct val="50000"/>
              </a:spcBef>
            </a:pPr>
            <a:fld id="{9A0DB2DC-4C9A-4742-B13C-FB6460FD3503}" type="slidenum">
              <a:rPr lang="en-US">
                <a:latin typeface="Times New Roman" panose="02020603050405020304" pitchFamily="18" charset="0"/>
              </a:rPr>
              <a:pPr lvl="0" eaLnBrk="0" hangingPunct="0">
                <a:spcBef>
                  <a:spcPct val="50000"/>
                </a:spcBef>
              </a:pPr>
              <a:t>27</a:t>
            </a:fld>
            <a:endParaRPr 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Title 208897"/>
          <p:cNvSpPr>
            <a:spLocks noGrp="1"/>
          </p:cNvSpPr>
          <p:nvPr>
            <p:ph type="ctrTitle"/>
          </p:nvPr>
        </p:nvSpPr>
        <p:spPr/>
        <p:txBody>
          <a:bodyPr anchor="t"/>
          <a:lstStyle/>
          <a:p>
            <a:pPr defTabSz="914400">
              <a:buSzPct val="100000"/>
            </a:pPr>
            <a:r>
              <a:rPr kern="1200" baseline="0">
                <a:latin typeface="Times New Roman" panose="02020603050405020304" pitchFamily="18" charset="0"/>
              </a:rPr>
              <a:t>fig01_02.cpp</a:t>
            </a:r>
            <a:br>
              <a:rPr kern="1200" baseline="0">
                <a:latin typeface="Times New Roman" panose="02020603050405020304" pitchFamily="18" charset="0"/>
              </a:rPr>
            </a:br>
            <a:r>
              <a:rPr kern="1200" baseline="0">
                <a:latin typeface="Times New Roman" panose="02020603050405020304" pitchFamily="18" charset="0"/>
              </a:rPr>
              <a:t>(1 of 1)</a:t>
            </a:r>
            <a:br>
              <a:rPr kern="1200" baseline="0">
                <a:latin typeface="Times New Roman" panose="02020603050405020304" pitchFamily="18" charset="0"/>
              </a:rPr>
            </a:br>
            <a:r>
              <a:rPr kern="1200" baseline="0">
                <a:latin typeface="Times New Roman" panose="02020603050405020304" pitchFamily="18" charset="0"/>
              </a:rPr>
              <a:t/>
            </a:r>
            <a:br>
              <a:rPr kern="1200" baseline="0">
                <a:latin typeface="Times New Roman" panose="02020603050405020304" pitchFamily="18" charset="0"/>
              </a:rPr>
            </a:br>
            <a:r>
              <a:rPr kern="1200" baseline="0">
                <a:latin typeface="Times New Roman" panose="02020603050405020304" pitchFamily="18" charset="0"/>
              </a:rPr>
              <a:t>fig01_02.cpp</a:t>
            </a:r>
            <a:br>
              <a:rPr kern="1200" baseline="0">
                <a:latin typeface="Times New Roman" panose="02020603050405020304" pitchFamily="18" charset="0"/>
              </a:rPr>
            </a:br>
            <a:r>
              <a:rPr kern="1200" baseline="0">
                <a:latin typeface="Times New Roman" panose="02020603050405020304" pitchFamily="18" charset="0"/>
              </a:rPr>
              <a:t>output (1 of 1)</a:t>
            </a:r>
            <a:br>
              <a:rPr kern="1200" baseline="0">
                <a:latin typeface="Times New Roman" panose="02020603050405020304" pitchFamily="18" charset="0"/>
              </a:rPr>
            </a:br>
            <a:r>
              <a:rPr kern="1200" baseline="0">
                <a:latin typeface="Times New Roman" panose="02020603050405020304" pitchFamily="18" charset="0"/>
              </a:rPr>
              <a:t/>
            </a:r>
            <a:br>
              <a:rPr kern="1200" baseline="0">
                <a:latin typeface="Times New Roman" panose="02020603050405020304" pitchFamily="18" charset="0"/>
              </a:rPr>
            </a:br>
            <a:endParaRPr kern="1200" baseline="0">
              <a:latin typeface="Times New Roman" panose="02020603050405020304" pitchFamily="18" charset="0"/>
            </a:endParaRPr>
          </a:p>
        </p:txBody>
      </p:sp>
      <p:sp>
        <p:nvSpPr>
          <p:cNvPr id="208899" name="Subtitle 208898"/>
          <p:cNvSpPr>
            <a:spLocks noGrp="1"/>
          </p:cNvSpPr>
          <p:nvPr>
            <p:ph type="subTitle" idx="1"/>
          </p:nvPr>
        </p:nvSpPr>
        <p:spPr>
          <a:xfrm>
            <a:off x="0" y="0"/>
            <a:ext cx="7010400" cy="2900363"/>
          </a:xfrm>
        </p:spPr>
        <p:txBody>
          <a:bodyPr tIns="182880" bIns="182880" anchor="t"/>
          <a:lstStyle/>
          <a:p>
            <a:pPr defTabSz="914400">
              <a:buSzPct val="100000"/>
            </a:pPr>
            <a:r>
              <a:rPr kern="1200" baseline="0">
                <a:solidFill>
                  <a:srgbClr val="5F5F5F"/>
                </a:solidFill>
                <a:latin typeface="AvantGarde" pitchFamily="34" charset="0"/>
                <a:cs typeface="Times New Roman" panose="02020603050405020304" pitchFamily="18" charset="0"/>
              </a:rPr>
              <a:t>1      </a:t>
            </a:r>
            <a:r>
              <a:rPr kern="1200" baseline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Fig. 1.2: fig01_02.cpp</a:t>
            </a:r>
            <a:endParaRPr kern="1200" baseline="0">
              <a:solidFill>
                <a:srgbClr val="000000"/>
              </a:solidFill>
              <a:latin typeface="Courier" pitchFamily="49" charset="0"/>
              <a:cs typeface="Times New Roman" panose="02020603050405020304" pitchFamily="18" charset="0"/>
            </a:endParaRPr>
          </a:p>
          <a:p>
            <a:pPr defTabSz="914400">
              <a:buSzPct val="100000"/>
            </a:pPr>
            <a:r>
              <a:rPr kern="1200" baseline="0">
                <a:solidFill>
                  <a:srgbClr val="5F5F5F"/>
                </a:solidFill>
                <a:latin typeface="AvantGarde" pitchFamily="34" charset="0"/>
                <a:cs typeface="Times New Roman" panose="02020603050405020304" pitchFamily="18" charset="0"/>
              </a:rPr>
              <a:t>2      </a:t>
            </a:r>
            <a:r>
              <a:rPr kern="1200" baseline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 first program in C++.</a:t>
            </a:r>
            <a:endParaRPr kern="1200" baseline="0">
              <a:solidFill>
                <a:srgbClr val="000000"/>
              </a:solidFill>
              <a:latin typeface="Courier" pitchFamily="49" charset="0"/>
              <a:cs typeface="Times New Roman" panose="02020603050405020304" pitchFamily="18" charset="0"/>
            </a:endParaRPr>
          </a:p>
          <a:p>
            <a:pPr defTabSz="914400">
              <a:buSzPct val="100000"/>
            </a:pPr>
            <a:r>
              <a:rPr kern="1200" baseline="0">
                <a:solidFill>
                  <a:srgbClr val="5F5F5F"/>
                </a:solidFill>
                <a:latin typeface="AvantGarde" pitchFamily="34" charset="0"/>
                <a:cs typeface="Times New Roman" panose="02020603050405020304" pitchFamily="18" charset="0"/>
              </a:rPr>
              <a:t>3      </a:t>
            </a:r>
            <a:r>
              <a:rPr kern="1200" baseline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kern="1200" baseline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&lt;iostream</a:t>
            </a:r>
            <a:r>
              <a:rPr kern="1200" baseline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kern="1200" baseline="0">
              <a:solidFill>
                <a:srgbClr val="000000"/>
              </a:solidFill>
              <a:latin typeface="Courier" pitchFamily="49" charset="0"/>
              <a:cs typeface="Times New Roman" panose="02020603050405020304" pitchFamily="18" charset="0"/>
            </a:endParaRPr>
          </a:p>
          <a:p>
            <a:pPr defTabSz="914400">
              <a:buSzPct val="100000"/>
            </a:pPr>
            <a:r>
              <a:rPr kern="1200" baseline="0">
                <a:solidFill>
                  <a:srgbClr val="5F5F5F"/>
                </a:solidFill>
                <a:latin typeface="AvantGarde" pitchFamily="34" charset="0"/>
                <a:cs typeface="Times New Roman" panose="02020603050405020304" pitchFamily="18" charset="0"/>
              </a:rPr>
              <a:t>4      </a:t>
            </a:r>
            <a:endParaRPr kern="1200" baseline="0">
              <a:solidFill>
                <a:srgbClr val="000000"/>
              </a:solidFill>
              <a:latin typeface="Courier" pitchFamily="49" charset="0"/>
              <a:cs typeface="Times New Roman" panose="02020603050405020304" pitchFamily="18" charset="0"/>
            </a:endParaRPr>
          </a:p>
          <a:p>
            <a:pPr defTabSz="914400">
              <a:buSzPct val="100000"/>
            </a:pPr>
            <a:r>
              <a:rPr kern="1200" baseline="0">
                <a:solidFill>
                  <a:srgbClr val="5F5F5F"/>
                </a:solidFill>
                <a:latin typeface="AvantGarde" pitchFamily="34" charset="0"/>
                <a:cs typeface="Times New Roman" panose="02020603050405020304" pitchFamily="18" charset="0"/>
              </a:rPr>
              <a:t>5      </a:t>
            </a:r>
            <a:r>
              <a:rPr kern="1200" baseline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function main begins program execution</a:t>
            </a:r>
            <a:endParaRPr kern="1200" baseline="0">
              <a:solidFill>
                <a:srgbClr val="000000"/>
              </a:solidFill>
              <a:latin typeface="Courier" pitchFamily="49" charset="0"/>
              <a:cs typeface="Times New Roman" panose="02020603050405020304" pitchFamily="18" charset="0"/>
            </a:endParaRPr>
          </a:p>
          <a:p>
            <a:pPr defTabSz="914400">
              <a:buSzPct val="100000"/>
            </a:pPr>
            <a:r>
              <a:rPr kern="1200" baseline="0">
                <a:solidFill>
                  <a:srgbClr val="5F5F5F"/>
                </a:solidFill>
                <a:latin typeface="AvantGarde" pitchFamily="34" charset="0"/>
                <a:cs typeface="Times New Roman" panose="02020603050405020304" pitchFamily="18" charset="0"/>
              </a:rPr>
              <a:t>6      </a:t>
            </a:r>
            <a:r>
              <a:rPr kern="1200" baseline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ern="1200" baseline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  <a:endParaRPr kern="1200" baseline="0">
              <a:solidFill>
                <a:srgbClr val="000000"/>
              </a:solidFill>
              <a:latin typeface="Courier" pitchFamily="49" charset="0"/>
              <a:cs typeface="Times New Roman" panose="02020603050405020304" pitchFamily="18" charset="0"/>
            </a:endParaRPr>
          </a:p>
          <a:p>
            <a:pPr defTabSz="914400">
              <a:buSzPct val="100000"/>
            </a:pPr>
            <a:r>
              <a:rPr kern="1200" baseline="0">
                <a:solidFill>
                  <a:srgbClr val="5F5F5F"/>
                </a:solidFill>
                <a:latin typeface="AvantGarde" pitchFamily="34" charset="0"/>
                <a:cs typeface="Times New Roman" panose="02020603050405020304" pitchFamily="18" charset="0"/>
              </a:rPr>
              <a:t>7      </a:t>
            </a:r>
            <a:r>
              <a:rPr kern="1200" baseline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kern="1200" baseline="0">
              <a:solidFill>
                <a:srgbClr val="000000"/>
              </a:solidFill>
              <a:latin typeface="Courier" pitchFamily="49" charset="0"/>
              <a:cs typeface="Times New Roman" panose="02020603050405020304" pitchFamily="18" charset="0"/>
            </a:endParaRPr>
          </a:p>
          <a:p>
            <a:pPr defTabSz="914400">
              <a:buSzPct val="100000"/>
            </a:pPr>
            <a:r>
              <a:rPr kern="1200" baseline="0">
                <a:solidFill>
                  <a:srgbClr val="5F5F5F"/>
                </a:solidFill>
                <a:latin typeface="AvantGarde" pitchFamily="34" charset="0"/>
                <a:cs typeface="Times New Roman" panose="02020603050405020304" pitchFamily="18" charset="0"/>
              </a:rPr>
              <a:t>8      </a:t>
            </a:r>
            <a:r>
              <a:rPr kern="1200" baseline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std::cout</a:t>
            </a:r>
            <a:r>
              <a:rPr kern="1200" baseline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kern="1200" baseline="0">
                <a:solidFill>
                  <a:srgbClr val="0099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"Welcome to C++!\n"</a:t>
            </a:r>
            <a:r>
              <a:rPr kern="1200" baseline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kern="1200" baseline="0">
              <a:solidFill>
                <a:srgbClr val="000000"/>
              </a:solidFill>
              <a:latin typeface="Courier" pitchFamily="49" charset="0"/>
              <a:cs typeface="Times New Roman" panose="02020603050405020304" pitchFamily="18" charset="0"/>
            </a:endParaRPr>
          </a:p>
          <a:p>
            <a:pPr defTabSz="914400">
              <a:buSzPct val="100000"/>
            </a:pPr>
            <a:r>
              <a:rPr kern="1200" baseline="0">
                <a:solidFill>
                  <a:srgbClr val="5F5F5F"/>
                </a:solidFill>
                <a:latin typeface="AvantGarde" pitchFamily="34" charset="0"/>
                <a:cs typeface="Times New Roman" panose="02020603050405020304" pitchFamily="18" charset="0"/>
              </a:rPr>
              <a:t>9      </a:t>
            </a:r>
            <a:endParaRPr kern="1200" baseline="0">
              <a:solidFill>
                <a:srgbClr val="000000"/>
              </a:solidFill>
              <a:latin typeface="Courier" pitchFamily="49" charset="0"/>
              <a:cs typeface="Times New Roman" panose="02020603050405020304" pitchFamily="18" charset="0"/>
            </a:endParaRPr>
          </a:p>
          <a:p>
            <a:pPr defTabSz="914400">
              <a:buSzPct val="100000"/>
            </a:pPr>
            <a:r>
              <a:rPr kern="1200" baseline="0">
                <a:solidFill>
                  <a:srgbClr val="5F5F5F"/>
                </a:solidFill>
                <a:latin typeface="AvantGarde" pitchFamily="34" charset="0"/>
                <a:cs typeface="Times New Roman" panose="02020603050405020304" pitchFamily="18" charset="0"/>
              </a:rPr>
              <a:t>10    </a:t>
            </a:r>
            <a:r>
              <a:rPr kern="1200" baseline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kern="1200" baseline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ern="1200" baseline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ern="1200" baseline="0">
                <a:solidFill>
                  <a:srgbClr val="0099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kern="1200" baseline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  </a:t>
            </a:r>
            <a:r>
              <a:rPr kern="1200" baseline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indicate that program ended successfully</a:t>
            </a:r>
            <a:endParaRPr kern="1200" baseline="0">
              <a:solidFill>
                <a:srgbClr val="000000"/>
              </a:solidFill>
              <a:latin typeface="Courier" pitchFamily="49" charset="0"/>
              <a:cs typeface="Times New Roman" panose="02020603050405020304" pitchFamily="18" charset="0"/>
            </a:endParaRPr>
          </a:p>
          <a:p>
            <a:pPr defTabSz="914400">
              <a:buSzPct val="100000"/>
            </a:pPr>
            <a:r>
              <a:rPr kern="1200" baseline="0">
                <a:solidFill>
                  <a:srgbClr val="5F5F5F"/>
                </a:solidFill>
                <a:latin typeface="AvantGarde" pitchFamily="34" charset="0"/>
                <a:cs typeface="Times New Roman" panose="02020603050405020304" pitchFamily="18" charset="0"/>
              </a:rPr>
              <a:t>11    </a:t>
            </a:r>
            <a:endParaRPr kern="1200" baseline="0">
              <a:solidFill>
                <a:srgbClr val="000000"/>
              </a:solidFill>
              <a:latin typeface="Courier" pitchFamily="49" charset="0"/>
              <a:cs typeface="Times New Roman" panose="02020603050405020304" pitchFamily="18" charset="0"/>
            </a:endParaRPr>
          </a:p>
          <a:p>
            <a:pPr defTabSz="914400">
              <a:buSzPct val="100000"/>
            </a:pPr>
            <a:r>
              <a:rPr kern="1200" baseline="0">
                <a:solidFill>
                  <a:srgbClr val="5F5F5F"/>
                </a:solidFill>
                <a:latin typeface="AvantGarde" pitchFamily="34" charset="0"/>
                <a:cs typeface="Times New Roman" panose="02020603050405020304" pitchFamily="18" charset="0"/>
              </a:rPr>
              <a:t>12    </a:t>
            </a:r>
            <a:r>
              <a:rPr kern="1200" baseline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kern="1200" baseline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end function main</a:t>
            </a:r>
            <a:endParaRPr kern="1200" baseline="0">
              <a:solidFill>
                <a:srgbClr val="000000"/>
              </a:solidFill>
              <a:latin typeface="Courier" pitchFamily="49" charset="0"/>
              <a:cs typeface="Times New Roman" panose="02020603050405020304" pitchFamily="18" charset="0"/>
            </a:endParaRPr>
          </a:p>
          <a:p>
            <a:pPr defTabSz="914400">
              <a:buSzPct val="100000"/>
            </a:pPr>
            <a:endParaRPr kern="1200" baseline="0">
              <a:latin typeface="Courier New" panose="02070309020205020404" pitchFamily="49" charset="0"/>
            </a:endParaRPr>
          </a:p>
        </p:txBody>
      </p:sp>
      <p:sp>
        <p:nvSpPr>
          <p:cNvPr id="208900" name="Rectangle 208899"/>
          <p:cNvSpPr/>
          <p:nvPr/>
        </p:nvSpPr>
        <p:spPr>
          <a:xfrm>
            <a:off x="0" y="2895600"/>
            <a:ext cx="7010400" cy="533400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 tIns="182880" bIns="182880"/>
          <a:lstStyle/>
          <a:p>
            <a:pPr eaLnBrk="1" hangingPunct="1">
              <a:spcBef>
                <a:spcPct val="20000"/>
              </a:spcBef>
            </a:pPr>
            <a:r>
              <a:rPr sz="1200" b="1">
                <a:latin typeface="Courier New" panose="02070309020205020404" pitchFamily="49" charset="0"/>
              </a:rPr>
              <a:t>Welcome to C++! </a:t>
            </a:r>
          </a:p>
        </p:txBody>
      </p:sp>
      <p:grpSp>
        <p:nvGrpSpPr>
          <p:cNvPr id="208904" name="Group 208903"/>
          <p:cNvGrpSpPr/>
          <p:nvPr/>
        </p:nvGrpSpPr>
        <p:grpSpPr>
          <a:xfrm>
            <a:off x="2971800" y="228600"/>
            <a:ext cx="3505200" cy="346075"/>
            <a:chOff x="960" y="1776"/>
            <a:chExt cx="2208" cy="218"/>
          </a:xfrm>
        </p:grpSpPr>
        <p:sp>
          <p:nvSpPr>
            <p:cNvPr id="208901" name="Text Box 208900"/>
            <p:cNvSpPr txBox="1"/>
            <p:nvPr/>
          </p:nvSpPr>
          <p:spPr>
            <a:xfrm>
              <a:off x="1872" y="1776"/>
              <a:ext cx="1296" cy="218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r>
                <a:rPr sz="1600">
                  <a:latin typeface="Times New Roman" panose="02020603050405020304" pitchFamily="18" charset="0"/>
                </a:rPr>
                <a:t>Single-line comments.</a:t>
              </a:r>
            </a:p>
          </p:txBody>
        </p:sp>
        <p:sp>
          <p:nvSpPr>
            <p:cNvPr id="208902" name="Straight Connector 208901"/>
            <p:cNvSpPr/>
            <p:nvPr/>
          </p:nvSpPr>
          <p:spPr>
            <a:xfrm flipH="1" flipV="1">
              <a:off x="960" y="1824"/>
              <a:ext cx="912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8903" name="Straight Connector 208902"/>
            <p:cNvSpPr/>
            <p:nvPr/>
          </p:nvSpPr>
          <p:spPr>
            <a:xfrm flipH="1">
              <a:off x="960" y="1872"/>
              <a:ext cx="912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208907" name="Group 208906"/>
          <p:cNvGrpSpPr/>
          <p:nvPr/>
        </p:nvGrpSpPr>
        <p:grpSpPr>
          <a:xfrm>
            <a:off x="2209800" y="665163"/>
            <a:ext cx="4114800" cy="835025"/>
            <a:chOff x="1392" y="419"/>
            <a:chExt cx="2592" cy="526"/>
          </a:xfrm>
        </p:grpSpPr>
        <p:sp>
          <p:nvSpPr>
            <p:cNvPr id="208905" name="Text Box 208904"/>
            <p:cNvSpPr txBox="1"/>
            <p:nvPr/>
          </p:nvSpPr>
          <p:spPr>
            <a:xfrm>
              <a:off x="2304" y="419"/>
              <a:ext cx="1680" cy="526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r>
                <a:rPr sz="1600">
                  <a:latin typeface="Times New Roman" panose="02020603050405020304" pitchFamily="18" charset="0"/>
                </a:rPr>
                <a:t>Preprocessor directive to include input/output stream header file </a:t>
              </a:r>
              <a:r>
                <a:rPr sz="1600" b="1" err="1">
                  <a:latin typeface="Courier New" panose="02070309020205020404" pitchFamily="49" charset="0"/>
                </a:rPr>
                <a:t>&lt;iostream</a:t>
              </a:r>
              <a:r>
                <a:rPr sz="1600" b="1">
                  <a:latin typeface="Courier New" panose="02070309020205020404" pitchFamily="49" charset="0"/>
                </a:rPr>
                <a:t>&gt;</a:t>
              </a:r>
              <a:r>
                <a:rPr sz="1600">
                  <a:latin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208906" name="Straight Connector 208905"/>
            <p:cNvSpPr/>
            <p:nvPr/>
          </p:nvSpPr>
          <p:spPr>
            <a:xfrm flipH="1" flipV="1">
              <a:off x="1392" y="467"/>
              <a:ext cx="912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208910" name="Group 208909"/>
          <p:cNvGrpSpPr/>
          <p:nvPr/>
        </p:nvGrpSpPr>
        <p:grpSpPr>
          <a:xfrm>
            <a:off x="1447800" y="993775"/>
            <a:ext cx="4114800" cy="835025"/>
            <a:chOff x="864" y="624"/>
            <a:chExt cx="2592" cy="526"/>
          </a:xfrm>
        </p:grpSpPr>
        <p:sp>
          <p:nvSpPr>
            <p:cNvPr id="208908" name="Text Box 208907"/>
            <p:cNvSpPr txBox="1"/>
            <p:nvPr/>
          </p:nvSpPr>
          <p:spPr>
            <a:xfrm>
              <a:off x="1776" y="624"/>
              <a:ext cx="1680" cy="526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r>
                <a:rPr sz="1600">
                  <a:latin typeface="Times New Roman" panose="02020603050405020304" pitchFamily="18" charset="0"/>
                </a:rPr>
                <a:t>Function </a:t>
              </a:r>
              <a:r>
                <a:rPr sz="1600" b="1">
                  <a:latin typeface="Courier New" panose="02070309020205020404" pitchFamily="49" charset="0"/>
                </a:rPr>
                <a:t>main</a:t>
              </a:r>
              <a:r>
                <a:rPr sz="1600">
                  <a:latin typeface="Times New Roman" panose="02020603050405020304" pitchFamily="18" charset="0"/>
                </a:rPr>
                <a:t> appears exactly once in every C++ program..</a:t>
              </a:r>
            </a:p>
          </p:txBody>
        </p:sp>
        <p:sp>
          <p:nvSpPr>
            <p:cNvPr id="208909" name="Straight Connector 208908"/>
            <p:cNvSpPr/>
            <p:nvPr/>
          </p:nvSpPr>
          <p:spPr>
            <a:xfrm flipH="1">
              <a:off x="864" y="720"/>
              <a:ext cx="912" cy="12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208913" name="Group 208912"/>
          <p:cNvGrpSpPr/>
          <p:nvPr/>
        </p:nvGrpSpPr>
        <p:grpSpPr>
          <a:xfrm>
            <a:off x="533400" y="457200"/>
            <a:ext cx="4114800" cy="838200"/>
            <a:chOff x="336" y="288"/>
            <a:chExt cx="2592" cy="528"/>
          </a:xfrm>
        </p:grpSpPr>
        <p:sp>
          <p:nvSpPr>
            <p:cNvPr id="208911" name="Text Box 208910"/>
            <p:cNvSpPr txBox="1"/>
            <p:nvPr/>
          </p:nvSpPr>
          <p:spPr>
            <a:xfrm>
              <a:off x="1248" y="288"/>
              <a:ext cx="1680" cy="372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r>
                <a:rPr sz="1600">
                  <a:latin typeface="Times New Roman" panose="02020603050405020304" pitchFamily="18" charset="0"/>
                </a:rPr>
                <a:t>Function </a:t>
              </a:r>
              <a:r>
                <a:rPr sz="1600" b="1">
                  <a:latin typeface="Courier New" panose="02070309020205020404" pitchFamily="49" charset="0"/>
                </a:rPr>
                <a:t>main</a:t>
              </a:r>
              <a:r>
                <a:rPr sz="1600">
                  <a:latin typeface="Times New Roman" panose="02020603050405020304" pitchFamily="18" charset="0"/>
                </a:rPr>
                <a:t> returns an integer value.</a:t>
              </a:r>
            </a:p>
          </p:txBody>
        </p:sp>
        <p:sp>
          <p:nvSpPr>
            <p:cNvPr id="208912" name="Straight Connector 208911"/>
            <p:cNvSpPr/>
            <p:nvPr/>
          </p:nvSpPr>
          <p:spPr>
            <a:xfrm flipH="1">
              <a:off x="336" y="384"/>
              <a:ext cx="912" cy="4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208916" name="Group 208915"/>
          <p:cNvGrpSpPr/>
          <p:nvPr/>
        </p:nvGrpSpPr>
        <p:grpSpPr>
          <a:xfrm>
            <a:off x="609600" y="741363"/>
            <a:ext cx="4114800" cy="838200"/>
            <a:chOff x="384" y="467"/>
            <a:chExt cx="2592" cy="528"/>
          </a:xfrm>
        </p:grpSpPr>
        <p:sp>
          <p:nvSpPr>
            <p:cNvPr id="208914" name="Text Box 208913"/>
            <p:cNvSpPr txBox="1"/>
            <p:nvPr/>
          </p:nvSpPr>
          <p:spPr>
            <a:xfrm>
              <a:off x="1296" y="467"/>
              <a:ext cx="1680" cy="372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r>
                <a:rPr sz="1600">
                  <a:latin typeface="Times New Roman" panose="02020603050405020304" pitchFamily="18" charset="0"/>
                </a:rPr>
                <a:t>Left brace </a:t>
              </a:r>
              <a:r>
                <a:rPr sz="1600" b="1">
                  <a:latin typeface="Courier New" panose="02070309020205020404" pitchFamily="49" charset="0"/>
                </a:rPr>
                <a:t>{</a:t>
              </a:r>
              <a:r>
                <a:rPr sz="1600">
                  <a:latin typeface="Times New Roman" panose="02020603050405020304" pitchFamily="18" charset="0"/>
                </a:rPr>
                <a:t> begins function body.</a:t>
              </a:r>
            </a:p>
          </p:txBody>
        </p:sp>
        <p:sp>
          <p:nvSpPr>
            <p:cNvPr id="208915" name="Straight Connector 208914"/>
            <p:cNvSpPr/>
            <p:nvPr/>
          </p:nvSpPr>
          <p:spPr>
            <a:xfrm flipH="1">
              <a:off x="384" y="563"/>
              <a:ext cx="912" cy="4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208919" name="Group 208918"/>
          <p:cNvGrpSpPr/>
          <p:nvPr/>
        </p:nvGrpSpPr>
        <p:grpSpPr>
          <a:xfrm>
            <a:off x="533400" y="1828800"/>
            <a:ext cx="4114800" cy="838200"/>
            <a:chOff x="336" y="1152"/>
            <a:chExt cx="2592" cy="528"/>
          </a:xfrm>
        </p:grpSpPr>
        <p:sp>
          <p:nvSpPr>
            <p:cNvPr id="208917" name="Text Box 208916"/>
            <p:cNvSpPr txBox="1"/>
            <p:nvPr/>
          </p:nvSpPr>
          <p:spPr>
            <a:xfrm>
              <a:off x="1248" y="1152"/>
              <a:ext cx="1680" cy="372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r>
                <a:rPr sz="1600">
                  <a:latin typeface="Times New Roman" panose="02020603050405020304" pitchFamily="18" charset="0"/>
                </a:rPr>
                <a:t>Corresponding right brace </a:t>
              </a:r>
              <a:r>
                <a:rPr sz="1600" b="1">
                  <a:latin typeface="Courier New" panose="02070309020205020404" pitchFamily="49" charset="0"/>
                </a:rPr>
                <a:t>}</a:t>
              </a:r>
              <a:r>
                <a:rPr sz="1600">
                  <a:latin typeface="Times New Roman" panose="02020603050405020304" pitchFamily="18" charset="0"/>
                </a:rPr>
                <a:t> ends function body.</a:t>
              </a:r>
            </a:p>
          </p:txBody>
        </p:sp>
        <p:sp>
          <p:nvSpPr>
            <p:cNvPr id="208918" name="Straight Connector 208917"/>
            <p:cNvSpPr/>
            <p:nvPr/>
          </p:nvSpPr>
          <p:spPr>
            <a:xfrm flipH="1">
              <a:off x="336" y="1248"/>
              <a:ext cx="912" cy="4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208922" name="Group 208921"/>
          <p:cNvGrpSpPr/>
          <p:nvPr/>
        </p:nvGrpSpPr>
        <p:grpSpPr>
          <a:xfrm>
            <a:off x="3886200" y="990600"/>
            <a:ext cx="4114800" cy="838200"/>
            <a:chOff x="2976" y="660"/>
            <a:chExt cx="2592" cy="528"/>
          </a:xfrm>
        </p:grpSpPr>
        <p:sp>
          <p:nvSpPr>
            <p:cNvPr id="208920" name="Text Box 208919"/>
            <p:cNvSpPr txBox="1"/>
            <p:nvPr/>
          </p:nvSpPr>
          <p:spPr>
            <a:xfrm>
              <a:off x="3888" y="660"/>
              <a:ext cx="1680" cy="372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r>
                <a:rPr sz="1600">
                  <a:latin typeface="Times New Roman" panose="02020603050405020304" pitchFamily="18" charset="0"/>
                </a:rPr>
                <a:t>Statements end with a semicolon </a:t>
              </a:r>
              <a:r>
                <a:rPr sz="1600" b="1">
                  <a:latin typeface="Courier New" panose="02070309020205020404" pitchFamily="49" charset="0"/>
                </a:rPr>
                <a:t>;</a:t>
              </a:r>
              <a:r>
                <a:rPr sz="1600">
                  <a:latin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208921" name="Straight Connector 208920"/>
            <p:cNvSpPr/>
            <p:nvPr/>
          </p:nvSpPr>
          <p:spPr>
            <a:xfrm flipH="1">
              <a:off x="2976" y="756"/>
              <a:ext cx="912" cy="4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208925" name="Group 208924"/>
          <p:cNvGrpSpPr/>
          <p:nvPr/>
        </p:nvGrpSpPr>
        <p:grpSpPr>
          <a:xfrm>
            <a:off x="1066800" y="1920875"/>
            <a:ext cx="4114800" cy="990600"/>
            <a:chOff x="960" y="1524"/>
            <a:chExt cx="2592" cy="624"/>
          </a:xfrm>
        </p:grpSpPr>
        <p:sp>
          <p:nvSpPr>
            <p:cNvPr id="208923" name="Text Box 208922"/>
            <p:cNvSpPr txBox="1"/>
            <p:nvPr/>
          </p:nvSpPr>
          <p:spPr>
            <a:xfrm>
              <a:off x="1872" y="1776"/>
              <a:ext cx="1680" cy="372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r>
                <a:rPr sz="1600">
                  <a:latin typeface="Times New Roman" panose="02020603050405020304" pitchFamily="18" charset="0"/>
                </a:rPr>
                <a:t>Name </a:t>
              </a:r>
              <a:r>
                <a:rPr sz="1600" b="1" err="1">
                  <a:latin typeface="Courier New" panose="02070309020205020404" pitchFamily="49" charset="0"/>
                </a:rPr>
                <a:t>cout</a:t>
              </a:r>
              <a:r>
                <a:rPr sz="1600">
                  <a:latin typeface="Times New Roman" panose="02020603050405020304" pitchFamily="18" charset="0"/>
                </a:rPr>
                <a:t> belongs to namespace </a:t>
              </a:r>
              <a:r>
                <a:rPr sz="1600" b="1">
                  <a:latin typeface="Courier New" panose="02070309020205020404" pitchFamily="49" charset="0"/>
                </a:rPr>
                <a:t>std</a:t>
              </a:r>
              <a:r>
                <a:rPr sz="1600">
                  <a:latin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208924" name="Straight Connector 208923"/>
            <p:cNvSpPr/>
            <p:nvPr/>
          </p:nvSpPr>
          <p:spPr>
            <a:xfrm flipH="1" flipV="1">
              <a:off x="960" y="1524"/>
              <a:ext cx="912" cy="3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208928" name="Group 208927"/>
          <p:cNvGrpSpPr/>
          <p:nvPr/>
        </p:nvGrpSpPr>
        <p:grpSpPr>
          <a:xfrm>
            <a:off x="1752600" y="1905000"/>
            <a:ext cx="4114800" cy="692150"/>
            <a:chOff x="1104" y="1200"/>
            <a:chExt cx="2592" cy="436"/>
          </a:xfrm>
        </p:grpSpPr>
        <p:sp>
          <p:nvSpPr>
            <p:cNvPr id="208926" name="Text Box 208925"/>
            <p:cNvSpPr txBox="1"/>
            <p:nvPr/>
          </p:nvSpPr>
          <p:spPr>
            <a:xfrm>
              <a:off x="2016" y="1418"/>
              <a:ext cx="1680" cy="218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r>
                <a:rPr sz="1600">
                  <a:latin typeface="Times New Roman" panose="02020603050405020304" pitchFamily="18" charset="0"/>
                </a:rPr>
                <a:t>Stream insertion operator.</a:t>
              </a:r>
            </a:p>
          </p:txBody>
        </p:sp>
        <p:sp>
          <p:nvSpPr>
            <p:cNvPr id="208927" name="Straight Connector 208926"/>
            <p:cNvSpPr/>
            <p:nvPr/>
          </p:nvSpPr>
          <p:spPr>
            <a:xfrm flipH="1" flipV="1">
              <a:off x="1104" y="1200"/>
              <a:ext cx="912" cy="31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208931" name="Group 208930"/>
          <p:cNvGrpSpPr/>
          <p:nvPr/>
        </p:nvGrpSpPr>
        <p:grpSpPr>
          <a:xfrm>
            <a:off x="1447800" y="2403475"/>
            <a:ext cx="4191000" cy="1739900"/>
            <a:chOff x="912" y="1514"/>
            <a:chExt cx="2640" cy="1096"/>
          </a:xfrm>
        </p:grpSpPr>
        <p:sp>
          <p:nvSpPr>
            <p:cNvPr id="208929" name="Text Box 208928"/>
            <p:cNvSpPr txBox="1"/>
            <p:nvPr/>
          </p:nvSpPr>
          <p:spPr>
            <a:xfrm>
              <a:off x="1872" y="1776"/>
              <a:ext cx="1680" cy="834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r>
                <a:rPr sz="1600">
                  <a:latin typeface="Times New Roman" panose="02020603050405020304" pitchFamily="18" charset="0"/>
                </a:rPr>
                <a:t>Keyword </a:t>
              </a:r>
              <a:r>
                <a:rPr sz="1600" b="1">
                  <a:latin typeface="Courier New" panose="02070309020205020404" pitchFamily="49" charset="0"/>
                </a:rPr>
                <a:t>return</a:t>
              </a:r>
              <a:r>
                <a:rPr sz="1600">
                  <a:latin typeface="Times New Roman" panose="02020603050405020304" pitchFamily="18" charset="0"/>
                </a:rPr>
                <a:t> is one of several means to exit function; value </a:t>
              </a:r>
              <a:r>
                <a:rPr sz="1600" b="1">
                  <a:latin typeface="Courier New" panose="02070309020205020404" pitchFamily="49" charset="0"/>
                </a:rPr>
                <a:t>0</a:t>
              </a:r>
              <a:r>
                <a:rPr sz="1600">
                  <a:latin typeface="Times New Roman" panose="02020603050405020304" pitchFamily="18" charset="0"/>
                </a:rPr>
                <a:t> indicates program terminated successfully.</a:t>
              </a:r>
            </a:p>
          </p:txBody>
        </p:sp>
        <p:sp>
          <p:nvSpPr>
            <p:cNvPr id="208930" name="Straight Connector 208929"/>
            <p:cNvSpPr/>
            <p:nvPr/>
          </p:nvSpPr>
          <p:spPr>
            <a:xfrm flipH="1" flipV="1">
              <a:off x="912" y="1514"/>
              <a:ext cx="960" cy="35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eaLnBrk="0" hangingPunct="0">
              <a:spcBef>
                <a:spcPct val="50000"/>
              </a:spcBef>
            </a:pPr>
            <a:fld id="{9A0DB2DC-4C9A-4742-B13C-FB6460FD3503}" type="slidenum">
              <a:rPr lang="en-US">
                <a:latin typeface="Times New Roman" panose="02020603050405020304" pitchFamily="18" charset="0"/>
              </a:rPr>
              <a:pPr eaLnBrk="0" hangingPunct="0">
                <a:spcBef>
                  <a:spcPct val="50000"/>
                </a:spcBef>
              </a:pPr>
              <a:t>28</a:t>
            </a:fld>
            <a:endParaRPr 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8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8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8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8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8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8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8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8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8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8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8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8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ppt_template_07-25-2002">
  <a:themeElements>
    <a:clrScheme name="">
      <a:dk1>
        <a:srgbClr val="000000"/>
      </a:dk1>
      <a:lt1>
        <a:srgbClr val="FFFFFF"/>
      </a:lt1>
      <a:dk2>
        <a:srgbClr val="000000"/>
      </a:dk2>
      <a:lt2>
        <a:srgbClr val="FF0000"/>
      </a:lt2>
      <a:accent1>
        <a:srgbClr val="0099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CAFF"/>
      </a:accent5>
      <a:accent6>
        <a:srgbClr val="2D2DB7"/>
      </a:accent6>
      <a:hlink>
        <a:srgbClr val="0000FF"/>
      </a:hlink>
      <a:folHlink>
        <a:srgbClr val="B2B2B2"/>
      </a:folHlink>
    </a:clrScheme>
    <a:fontScheme name="">
      <a:majorFont>
        <a:latin typeface="AvantGarde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008000"/>
    </a:lt2>
    <a:accent1>
      <a:srgbClr val="FFE699"/>
    </a:accent1>
    <a:accent2>
      <a:srgbClr val="FF0000"/>
    </a:accent2>
    <a:accent3>
      <a:srgbClr val="FFFFFF"/>
    </a:accent3>
    <a:accent4>
      <a:srgbClr val="000000"/>
    </a:accent4>
    <a:accent5>
      <a:srgbClr val="FFF0CA"/>
    </a:accent5>
    <a:accent6>
      <a:srgbClr val="E50000"/>
    </a:accent6>
    <a:hlink>
      <a:srgbClr val="CCCCFF"/>
    </a:hlink>
    <a:folHlink>
      <a:srgbClr val="99CCF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881</Words>
  <Application>Microsoft Office PowerPoint</Application>
  <PresentationFormat>On-screen Show (4:3)</PresentationFormat>
  <Paragraphs>244</Paragraphs>
  <Slides>28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42" baseType="lpstr">
      <vt:lpstr>Arial</vt:lpstr>
      <vt:lpstr>AvantGarde</vt:lpstr>
      <vt:lpstr>Calibri</vt:lpstr>
      <vt:lpstr>Courier</vt:lpstr>
      <vt:lpstr>Courier New</vt:lpstr>
      <vt:lpstr>Helvetica</vt:lpstr>
      <vt:lpstr>Mincho</vt:lpstr>
      <vt:lpstr>Symbol</vt:lpstr>
      <vt:lpstr>Times</vt:lpstr>
      <vt:lpstr>Times New Roman</vt:lpstr>
      <vt:lpstr>Trebuchet MS</vt:lpstr>
      <vt:lpstr>Wingdings</vt:lpstr>
      <vt:lpstr>Office Theme</vt:lpstr>
      <vt:lpstr>1_ppt_template_07-25-2002</vt:lpstr>
      <vt:lpstr>CS-111 Fundamentals of Computer Programming</vt:lpstr>
      <vt:lpstr>PowerPoint Presentation</vt:lpstr>
      <vt:lpstr>PowerPoint Presentation</vt:lpstr>
      <vt:lpstr>Problem Solving and Implementation</vt:lpstr>
      <vt:lpstr>Problem Solving and Implementation</vt:lpstr>
      <vt:lpstr>Define a Problem:</vt:lpstr>
      <vt:lpstr>Design the solution</vt:lpstr>
      <vt:lpstr>Algorithm</vt:lpstr>
      <vt:lpstr>Algorithm</vt:lpstr>
      <vt:lpstr>Building Blocks of Flowchart</vt:lpstr>
      <vt:lpstr>PowerPoint Presentation</vt:lpstr>
      <vt:lpstr>Algorithm – Pseudo code</vt:lpstr>
      <vt:lpstr>Algorithm –  Flowchart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Introduction to C++</vt:lpstr>
      <vt:lpstr>C++ History</vt:lpstr>
      <vt:lpstr>A Sample C++ Program</vt:lpstr>
      <vt:lpstr>PowerPoint Presentation</vt:lpstr>
      <vt:lpstr>Basics of a Typical C++ Environment</vt:lpstr>
      <vt:lpstr>Basics of a Typical C++ Environment</vt:lpstr>
      <vt:lpstr>Basics of a Typical C++ Environment</vt:lpstr>
      <vt:lpstr>Basics of a Typical C++ Environment</vt:lpstr>
      <vt:lpstr>A Simple Program: Printing a Line of Text</vt:lpstr>
      <vt:lpstr>fig01_02.cpp (1 of 1)  fig01_02.cpp output (1 of 1) 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Quratulain</dc:creator>
  <cp:lastModifiedBy>Muhammad Zohaib Awan</cp:lastModifiedBy>
  <cp:revision>823</cp:revision>
  <dcterms:created xsi:type="dcterms:W3CDTF">2006-08-16T00:00:00Z</dcterms:created>
  <dcterms:modified xsi:type="dcterms:W3CDTF">2018-02-18T03:00:47Z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1033-10.2.0.5996</vt:lpwstr>
  </property>
</Properties>
</file>