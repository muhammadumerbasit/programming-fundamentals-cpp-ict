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  <p:sldMasterId id="2147483710" r:id="rId4"/>
  </p:sldMasterIdLst>
  <p:notesMasterIdLst>
    <p:notesMasterId r:id="rId41"/>
  </p:notesMasterIdLst>
  <p:sldIdLst>
    <p:sldId id="257" r:id="rId5"/>
    <p:sldId id="628" r:id="rId6"/>
    <p:sldId id="627" r:id="rId7"/>
    <p:sldId id="629" r:id="rId8"/>
    <p:sldId id="630" r:id="rId9"/>
    <p:sldId id="631" r:id="rId10"/>
    <p:sldId id="632" r:id="rId11"/>
    <p:sldId id="633" r:id="rId12"/>
    <p:sldId id="634" r:id="rId13"/>
    <p:sldId id="635" r:id="rId14"/>
    <p:sldId id="637" r:id="rId15"/>
    <p:sldId id="638" r:id="rId16"/>
    <p:sldId id="639" r:id="rId17"/>
    <p:sldId id="640" r:id="rId18"/>
    <p:sldId id="641" r:id="rId19"/>
    <p:sldId id="642" r:id="rId20"/>
    <p:sldId id="679" r:id="rId21"/>
    <p:sldId id="665" r:id="rId22"/>
    <p:sldId id="666" r:id="rId23"/>
    <p:sldId id="683" r:id="rId24"/>
    <p:sldId id="667" r:id="rId25"/>
    <p:sldId id="669" r:id="rId26"/>
    <p:sldId id="670" r:id="rId27"/>
    <p:sldId id="671" r:id="rId28"/>
    <p:sldId id="672" r:id="rId29"/>
    <p:sldId id="673" r:id="rId30"/>
    <p:sldId id="674" r:id="rId31"/>
    <p:sldId id="680" r:id="rId32"/>
    <p:sldId id="675" r:id="rId33"/>
    <p:sldId id="689" r:id="rId34"/>
    <p:sldId id="690" r:id="rId35"/>
    <p:sldId id="691" r:id="rId36"/>
    <p:sldId id="681" r:id="rId37"/>
    <p:sldId id="682" r:id="rId38"/>
    <p:sldId id="678" r:id="rId39"/>
    <p:sldId id="731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434" autoAdjust="0"/>
  </p:normalViewPr>
  <p:slideViewPr>
    <p:cSldViewPr>
      <p:cViewPr varScale="1">
        <p:scale>
          <a:sx n="74" d="100"/>
          <a:sy n="74" d="100"/>
        </p:scale>
        <p:origin x="12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95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251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04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569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990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083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99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02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772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412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83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059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63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408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026"/>
          <p:cNvSpPr txBox="1">
            <a:spLocks noChangeArrowheads="1"/>
          </p:cNvSpPr>
          <p:nvPr/>
        </p:nvSpPr>
        <p:spPr bwMode="auto">
          <a:xfrm>
            <a:off x="7086600" y="6324600"/>
            <a:ext cx="19812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sz="1400" b="0">
                <a:latin typeface="Times New Roman" pitchFamily="18" charset="0"/>
                <a:sym typeface="Symbol" pitchFamily="18" charset="2"/>
              </a:rPr>
              <a:t></a:t>
            </a:r>
            <a:r>
              <a:rPr lang="en-US" sz="1200" b="0">
                <a:latin typeface="Times New Roman" pitchFamily="18" charset="0"/>
              </a:rPr>
              <a:t> 2003 Prentice Hall, Inc.</a:t>
            </a:r>
            <a:br>
              <a:rPr lang="en-US" sz="1200" b="0">
                <a:latin typeface="Times New Roman" pitchFamily="18" charset="0"/>
              </a:rPr>
            </a:br>
            <a:r>
              <a:rPr lang="en-US" sz="1200" b="0">
                <a:latin typeface="Times New Roman" pitchFamily="18" charset="0"/>
              </a:rPr>
              <a:t>All rights reserved.</a:t>
            </a:r>
          </a:p>
        </p:txBody>
      </p:sp>
      <p:sp>
        <p:nvSpPr>
          <p:cNvPr id="33795" name="Text Box 1027"/>
          <p:cNvSpPr txBox="1">
            <a:spLocks noChangeArrowheads="1"/>
          </p:cNvSpPr>
          <p:nvPr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sz="2000" b="0" u="sng">
                <a:solidFill>
                  <a:srgbClr val="000000"/>
                </a:solidFill>
                <a:latin typeface="AvantGarde" pitchFamily="34" charset="0"/>
              </a:rPr>
              <a:t>Outline</a:t>
            </a:r>
          </a:p>
        </p:txBody>
      </p:sp>
      <p:grpSp>
        <p:nvGrpSpPr>
          <p:cNvPr id="2" name="Group 1028"/>
          <p:cNvGrpSpPr>
            <a:grpSpLocks/>
          </p:cNvGrpSpPr>
          <p:nvPr/>
        </p:nvGrpSpPr>
        <p:grpSpPr bwMode="auto">
          <a:xfrm>
            <a:off x="7086600" y="76200"/>
            <a:ext cx="304800" cy="685800"/>
            <a:chOff x="4032" y="3840"/>
            <a:chExt cx="192" cy="432"/>
          </a:xfrm>
        </p:grpSpPr>
        <p:sp>
          <p:nvSpPr>
            <p:cNvPr id="33797" name="AutoShape 1029">
              <a:hlinkClick r:id="" action="ppaction://hlinkshowjump?jump=previousslide" highlightClick="1"/>
            </p:cNvPr>
            <p:cNvSpPr>
              <a:spLocks noChangeArrowheads="1"/>
            </p:cNvSpPr>
            <p:nvPr userDrawn="1"/>
          </p:nvSpPr>
          <p:spPr bwMode="auto">
            <a:xfrm rot="5400000">
              <a:off x="4032" y="3840"/>
              <a:ext cx="192" cy="192"/>
            </a:xfrm>
            <a:prstGeom prst="actionButtonBackPrevious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3798" name="AutoShape 1030">
              <a:hlinkClick r:id="" action="ppaction://hlinkshowjump?jump=nextslide" highlightClick="1"/>
            </p:cNvPr>
            <p:cNvSpPr>
              <a:spLocks noChangeArrowheads="1"/>
            </p:cNvSpPr>
            <p:nvPr userDrawn="1"/>
          </p:nvSpPr>
          <p:spPr bwMode="auto">
            <a:xfrm rot="16200000">
              <a:off x="4032" y="4080"/>
              <a:ext cx="192" cy="192"/>
            </a:xfrm>
            <a:prstGeom prst="actionButtonBackPrevious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33799" name="Rectangle 1031"/>
          <p:cNvSpPr>
            <a:spLocks noChangeArrowheads="1"/>
          </p:cNvSpPr>
          <p:nvPr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>
              <a:spcBef>
                <a:spcPct val="0"/>
              </a:spcBef>
            </a:pPr>
            <a:endParaRPr lang="en-US" sz="1400">
              <a:latin typeface="AvantGarde" pitchFamily="34" charset="0"/>
            </a:endParaRPr>
          </a:p>
        </p:txBody>
      </p:sp>
      <p:sp>
        <p:nvSpPr>
          <p:cNvPr id="33800" name="Rectangle 103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0" y="0"/>
            <a:ext cx="7010400" cy="5638800"/>
          </a:xfrm>
          <a:solidFill>
            <a:schemeClr val="accent1"/>
          </a:solidFill>
        </p:spPr>
        <p:txBody>
          <a:bodyPr tIns="182880" bIns="182880"/>
          <a:lstStyle>
            <a:lvl1pPr marL="0" indent="0">
              <a:buFontTx/>
              <a:buNone/>
              <a:defRPr sz="1200" b="1">
                <a:latin typeface="Courier New" pitchFamily="49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3802" name="Rectangle 103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686800" y="0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fld id="{2FD7615F-E4B8-49FF-A910-CCE844CD3DA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3805" name="Rectangle 1037"/>
          <p:cNvSpPr>
            <a:spLocks noGrp="1" noChangeArrowheads="1"/>
          </p:cNvSpPr>
          <p:nvPr>
            <p:ph type="ctrTitle" sz="quarter"/>
          </p:nvPr>
        </p:nvSpPr>
        <p:spPr>
          <a:xfrm>
            <a:off x="7086600" y="838200"/>
            <a:ext cx="2057400" cy="4800600"/>
          </a:xfrm>
        </p:spPr>
        <p:txBody>
          <a:bodyPr anchor="t"/>
          <a:lstStyle>
            <a:lvl1pPr algn="l">
              <a:defRPr sz="16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5A63417-AE59-40AD-B7C0-A3CE22D2C5E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13A343-EBA0-4805-B492-91E4B1DA3F5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311BCBC-42D7-48C1-BA12-8465B79398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5C02F90-485D-461B-8615-27C25AF29F3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67157CA-6F31-448F-9280-6BF93CADDD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518A463-57E1-43EA-AD68-B8982F5B84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413267-C278-4B71-AEEA-7C067944791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88C5F1-0F49-4CED-9BE6-8188EFEB5CA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C27A77D-E785-41F0-8650-72BCD01CB26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400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400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A26C70-C978-4524-A283-2E5640D347C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8EB77-1F76-4D93-A3AF-B57CBBC7FB5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5E841-A079-495C-8CCA-9C61DB49E5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67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FC70C-F5A9-4CB0-8AC0-EE2843D3720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44C3-D1E0-410A-B4B8-4FBDC876A5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040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1F871-16F2-47A0-8BF0-9CCA39FC8DF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62D868-6FCE-4FD9-A1FD-ED546B0CB3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6317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E44ED-6318-4974-B656-E96A52FFCBB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33D5CA-DFD4-4B35-80ED-0EDDCA22AD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7981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5BA46-1340-4881-8B69-D6AC315D93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0786E-ECEE-44CA-9430-17B91A798A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1402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48327-125B-42D3-904F-6F2E679B2B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AB07D-030D-44F5-9E46-2BDEBD18B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6733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FD5C1-75D3-4C71-9819-583BFED4737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E16C5-D16A-457D-9C29-9D16CFACF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280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01D0B-F3E7-4E6D-B86F-A6C1B7FBB59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6B74F-379B-4899-B0BF-92B55A0062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083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7724C-24D6-4B7E-A696-D32759A6C3E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3ECD9-6EA3-4EE6-A28B-3C30AC1801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297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BC926-39B7-4770-9822-E6CFBA20A3C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DE4FC-72B2-4367-8BB6-FB3A32A827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5189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E58D9-392E-4DF5-A540-89826493DAA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1D85F-419F-4C06-93FA-426DFF8C70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9054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36873-7A1E-49AC-A12F-89FE9649896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060A0-988F-4E57-B88A-08C90E6745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2914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441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4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74485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2799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1" y="1575654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3887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1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3724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2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046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778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2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2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963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94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3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3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56569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76200"/>
            <a:ext cx="7772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0" y="6553200"/>
            <a:ext cx="3581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1400" b="0">
                <a:latin typeface="Times New Roman" pitchFamily="18" charset="0"/>
                <a:sym typeface="Symbol" pitchFamily="18" charset="2"/>
              </a:rPr>
              <a:t></a:t>
            </a:r>
            <a:r>
              <a:rPr lang="en-US" sz="1200" b="0">
                <a:latin typeface="Times New Roman" pitchFamily="18" charset="0"/>
              </a:rPr>
              <a:t> 2003 Prentice Hall, Inc.  All rights reserved.</a:t>
            </a:r>
          </a:p>
        </p:txBody>
      </p:sp>
      <p:sp>
        <p:nvSpPr>
          <p:cNvPr id="32773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3886200" y="6553200"/>
            <a:ext cx="304800" cy="228600"/>
          </a:xfrm>
          <a:prstGeom prst="actionButtonForwardNex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74" name="AutoShape 6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10800000">
            <a:off x="3505200" y="6553200"/>
            <a:ext cx="304800" cy="228600"/>
          </a:xfrm>
          <a:prstGeom prst="actionButtonForwardNex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 b="0">
                <a:latin typeface="+mn-lt"/>
              </a:defRPr>
            </a:lvl1pPr>
          </a:lstStyle>
          <a:p>
            <a:fld id="{B02323D4-92F0-4D9B-A931-B49123C83F6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FF3300"/>
          </a:solidFill>
          <a:latin typeface="AvantGarde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E0A90C-EE50-47D5-84C6-0129908DF5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9/23/2018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743FE7-0461-4BA1-9ABB-10B8182DC3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3A7A08B-64B0-470C-87C9-934E2920E55F}" type="datetimeFigureOut">
              <a:rPr lang="en-US" smtClean="0"/>
              <a:pPr/>
              <a:t>9/23/2018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6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3009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1.doc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wmf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7160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</a:t>
            </a:r>
            <a:r>
              <a:rPr lang="en-US" dirty="0">
                <a:solidFill>
                  <a:schemeClr val="bg1"/>
                </a:solidFill>
              </a:rPr>
              <a:t>3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Program Development – II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724400" y="6211669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3270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bg1"/>
                </a:solidFill>
                <a:latin typeface="Agency FB" panose="020B0503020202020204" pitchFamily="34" charset="0"/>
              </a:rPr>
              <a:t>Doing the Right Thing</a:t>
            </a:r>
            <a:endParaRPr lang="en-US" sz="4400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990600"/>
            <a:ext cx="6858000" cy="54927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43000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679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Road Map for Today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RECAP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Variables - Types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dirty="0" smtClean="0">
                <a:latin typeface="+mj-lt"/>
              </a:rPr>
              <a:t>Operators</a:t>
            </a:r>
            <a:endParaRPr lang="en-US" sz="3200" kern="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67099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What are the two essential components of a single C++ statement?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Purpose of </a:t>
            </a:r>
            <a:r>
              <a:rPr lang="en-US" sz="3200" b="1" dirty="0" err="1" smtClean="0"/>
              <a:t>cout</a:t>
            </a:r>
            <a:r>
              <a:rPr lang="en-US" sz="3200" dirty="0" smtClean="0"/>
              <a:t>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What is the order of execution of statements in a single C++ program?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375914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348581"/>
            <a:ext cx="3938587" cy="492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20" name="Rounded Rectangular Callout 19"/>
          <p:cNvSpPr/>
          <p:nvPr/>
        </p:nvSpPr>
        <p:spPr>
          <a:xfrm>
            <a:off x="5800460" y="2531077"/>
            <a:ext cx="1219200" cy="685800"/>
          </a:xfrm>
          <a:prstGeom prst="wedgeRoundRectCallout">
            <a:avLst>
              <a:gd name="adj1" fmla="val -249629"/>
              <a:gd name="adj2" fmla="val -6242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 smtClean="0"/>
              <a:t>?</a:t>
            </a:r>
            <a:endParaRPr lang="en-US" b="1" dirty="0"/>
          </a:p>
        </p:txBody>
      </p:sp>
      <p:sp>
        <p:nvSpPr>
          <p:cNvPr id="10" name="Rounded Rectangular Callout 9"/>
          <p:cNvSpPr/>
          <p:nvPr/>
        </p:nvSpPr>
        <p:spPr>
          <a:xfrm>
            <a:off x="5419460" y="1348581"/>
            <a:ext cx="1981200" cy="799876"/>
          </a:xfrm>
          <a:prstGeom prst="wedgeRoundRectCallout">
            <a:avLst>
              <a:gd name="adj1" fmla="val -157831"/>
              <a:gd name="adj2" fmla="val 45926"/>
              <a:gd name="adj3" fmla="val 16667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What is this?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91128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 – An Exercise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Write a program which gives the following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50020"/>
            <a:ext cx="7200293" cy="250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20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382159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Variables – </a:t>
            </a:r>
          </a:p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Identifiers and Data Types  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3074" name="Picture 2" descr="Image result for variabl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416378"/>
            <a:ext cx="3198813" cy="2117615"/>
          </a:xfrm>
          <a:prstGeom prst="rect">
            <a:avLst/>
          </a:prstGeom>
          <a:blipFill dpi="0" rotWithShape="1">
            <a:blip r:embed="rId4">
              <a:alphaModFix amt="7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926926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Variables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447800"/>
            <a:ext cx="8534400" cy="4495800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200" dirty="0">
                <a:solidFill>
                  <a:prstClr val="black"/>
                </a:solidFill>
              </a:rPr>
              <a:t>A </a:t>
            </a:r>
            <a:r>
              <a:rPr lang="en-US" altLang="en-US" sz="3200" dirty="0">
                <a:solidFill>
                  <a:srgbClr val="0000CC"/>
                </a:solidFill>
              </a:rPr>
              <a:t>variable</a:t>
            </a:r>
            <a:r>
              <a:rPr lang="en-US" altLang="en-US" sz="3200" dirty="0">
                <a:solidFill>
                  <a:srgbClr val="0000FF"/>
                </a:solidFill>
              </a:rPr>
              <a:t> </a:t>
            </a:r>
            <a:r>
              <a:rPr lang="en-US" altLang="en-US" sz="3200" dirty="0">
                <a:solidFill>
                  <a:prstClr val="black"/>
                </a:solidFill>
              </a:rPr>
              <a:t>is a memory </a:t>
            </a:r>
            <a:r>
              <a:rPr lang="en-US" altLang="en-US" sz="3200" dirty="0" smtClean="0">
                <a:solidFill>
                  <a:prstClr val="black"/>
                </a:solidFill>
              </a:rPr>
              <a:t>address (placeholder) </a:t>
            </a:r>
            <a:r>
              <a:rPr lang="en-US" altLang="en-US" sz="3200" dirty="0">
                <a:solidFill>
                  <a:prstClr val="black"/>
                </a:solidFill>
              </a:rPr>
              <a:t>where data can be </a:t>
            </a:r>
            <a:r>
              <a:rPr lang="en-US" altLang="en-US" sz="3200" dirty="0">
                <a:solidFill>
                  <a:srgbClr val="FF0000"/>
                </a:solidFill>
              </a:rPr>
              <a:t>stored</a:t>
            </a:r>
            <a:r>
              <a:rPr lang="en-US" altLang="en-US" sz="3200" dirty="0">
                <a:solidFill>
                  <a:prstClr val="black"/>
                </a:solidFill>
              </a:rPr>
              <a:t> and </a:t>
            </a:r>
            <a:r>
              <a:rPr lang="en-US" altLang="en-US" sz="3200" dirty="0">
                <a:solidFill>
                  <a:srgbClr val="4F81BD"/>
                </a:solidFill>
              </a:rPr>
              <a:t>changed</a:t>
            </a:r>
            <a:r>
              <a:rPr lang="en-US" altLang="en-US" sz="3200" dirty="0">
                <a:solidFill>
                  <a:prstClr val="black"/>
                </a:solidFill>
              </a:rPr>
              <a:t>. 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</a:pPr>
            <a:endParaRPr lang="en-US" altLang="en-US" dirty="0">
              <a:solidFill>
                <a:prstClr val="black"/>
              </a:solidFill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200" b="1" dirty="0">
                <a:solidFill>
                  <a:prstClr val="black"/>
                </a:solidFill>
              </a:rPr>
              <a:t>Declaring a variable </a:t>
            </a:r>
            <a:r>
              <a:rPr lang="en-US" altLang="en-US" sz="3200" dirty="0">
                <a:solidFill>
                  <a:prstClr val="black"/>
                </a:solidFill>
              </a:rPr>
              <a:t>means specifying both its </a:t>
            </a:r>
            <a:r>
              <a:rPr lang="en-US" altLang="en-US" sz="3200" dirty="0" smtClean="0">
                <a:solidFill>
                  <a:srgbClr val="FF0000"/>
                </a:solidFill>
              </a:rPr>
              <a:t>name (identifier)</a:t>
            </a:r>
            <a:r>
              <a:rPr lang="en-US" altLang="en-US" sz="3200" dirty="0" smtClean="0">
                <a:solidFill>
                  <a:prstClr val="black"/>
                </a:solidFill>
              </a:rPr>
              <a:t> </a:t>
            </a:r>
            <a:r>
              <a:rPr lang="en-US" altLang="en-US" sz="3200" dirty="0">
                <a:solidFill>
                  <a:prstClr val="black"/>
                </a:solidFill>
              </a:rPr>
              <a:t>and its </a:t>
            </a:r>
            <a:r>
              <a:rPr lang="en-US" altLang="en-US" sz="3200" dirty="0">
                <a:solidFill>
                  <a:srgbClr val="0070C0"/>
                </a:solidFill>
              </a:rPr>
              <a:t>data type</a:t>
            </a:r>
            <a:r>
              <a:rPr lang="en-US" altLang="en-US" sz="3200" dirty="0" smtClean="0">
                <a:solidFill>
                  <a:prstClr val="black"/>
                </a:solidFill>
              </a:rPr>
              <a:t>.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</a:pPr>
            <a:endParaRPr lang="en-US" altLang="en-US" sz="1600" dirty="0" smtClean="0">
              <a:solidFill>
                <a:prstClr val="black"/>
              </a:solidFill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3200" b="1" dirty="0" smtClean="0">
                <a:solidFill>
                  <a:prstClr val="black"/>
                </a:solidFill>
              </a:rPr>
              <a:t>Defining/initializing a variable </a:t>
            </a:r>
            <a:r>
              <a:rPr lang="en-US" altLang="en-US" sz="3200" dirty="0" smtClean="0">
                <a:solidFill>
                  <a:prstClr val="black"/>
                </a:solidFill>
              </a:rPr>
              <a:t>means giving the variable a </a:t>
            </a:r>
            <a:r>
              <a:rPr lang="en-US" altLang="en-US" sz="3200" dirty="0">
                <a:solidFill>
                  <a:srgbClr val="0070C0"/>
                </a:solidFill>
              </a:rPr>
              <a:t>value</a:t>
            </a:r>
            <a:r>
              <a:rPr lang="en-US" altLang="en-US" sz="3200" dirty="0" smtClean="0">
                <a:solidFill>
                  <a:prstClr val="black"/>
                </a:solidFill>
              </a:rPr>
              <a:t>.</a:t>
            </a:r>
            <a:endParaRPr lang="en-US" altLang="en-US" sz="32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40963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Identifier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447800"/>
            <a:ext cx="8534400" cy="449580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b="1" dirty="0">
                <a:solidFill>
                  <a:prstClr val="black"/>
                </a:solidFill>
              </a:rPr>
              <a:t>An </a:t>
            </a:r>
            <a:r>
              <a:rPr lang="en-US" sz="3200" b="1" dirty="0">
                <a:solidFill>
                  <a:srgbClr val="990000"/>
                </a:solidFill>
              </a:rPr>
              <a:t>identifier</a:t>
            </a:r>
            <a:r>
              <a:rPr lang="en-US" sz="3200" b="1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prstClr val="black"/>
                </a:solidFill>
              </a:rPr>
              <a:t>is the </a:t>
            </a:r>
            <a:r>
              <a:rPr lang="en-US" sz="3200" b="1" dirty="0">
                <a:solidFill>
                  <a:srgbClr val="990000"/>
                </a:solidFill>
              </a:rPr>
              <a:t>name </a:t>
            </a:r>
            <a:r>
              <a:rPr lang="en-US" sz="3200" dirty="0">
                <a:solidFill>
                  <a:prstClr val="black"/>
                </a:solidFill>
              </a:rPr>
              <a:t>used</a:t>
            </a:r>
            <a:r>
              <a:rPr lang="en-US" sz="3200" b="1" dirty="0" smtClean="0">
                <a:solidFill>
                  <a:srgbClr val="990000"/>
                </a:solidFill>
              </a:rPr>
              <a:t> </a:t>
            </a:r>
            <a:r>
              <a:rPr lang="en-US" sz="3200" dirty="0" smtClean="0">
                <a:solidFill>
                  <a:prstClr val="black"/>
                </a:solidFill>
              </a:rPr>
              <a:t>to </a:t>
            </a:r>
            <a:r>
              <a:rPr lang="en-US" sz="3200" dirty="0">
                <a:solidFill>
                  <a:prstClr val="black"/>
                </a:solidFill>
              </a:rPr>
              <a:t>denote </a:t>
            </a:r>
            <a:r>
              <a:rPr lang="en-US" sz="3200" b="1" dirty="0">
                <a:solidFill>
                  <a:srgbClr val="0070C0"/>
                </a:solidFill>
              </a:rPr>
              <a:t>labels, types, variables, constants</a:t>
            </a:r>
            <a:r>
              <a:rPr lang="en-US" sz="3200" b="1" dirty="0">
                <a:solidFill>
                  <a:prstClr val="black"/>
                </a:solidFill>
              </a:rPr>
              <a:t> </a:t>
            </a:r>
            <a:r>
              <a:rPr lang="en-US" sz="3200" dirty="0">
                <a:solidFill>
                  <a:prstClr val="black"/>
                </a:solidFill>
              </a:rPr>
              <a:t>or </a:t>
            </a:r>
            <a:r>
              <a:rPr lang="en-US" sz="3200" b="1" dirty="0">
                <a:solidFill>
                  <a:srgbClr val="0070C0"/>
                </a:solidFill>
              </a:rPr>
              <a:t>functions</a:t>
            </a:r>
            <a:r>
              <a:rPr lang="en-US" sz="3200" b="1" dirty="0">
                <a:solidFill>
                  <a:prstClr val="black"/>
                </a:solidFill>
              </a:rPr>
              <a:t>,  </a:t>
            </a:r>
            <a:r>
              <a:rPr lang="en-US" sz="3200" dirty="0">
                <a:solidFill>
                  <a:prstClr val="black"/>
                </a:solidFill>
              </a:rPr>
              <a:t>in a C++ program.</a:t>
            </a:r>
            <a:r>
              <a:rPr lang="en-US" sz="1400" dirty="0">
                <a:solidFill>
                  <a:prstClr val="black"/>
                </a:solidFill>
              </a:rPr>
              <a:t>	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dirty="0">
                <a:solidFill>
                  <a:prstClr val="black"/>
                </a:solidFill>
              </a:rPr>
              <a:t>C++ is a </a:t>
            </a:r>
            <a:r>
              <a:rPr lang="en-US" sz="3200" b="1" dirty="0">
                <a:solidFill>
                  <a:prstClr val="black"/>
                </a:solidFill>
              </a:rPr>
              <a:t>case-sensitive</a:t>
            </a:r>
            <a:r>
              <a:rPr lang="en-US" sz="3200" dirty="0">
                <a:solidFill>
                  <a:prstClr val="black"/>
                </a:solidFill>
              </a:rPr>
              <a:t> language.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800" b="1" dirty="0">
                <a:solidFill>
                  <a:prstClr val="black"/>
                </a:solidFill>
              </a:rPr>
              <a:t>Work</a:t>
            </a:r>
            <a:r>
              <a:rPr lang="en-US" sz="2800" dirty="0">
                <a:solidFill>
                  <a:prstClr val="black"/>
                </a:solidFill>
              </a:rPr>
              <a:t> is not</a:t>
            </a:r>
            <a:r>
              <a:rPr lang="en-US" sz="2800" b="1" dirty="0">
                <a:solidFill>
                  <a:prstClr val="black"/>
                </a:solidFill>
              </a:rPr>
              <a:t> work</a:t>
            </a: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1400" dirty="0">
                <a:solidFill>
                  <a:prstClr val="black"/>
                </a:solidFill>
              </a:rPr>
              <a:t>	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3200" b="1" dirty="0" smtClean="0">
                <a:solidFill>
                  <a:prstClr val="black"/>
                </a:solidFill>
              </a:rPr>
              <a:t>Identifiers </a:t>
            </a:r>
            <a:r>
              <a:rPr lang="en-US" sz="3200" b="1" dirty="0">
                <a:solidFill>
                  <a:prstClr val="black"/>
                </a:solidFill>
              </a:rPr>
              <a:t>should be descriptive 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800" dirty="0">
                <a:solidFill>
                  <a:prstClr val="black"/>
                </a:solidFill>
              </a:rPr>
              <a:t>Using meaningful identifiers is a good programming practice</a:t>
            </a:r>
            <a:endParaRPr lang="en-US" altLang="en-US" sz="32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334282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Identifier… 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447800"/>
            <a:ext cx="8534400" cy="4572000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</a:rPr>
              <a:t>Identifiers must be </a:t>
            </a:r>
            <a:r>
              <a:rPr lang="en-US" sz="2700" b="1" dirty="0">
                <a:solidFill>
                  <a:srgbClr val="C00000"/>
                </a:solidFill>
              </a:rPr>
              <a:t>unique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</a:rPr>
              <a:t>Identifiers cannot be reserved words (keywords)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US" sz="2400" b="1" dirty="0" err="1" smtClean="0">
                <a:solidFill>
                  <a:prstClr val="black"/>
                </a:solidFill>
              </a:rPr>
              <a:t>int</a:t>
            </a:r>
            <a:r>
              <a:rPr lang="en-US" sz="2400" b="1" dirty="0" smtClean="0">
                <a:solidFill>
                  <a:prstClr val="black"/>
                </a:solidFill>
              </a:rPr>
              <a:t>	main	   return</a:t>
            </a:r>
            <a:endParaRPr lang="en-US" sz="2400" b="1" dirty="0">
              <a:solidFill>
                <a:prstClr val="black"/>
              </a:solidFill>
            </a:endParaRP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700" dirty="0">
                <a:solidFill>
                  <a:prstClr val="black"/>
                </a:solidFill>
              </a:rPr>
              <a:t>Identifier must start with a letter or underscore, and be followed by zero or more letters (A-Z, a-z), digits (0-9), or underscores</a:t>
            </a:r>
            <a:r>
              <a:rPr lang="en-US" sz="600" dirty="0">
                <a:solidFill>
                  <a:prstClr val="black"/>
                </a:solidFill>
              </a:rPr>
              <a:t> 							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700" b="1" dirty="0">
                <a:solidFill>
                  <a:srgbClr val="006633"/>
                </a:solidFill>
              </a:rPr>
              <a:t>VALID</a:t>
            </a:r>
            <a:r>
              <a:rPr lang="en-US" sz="2700" b="1" dirty="0">
                <a:solidFill>
                  <a:srgbClr val="CC0000"/>
                </a:solidFill>
              </a:rPr>
              <a:t> </a:t>
            </a:r>
            <a:endParaRPr lang="en-US" sz="2700" dirty="0">
              <a:solidFill>
                <a:prstClr val="black"/>
              </a:solidFill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2700" b="1" dirty="0">
                <a:solidFill>
                  <a:prstClr val="black"/>
                </a:solidFill>
              </a:rPr>
              <a:t>	</a:t>
            </a:r>
            <a:r>
              <a:rPr lang="en-US" sz="2400" b="1" dirty="0" err="1">
                <a:solidFill>
                  <a:prstClr val="black"/>
                </a:solidFill>
              </a:rPr>
              <a:t>age_of_dog</a:t>
            </a:r>
            <a:r>
              <a:rPr lang="en-US" sz="2400" b="1" dirty="0">
                <a:solidFill>
                  <a:prstClr val="black"/>
                </a:solidFill>
              </a:rPr>
              <a:t>	</a:t>
            </a:r>
            <a:r>
              <a:rPr lang="en-US" sz="2400" b="1" dirty="0" smtClean="0">
                <a:solidFill>
                  <a:prstClr val="black"/>
                </a:solidFill>
              </a:rPr>
              <a:t>       _taxRateY2K        </a:t>
            </a:r>
            <a:r>
              <a:rPr lang="en-US" sz="2400" b="1" dirty="0" err="1" smtClean="0">
                <a:solidFill>
                  <a:prstClr val="black"/>
                </a:solidFill>
              </a:rPr>
              <a:t>PrintHeading</a:t>
            </a:r>
            <a:r>
              <a:rPr lang="en-US" sz="2400" b="1" dirty="0">
                <a:solidFill>
                  <a:prstClr val="black"/>
                </a:solidFill>
              </a:rPr>
              <a:t>	  </a:t>
            </a:r>
            <a:r>
              <a:rPr lang="en-US" sz="2400" b="1" dirty="0" err="1">
                <a:solidFill>
                  <a:prstClr val="black"/>
                </a:solidFill>
              </a:rPr>
              <a:t>ageOfHorse</a:t>
            </a:r>
            <a:r>
              <a:rPr lang="en-US" sz="900" dirty="0">
                <a:solidFill>
                  <a:prstClr val="black"/>
                </a:solidFill>
              </a:rPr>
              <a:t>				</a:t>
            </a:r>
          </a:p>
          <a:p>
            <a:pPr marL="342900" lvl="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700" b="1" dirty="0">
                <a:solidFill>
                  <a:srgbClr val="FF3300"/>
                </a:solidFill>
              </a:rPr>
              <a:t>NOT VALID  </a:t>
            </a:r>
            <a:r>
              <a:rPr lang="en-US" sz="2700" b="1" dirty="0">
                <a:solidFill>
                  <a:prstClr val="black"/>
                </a:solidFill>
              </a:rPr>
              <a:t>	</a:t>
            </a:r>
            <a:r>
              <a:rPr lang="en-US" sz="2700" dirty="0">
                <a:solidFill>
                  <a:prstClr val="black"/>
                </a:solidFill>
              </a:rPr>
              <a:t>			</a:t>
            </a:r>
            <a:endParaRPr lang="en-US" sz="2700" dirty="0">
              <a:solidFill>
                <a:prstClr val="black"/>
              </a:solidFill>
              <a:latin typeface="Courier New" pitchFamily="49" charset="0"/>
            </a:endParaRPr>
          </a:p>
          <a:p>
            <a:pPr marL="342900" lvl="0" indent="-342900">
              <a:spcBef>
                <a:spcPct val="20000"/>
              </a:spcBef>
              <a:defRPr/>
            </a:pPr>
            <a:r>
              <a:rPr lang="en-US" sz="2400" b="1" dirty="0">
                <a:solidFill>
                  <a:prstClr val="black"/>
                </a:solidFill>
                <a:latin typeface="Monaco" charset="0"/>
              </a:rPr>
              <a:t>	</a:t>
            </a:r>
            <a:r>
              <a:rPr lang="en-US" sz="2400" b="1" dirty="0">
                <a:solidFill>
                  <a:prstClr val="black"/>
                </a:solidFill>
              </a:rPr>
              <a:t>age#                2000TaxRate	        Age-Of-Dog	main</a:t>
            </a:r>
            <a:endParaRPr lang="en-US" sz="2700" dirty="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355762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C++  Data Types</a:t>
            </a:r>
          </a:p>
        </p:txBody>
      </p:sp>
      <p:sp>
        <p:nvSpPr>
          <p:cNvPr id="5123" name="Line 3"/>
          <p:cNvSpPr>
            <a:spLocks noChangeShapeType="1"/>
          </p:cNvSpPr>
          <p:nvPr/>
        </p:nvSpPr>
        <p:spPr bwMode="auto">
          <a:xfrm flipH="1">
            <a:off x="2382838" y="1524000"/>
            <a:ext cx="1046162" cy="952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4857750" y="1447800"/>
            <a:ext cx="1220788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5" name="Line 5"/>
          <p:cNvSpPr>
            <a:spLocks noChangeShapeType="1"/>
          </p:cNvSpPr>
          <p:nvPr/>
        </p:nvSpPr>
        <p:spPr bwMode="auto">
          <a:xfrm>
            <a:off x="6134100" y="1466850"/>
            <a:ext cx="1303338" cy="102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auto">
          <a:xfrm>
            <a:off x="6811963" y="2384425"/>
            <a:ext cx="1692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1" hangingPunct="1"/>
            <a:r>
              <a:rPr lang="en-US" altLang="en-US" b="1">
                <a:solidFill>
                  <a:srgbClr val="CC0000"/>
                </a:solidFill>
                <a:latin typeface="Calibri" pitchFamily="34" charset="0"/>
              </a:rPr>
              <a:t>structured</a:t>
            </a:r>
          </a:p>
        </p:txBody>
      </p: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6332538" y="2800350"/>
            <a:ext cx="2362200" cy="704850"/>
            <a:chOff x="3917" y="1980"/>
            <a:chExt cx="1488" cy="444"/>
          </a:xfrm>
        </p:grpSpPr>
        <p:sp>
          <p:nvSpPr>
            <p:cNvPr id="5151" name="Line 9"/>
            <p:cNvSpPr>
              <a:spLocks noChangeShapeType="1"/>
            </p:cNvSpPr>
            <p:nvPr/>
          </p:nvSpPr>
          <p:spPr bwMode="auto">
            <a:xfrm>
              <a:off x="4973" y="1980"/>
              <a:ext cx="432" cy="4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Line 10"/>
            <p:cNvSpPr>
              <a:spLocks noChangeShapeType="1"/>
            </p:cNvSpPr>
            <p:nvPr/>
          </p:nvSpPr>
          <p:spPr bwMode="auto">
            <a:xfrm>
              <a:off x="4829" y="1980"/>
              <a:ext cx="96" cy="4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3" name="Line 11"/>
            <p:cNvSpPr>
              <a:spLocks noChangeShapeType="1"/>
            </p:cNvSpPr>
            <p:nvPr/>
          </p:nvSpPr>
          <p:spPr bwMode="auto">
            <a:xfrm flipH="1">
              <a:off x="4409" y="1980"/>
              <a:ext cx="228" cy="4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12"/>
            <p:cNvSpPr>
              <a:spLocks noChangeShapeType="1"/>
            </p:cNvSpPr>
            <p:nvPr/>
          </p:nvSpPr>
          <p:spPr bwMode="auto">
            <a:xfrm flipH="1">
              <a:off x="3917" y="1980"/>
              <a:ext cx="432" cy="4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5319713" y="5051425"/>
            <a:ext cx="2466975" cy="1281113"/>
            <a:chOff x="3351" y="3398"/>
            <a:chExt cx="1554" cy="807"/>
          </a:xfrm>
        </p:grpSpPr>
        <p:sp>
          <p:nvSpPr>
            <p:cNvPr id="5147" name="Rectangle 14"/>
            <p:cNvSpPr>
              <a:spLocks noChangeArrowheads="1"/>
            </p:cNvSpPr>
            <p:nvPr/>
          </p:nvSpPr>
          <p:spPr bwMode="auto">
            <a:xfrm>
              <a:off x="3591" y="3398"/>
              <a:ext cx="90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1" hangingPunct="1"/>
              <a:r>
                <a:rPr lang="en-US" altLang="en-US" b="1">
                  <a:solidFill>
                    <a:srgbClr val="CC0000"/>
                  </a:solidFill>
                  <a:latin typeface="Calibri" pitchFamily="34" charset="0"/>
                </a:rPr>
                <a:t> address</a:t>
              </a:r>
            </a:p>
          </p:txBody>
        </p:sp>
        <p:sp>
          <p:nvSpPr>
            <p:cNvPr id="5148" name="Line 15"/>
            <p:cNvSpPr>
              <a:spLocks noChangeShapeType="1"/>
            </p:cNvSpPr>
            <p:nvPr/>
          </p:nvSpPr>
          <p:spPr bwMode="auto">
            <a:xfrm flipH="1">
              <a:off x="3553" y="3648"/>
              <a:ext cx="288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9" name="Line 16"/>
            <p:cNvSpPr>
              <a:spLocks noChangeShapeType="1"/>
            </p:cNvSpPr>
            <p:nvPr/>
          </p:nvSpPr>
          <p:spPr bwMode="auto">
            <a:xfrm>
              <a:off x="4177" y="3648"/>
              <a:ext cx="336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0" name="Rectangle 17"/>
            <p:cNvSpPr>
              <a:spLocks noChangeArrowheads="1"/>
            </p:cNvSpPr>
            <p:nvPr/>
          </p:nvSpPr>
          <p:spPr bwMode="auto">
            <a:xfrm>
              <a:off x="3351" y="3955"/>
              <a:ext cx="155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1" hangingPunct="1"/>
              <a:r>
                <a:rPr lang="en-US" altLang="en-US" sz="2000" b="1">
                  <a:latin typeface="Calibri" pitchFamily="34" charset="0"/>
                </a:rPr>
                <a:t>pointer    reference</a:t>
              </a:r>
            </a:p>
          </p:txBody>
        </p:sp>
      </p:grpSp>
      <p:sp>
        <p:nvSpPr>
          <p:cNvPr id="5129" name="Rectangle 18"/>
          <p:cNvSpPr>
            <a:spLocks noChangeArrowheads="1"/>
          </p:cNvSpPr>
          <p:nvPr/>
        </p:nvSpPr>
        <p:spPr bwMode="auto">
          <a:xfrm>
            <a:off x="1738313" y="2384425"/>
            <a:ext cx="1149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1" hangingPunct="1"/>
            <a:r>
              <a:rPr lang="en-US" altLang="en-US" b="1">
                <a:solidFill>
                  <a:srgbClr val="CC0000"/>
                </a:solidFill>
                <a:latin typeface="Calibri" pitchFamily="34" charset="0"/>
              </a:rPr>
              <a:t>simple</a:t>
            </a:r>
          </a:p>
        </p:txBody>
      </p:sp>
      <p:sp>
        <p:nvSpPr>
          <p:cNvPr id="5130" name="Line 19"/>
          <p:cNvSpPr>
            <a:spLocks noChangeShapeType="1"/>
          </p:cNvSpPr>
          <p:nvPr/>
        </p:nvSpPr>
        <p:spPr bwMode="auto">
          <a:xfrm flipH="1">
            <a:off x="1220788" y="2781300"/>
            <a:ext cx="7620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Line 20"/>
          <p:cNvSpPr>
            <a:spLocks noChangeShapeType="1"/>
          </p:cNvSpPr>
          <p:nvPr/>
        </p:nvSpPr>
        <p:spPr bwMode="auto">
          <a:xfrm>
            <a:off x="2592388" y="2781300"/>
            <a:ext cx="1447800" cy="68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Rectangle 21"/>
          <p:cNvSpPr>
            <a:spLocks noChangeArrowheads="1"/>
          </p:cNvSpPr>
          <p:nvPr/>
        </p:nvSpPr>
        <p:spPr bwMode="auto">
          <a:xfrm>
            <a:off x="671513" y="3421063"/>
            <a:ext cx="26860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1" hangingPunct="1"/>
            <a:r>
              <a:rPr lang="en-US" altLang="en-US" sz="2000" b="1">
                <a:solidFill>
                  <a:srgbClr val="A50021"/>
                </a:solidFill>
                <a:latin typeface="Calibri" pitchFamily="34" charset="0"/>
              </a:rPr>
              <a:t> integral            </a:t>
            </a:r>
            <a:r>
              <a:rPr lang="en-US" altLang="en-US" sz="2000" b="1">
                <a:latin typeface="Calibri" pitchFamily="34" charset="0"/>
              </a:rPr>
              <a:t>enum</a:t>
            </a:r>
          </a:p>
        </p:txBody>
      </p:sp>
      <p:sp>
        <p:nvSpPr>
          <p:cNvPr id="5133" name="Line 23"/>
          <p:cNvSpPr>
            <a:spLocks noChangeShapeType="1"/>
          </p:cNvSpPr>
          <p:nvPr/>
        </p:nvSpPr>
        <p:spPr bwMode="auto">
          <a:xfrm flipH="1">
            <a:off x="611188" y="3771900"/>
            <a:ext cx="381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4" name="Line 24"/>
          <p:cNvSpPr>
            <a:spLocks noChangeShapeType="1"/>
          </p:cNvSpPr>
          <p:nvPr/>
        </p:nvSpPr>
        <p:spPr bwMode="auto">
          <a:xfrm flipH="1">
            <a:off x="1068388" y="3771900"/>
            <a:ext cx="762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5" name="Line 25"/>
          <p:cNvSpPr>
            <a:spLocks noChangeShapeType="1"/>
          </p:cNvSpPr>
          <p:nvPr/>
        </p:nvSpPr>
        <p:spPr bwMode="auto">
          <a:xfrm>
            <a:off x="1373188" y="3771900"/>
            <a:ext cx="304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6" name="Line 26"/>
          <p:cNvSpPr>
            <a:spLocks noChangeShapeType="1"/>
          </p:cNvSpPr>
          <p:nvPr/>
        </p:nvSpPr>
        <p:spPr bwMode="auto">
          <a:xfrm>
            <a:off x="1601788" y="3771900"/>
            <a:ext cx="6858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2405063" y="3421063"/>
            <a:ext cx="3341687" cy="2168525"/>
            <a:chOff x="1467" y="2371"/>
            <a:chExt cx="2105" cy="1366"/>
          </a:xfrm>
        </p:grpSpPr>
        <p:sp>
          <p:nvSpPr>
            <p:cNvPr id="5142" name="Rectangle 28"/>
            <p:cNvSpPr>
              <a:spLocks noChangeArrowheads="1"/>
            </p:cNvSpPr>
            <p:nvPr/>
          </p:nvSpPr>
          <p:spPr bwMode="auto">
            <a:xfrm>
              <a:off x="2343" y="2371"/>
              <a:ext cx="6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1" hangingPunct="1"/>
              <a:r>
                <a:rPr lang="en-US" altLang="en-US" sz="2000" b="1">
                  <a:solidFill>
                    <a:srgbClr val="A50021"/>
                  </a:solidFill>
                  <a:latin typeface="Calibri" pitchFamily="34" charset="0"/>
                </a:rPr>
                <a:t>floating</a:t>
              </a:r>
            </a:p>
          </p:txBody>
        </p:sp>
        <p:sp>
          <p:nvSpPr>
            <p:cNvPr id="5143" name="Rectangle 29"/>
            <p:cNvSpPr>
              <a:spLocks noChangeArrowheads="1"/>
            </p:cNvSpPr>
            <p:nvPr/>
          </p:nvSpPr>
          <p:spPr bwMode="auto">
            <a:xfrm>
              <a:off x="1467" y="3487"/>
              <a:ext cx="21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1" hangingPunct="1"/>
              <a:r>
                <a:rPr lang="en-US" altLang="en-US" sz="2000" b="1">
                  <a:latin typeface="Calibri" pitchFamily="34" charset="0"/>
                </a:rPr>
                <a:t>float  double   long double</a:t>
              </a:r>
            </a:p>
          </p:txBody>
        </p:sp>
        <p:sp>
          <p:nvSpPr>
            <p:cNvPr id="5144" name="Line 30"/>
            <p:cNvSpPr>
              <a:spLocks noChangeShapeType="1"/>
            </p:cNvSpPr>
            <p:nvPr/>
          </p:nvSpPr>
          <p:spPr bwMode="auto">
            <a:xfrm flipH="1">
              <a:off x="1777" y="2592"/>
              <a:ext cx="960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5" name="Line 31"/>
            <p:cNvSpPr>
              <a:spLocks noChangeShapeType="1"/>
            </p:cNvSpPr>
            <p:nvPr/>
          </p:nvSpPr>
          <p:spPr bwMode="auto">
            <a:xfrm>
              <a:off x="2833" y="2592"/>
              <a:ext cx="96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6" name="Line 32"/>
            <p:cNvSpPr>
              <a:spLocks noChangeShapeType="1"/>
            </p:cNvSpPr>
            <p:nvPr/>
          </p:nvSpPr>
          <p:spPr bwMode="auto">
            <a:xfrm flipH="1">
              <a:off x="2209" y="2592"/>
              <a:ext cx="576" cy="9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38" name="Line 33"/>
          <p:cNvSpPr>
            <a:spLocks noChangeShapeType="1"/>
          </p:cNvSpPr>
          <p:nvPr/>
        </p:nvSpPr>
        <p:spPr bwMode="auto">
          <a:xfrm>
            <a:off x="1754188" y="3771900"/>
            <a:ext cx="12192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9" name="Line 34"/>
          <p:cNvSpPr>
            <a:spLocks noChangeShapeType="1"/>
          </p:cNvSpPr>
          <p:nvPr/>
        </p:nvSpPr>
        <p:spPr bwMode="auto">
          <a:xfrm>
            <a:off x="2266950" y="2781300"/>
            <a:ext cx="495300" cy="742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40" name="Rectangle 22"/>
          <p:cNvSpPr>
            <a:spLocks noChangeArrowheads="1"/>
          </p:cNvSpPr>
          <p:nvPr/>
        </p:nvSpPr>
        <p:spPr bwMode="auto">
          <a:xfrm>
            <a:off x="1588" y="4335463"/>
            <a:ext cx="3367087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eaLnBrk="1" hangingPunct="1"/>
            <a:r>
              <a:rPr lang="en-US" altLang="en-US" sz="2000" b="1">
                <a:latin typeface="Calibri" pitchFamily="34" charset="0"/>
              </a:rPr>
              <a:t>char  short   int  long  bool</a:t>
            </a:r>
          </a:p>
        </p:txBody>
      </p:sp>
      <p:sp>
        <p:nvSpPr>
          <p:cNvPr id="5141" name="Rectangle 7"/>
          <p:cNvSpPr>
            <a:spLocks noChangeArrowheads="1"/>
          </p:cNvSpPr>
          <p:nvPr/>
        </p:nvSpPr>
        <p:spPr bwMode="auto">
          <a:xfrm>
            <a:off x="6059488" y="3421063"/>
            <a:ext cx="32369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/>
            <a:r>
              <a:rPr lang="en-US" altLang="en-US" sz="2000" b="1">
                <a:latin typeface="Calibri" pitchFamily="34" charset="0"/>
              </a:rPr>
              <a:t>array   struct   union   class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38" name="Rectangle 37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55632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C++ Primitive Data Types</a:t>
            </a:r>
          </a:p>
        </p:txBody>
      </p: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98425" y="2054226"/>
            <a:ext cx="8564563" cy="3894138"/>
            <a:chOff x="62" y="1426"/>
            <a:chExt cx="5395" cy="2453"/>
          </a:xfrm>
        </p:grpSpPr>
        <p:sp>
          <p:nvSpPr>
            <p:cNvPr id="6148" name="Rectangle 3"/>
            <p:cNvSpPr>
              <a:spLocks noChangeArrowheads="1"/>
            </p:cNvSpPr>
            <p:nvPr/>
          </p:nvSpPr>
          <p:spPr bwMode="auto">
            <a:xfrm>
              <a:off x="2248" y="1426"/>
              <a:ext cx="102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1" hangingPunct="1"/>
              <a:r>
                <a:rPr lang="en-US" altLang="en-US" b="1" dirty="0">
                  <a:solidFill>
                    <a:srgbClr val="CC0000"/>
                  </a:solidFill>
                  <a:latin typeface="Calibri" pitchFamily="34" charset="0"/>
                </a:rPr>
                <a:t>Primitive types</a:t>
              </a:r>
            </a:p>
          </p:txBody>
        </p:sp>
        <p:sp>
          <p:nvSpPr>
            <p:cNvPr id="6149" name="Line 4"/>
            <p:cNvSpPr>
              <a:spLocks noChangeShapeType="1"/>
            </p:cNvSpPr>
            <p:nvPr/>
          </p:nvSpPr>
          <p:spPr bwMode="auto">
            <a:xfrm flipH="1">
              <a:off x="1523" y="1719"/>
              <a:ext cx="924" cy="4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0" name="Line 5"/>
            <p:cNvSpPr>
              <a:spLocks noChangeShapeType="1"/>
            </p:cNvSpPr>
            <p:nvPr/>
          </p:nvSpPr>
          <p:spPr bwMode="auto">
            <a:xfrm>
              <a:off x="3071" y="1695"/>
              <a:ext cx="1063" cy="4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1" name="Rectangle 6"/>
            <p:cNvSpPr>
              <a:spLocks noChangeArrowheads="1"/>
            </p:cNvSpPr>
            <p:nvPr/>
          </p:nvSpPr>
          <p:spPr bwMode="auto">
            <a:xfrm>
              <a:off x="1146" y="2122"/>
              <a:ext cx="6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1" hangingPunct="1"/>
              <a:r>
                <a:rPr lang="en-US" altLang="en-US" sz="2000" b="1">
                  <a:solidFill>
                    <a:srgbClr val="A50021"/>
                  </a:solidFill>
                  <a:latin typeface="Calibri" pitchFamily="34" charset="0"/>
                </a:rPr>
                <a:t>integral</a:t>
              </a:r>
            </a:p>
          </p:txBody>
        </p:sp>
        <p:sp>
          <p:nvSpPr>
            <p:cNvPr id="6152" name="Rectangle 7"/>
            <p:cNvSpPr>
              <a:spLocks noChangeArrowheads="1"/>
            </p:cNvSpPr>
            <p:nvPr/>
          </p:nvSpPr>
          <p:spPr bwMode="auto">
            <a:xfrm>
              <a:off x="3840" y="2122"/>
              <a:ext cx="693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1" hangingPunct="1"/>
              <a:r>
                <a:rPr lang="en-US" altLang="en-US" sz="2000" b="1">
                  <a:solidFill>
                    <a:srgbClr val="A50021"/>
                  </a:solidFill>
                  <a:latin typeface="Calibri" pitchFamily="34" charset="0"/>
                </a:rPr>
                <a:t>floating</a:t>
              </a:r>
            </a:p>
          </p:txBody>
        </p:sp>
        <p:sp>
          <p:nvSpPr>
            <p:cNvPr id="6153" name="Rectangle 8"/>
            <p:cNvSpPr>
              <a:spLocks noChangeArrowheads="1"/>
            </p:cNvSpPr>
            <p:nvPr/>
          </p:nvSpPr>
          <p:spPr bwMode="auto">
            <a:xfrm>
              <a:off x="62" y="2733"/>
              <a:ext cx="5395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1" hangingPunct="1"/>
              <a:r>
                <a:rPr lang="en-US" altLang="en-US" sz="2000" b="1">
                  <a:latin typeface="Calibri" pitchFamily="34" charset="0"/>
                </a:rPr>
                <a:t> char     short            int    long    bool                             float    double    long double</a:t>
              </a:r>
            </a:p>
          </p:txBody>
        </p:sp>
        <p:sp>
          <p:nvSpPr>
            <p:cNvPr id="6154" name="Line 9"/>
            <p:cNvSpPr>
              <a:spLocks noChangeShapeType="1"/>
            </p:cNvSpPr>
            <p:nvPr/>
          </p:nvSpPr>
          <p:spPr bwMode="auto">
            <a:xfrm flipH="1">
              <a:off x="961" y="2367"/>
              <a:ext cx="336" cy="40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5" name="Line 11"/>
            <p:cNvSpPr>
              <a:spLocks noChangeShapeType="1"/>
            </p:cNvSpPr>
            <p:nvPr/>
          </p:nvSpPr>
          <p:spPr bwMode="auto">
            <a:xfrm flipH="1">
              <a:off x="3731" y="2360"/>
              <a:ext cx="205" cy="3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6" name="Line 12"/>
            <p:cNvSpPr>
              <a:spLocks noChangeShapeType="1"/>
            </p:cNvSpPr>
            <p:nvPr/>
          </p:nvSpPr>
          <p:spPr bwMode="auto">
            <a:xfrm>
              <a:off x="4165" y="2367"/>
              <a:ext cx="192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7" name="Line 13"/>
            <p:cNvSpPr>
              <a:spLocks noChangeShapeType="1"/>
            </p:cNvSpPr>
            <p:nvPr/>
          </p:nvSpPr>
          <p:spPr bwMode="auto">
            <a:xfrm flipH="1">
              <a:off x="332" y="2360"/>
              <a:ext cx="743" cy="41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8" name="Line 14"/>
            <p:cNvSpPr>
              <a:spLocks noChangeShapeType="1"/>
            </p:cNvSpPr>
            <p:nvPr/>
          </p:nvSpPr>
          <p:spPr bwMode="auto">
            <a:xfrm>
              <a:off x="4467" y="2360"/>
              <a:ext cx="634" cy="3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59" name="Line 15"/>
            <p:cNvSpPr>
              <a:spLocks noChangeShapeType="1"/>
            </p:cNvSpPr>
            <p:nvPr/>
          </p:nvSpPr>
          <p:spPr bwMode="auto">
            <a:xfrm>
              <a:off x="1502" y="2371"/>
              <a:ext cx="390" cy="40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0" name="Line 16"/>
            <p:cNvSpPr>
              <a:spLocks noChangeShapeType="1"/>
            </p:cNvSpPr>
            <p:nvPr/>
          </p:nvSpPr>
          <p:spPr bwMode="auto">
            <a:xfrm>
              <a:off x="1594" y="2360"/>
              <a:ext cx="793" cy="4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1" name="Line 17"/>
            <p:cNvSpPr>
              <a:spLocks noChangeShapeType="1"/>
            </p:cNvSpPr>
            <p:nvPr/>
          </p:nvSpPr>
          <p:spPr bwMode="auto">
            <a:xfrm>
              <a:off x="371" y="2960"/>
              <a:ext cx="496" cy="63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2" name="Line 18"/>
            <p:cNvSpPr>
              <a:spLocks noChangeShapeType="1"/>
            </p:cNvSpPr>
            <p:nvPr/>
          </p:nvSpPr>
          <p:spPr bwMode="auto">
            <a:xfrm>
              <a:off x="971" y="2960"/>
              <a:ext cx="58" cy="6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3" name="Line 19"/>
            <p:cNvSpPr>
              <a:spLocks noChangeShapeType="1"/>
            </p:cNvSpPr>
            <p:nvPr/>
          </p:nvSpPr>
          <p:spPr bwMode="auto">
            <a:xfrm flipH="1">
              <a:off x="1167" y="2972"/>
              <a:ext cx="236" cy="6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4" name="Line 20"/>
            <p:cNvSpPr>
              <a:spLocks noChangeShapeType="1"/>
            </p:cNvSpPr>
            <p:nvPr/>
          </p:nvSpPr>
          <p:spPr bwMode="auto">
            <a:xfrm flipH="1">
              <a:off x="1306" y="2948"/>
              <a:ext cx="537" cy="65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65" name="Rectangle 21"/>
            <p:cNvSpPr>
              <a:spLocks noChangeArrowheads="1"/>
            </p:cNvSpPr>
            <p:nvPr/>
          </p:nvSpPr>
          <p:spPr bwMode="auto">
            <a:xfrm>
              <a:off x="659" y="3629"/>
              <a:ext cx="82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1" hangingPunct="1"/>
              <a:r>
                <a:rPr lang="en-US" altLang="en-US" sz="2000" b="1">
                  <a:latin typeface="Calibri" pitchFamily="34" charset="0"/>
                </a:rPr>
                <a:t>unsigned</a:t>
              </a:r>
            </a:p>
          </p:txBody>
        </p:sp>
        <p:sp>
          <p:nvSpPr>
            <p:cNvPr id="6166" name="Line 23"/>
            <p:cNvSpPr>
              <a:spLocks noChangeShapeType="1"/>
            </p:cNvSpPr>
            <p:nvPr/>
          </p:nvSpPr>
          <p:spPr bwMode="auto">
            <a:xfrm>
              <a:off x="1380" y="2352"/>
              <a:ext cx="6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3" name="Rectangle 2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25" name="Rectangle 24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6007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Primitive Data Types in C++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200" b="1" dirty="0" smtClean="0"/>
              <a:t>Integral Types	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 smtClean="0"/>
              <a:t>represent whole numbers and their negatives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 smtClean="0"/>
              <a:t>declared as </a:t>
            </a:r>
            <a:r>
              <a:rPr lang="en-US" altLang="en-US" sz="1700" dirty="0" err="1" smtClean="0">
                <a:solidFill>
                  <a:srgbClr val="990000"/>
                </a:solidFill>
              </a:rPr>
              <a:t>int</a:t>
            </a:r>
            <a:r>
              <a:rPr lang="en-US" altLang="en-US" sz="1700" dirty="0" smtClean="0"/>
              <a:t>, </a:t>
            </a:r>
            <a:r>
              <a:rPr lang="en-US" altLang="en-US" sz="1700" dirty="0" smtClean="0">
                <a:solidFill>
                  <a:schemeClr val="accent2"/>
                </a:solidFill>
              </a:rPr>
              <a:t> </a:t>
            </a:r>
            <a:r>
              <a:rPr lang="en-US" altLang="en-US" sz="1700" dirty="0" smtClean="0">
                <a:solidFill>
                  <a:srgbClr val="990000"/>
                </a:solidFill>
              </a:rPr>
              <a:t>short</a:t>
            </a:r>
            <a:r>
              <a:rPr lang="en-US" altLang="en-US" sz="1700" dirty="0" smtClean="0"/>
              <a:t>, or</a:t>
            </a:r>
            <a:r>
              <a:rPr lang="en-US" altLang="en-US" sz="1700" dirty="0" smtClean="0">
                <a:solidFill>
                  <a:schemeClr val="accent2"/>
                </a:solidFill>
              </a:rPr>
              <a:t> </a:t>
            </a:r>
            <a:r>
              <a:rPr lang="en-US" altLang="en-US" sz="1700" dirty="0" smtClean="0">
                <a:solidFill>
                  <a:srgbClr val="990000"/>
                </a:solidFill>
              </a:rPr>
              <a:t>long</a:t>
            </a:r>
            <a:endParaRPr lang="en-US" altLang="en-US" sz="1400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en-US" sz="2200" b="1" dirty="0" smtClean="0"/>
              <a:t>Character Types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 smtClean="0"/>
              <a:t>represent single characters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 smtClean="0"/>
              <a:t>declared as </a:t>
            </a:r>
            <a:r>
              <a:rPr lang="en-US" altLang="en-US" sz="1700" dirty="0" smtClean="0">
                <a:solidFill>
                  <a:srgbClr val="990000"/>
                </a:solidFill>
              </a:rPr>
              <a:t>char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 smtClean="0"/>
              <a:t>Stored by ASCII values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200" b="1" dirty="0" smtClean="0"/>
              <a:t>Boolean Type</a:t>
            </a:r>
          </a:p>
          <a:p>
            <a:pPr marL="742950" lvl="2" indent="-342900" eaLnBrk="1" hangingPunct="1">
              <a:lnSpc>
                <a:spcPct val="80000"/>
              </a:lnSpc>
            </a:pPr>
            <a:r>
              <a:rPr lang="en-US" altLang="en-US" sz="1700" dirty="0" smtClean="0"/>
              <a:t>declared as </a:t>
            </a:r>
            <a:r>
              <a:rPr lang="en-US" altLang="en-US" sz="1700" dirty="0" smtClean="0">
                <a:solidFill>
                  <a:srgbClr val="990000"/>
                </a:solidFill>
              </a:rPr>
              <a:t>bool </a:t>
            </a:r>
            <a:endParaRPr lang="en-US" altLang="en-US" sz="1700" dirty="0" smtClean="0"/>
          </a:p>
          <a:p>
            <a:pPr marL="742950" lvl="2" indent="-342900" eaLnBrk="1" hangingPunct="1">
              <a:lnSpc>
                <a:spcPct val="80000"/>
              </a:lnSpc>
            </a:pPr>
            <a:r>
              <a:rPr lang="en-US" altLang="en-US" sz="1700" dirty="0" smtClean="0"/>
              <a:t>has only 2 values </a:t>
            </a:r>
            <a:r>
              <a:rPr lang="en-US" altLang="en-US" sz="1700" dirty="0" smtClean="0">
                <a:solidFill>
                  <a:srgbClr val="00B0F0"/>
                </a:solidFill>
              </a:rPr>
              <a:t>true/false</a:t>
            </a:r>
            <a:endParaRPr lang="en-US" altLang="en-US" sz="1700" dirty="0" smtClean="0"/>
          </a:p>
          <a:p>
            <a:pPr marL="742950" lvl="2" indent="-342900" eaLnBrk="1" hangingPunct="1">
              <a:lnSpc>
                <a:spcPct val="80000"/>
              </a:lnSpc>
            </a:pPr>
            <a:r>
              <a:rPr lang="en-US" altLang="en-US" sz="1700" dirty="0" smtClean="0"/>
              <a:t>will not print out directly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200" b="1" dirty="0" smtClean="0"/>
              <a:t>Floating Types	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 smtClean="0"/>
              <a:t>represent real numbers with a decimal point</a:t>
            </a: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 smtClean="0"/>
              <a:t>declared as </a:t>
            </a:r>
            <a:r>
              <a:rPr lang="en-US" altLang="en-US" sz="1700" dirty="0" smtClean="0">
                <a:solidFill>
                  <a:srgbClr val="990000"/>
                </a:solidFill>
              </a:rPr>
              <a:t>float</a:t>
            </a:r>
            <a:r>
              <a:rPr lang="en-US" altLang="en-US" sz="1700" dirty="0" smtClean="0"/>
              <a:t>, or </a:t>
            </a:r>
            <a:r>
              <a:rPr lang="en-US" altLang="en-US" sz="1700" dirty="0" smtClean="0">
                <a:solidFill>
                  <a:srgbClr val="990000"/>
                </a:solidFill>
              </a:rPr>
              <a:t>double</a:t>
            </a:r>
            <a:endParaRPr lang="en-US" altLang="en-US" sz="1700" dirty="0" smtClean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sz="1700" dirty="0" smtClean="0"/>
              <a:t>Scientific notation where e (or E) stand for “times 10 to the ” (.55-e6)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1342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71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71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71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Samples of C++ Data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 smtClean="0">
                <a:solidFill>
                  <a:srgbClr val="990000"/>
                </a:solidFill>
              </a:rPr>
              <a:t>int </a:t>
            </a:r>
            <a:r>
              <a:rPr lang="en-US" dirty="0" smtClean="0"/>
              <a:t> sample values 	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b="1" dirty="0" smtClean="0"/>
              <a:t>4578 		 -4578		    0</a:t>
            </a:r>
            <a:endParaRPr lang="en-US" dirty="0" smtClean="0"/>
          </a:p>
          <a:p>
            <a:pPr lvl="1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sz="1800" dirty="0" smtClean="0"/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 err="1" smtClean="0">
                <a:solidFill>
                  <a:srgbClr val="990000"/>
                </a:solidFill>
              </a:rPr>
              <a:t>bool</a:t>
            </a:r>
            <a:r>
              <a:rPr lang="en-US" dirty="0" smtClean="0">
                <a:solidFill>
                  <a:srgbClr val="990000"/>
                </a:solidFill>
              </a:rPr>
              <a:t> </a:t>
            </a:r>
            <a:r>
              <a:rPr lang="en-US" dirty="0" smtClean="0"/>
              <a:t>values 	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b="1" dirty="0" smtClean="0"/>
              <a:t>true 		 false</a:t>
            </a:r>
            <a:endParaRPr lang="en-US" dirty="0" smtClean="0"/>
          </a:p>
          <a:p>
            <a:pPr lvl="1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sz="1800" dirty="0" smtClean="0"/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 smtClean="0">
                <a:solidFill>
                  <a:srgbClr val="990000"/>
                </a:solidFill>
              </a:rPr>
              <a:t>float</a:t>
            </a:r>
            <a:r>
              <a:rPr lang="en-US" dirty="0" smtClean="0">
                <a:solidFill>
                  <a:schemeClr val="hlink"/>
                </a:solidFill>
              </a:rPr>
              <a:t>  </a:t>
            </a:r>
            <a:r>
              <a:rPr lang="en-US" dirty="0" smtClean="0"/>
              <a:t>sample values</a:t>
            </a:r>
          </a:p>
          <a:p>
            <a:pPr lvl="1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b="1" dirty="0" smtClean="0"/>
              <a:t>95.274		   95.0	 	          .265</a:t>
            </a:r>
            <a:endParaRPr lang="en-US" dirty="0" smtClean="0"/>
          </a:p>
          <a:p>
            <a:pPr lvl="1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sz="1800" dirty="0" smtClean="0"/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 smtClean="0">
                <a:solidFill>
                  <a:srgbClr val="990000"/>
                </a:solidFill>
              </a:rPr>
              <a:t>char </a:t>
            </a:r>
            <a:r>
              <a:rPr lang="en-US" dirty="0" smtClean="0"/>
              <a:t> sample values </a:t>
            </a:r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 smtClean="0"/>
              <a:t>   </a:t>
            </a:r>
            <a:r>
              <a:rPr lang="en-US" b="1" dirty="0" smtClean="0">
                <a:latin typeface="Courier New" pitchFamily="49" charset="0"/>
              </a:rPr>
              <a:t>‘</a:t>
            </a:r>
            <a:r>
              <a:rPr lang="en-US" b="1" dirty="0" smtClean="0"/>
              <a:t>B</a:t>
            </a:r>
            <a:r>
              <a:rPr lang="en-US" b="1" dirty="0" smtClean="0">
                <a:latin typeface="Courier New" pitchFamily="49" charset="0"/>
              </a:rPr>
              <a:t>’ 	‘</a:t>
            </a:r>
            <a:r>
              <a:rPr lang="en-US" b="1" dirty="0" smtClean="0"/>
              <a:t>d</a:t>
            </a:r>
            <a:r>
              <a:rPr lang="en-US" b="1" dirty="0" smtClean="0">
                <a:latin typeface="Courier New" pitchFamily="49" charset="0"/>
              </a:rPr>
              <a:t>’   ‘</a:t>
            </a:r>
            <a:r>
              <a:rPr lang="en-US" b="1" dirty="0" smtClean="0"/>
              <a:t>4</a:t>
            </a:r>
            <a:r>
              <a:rPr lang="en-US" b="1" dirty="0" smtClean="0">
                <a:latin typeface="Courier New" pitchFamily="49" charset="0"/>
              </a:rPr>
              <a:t>’	 ‘</a:t>
            </a:r>
            <a:r>
              <a:rPr lang="en-US" b="1" dirty="0" smtClean="0"/>
              <a:t>?</a:t>
            </a:r>
            <a:r>
              <a:rPr lang="en-US" b="1" dirty="0" smtClean="0">
                <a:latin typeface="Courier New" pitchFamily="49" charset="0"/>
              </a:rPr>
              <a:t>’		‘</a:t>
            </a:r>
            <a:r>
              <a:rPr lang="en-US" b="1" dirty="0" smtClean="0"/>
              <a:t>*</a:t>
            </a:r>
            <a:r>
              <a:rPr lang="en-US" b="1" dirty="0" smtClean="0">
                <a:latin typeface="Courier New" pitchFamily="49" charset="0"/>
              </a:rPr>
              <a:t>’</a:t>
            </a:r>
            <a:endParaRPr lang="en-US" dirty="0" smtClean="0">
              <a:latin typeface="Courier New" pitchFamily="49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7040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What Does a </a:t>
            </a:r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Variable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Declaration Do?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latin typeface="Times New Roman" pitchFamily="18" charset="0"/>
              </a:rPr>
              <a:t>A declaration tells the compiler to </a:t>
            </a:r>
            <a:r>
              <a:rPr lang="en-US" altLang="en-US" b="1" dirty="0" smtClean="0">
                <a:solidFill>
                  <a:schemeClr val="hlink"/>
                </a:solidFill>
                <a:latin typeface="Times New Roman" pitchFamily="18" charset="0"/>
              </a:rPr>
              <a:t>allocate enough memory </a:t>
            </a:r>
            <a:r>
              <a:rPr lang="en-US" altLang="en-US" b="1" dirty="0" smtClean="0">
                <a:latin typeface="Times New Roman" pitchFamily="18" charset="0"/>
              </a:rPr>
              <a:t>to hold a value of this data type,  and to </a:t>
            </a:r>
            <a:r>
              <a:rPr lang="en-US" altLang="en-US" b="1" dirty="0" smtClean="0">
                <a:solidFill>
                  <a:schemeClr val="hlink"/>
                </a:solidFill>
                <a:latin typeface="Times New Roman" pitchFamily="18" charset="0"/>
              </a:rPr>
              <a:t>associate the identifier </a:t>
            </a:r>
            <a:r>
              <a:rPr lang="en-US" altLang="en-US" b="1" dirty="0" smtClean="0">
                <a:latin typeface="Times New Roman" pitchFamily="18" charset="0"/>
              </a:rPr>
              <a:t>with this location.</a:t>
            </a:r>
          </a:p>
          <a:p>
            <a:pPr eaLnBrk="1" hangingPunct="1"/>
            <a:endParaRPr lang="en-US" altLang="en-US" b="1" dirty="0" smtClean="0">
              <a:latin typeface="Times New Roman" pitchFamily="18" charset="0"/>
            </a:endParaRPr>
          </a:p>
          <a:p>
            <a:pPr eaLnBrk="1" hangingPunct="1"/>
            <a:r>
              <a:rPr lang="en-US" altLang="en-US" b="1" dirty="0" err="1" smtClean="0">
                <a:latin typeface="Courier New" pitchFamily="49" charset="0"/>
              </a:rPr>
              <a:t>int</a:t>
            </a:r>
            <a:r>
              <a:rPr lang="en-US" altLang="en-US" b="1" dirty="0" smtClean="0">
                <a:latin typeface="Courier New" pitchFamily="49" charset="0"/>
              </a:rPr>
              <a:t> </a:t>
            </a:r>
            <a:r>
              <a:rPr lang="en-US" altLang="en-US" b="1" dirty="0" err="1" smtClean="0">
                <a:latin typeface="Courier New" pitchFamily="49" charset="0"/>
              </a:rPr>
              <a:t>ageOfDog</a:t>
            </a:r>
            <a:r>
              <a:rPr lang="en-US" altLang="en-US" b="1" dirty="0" smtClean="0">
                <a:latin typeface="Courier New" pitchFamily="49" charset="0"/>
              </a:rPr>
              <a:t>;</a:t>
            </a:r>
            <a:r>
              <a:rPr lang="en-US" altLang="en-US" b="1" dirty="0" smtClean="0">
                <a:latin typeface="Courier New" pitchFamily="49" charset="0"/>
                <a:sym typeface="Wingdings" pitchFamily="2" charset="2"/>
              </a:rPr>
              <a:t></a:t>
            </a:r>
          </a:p>
          <a:p>
            <a:pPr eaLnBrk="1" hangingPunct="1"/>
            <a:r>
              <a:rPr lang="en-US" altLang="en-US" b="1" dirty="0" smtClean="0">
                <a:latin typeface="Courier New" pitchFamily="49" charset="0"/>
                <a:sym typeface="Wingdings" pitchFamily="2" charset="2"/>
              </a:rPr>
              <a:t>char </a:t>
            </a:r>
            <a:r>
              <a:rPr lang="en-US" altLang="en-US" b="1" dirty="0" err="1" smtClean="0">
                <a:latin typeface="Courier New" pitchFamily="49" charset="0"/>
                <a:sym typeface="Wingdings" pitchFamily="2" charset="2"/>
              </a:rPr>
              <a:t>middleInitial</a:t>
            </a:r>
            <a:r>
              <a:rPr lang="en-US" altLang="en-US" b="1" dirty="0" smtClean="0">
                <a:latin typeface="Courier New" pitchFamily="49" charset="0"/>
                <a:sym typeface="Wingdings" pitchFamily="2" charset="2"/>
              </a:rPr>
              <a:t>; </a:t>
            </a:r>
          </a:p>
          <a:p>
            <a:pPr eaLnBrk="1" hangingPunct="1"/>
            <a:r>
              <a:rPr lang="en-US" altLang="en-US" b="1" dirty="0" smtClean="0">
                <a:latin typeface="Courier New" pitchFamily="49" charset="0"/>
                <a:sym typeface="Wingdings" pitchFamily="2" charset="2"/>
              </a:rPr>
              <a:t>float </a:t>
            </a:r>
            <a:r>
              <a:rPr lang="en-US" altLang="en-US" b="1" dirty="0" err="1" smtClean="0">
                <a:latin typeface="Courier New" pitchFamily="49" charset="0"/>
                <a:sym typeface="Wingdings" pitchFamily="2" charset="2"/>
              </a:rPr>
              <a:t>taxRate</a:t>
            </a:r>
            <a:r>
              <a:rPr lang="en-US" altLang="en-US" b="1" dirty="0" smtClean="0">
                <a:latin typeface="Courier New" pitchFamily="49" charset="0"/>
                <a:sym typeface="Wingdings" pitchFamily="2" charset="2"/>
              </a:rPr>
              <a:t>;  </a:t>
            </a:r>
            <a:endParaRPr lang="en-US" altLang="en-US" b="1" dirty="0" smtClean="0">
              <a:latin typeface="Courier New" pitchFamily="49" charset="0"/>
            </a:endParaRPr>
          </a:p>
          <a:p>
            <a:pPr eaLnBrk="1" hangingPunct="1">
              <a:buFont typeface="Arial" pitchFamily="34" charset="0"/>
              <a:buNone/>
            </a:pPr>
            <a:endParaRPr lang="en-US" altLang="en-US" b="1" dirty="0" smtClean="0">
              <a:latin typeface="Times New Roman" pitchFamily="18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696406" y="3960017"/>
            <a:ext cx="4127500" cy="584200"/>
            <a:chOff x="4572000" y="3657600"/>
            <a:chExt cx="4127500" cy="584200"/>
          </a:xfrm>
        </p:grpSpPr>
        <p:sp>
          <p:nvSpPr>
            <p:cNvPr id="10244" name="Rectangle 8"/>
            <p:cNvSpPr>
              <a:spLocks noChangeArrowheads="1"/>
            </p:cNvSpPr>
            <p:nvPr/>
          </p:nvSpPr>
          <p:spPr bwMode="auto">
            <a:xfrm>
              <a:off x="4572000" y="3657600"/>
              <a:ext cx="1041400" cy="5842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0245" name="Rectangle 9"/>
            <p:cNvSpPr>
              <a:spLocks noChangeArrowheads="1"/>
            </p:cNvSpPr>
            <p:nvPr/>
          </p:nvSpPr>
          <p:spPr bwMode="auto">
            <a:xfrm>
              <a:off x="5600700" y="3657600"/>
              <a:ext cx="1041400" cy="5842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0246" name="Rectangle 10"/>
            <p:cNvSpPr>
              <a:spLocks noChangeArrowheads="1"/>
            </p:cNvSpPr>
            <p:nvPr/>
          </p:nvSpPr>
          <p:spPr bwMode="auto">
            <a:xfrm>
              <a:off x="6629400" y="3657600"/>
              <a:ext cx="1041400" cy="5842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0247" name="Rectangle 11"/>
            <p:cNvSpPr>
              <a:spLocks noChangeArrowheads="1"/>
            </p:cNvSpPr>
            <p:nvPr/>
          </p:nvSpPr>
          <p:spPr bwMode="auto">
            <a:xfrm>
              <a:off x="7658100" y="3657600"/>
              <a:ext cx="1041400" cy="5842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0248" name="Rectangle 8"/>
          <p:cNvSpPr>
            <a:spLocks noChangeArrowheads="1"/>
          </p:cNvSpPr>
          <p:nvPr/>
        </p:nvSpPr>
        <p:spPr bwMode="auto">
          <a:xfrm>
            <a:off x="6280150" y="4584699"/>
            <a:ext cx="1041400" cy="584200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>
              <a:solidFill>
                <a:prstClr val="black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4730750" y="5209381"/>
            <a:ext cx="4127500" cy="584200"/>
            <a:chOff x="4724400" y="4953000"/>
            <a:chExt cx="4127500" cy="584200"/>
          </a:xfrm>
        </p:grpSpPr>
        <p:sp>
          <p:nvSpPr>
            <p:cNvPr id="10249" name="Rectangle 8"/>
            <p:cNvSpPr>
              <a:spLocks noChangeArrowheads="1"/>
            </p:cNvSpPr>
            <p:nvPr/>
          </p:nvSpPr>
          <p:spPr bwMode="auto">
            <a:xfrm>
              <a:off x="4724400" y="4953000"/>
              <a:ext cx="1041400" cy="5842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0250" name="Rectangle 9"/>
            <p:cNvSpPr>
              <a:spLocks noChangeArrowheads="1"/>
            </p:cNvSpPr>
            <p:nvPr/>
          </p:nvSpPr>
          <p:spPr bwMode="auto">
            <a:xfrm>
              <a:off x="5753100" y="4953000"/>
              <a:ext cx="1041400" cy="5842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0251" name="Rectangle 10"/>
            <p:cNvSpPr>
              <a:spLocks noChangeArrowheads="1"/>
            </p:cNvSpPr>
            <p:nvPr/>
          </p:nvSpPr>
          <p:spPr bwMode="auto">
            <a:xfrm>
              <a:off x="6781800" y="4953000"/>
              <a:ext cx="1041400" cy="5842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0252" name="Rectangle 11"/>
            <p:cNvSpPr>
              <a:spLocks noChangeArrowheads="1"/>
            </p:cNvSpPr>
            <p:nvPr/>
          </p:nvSpPr>
          <p:spPr bwMode="auto">
            <a:xfrm>
              <a:off x="7810500" y="4953000"/>
              <a:ext cx="1041400" cy="584200"/>
            </a:xfrm>
            <a:prstGeom prst="rect">
              <a:avLst/>
            </a:prstGeom>
            <a:solidFill>
              <a:schemeClr val="bg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5" name="Rectangle 14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57469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Variable Declaration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443248" y="1295400"/>
            <a:ext cx="8229600" cy="502920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All </a:t>
            </a:r>
            <a:r>
              <a:rPr lang="en-US" altLang="en-US" dirty="0" smtClean="0">
                <a:solidFill>
                  <a:srgbClr val="0000CC"/>
                </a:solidFill>
              </a:rPr>
              <a:t>variables</a:t>
            </a:r>
            <a:r>
              <a:rPr lang="en-US" altLang="en-US" dirty="0" smtClean="0">
                <a:solidFill>
                  <a:schemeClr val="hlink"/>
                </a:solidFill>
              </a:rPr>
              <a:t> </a:t>
            </a:r>
            <a:r>
              <a:rPr lang="en-US" altLang="en-US" dirty="0" smtClean="0"/>
              <a:t>must </a:t>
            </a:r>
            <a:r>
              <a:rPr lang="en-US" altLang="en-US" dirty="0" smtClean="0"/>
              <a:t>be declared </a:t>
            </a:r>
            <a:r>
              <a:rPr lang="en-US" altLang="en-US" b="1" dirty="0" smtClean="0"/>
              <a:t>before</a:t>
            </a:r>
            <a:r>
              <a:rPr lang="en-US" altLang="en-US" dirty="0" smtClean="0"/>
              <a:t> use.</a:t>
            </a:r>
          </a:p>
          <a:p>
            <a:pPr lvl="1" eaLnBrk="1" hangingPunct="1"/>
            <a:r>
              <a:rPr lang="en-US" altLang="en-US" dirty="0" smtClean="0"/>
              <a:t>At the top of the program</a:t>
            </a:r>
          </a:p>
          <a:p>
            <a:pPr lvl="1" eaLnBrk="1" hangingPunct="1"/>
            <a:r>
              <a:rPr lang="en-US" altLang="en-US" dirty="0" smtClean="0"/>
              <a:t>Just before use. </a:t>
            </a:r>
          </a:p>
          <a:p>
            <a:pPr eaLnBrk="1" hangingPunct="1"/>
            <a:r>
              <a:rPr lang="en-US" altLang="en-US" dirty="0" smtClean="0"/>
              <a:t>Commas are used to separate identifiers of the same type.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2000" b="1" dirty="0" err="1" smtClean="0">
                <a:latin typeface="Courier New" pitchFamily="49" charset="0"/>
              </a:rPr>
              <a:t>int</a:t>
            </a:r>
            <a:r>
              <a:rPr lang="en-US" altLang="en-US" sz="2000" b="1" dirty="0" smtClean="0">
                <a:latin typeface="Courier New" pitchFamily="49" charset="0"/>
              </a:rPr>
              <a:t> count, age;</a:t>
            </a:r>
            <a:endParaRPr lang="en-US" altLang="en-US" sz="2000" dirty="0" smtClean="0"/>
          </a:p>
          <a:p>
            <a:pPr eaLnBrk="1" hangingPunct="1"/>
            <a:r>
              <a:rPr lang="en-US" altLang="en-US" dirty="0" smtClean="0"/>
              <a:t>Variables can be initialized to a starting value when they are declared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2000" b="1" dirty="0" err="1" smtClean="0">
                <a:latin typeface="Courier New" pitchFamily="49" charset="0"/>
              </a:rPr>
              <a:t>int</a:t>
            </a:r>
            <a:r>
              <a:rPr lang="en-US" altLang="en-US" sz="2000" b="1" dirty="0" smtClean="0">
                <a:latin typeface="Courier New" pitchFamily="49" charset="0"/>
              </a:rPr>
              <a:t> count = 0;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sz="2000" b="1" dirty="0" err="1" smtClean="0">
                <a:latin typeface="Courier New" pitchFamily="49" charset="0"/>
              </a:rPr>
              <a:t>int</a:t>
            </a:r>
            <a:r>
              <a:rPr lang="en-US" altLang="en-US" sz="2000" b="1" dirty="0" smtClean="0">
                <a:latin typeface="Courier New" pitchFamily="49" charset="0"/>
              </a:rPr>
              <a:t> age, count = 0;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0726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63417-AE59-40AD-B7C0-A3CE22D2C5E6}" type="slidenum">
              <a:rPr lang="en-US" smtClean="0">
                <a:solidFill>
                  <a:srgbClr val="000000"/>
                </a:solidFill>
              </a:rPr>
              <a:pPr/>
              <a:t>17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" y="5407824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000000"/>
                </a:solidFill>
              </a:rPr>
              <a:t>Output for this code?</a:t>
            </a:r>
            <a:endParaRPr lang="en-US" sz="3600" b="1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304800" y="470386"/>
            <a:ext cx="7848600" cy="483209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2800" dirty="0" err="1" smtClean="0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sz="2800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28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	</a:t>
            </a:r>
            <a:r>
              <a:rPr lang="en-US" sz="28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8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/ </a:t>
            </a:r>
            <a:r>
              <a:rPr lang="en-US" sz="28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808080"/>
                </a:solidFill>
                <a:latin typeface="Courier New" panose="02070309020205020404" pitchFamily="49" charset="0"/>
              </a:rPr>
              <a:t>' '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* </a:t>
            </a:r>
            <a:r>
              <a:rPr lang="en-US" sz="2800" dirty="0" smtClean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2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28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sz="2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8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2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28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27922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2000"/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161905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Operators in C++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347915"/>
            <a:ext cx="5734050" cy="24098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8672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Operators in C++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noProof="0" dirty="0" smtClean="0">
                <a:latin typeface="+mj-lt"/>
              </a:rPr>
              <a:t>Stream Operators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Arithmetic </a:t>
            </a:r>
            <a:r>
              <a:rPr lang="en-US" sz="3200" kern="0" dirty="0" smtClean="0"/>
              <a:t>Operators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lang="en-US" sz="3200" kern="0" dirty="0" smtClean="0">
                <a:latin typeface="+mj-lt"/>
              </a:rPr>
              <a:t>Decision Making – Equality and Relational Operators</a:t>
            </a:r>
            <a:endParaRPr kumimoji="0" lang="en-US" sz="32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 smtClean="0"/>
              <a:t>Assignment</a:t>
            </a:r>
            <a:r>
              <a:rPr lang="en-US" sz="3200" kern="0" dirty="0"/>
              <a:t>/ Combined Operators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/>
              <a:t>Unary Operators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Tx/>
              <a:buChar char="•"/>
              <a:defRPr/>
            </a:pPr>
            <a:r>
              <a:rPr lang="en-US" sz="3200" kern="0" dirty="0"/>
              <a:t>Logical Operators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endParaRPr lang="en-US" sz="3200" kern="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468285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1115420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Stream Operators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8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250462"/>
            <a:ext cx="3762757" cy="1951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250462"/>
            <a:ext cx="3429000" cy="182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5841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Stream Operators – Input and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Output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C++ treats input and output as a </a:t>
            </a:r>
            <a:r>
              <a:rPr lang="en-US" altLang="en-US" b="1" dirty="0" smtClean="0">
                <a:solidFill>
                  <a:srgbClr val="4BACC6"/>
                </a:solidFill>
              </a:rPr>
              <a:t>stream</a:t>
            </a:r>
            <a:r>
              <a:rPr lang="en-US" altLang="en-US" dirty="0" smtClean="0"/>
              <a:t> of characters.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 dirty="0" smtClean="0">
                <a:solidFill>
                  <a:srgbClr val="4BACC6"/>
                </a:solidFill>
              </a:rPr>
              <a:t>stream</a:t>
            </a:r>
            <a:r>
              <a:rPr lang="en-US" altLang="en-US" dirty="0" smtClean="0"/>
              <a:t> : sequence of characters (printable or nonprintable)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The functions to allow standard I/O are in </a:t>
            </a:r>
            <a:r>
              <a:rPr lang="en-US" altLang="en-US" b="1" dirty="0" err="1" smtClean="0"/>
              <a:t>iostream</a:t>
            </a:r>
            <a:r>
              <a:rPr lang="en-US" altLang="en-US" dirty="0" smtClean="0"/>
              <a:t> header file or </a:t>
            </a:r>
            <a:r>
              <a:rPr lang="en-US" altLang="en-US" b="1" dirty="0" err="1" smtClean="0"/>
              <a:t>iostream.h</a:t>
            </a:r>
            <a:r>
              <a:rPr lang="en-US" altLang="en-US" dirty="0" smtClean="0"/>
              <a:t>.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/>
              <a:t>Thus, we start every program with </a:t>
            </a:r>
            <a:r>
              <a:rPr lang="en-US" altLang="en-US" b="1" dirty="0" smtClean="0"/>
              <a:t> </a:t>
            </a:r>
            <a:endParaRPr lang="en-US" altLang="en-US" dirty="0" smtClean="0"/>
          </a:p>
          <a:p>
            <a:pPr lvl="1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b="1" dirty="0" smtClean="0"/>
              <a:t>#include &lt;</a:t>
            </a:r>
            <a:r>
              <a:rPr lang="en-US" altLang="en-US" b="1" dirty="0" err="1" smtClean="0"/>
              <a:t>iostream</a:t>
            </a:r>
            <a:r>
              <a:rPr lang="en-US" altLang="en-US" b="1" dirty="0" smtClean="0"/>
              <a:t>&gt;</a:t>
            </a:r>
            <a:endParaRPr lang="en-US" altLang="en-US" dirty="0" smtClean="0"/>
          </a:p>
          <a:p>
            <a:pPr lvl="1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b="1" dirty="0" smtClean="0"/>
              <a:t>using namespace </a:t>
            </a:r>
            <a:r>
              <a:rPr lang="en-US" altLang="en-US" b="1" dirty="0" err="1" smtClean="0"/>
              <a:t>std</a:t>
            </a:r>
            <a:r>
              <a:rPr lang="en-US" altLang="en-US" b="1" dirty="0" smtClean="0"/>
              <a:t>;</a:t>
            </a:r>
            <a:endParaRPr lang="en-US" altLang="en-US" dirty="0" smtClean="0"/>
          </a:p>
          <a:p>
            <a:pPr eaLnBrk="1" hangingPunct="1">
              <a:lnSpc>
                <a:spcPct val="90000"/>
              </a:lnSpc>
            </a:pPr>
            <a:endParaRPr lang="en-US" alt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7846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Keyboard and Screen I/O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09600" y="1752600"/>
            <a:ext cx="6019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Monotype Sorts" pitchFamily="2" charset="2"/>
              <a:buNone/>
              <a:defRPr/>
            </a:pPr>
            <a:r>
              <a:rPr lang="en-US" sz="3200" dirty="0">
                <a:solidFill>
                  <a:prstClr val="black"/>
                </a:solidFill>
              </a:rPr>
              <a:t>  #include &lt;</a:t>
            </a:r>
            <a:r>
              <a:rPr lang="en-US" sz="3200" dirty="0" err="1">
                <a:solidFill>
                  <a:prstClr val="black"/>
                </a:solidFill>
              </a:rPr>
              <a:t>iostream</a:t>
            </a:r>
            <a:r>
              <a:rPr lang="en-US" sz="3200" dirty="0">
                <a:solidFill>
                  <a:prstClr val="black"/>
                </a:solidFill>
              </a:rPr>
              <a:t>&gt; </a:t>
            </a: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  <a:defRPr/>
            </a:pPr>
            <a:r>
              <a:rPr lang="en-US" sz="3200" dirty="0">
                <a:solidFill>
                  <a:prstClr val="black"/>
                </a:solidFill>
              </a:rPr>
              <a:t>          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982788" y="4800600"/>
            <a:ext cx="5942012" cy="1187450"/>
            <a:chOff x="1142" y="3062"/>
            <a:chExt cx="3743" cy="748"/>
          </a:xfrm>
        </p:grpSpPr>
        <p:sp>
          <p:nvSpPr>
            <p:cNvPr id="18448" name="Rectangle 5"/>
            <p:cNvSpPr>
              <a:spLocks noChangeArrowheads="1"/>
            </p:cNvSpPr>
            <p:nvPr/>
          </p:nvSpPr>
          <p:spPr bwMode="auto">
            <a:xfrm>
              <a:off x="1142" y="3062"/>
              <a:ext cx="1663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b="1">
                  <a:solidFill>
                    <a:srgbClr val="C0504D"/>
                  </a:solidFill>
                </a:rPr>
                <a:t>        </a:t>
              </a:r>
              <a:r>
                <a:rPr lang="en-US" altLang="en-US" b="1">
                  <a:solidFill>
                    <a:srgbClr val="990000"/>
                  </a:solidFill>
                </a:rPr>
                <a:t>cin</a:t>
              </a:r>
            </a:p>
            <a:p>
              <a:endParaRPr lang="en-US" altLang="en-US" b="1">
                <a:solidFill>
                  <a:prstClr val="black"/>
                </a:solidFill>
              </a:endParaRPr>
            </a:p>
            <a:p>
              <a:r>
                <a:rPr lang="en-US" altLang="en-US" b="1">
                  <a:solidFill>
                    <a:prstClr val="black"/>
                  </a:solidFill>
                </a:rPr>
                <a:t>(of  type istream)</a:t>
              </a:r>
            </a:p>
          </p:txBody>
        </p:sp>
        <p:sp>
          <p:nvSpPr>
            <p:cNvPr id="18449" name="Rectangle 6"/>
            <p:cNvSpPr>
              <a:spLocks noChangeArrowheads="1"/>
            </p:cNvSpPr>
            <p:nvPr/>
          </p:nvSpPr>
          <p:spPr bwMode="auto">
            <a:xfrm>
              <a:off x="3158" y="3062"/>
              <a:ext cx="1727" cy="7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b="1">
                  <a:solidFill>
                    <a:srgbClr val="990000"/>
                  </a:solidFill>
                </a:rPr>
                <a:t>        cout</a:t>
              </a:r>
              <a:r>
                <a:rPr lang="en-US" altLang="en-US" b="1">
                  <a:solidFill>
                    <a:srgbClr val="8CF4EA"/>
                  </a:solidFill>
                </a:rPr>
                <a:t> </a:t>
              </a:r>
            </a:p>
            <a:p>
              <a:endParaRPr lang="en-US" altLang="en-US" b="1">
                <a:solidFill>
                  <a:prstClr val="black"/>
                </a:solidFill>
              </a:endParaRPr>
            </a:p>
            <a:p>
              <a:r>
                <a:rPr lang="en-US" altLang="en-US" b="1">
                  <a:solidFill>
                    <a:prstClr val="black"/>
                  </a:solidFill>
                </a:rPr>
                <a:t>(of  type ostream)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387350" y="2727325"/>
            <a:ext cx="8297863" cy="2295525"/>
            <a:chOff x="244" y="1718"/>
            <a:chExt cx="5227" cy="1446"/>
          </a:xfrm>
        </p:grpSpPr>
        <p:sp>
          <p:nvSpPr>
            <p:cNvPr id="18438" name="Oval 8"/>
            <p:cNvSpPr>
              <a:spLocks noChangeArrowheads="1"/>
            </p:cNvSpPr>
            <p:nvPr/>
          </p:nvSpPr>
          <p:spPr bwMode="auto">
            <a:xfrm>
              <a:off x="2260" y="1732"/>
              <a:ext cx="1192" cy="1432"/>
            </a:xfrm>
            <a:prstGeom prst="ellipse">
              <a:avLst/>
            </a:prstGeom>
            <a:solidFill>
              <a:srgbClr val="C0FEF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8439" name="Rectangle 9"/>
            <p:cNvSpPr>
              <a:spLocks noChangeArrowheads="1"/>
            </p:cNvSpPr>
            <p:nvPr/>
          </p:nvSpPr>
          <p:spPr bwMode="auto">
            <a:xfrm>
              <a:off x="244" y="2116"/>
              <a:ext cx="1192" cy="472"/>
            </a:xfrm>
            <a:prstGeom prst="rect">
              <a:avLst/>
            </a:prstGeom>
            <a:solidFill>
              <a:schemeClr val="bg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8440" name="Rectangle 10"/>
            <p:cNvSpPr>
              <a:spLocks noChangeArrowheads="1"/>
            </p:cNvSpPr>
            <p:nvPr/>
          </p:nvSpPr>
          <p:spPr bwMode="auto">
            <a:xfrm>
              <a:off x="326" y="2246"/>
              <a:ext cx="100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b="1">
                  <a:solidFill>
                    <a:prstClr val="black"/>
                  </a:solidFill>
                </a:rPr>
                <a:t>Keyboard</a:t>
              </a:r>
            </a:p>
          </p:txBody>
        </p:sp>
        <p:sp>
          <p:nvSpPr>
            <p:cNvPr id="18441" name="Rectangle 11"/>
            <p:cNvSpPr>
              <a:spLocks noChangeArrowheads="1"/>
            </p:cNvSpPr>
            <p:nvPr/>
          </p:nvSpPr>
          <p:spPr bwMode="auto">
            <a:xfrm>
              <a:off x="4324" y="2068"/>
              <a:ext cx="1096" cy="904"/>
            </a:xfrm>
            <a:prstGeom prst="rect">
              <a:avLst/>
            </a:prstGeom>
            <a:solidFill>
              <a:srgbClr val="FFCC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8442" name="Rectangle 12"/>
            <p:cNvSpPr>
              <a:spLocks noChangeArrowheads="1"/>
            </p:cNvSpPr>
            <p:nvPr/>
          </p:nvSpPr>
          <p:spPr bwMode="auto">
            <a:xfrm>
              <a:off x="4454" y="2246"/>
              <a:ext cx="75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b="1">
                  <a:solidFill>
                    <a:prstClr val="black"/>
                  </a:solidFill>
                </a:rPr>
                <a:t>Screen</a:t>
              </a:r>
            </a:p>
          </p:txBody>
        </p:sp>
        <p:sp>
          <p:nvSpPr>
            <p:cNvPr id="18443" name="Rectangle 13"/>
            <p:cNvSpPr>
              <a:spLocks noChangeArrowheads="1"/>
            </p:cNvSpPr>
            <p:nvPr/>
          </p:nvSpPr>
          <p:spPr bwMode="auto">
            <a:xfrm>
              <a:off x="2390" y="2102"/>
              <a:ext cx="1012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b="1" i="1">
                  <a:solidFill>
                    <a:prstClr val="black"/>
                  </a:solidFill>
                </a:rPr>
                <a:t>executing</a:t>
              </a:r>
            </a:p>
            <a:p>
              <a:r>
                <a:rPr lang="en-US" altLang="en-US" b="1" i="1">
                  <a:solidFill>
                    <a:prstClr val="black"/>
                  </a:solidFill>
                </a:rPr>
                <a:t>program</a:t>
              </a:r>
            </a:p>
          </p:txBody>
        </p:sp>
        <p:sp>
          <p:nvSpPr>
            <p:cNvPr id="18444" name="AutoShape 14"/>
            <p:cNvSpPr>
              <a:spLocks noChangeArrowheads="1"/>
            </p:cNvSpPr>
            <p:nvPr/>
          </p:nvSpPr>
          <p:spPr bwMode="auto">
            <a:xfrm>
              <a:off x="1554" y="2205"/>
              <a:ext cx="588" cy="408"/>
            </a:xfrm>
            <a:prstGeom prst="rightArrow">
              <a:avLst>
                <a:gd name="adj1" fmla="val 50000"/>
                <a:gd name="adj2" fmla="val 72065"/>
              </a:avLst>
            </a:prstGeom>
            <a:solidFill>
              <a:srgbClr val="DBFFB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18445" name="Rectangle 15"/>
            <p:cNvSpPr>
              <a:spLocks noChangeArrowheads="1"/>
            </p:cNvSpPr>
            <p:nvPr/>
          </p:nvSpPr>
          <p:spPr bwMode="auto">
            <a:xfrm>
              <a:off x="326" y="1766"/>
              <a:ext cx="10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b="1">
                  <a:solidFill>
                    <a:prstClr val="black"/>
                  </a:solidFill>
                </a:rPr>
                <a:t>input data</a:t>
              </a:r>
            </a:p>
          </p:txBody>
        </p:sp>
        <p:sp>
          <p:nvSpPr>
            <p:cNvPr id="18446" name="Rectangle 16"/>
            <p:cNvSpPr>
              <a:spLocks noChangeArrowheads="1"/>
            </p:cNvSpPr>
            <p:nvPr/>
          </p:nvSpPr>
          <p:spPr bwMode="auto">
            <a:xfrm>
              <a:off x="4310" y="1718"/>
              <a:ext cx="1161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b="1">
                  <a:solidFill>
                    <a:prstClr val="black"/>
                  </a:solidFill>
                </a:rPr>
                <a:t>output data</a:t>
              </a:r>
            </a:p>
          </p:txBody>
        </p:sp>
        <p:sp>
          <p:nvSpPr>
            <p:cNvPr id="18447" name="AutoShape 17"/>
            <p:cNvSpPr>
              <a:spLocks noChangeArrowheads="1"/>
            </p:cNvSpPr>
            <p:nvPr/>
          </p:nvSpPr>
          <p:spPr bwMode="auto">
            <a:xfrm>
              <a:off x="3618" y="2205"/>
              <a:ext cx="588" cy="408"/>
            </a:xfrm>
            <a:prstGeom prst="rightArrow">
              <a:avLst>
                <a:gd name="adj1" fmla="val 50000"/>
                <a:gd name="adj2" fmla="val 72065"/>
              </a:avLst>
            </a:prstGeom>
            <a:solidFill>
              <a:srgbClr val="DBFFB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20" name="Rectangle 19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763977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Insertion Operator ( &lt;&lt;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Variable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b="1" dirty="0" smtClean="0">
                <a:solidFill>
                  <a:srgbClr val="0000CC"/>
                </a:solidFill>
              </a:rPr>
              <a:t>cout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smtClean="0"/>
              <a:t>is predefined to denote an </a:t>
            </a:r>
            <a:r>
              <a:rPr lang="en-US" dirty="0" smtClean="0">
                <a:solidFill>
                  <a:srgbClr val="0000CC"/>
                </a:solidFill>
              </a:rPr>
              <a:t>output stream that goes to the standard output device</a:t>
            </a:r>
            <a:r>
              <a:rPr lang="en-US" dirty="0" smtClean="0"/>
              <a:t> (display screen).</a:t>
            </a:r>
            <a:endParaRPr lang="en-US" sz="3600" dirty="0" smtClean="0"/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sz="1800" b="1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insertion operator  </a:t>
            </a:r>
            <a:r>
              <a:rPr lang="en-US" b="1" dirty="0" smtClean="0">
                <a:solidFill>
                  <a:srgbClr val="0000CC"/>
                </a:solidFill>
              </a:rPr>
              <a:t>&lt;&lt;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smtClean="0"/>
              <a:t> </a:t>
            </a:r>
            <a:r>
              <a:rPr lang="en-US" dirty="0" smtClean="0"/>
              <a:t>also called </a:t>
            </a:r>
            <a:r>
              <a:rPr lang="en-US" dirty="0" smtClean="0">
                <a:solidFill>
                  <a:srgbClr val="0000CC"/>
                </a:solidFill>
              </a:rPr>
              <a:t>“put to”</a:t>
            </a:r>
            <a:r>
              <a:rPr lang="en-US" dirty="0" smtClean="0"/>
              <a:t> takes 2 operands.</a:t>
            </a:r>
            <a:endParaRPr lang="en-US" sz="3600" dirty="0" smtClean="0"/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sz="1800" b="1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left operand is a stream expression, such as </a:t>
            </a:r>
            <a:r>
              <a:rPr lang="en-US" b="1" dirty="0" smtClean="0">
                <a:solidFill>
                  <a:srgbClr val="0000CC"/>
                </a:solidFill>
              </a:rPr>
              <a:t>cout</a:t>
            </a:r>
            <a:r>
              <a:rPr lang="en-US" dirty="0" smtClean="0"/>
              <a:t>.  The right operand is an </a:t>
            </a:r>
            <a:r>
              <a:rPr lang="en-US" b="1" dirty="0" smtClean="0">
                <a:solidFill>
                  <a:srgbClr val="00B0F0"/>
                </a:solidFill>
              </a:rPr>
              <a:t>expression</a:t>
            </a:r>
            <a:r>
              <a:rPr lang="en-US" dirty="0" smtClean="0"/>
              <a:t> of simple type or a </a:t>
            </a:r>
            <a:r>
              <a:rPr lang="en-US" b="1" dirty="0" smtClean="0">
                <a:solidFill>
                  <a:srgbClr val="00B0F0"/>
                </a:solidFill>
              </a:rPr>
              <a:t>string constant</a:t>
            </a:r>
            <a:r>
              <a:rPr lang="en-US" sz="3600" dirty="0" smtClean="0"/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01131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Output Statements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20750" y="4197350"/>
            <a:ext cx="7378700" cy="2044700"/>
            <a:chOff x="580" y="2644"/>
            <a:chExt cx="4648" cy="1288"/>
          </a:xfrm>
        </p:grpSpPr>
        <p:sp>
          <p:nvSpPr>
            <p:cNvPr id="20488" name="Rectangle 3"/>
            <p:cNvSpPr>
              <a:spLocks noChangeArrowheads="1"/>
            </p:cNvSpPr>
            <p:nvPr/>
          </p:nvSpPr>
          <p:spPr bwMode="auto">
            <a:xfrm>
              <a:off x="580" y="2644"/>
              <a:ext cx="4648" cy="618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489" name="Rectangle 4"/>
            <p:cNvSpPr>
              <a:spLocks noChangeArrowheads="1"/>
            </p:cNvSpPr>
            <p:nvPr/>
          </p:nvSpPr>
          <p:spPr bwMode="auto">
            <a:xfrm>
              <a:off x="580" y="3404"/>
              <a:ext cx="4648" cy="528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0484" name="Rectangle 6"/>
          <p:cNvSpPr txBox="1">
            <a:spLocks noChangeArrowheads="1"/>
          </p:cNvSpPr>
          <p:nvPr/>
        </p:nvSpPr>
        <p:spPr bwMode="auto">
          <a:xfrm>
            <a:off x="685800" y="1600200"/>
            <a:ext cx="7848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800" b="1" dirty="0">
                <a:solidFill>
                  <a:srgbClr val="A50021"/>
                </a:solidFill>
              </a:rPr>
              <a:t>SYNTAX</a:t>
            </a:r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1400" dirty="0">
                <a:solidFill>
                  <a:prstClr val="black"/>
                </a:solidFill>
              </a:rPr>
              <a:t>   </a:t>
            </a:r>
            <a:r>
              <a:rPr lang="en-US" altLang="en-US" sz="2400" dirty="0" err="1">
                <a:solidFill>
                  <a:prstClr val="black"/>
                </a:solidFill>
              </a:rPr>
              <a:t>cout</a:t>
            </a:r>
            <a:r>
              <a:rPr lang="en-US" altLang="en-US" sz="2400" dirty="0">
                <a:solidFill>
                  <a:prstClr val="black"/>
                </a:solidFill>
              </a:rPr>
              <a:t> statements can be linked together using </a:t>
            </a:r>
            <a:r>
              <a:rPr lang="en-US" altLang="en-US" sz="2400" b="1" dirty="0">
                <a:solidFill>
                  <a:prstClr val="black"/>
                </a:solidFill>
              </a:rPr>
              <a:t>&lt;&lt;</a:t>
            </a:r>
            <a:r>
              <a:rPr lang="en-US" altLang="en-US" sz="2400" dirty="0">
                <a:solidFill>
                  <a:prstClr val="black"/>
                </a:solidFill>
              </a:rPr>
              <a:t> operator.</a:t>
            </a: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srgbClr val="A50021"/>
                </a:solidFill>
              </a:rPr>
              <a:t>  </a:t>
            </a:r>
            <a:r>
              <a:rPr lang="en-US" altLang="en-US" sz="2400" dirty="0">
                <a:solidFill>
                  <a:prstClr val="black"/>
                </a:solidFill>
              </a:rPr>
              <a:t>These examples yield the same output:</a:t>
            </a: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endParaRPr lang="en-US" altLang="en-US" sz="1200" b="1" dirty="0">
              <a:solidFill>
                <a:srgbClr val="C0504D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srgbClr val="EEECE1"/>
                </a:solidFill>
              </a:rPr>
              <a:t>	</a:t>
            </a:r>
            <a:r>
              <a:rPr lang="en-US" altLang="en-US" sz="2400" b="1" dirty="0" err="1">
                <a:solidFill>
                  <a:prstClr val="black"/>
                </a:solidFill>
              </a:rPr>
              <a:t>cout</a:t>
            </a:r>
            <a:r>
              <a:rPr lang="en-US" altLang="en-US" sz="2400" b="1" dirty="0">
                <a:solidFill>
                  <a:prstClr val="black"/>
                </a:solidFill>
              </a:rPr>
              <a:t>  &lt;&lt;  “The answer is </a:t>
            </a:r>
            <a:r>
              <a:rPr lang="en-US" altLang="en-US" sz="2400" b="1" dirty="0" smtClean="0">
                <a:solidFill>
                  <a:prstClr val="black"/>
                </a:solidFill>
              </a:rPr>
              <a:t>”;</a:t>
            </a:r>
            <a:endParaRPr lang="en-US" altLang="en-US" sz="2400" b="1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prstClr val="black"/>
                </a:solidFill>
              </a:rPr>
              <a:t>	</a:t>
            </a:r>
            <a:r>
              <a:rPr lang="en-US" altLang="en-US" sz="2400" b="1" dirty="0" err="1">
                <a:solidFill>
                  <a:prstClr val="black"/>
                </a:solidFill>
              </a:rPr>
              <a:t>cout</a:t>
            </a:r>
            <a:r>
              <a:rPr lang="en-US" altLang="en-US" sz="2400" b="1" dirty="0">
                <a:solidFill>
                  <a:prstClr val="black"/>
                </a:solidFill>
              </a:rPr>
              <a:t>  &lt;&lt;  3 * 4 ;</a:t>
            </a: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endParaRPr lang="en-US" altLang="en-US" sz="2400" b="1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prstClr val="black"/>
                </a:solidFill>
              </a:rPr>
              <a:t>	</a:t>
            </a:r>
            <a:r>
              <a:rPr lang="en-US" altLang="en-US" sz="2400" b="1" dirty="0" err="1">
                <a:solidFill>
                  <a:prstClr val="black"/>
                </a:solidFill>
              </a:rPr>
              <a:t>cout</a:t>
            </a:r>
            <a:r>
              <a:rPr lang="en-US" altLang="en-US" sz="2400" b="1" dirty="0">
                <a:solidFill>
                  <a:prstClr val="black"/>
                </a:solidFill>
              </a:rPr>
              <a:t>  &lt;&lt;  “The answer is “  &lt;&lt;  3 * 4 ;</a:t>
            </a:r>
          </a:p>
        </p:txBody>
      </p:sp>
      <p:sp>
        <p:nvSpPr>
          <p:cNvPr id="20485" name="Rectangle 7"/>
          <p:cNvSpPr>
            <a:spLocks noChangeArrowheads="1"/>
          </p:cNvSpPr>
          <p:nvPr/>
        </p:nvSpPr>
        <p:spPr bwMode="auto">
          <a:xfrm>
            <a:off x="920750" y="2292350"/>
            <a:ext cx="7378700" cy="9017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6" name="Rectangle 8"/>
          <p:cNvSpPr>
            <a:spLocks noChangeArrowheads="1"/>
          </p:cNvSpPr>
          <p:nvPr/>
        </p:nvSpPr>
        <p:spPr bwMode="auto">
          <a:xfrm>
            <a:off x="3429000" y="2501900"/>
            <a:ext cx="1752600" cy="520700"/>
          </a:xfrm>
          <a:prstGeom prst="rect">
            <a:avLst/>
          </a:prstGeom>
          <a:solidFill>
            <a:srgbClr val="FFCC6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7" name="Rectangle 9"/>
          <p:cNvSpPr>
            <a:spLocks noChangeArrowheads="1"/>
          </p:cNvSpPr>
          <p:nvPr/>
        </p:nvSpPr>
        <p:spPr bwMode="auto">
          <a:xfrm>
            <a:off x="1355725" y="2498725"/>
            <a:ext cx="6356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>
                <a:solidFill>
                  <a:prstClr val="black"/>
                </a:solidFill>
              </a:rPr>
              <a:t>cout  &lt;&lt;  </a:t>
            </a:r>
            <a:r>
              <a:rPr lang="en-US" altLang="en-US" b="1" i="1">
                <a:solidFill>
                  <a:prstClr val="black"/>
                </a:solidFill>
              </a:rPr>
              <a:t>Expression</a:t>
            </a:r>
            <a:r>
              <a:rPr lang="en-US" altLang="en-US" b="1">
                <a:solidFill>
                  <a:prstClr val="black"/>
                </a:solidFill>
              </a:rPr>
              <a:t>    &lt;&lt; </a:t>
            </a:r>
            <a:r>
              <a:rPr lang="en-US" altLang="en-US" b="1" i="1">
                <a:solidFill>
                  <a:prstClr val="black"/>
                </a:solidFill>
              </a:rPr>
              <a:t>Expression</a:t>
            </a:r>
            <a:r>
              <a:rPr lang="en-US" altLang="en-US" b="1">
                <a:solidFill>
                  <a:prstClr val="black"/>
                </a:solidFill>
              </a:rPr>
              <a:t>  . . . ;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2" name="Rectangle 11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20444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Output Statements (String constant)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700" dirty="0" smtClean="0"/>
              <a:t>String constants (in double quotes) are to be printed as is, without the quotes.</a:t>
            </a:r>
          </a:p>
          <a:p>
            <a:pPr lvl="1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sz="2400" b="1" dirty="0" err="1" smtClean="0"/>
              <a:t>cout</a:t>
            </a:r>
            <a:r>
              <a:rPr lang="en-US" altLang="en-US" sz="2400" b="1" dirty="0" smtClean="0"/>
              <a:t>&lt;&lt;“Enter the number of candy bars </a:t>
            </a:r>
            <a:r>
              <a:rPr lang="en-US" altLang="en-US" sz="2400" dirty="0" smtClean="0"/>
              <a:t>”; </a:t>
            </a:r>
          </a:p>
          <a:p>
            <a:pPr lvl="1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sz="2400" b="1" dirty="0" smtClean="0"/>
              <a:t>OUTPUT:   </a:t>
            </a:r>
            <a:r>
              <a:rPr lang="en-US" altLang="en-US" sz="2400" dirty="0" smtClean="0">
                <a:solidFill>
                  <a:schemeClr val="accent2"/>
                </a:solidFill>
              </a:rPr>
              <a:t>Enter the number of candy bars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 b="1" dirty="0" smtClean="0"/>
              <a:t>“Enter the number of candy bars ” </a:t>
            </a:r>
            <a:r>
              <a:rPr lang="en-US" altLang="en-US" sz="2700" dirty="0" smtClean="0"/>
              <a:t>is called a </a:t>
            </a:r>
            <a:r>
              <a:rPr lang="en-US" altLang="en-US" sz="2700" b="1" dirty="0" smtClean="0">
                <a:solidFill>
                  <a:schemeClr val="accent1"/>
                </a:solidFill>
              </a:rPr>
              <a:t>prompt</a:t>
            </a:r>
            <a:r>
              <a:rPr lang="en-US" altLang="en-US" sz="2700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 dirty="0" smtClean="0"/>
              <a:t>All user inputs must be preceded by a </a:t>
            </a:r>
            <a:r>
              <a:rPr lang="en-US" altLang="en-US" sz="2700" b="1" dirty="0" smtClean="0">
                <a:solidFill>
                  <a:schemeClr val="accent1"/>
                </a:solidFill>
              </a:rPr>
              <a:t>prompt</a:t>
            </a:r>
            <a:r>
              <a:rPr lang="en-US" altLang="en-US" sz="2700" dirty="0" smtClean="0"/>
              <a:t> to tell the user what is expected.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 dirty="0" smtClean="0"/>
              <a:t>You must insert </a:t>
            </a:r>
            <a:r>
              <a:rPr lang="en-US" altLang="en-US" sz="2700" b="1" dirty="0" smtClean="0"/>
              <a:t>spaces</a:t>
            </a:r>
            <a:r>
              <a:rPr lang="en-US" altLang="en-US" sz="2700" dirty="0" smtClean="0"/>
              <a:t> inside the quotes if you want them in the output.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700" dirty="0" smtClean="0"/>
              <a:t>Do not put a string in quotes on multiple lines.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11814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1" fontAlgn="auto" hangingPunct="1">
              <a:spcAft>
                <a:spcPts val="0"/>
              </a:spcAft>
            </a:pP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Output Statements (Expression)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All expressions are computed and then output.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b="1" dirty="0" err="1" smtClean="0"/>
              <a:t>cout</a:t>
            </a:r>
            <a:r>
              <a:rPr lang="en-US" altLang="en-US" b="1" dirty="0" smtClean="0"/>
              <a:t>  &lt;&lt;  “The answer is ”  &lt;&lt;  3 * 4 ;</a:t>
            </a:r>
          </a:p>
          <a:p>
            <a:pPr lvl="1" eaLnBrk="1" hangingPunct="1">
              <a:buFont typeface="Arial" pitchFamily="34" charset="0"/>
              <a:buNone/>
            </a:pPr>
            <a:r>
              <a:rPr lang="en-US" altLang="en-US" b="1" dirty="0" smtClean="0"/>
              <a:t>OUTPUT:   </a:t>
            </a:r>
            <a:r>
              <a:rPr lang="en-US" altLang="en-US" dirty="0" smtClean="0">
                <a:solidFill>
                  <a:schemeClr val="accent2"/>
                </a:solidFill>
              </a:rPr>
              <a:t>The answer is 12</a:t>
            </a:r>
            <a:endParaRPr lang="en-US" altLang="en-US" b="1" dirty="0" smtClean="0"/>
          </a:p>
          <a:p>
            <a:pPr lvl="1" eaLnBrk="1" hangingPunct="1">
              <a:buFont typeface="Arial" pitchFamily="34" charset="0"/>
              <a:buNone/>
            </a:pPr>
            <a:endParaRPr lang="en-US" alt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2026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Escape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</a:t>
            </a:r>
            <a:r>
              <a:rPr lang="en-US" dirty="0" smtClean="0">
                <a:solidFill>
                  <a:srgbClr val="00B0F0"/>
                </a:solidFill>
              </a:rPr>
              <a:t>backslash (\)</a:t>
            </a:r>
            <a:r>
              <a:rPr lang="en-US" dirty="0" smtClean="0"/>
              <a:t> is called the </a:t>
            </a:r>
            <a:r>
              <a:rPr lang="en-US" b="1" dirty="0" smtClean="0">
                <a:solidFill>
                  <a:srgbClr val="C00000"/>
                </a:solidFill>
              </a:rPr>
              <a:t>escape character</a:t>
            </a:r>
            <a:r>
              <a:rPr lang="en-US" dirty="0" smtClean="0"/>
              <a:t>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It tells the compiler that the next character is  “escaping” it’s typical definition and is using its secondary definition.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Examples: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new line: </a:t>
            </a:r>
            <a:r>
              <a:rPr lang="en-US" b="1" dirty="0" smtClean="0"/>
              <a:t>\n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horizontal tab: </a:t>
            </a:r>
            <a:r>
              <a:rPr lang="en-US" b="1" dirty="0" smtClean="0"/>
              <a:t>\t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backslash: </a:t>
            </a:r>
            <a:r>
              <a:rPr lang="en-US" b="1" dirty="0" smtClean="0"/>
              <a:t>\\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 smtClean="0"/>
              <a:t>double quote  </a:t>
            </a:r>
            <a:r>
              <a:rPr lang="en-US" b="1" dirty="0" smtClean="0"/>
              <a:t>\”</a:t>
            </a: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5042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Escape 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584857"/>
              </p:ext>
            </p:extLst>
          </p:nvPr>
        </p:nvGraphicFramePr>
        <p:xfrm>
          <a:off x="248210" y="1601273"/>
          <a:ext cx="8647579" cy="5433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6" name="Document" r:id="rId3" imgW="5950080" imgH="3981600" progId="Word.Document.8">
                  <p:embed/>
                </p:oleObj>
              </mc:Choice>
              <mc:Fallback>
                <p:oleObj name="Document" r:id="rId3" imgW="5950080" imgH="39816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210" y="1601273"/>
                        <a:ext cx="8647579" cy="543392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818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Newline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 smtClean="0"/>
              <a:t>cout</a:t>
            </a:r>
            <a:r>
              <a:rPr lang="en-US" altLang="en-US" b="1" dirty="0" smtClean="0"/>
              <a:t>&lt;&lt;“\n”</a:t>
            </a:r>
            <a:r>
              <a:rPr lang="en-US" altLang="en-US" dirty="0" smtClean="0"/>
              <a:t> and </a:t>
            </a:r>
            <a:r>
              <a:rPr lang="en-US" altLang="en-US" b="1" dirty="0" err="1" smtClean="0"/>
              <a:t>cout</a:t>
            </a:r>
            <a:r>
              <a:rPr lang="en-US" altLang="en-US" b="1" dirty="0" smtClean="0"/>
              <a:t>&lt;&lt;</a:t>
            </a:r>
            <a:r>
              <a:rPr lang="en-US" altLang="en-US" b="1" dirty="0" err="1" smtClean="0"/>
              <a:t>endl</a:t>
            </a:r>
            <a:r>
              <a:rPr lang="en-US" altLang="en-US" dirty="0" smtClean="0"/>
              <a:t> both are used to insert a blank line.</a:t>
            </a:r>
          </a:p>
          <a:p>
            <a:pPr eaLnBrk="1" hangingPunct="1"/>
            <a:r>
              <a:rPr lang="en-US" altLang="en-US" dirty="0" smtClean="0"/>
              <a:t>Advances the cursor to the start of the next line rather than to the next space.</a:t>
            </a:r>
          </a:p>
          <a:p>
            <a:pPr eaLnBrk="1" hangingPunct="1"/>
            <a:r>
              <a:rPr lang="en-US" altLang="en-US" dirty="0" smtClean="0"/>
              <a:t>Always end the output of all programs with this statement.</a:t>
            </a:r>
          </a:p>
          <a:p>
            <a:pPr eaLnBrk="1" hangingPunct="1"/>
            <a:endParaRPr lang="en-US" alt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30100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03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6845D404-86FA-45D2-9A5C-ECE641B21059}" type="slidenum">
              <a:rPr lang="en-US">
                <a:solidFill>
                  <a:srgbClr val="000000"/>
                </a:solidFill>
              </a:rPr>
              <a:pPr/>
              <a:t>30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88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fig01_02.cpp</a:t>
            </a:r>
            <a:br>
              <a:rPr lang="en-US"/>
            </a:br>
            <a:r>
              <a:rPr lang="en-US"/>
              <a:t>(1 of 1)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fig01_02.cpp</a:t>
            </a:r>
            <a:br>
              <a:rPr lang="en-US"/>
            </a:br>
            <a:r>
              <a:rPr lang="en-US"/>
              <a:t>output (1 of 1)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2088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7010400" cy="2895600"/>
          </a:xfrm>
        </p:spPr>
        <p:txBody>
          <a:bodyPr/>
          <a:lstStyle/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      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// Fig. 1.2: fig01_02.cpp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2      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// A first program in C++.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3      </a:t>
            </a:r>
            <a:r>
              <a:rPr lang="en-US" dirty="0">
                <a:solidFill>
                  <a:srgbClr val="0000FF"/>
                </a:solidFill>
                <a:cs typeface="Courier New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&lt;</a:t>
            </a:r>
            <a:r>
              <a:rPr lang="en-US" dirty="0" err="1">
                <a:solidFill>
                  <a:srgbClr val="000000"/>
                </a:solidFill>
                <a:cs typeface="Courier New" pitchFamily="49" charset="0"/>
              </a:rPr>
              <a:t>iostream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4      </a:t>
            </a:r>
            <a:r>
              <a:rPr lang="en-US" dirty="0" smtClean="0">
                <a:solidFill>
                  <a:srgbClr val="0000FF"/>
                </a:solidFill>
                <a:cs typeface="Courier New" pitchFamily="49" charset="0"/>
              </a:rPr>
              <a:t>using namespace std;</a:t>
            </a:r>
            <a:endParaRPr lang="en-US" dirty="0">
              <a:solidFill>
                <a:srgbClr val="0000FF"/>
              </a:solidFill>
              <a:cs typeface="Courier New" pitchFamily="49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5      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// function main begins program execution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6      </a:t>
            </a:r>
            <a:r>
              <a:rPr lang="en-US" dirty="0" err="1">
                <a:solidFill>
                  <a:srgbClr val="0000FF"/>
                </a:solidFill>
                <a:cs typeface="Courier New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main()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7     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8     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  </a:t>
            </a:r>
            <a:r>
              <a:rPr lang="en-US" dirty="0" err="1" smtClean="0">
                <a:solidFill>
                  <a:srgbClr val="000000"/>
                </a:solidFill>
                <a:cs typeface="Courier New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cs typeface="Courier New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&lt;&lt; </a:t>
            </a:r>
            <a:r>
              <a:rPr lang="en-US" dirty="0">
                <a:solidFill>
                  <a:srgbClr val="0099FF"/>
                </a:solidFill>
                <a:cs typeface="Courier New" pitchFamily="49" charset="0"/>
              </a:rPr>
              <a:t>"Welcome to C++!\n"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9      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10   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  </a:t>
            </a:r>
            <a:r>
              <a:rPr lang="en-US" dirty="0">
                <a:solidFill>
                  <a:srgbClr val="0000FF"/>
                </a:solidFill>
                <a:cs typeface="Courier New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</a:t>
            </a:r>
            <a:r>
              <a:rPr lang="en-US" dirty="0">
                <a:solidFill>
                  <a:srgbClr val="0099FF"/>
                </a:solidFill>
                <a:cs typeface="Courier New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;   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// indicate that program ended successfully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11    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12   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} 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// end function main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208900" name="Rectangle 4"/>
          <p:cNvSpPr>
            <a:spLocks noChangeArrowheads="1"/>
          </p:cNvSpPr>
          <p:nvPr/>
        </p:nvSpPr>
        <p:spPr bwMode="auto">
          <a:xfrm>
            <a:off x="0" y="2895600"/>
            <a:ext cx="7010400" cy="5334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tIns="182880" bIns="182880"/>
          <a:lstStyle/>
          <a:p>
            <a:pPr>
              <a:spcBef>
                <a:spcPct val="20000"/>
              </a:spcBef>
            </a:pPr>
            <a:r>
              <a:rPr lang="en-US" sz="1200" dirty="0">
                <a:solidFill>
                  <a:srgbClr val="000000"/>
                </a:solidFill>
                <a:latin typeface="Courier New" pitchFamily="49" charset="0"/>
              </a:rPr>
              <a:t>Welcome to C++!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971800" y="152400"/>
            <a:ext cx="3657600" cy="609600"/>
            <a:chOff x="960" y="1776"/>
            <a:chExt cx="2208" cy="218"/>
          </a:xfrm>
        </p:grpSpPr>
        <p:sp>
          <p:nvSpPr>
            <p:cNvPr id="208901" name="Text Box 5"/>
            <p:cNvSpPr txBox="1">
              <a:spLocks noChangeArrowheads="1"/>
            </p:cNvSpPr>
            <p:nvPr/>
          </p:nvSpPr>
          <p:spPr bwMode="auto">
            <a:xfrm>
              <a:off x="1872" y="1776"/>
              <a:ext cx="1296" cy="21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Single-line comments.</a:t>
              </a:r>
            </a:p>
          </p:txBody>
        </p:sp>
        <p:sp>
          <p:nvSpPr>
            <p:cNvPr id="208902" name="Line 6"/>
            <p:cNvSpPr>
              <a:spLocks noChangeShapeType="1"/>
            </p:cNvSpPr>
            <p:nvPr/>
          </p:nvSpPr>
          <p:spPr bwMode="auto">
            <a:xfrm flipH="1" flipV="1">
              <a:off x="960" y="1824"/>
              <a:ext cx="91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8903" name="Line 7"/>
            <p:cNvSpPr>
              <a:spLocks noChangeShapeType="1"/>
            </p:cNvSpPr>
            <p:nvPr/>
          </p:nvSpPr>
          <p:spPr bwMode="auto">
            <a:xfrm flipH="1">
              <a:off x="960" y="1872"/>
              <a:ext cx="91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2209800" y="665163"/>
            <a:ext cx="4343400" cy="1239837"/>
            <a:chOff x="1392" y="419"/>
            <a:chExt cx="2592" cy="526"/>
          </a:xfrm>
        </p:grpSpPr>
        <p:sp>
          <p:nvSpPr>
            <p:cNvPr id="208905" name="Text Box 9"/>
            <p:cNvSpPr txBox="1">
              <a:spLocks noChangeArrowheads="1"/>
            </p:cNvSpPr>
            <p:nvPr/>
          </p:nvSpPr>
          <p:spPr bwMode="auto">
            <a:xfrm>
              <a:off x="2304" y="419"/>
              <a:ext cx="1680" cy="52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 dirty="0">
                  <a:solidFill>
                    <a:srgbClr val="000000"/>
                  </a:solidFill>
                </a:rPr>
                <a:t>Preprocessor directive to include input/output stream header file </a:t>
              </a:r>
              <a:r>
                <a:rPr lang="en-US" dirty="0">
                  <a:solidFill>
                    <a:srgbClr val="000000"/>
                  </a:solidFill>
                  <a:latin typeface="Courier New" pitchFamily="49" charset="0"/>
                </a:rPr>
                <a:t>&lt;</a:t>
              </a:r>
              <a:r>
                <a:rPr lang="en-US" dirty="0" err="1">
                  <a:solidFill>
                    <a:srgbClr val="000000"/>
                  </a:solidFill>
                  <a:latin typeface="Courier New" pitchFamily="49" charset="0"/>
                </a:rPr>
                <a:t>iostream</a:t>
              </a:r>
              <a:r>
                <a:rPr lang="en-US" dirty="0">
                  <a:solidFill>
                    <a:srgbClr val="000000"/>
                  </a:solidFill>
                  <a:latin typeface="Courier New" pitchFamily="49" charset="0"/>
                </a:rPr>
                <a:t>&gt;</a:t>
              </a:r>
              <a:r>
                <a:rPr lang="en-US" dirty="0">
                  <a:solidFill>
                    <a:srgbClr val="000000"/>
                  </a:solidFill>
                </a:rPr>
                <a:t>.</a:t>
              </a:r>
            </a:p>
          </p:txBody>
        </p:sp>
        <p:sp>
          <p:nvSpPr>
            <p:cNvPr id="208906" name="Line 10"/>
            <p:cNvSpPr>
              <a:spLocks noChangeShapeType="1"/>
            </p:cNvSpPr>
            <p:nvPr/>
          </p:nvSpPr>
          <p:spPr bwMode="auto">
            <a:xfrm flipH="1" flipV="1">
              <a:off x="1392" y="467"/>
              <a:ext cx="91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1447800" y="993775"/>
            <a:ext cx="4114800" cy="835025"/>
            <a:chOff x="864" y="624"/>
            <a:chExt cx="2592" cy="526"/>
          </a:xfrm>
        </p:grpSpPr>
        <p:sp>
          <p:nvSpPr>
            <p:cNvPr id="208908" name="Text Box 12"/>
            <p:cNvSpPr txBox="1">
              <a:spLocks noChangeArrowheads="1"/>
            </p:cNvSpPr>
            <p:nvPr/>
          </p:nvSpPr>
          <p:spPr bwMode="auto">
            <a:xfrm>
              <a:off x="1776" y="624"/>
              <a:ext cx="1680" cy="52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Function </a:t>
              </a:r>
              <a:r>
                <a:rPr lang="en-US">
                  <a:solidFill>
                    <a:srgbClr val="000000"/>
                  </a:solidFill>
                  <a:latin typeface="Courier New" pitchFamily="49" charset="0"/>
                </a:rPr>
                <a:t>main</a:t>
              </a:r>
              <a:r>
                <a:rPr lang="en-US">
                  <a:solidFill>
                    <a:srgbClr val="000000"/>
                  </a:solidFill>
                </a:rPr>
                <a:t> appears exactly once in every C++ program..</a:t>
              </a:r>
            </a:p>
          </p:txBody>
        </p:sp>
        <p:sp>
          <p:nvSpPr>
            <p:cNvPr id="208909" name="Line 13"/>
            <p:cNvSpPr>
              <a:spLocks noChangeShapeType="1"/>
            </p:cNvSpPr>
            <p:nvPr/>
          </p:nvSpPr>
          <p:spPr bwMode="auto">
            <a:xfrm flipH="1">
              <a:off x="864" y="720"/>
              <a:ext cx="912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533400" y="457200"/>
            <a:ext cx="4114800" cy="838200"/>
            <a:chOff x="336" y="288"/>
            <a:chExt cx="2592" cy="528"/>
          </a:xfrm>
        </p:grpSpPr>
        <p:sp>
          <p:nvSpPr>
            <p:cNvPr id="208911" name="Text Box 15"/>
            <p:cNvSpPr txBox="1">
              <a:spLocks noChangeArrowheads="1"/>
            </p:cNvSpPr>
            <p:nvPr/>
          </p:nvSpPr>
          <p:spPr bwMode="auto">
            <a:xfrm>
              <a:off x="1248" y="288"/>
              <a:ext cx="1680" cy="37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Function </a:t>
              </a:r>
              <a:r>
                <a:rPr lang="en-US">
                  <a:solidFill>
                    <a:srgbClr val="000000"/>
                  </a:solidFill>
                  <a:latin typeface="Courier New" pitchFamily="49" charset="0"/>
                </a:rPr>
                <a:t>main</a:t>
              </a:r>
              <a:r>
                <a:rPr lang="en-US">
                  <a:solidFill>
                    <a:srgbClr val="000000"/>
                  </a:solidFill>
                </a:rPr>
                <a:t> returns an integer value.</a:t>
              </a:r>
            </a:p>
          </p:txBody>
        </p:sp>
        <p:sp>
          <p:nvSpPr>
            <p:cNvPr id="208912" name="Line 16"/>
            <p:cNvSpPr>
              <a:spLocks noChangeShapeType="1"/>
            </p:cNvSpPr>
            <p:nvPr/>
          </p:nvSpPr>
          <p:spPr bwMode="auto">
            <a:xfrm flipH="1">
              <a:off x="336" y="384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609600" y="741363"/>
            <a:ext cx="4114800" cy="838200"/>
            <a:chOff x="384" y="467"/>
            <a:chExt cx="2592" cy="528"/>
          </a:xfrm>
        </p:grpSpPr>
        <p:sp>
          <p:nvSpPr>
            <p:cNvPr id="208914" name="Text Box 18"/>
            <p:cNvSpPr txBox="1">
              <a:spLocks noChangeArrowheads="1"/>
            </p:cNvSpPr>
            <p:nvPr/>
          </p:nvSpPr>
          <p:spPr bwMode="auto">
            <a:xfrm>
              <a:off x="1296" y="467"/>
              <a:ext cx="1680" cy="37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Left brace </a:t>
              </a:r>
              <a:r>
                <a:rPr lang="en-US">
                  <a:solidFill>
                    <a:srgbClr val="000000"/>
                  </a:solidFill>
                  <a:latin typeface="Courier New" pitchFamily="49" charset="0"/>
                </a:rPr>
                <a:t>{</a:t>
              </a:r>
              <a:r>
                <a:rPr lang="en-US">
                  <a:solidFill>
                    <a:srgbClr val="000000"/>
                  </a:solidFill>
                </a:rPr>
                <a:t> begins function body.</a:t>
              </a:r>
            </a:p>
          </p:txBody>
        </p:sp>
        <p:sp>
          <p:nvSpPr>
            <p:cNvPr id="208915" name="Line 19"/>
            <p:cNvSpPr>
              <a:spLocks noChangeShapeType="1"/>
            </p:cNvSpPr>
            <p:nvPr/>
          </p:nvSpPr>
          <p:spPr bwMode="auto">
            <a:xfrm flipH="1">
              <a:off x="384" y="563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533400" y="1828800"/>
            <a:ext cx="4114800" cy="838200"/>
            <a:chOff x="336" y="1152"/>
            <a:chExt cx="2592" cy="528"/>
          </a:xfrm>
        </p:grpSpPr>
        <p:sp>
          <p:nvSpPr>
            <p:cNvPr id="208917" name="Text Box 21"/>
            <p:cNvSpPr txBox="1">
              <a:spLocks noChangeArrowheads="1"/>
            </p:cNvSpPr>
            <p:nvPr/>
          </p:nvSpPr>
          <p:spPr bwMode="auto">
            <a:xfrm>
              <a:off x="1248" y="1152"/>
              <a:ext cx="1680" cy="37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Corresponding right brace </a:t>
              </a:r>
              <a:r>
                <a:rPr lang="en-US">
                  <a:solidFill>
                    <a:srgbClr val="000000"/>
                  </a:solidFill>
                  <a:latin typeface="Courier New" pitchFamily="49" charset="0"/>
                </a:rPr>
                <a:t>}</a:t>
              </a:r>
              <a:r>
                <a:rPr lang="en-US">
                  <a:solidFill>
                    <a:srgbClr val="000000"/>
                  </a:solidFill>
                </a:rPr>
                <a:t> ends function body.</a:t>
              </a:r>
            </a:p>
          </p:txBody>
        </p:sp>
        <p:sp>
          <p:nvSpPr>
            <p:cNvPr id="208918" name="Line 22"/>
            <p:cNvSpPr>
              <a:spLocks noChangeShapeType="1"/>
            </p:cNvSpPr>
            <p:nvPr/>
          </p:nvSpPr>
          <p:spPr bwMode="auto">
            <a:xfrm flipH="1">
              <a:off x="336" y="1248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3886200" y="990600"/>
            <a:ext cx="4114800" cy="838200"/>
            <a:chOff x="2976" y="660"/>
            <a:chExt cx="2592" cy="528"/>
          </a:xfrm>
        </p:grpSpPr>
        <p:sp>
          <p:nvSpPr>
            <p:cNvPr id="208920" name="Text Box 24"/>
            <p:cNvSpPr txBox="1">
              <a:spLocks noChangeArrowheads="1"/>
            </p:cNvSpPr>
            <p:nvPr/>
          </p:nvSpPr>
          <p:spPr bwMode="auto">
            <a:xfrm>
              <a:off x="3888" y="660"/>
              <a:ext cx="1680" cy="37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Statements end with a semicolon </a:t>
              </a:r>
              <a:r>
                <a:rPr lang="en-US">
                  <a:solidFill>
                    <a:srgbClr val="000000"/>
                  </a:solidFill>
                  <a:latin typeface="Courier New" pitchFamily="49" charset="0"/>
                </a:rPr>
                <a:t>;</a:t>
              </a:r>
              <a:r>
                <a:rPr lang="en-US">
                  <a:solidFill>
                    <a:srgbClr val="000000"/>
                  </a:solidFill>
                </a:rPr>
                <a:t>.</a:t>
              </a:r>
            </a:p>
          </p:txBody>
        </p:sp>
        <p:sp>
          <p:nvSpPr>
            <p:cNvPr id="208921" name="Line 25"/>
            <p:cNvSpPr>
              <a:spLocks noChangeShapeType="1"/>
            </p:cNvSpPr>
            <p:nvPr/>
          </p:nvSpPr>
          <p:spPr bwMode="auto">
            <a:xfrm flipH="1">
              <a:off x="2976" y="756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1066800" y="1920875"/>
            <a:ext cx="4114800" cy="990600"/>
            <a:chOff x="960" y="1524"/>
            <a:chExt cx="2592" cy="624"/>
          </a:xfrm>
        </p:grpSpPr>
        <p:sp>
          <p:nvSpPr>
            <p:cNvPr id="208923" name="Text Box 27"/>
            <p:cNvSpPr txBox="1">
              <a:spLocks noChangeArrowheads="1"/>
            </p:cNvSpPr>
            <p:nvPr/>
          </p:nvSpPr>
          <p:spPr bwMode="auto">
            <a:xfrm>
              <a:off x="1872" y="1776"/>
              <a:ext cx="1680" cy="37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Name </a:t>
              </a:r>
              <a:r>
                <a:rPr lang="en-US">
                  <a:solidFill>
                    <a:srgbClr val="000000"/>
                  </a:solidFill>
                  <a:latin typeface="Courier New" pitchFamily="49" charset="0"/>
                </a:rPr>
                <a:t>cout</a:t>
              </a:r>
              <a:r>
                <a:rPr lang="en-US">
                  <a:solidFill>
                    <a:srgbClr val="000000"/>
                  </a:solidFill>
                </a:rPr>
                <a:t> belongs to namespace </a:t>
              </a:r>
              <a:r>
                <a:rPr lang="en-US">
                  <a:solidFill>
                    <a:srgbClr val="000000"/>
                  </a:solidFill>
                  <a:latin typeface="Courier New" pitchFamily="49" charset="0"/>
                </a:rPr>
                <a:t>std</a:t>
              </a:r>
              <a:r>
                <a:rPr lang="en-US">
                  <a:solidFill>
                    <a:srgbClr val="000000"/>
                  </a:solidFill>
                </a:rPr>
                <a:t>.</a:t>
              </a:r>
            </a:p>
          </p:txBody>
        </p:sp>
        <p:sp>
          <p:nvSpPr>
            <p:cNvPr id="208924" name="Line 28"/>
            <p:cNvSpPr>
              <a:spLocks noChangeShapeType="1"/>
            </p:cNvSpPr>
            <p:nvPr/>
          </p:nvSpPr>
          <p:spPr bwMode="auto">
            <a:xfrm flipH="1" flipV="1">
              <a:off x="960" y="1524"/>
              <a:ext cx="912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1299633" y="1878013"/>
            <a:ext cx="4114800" cy="692150"/>
            <a:chOff x="1104" y="1200"/>
            <a:chExt cx="2592" cy="436"/>
          </a:xfrm>
        </p:grpSpPr>
        <p:sp>
          <p:nvSpPr>
            <p:cNvPr id="208926" name="Text Box 30"/>
            <p:cNvSpPr txBox="1">
              <a:spLocks noChangeArrowheads="1"/>
            </p:cNvSpPr>
            <p:nvPr/>
          </p:nvSpPr>
          <p:spPr bwMode="auto">
            <a:xfrm>
              <a:off x="2016" y="1418"/>
              <a:ext cx="1680" cy="218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Stream insertion operator.</a:t>
              </a:r>
            </a:p>
          </p:txBody>
        </p:sp>
        <p:sp>
          <p:nvSpPr>
            <p:cNvPr id="208927" name="Line 31"/>
            <p:cNvSpPr>
              <a:spLocks noChangeShapeType="1"/>
            </p:cNvSpPr>
            <p:nvPr/>
          </p:nvSpPr>
          <p:spPr bwMode="auto">
            <a:xfrm flipH="1" flipV="1">
              <a:off x="1104" y="1200"/>
              <a:ext cx="912" cy="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11" name="Group 35"/>
          <p:cNvGrpSpPr>
            <a:grpSpLocks/>
          </p:cNvGrpSpPr>
          <p:nvPr/>
        </p:nvGrpSpPr>
        <p:grpSpPr bwMode="auto">
          <a:xfrm>
            <a:off x="1447800" y="2403475"/>
            <a:ext cx="4191000" cy="1739900"/>
            <a:chOff x="912" y="1514"/>
            <a:chExt cx="2640" cy="1096"/>
          </a:xfrm>
        </p:grpSpPr>
        <p:sp>
          <p:nvSpPr>
            <p:cNvPr id="208929" name="Text Box 33"/>
            <p:cNvSpPr txBox="1">
              <a:spLocks noChangeArrowheads="1"/>
            </p:cNvSpPr>
            <p:nvPr/>
          </p:nvSpPr>
          <p:spPr bwMode="auto">
            <a:xfrm>
              <a:off x="1872" y="1776"/>
              <a:ext cx="1680" cy="834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Keyword </a:t>
              </a:r>
              <a:r>
                <a:rPr lang="en-US">
                  <a:solidFill>
                    <a:srgbClr val="000000"/>
                  </a:solidFill>
                  <a:latin typeface="Courier New" pitchFamily="49" charset="0"/>
                </a:rPr>
                <a:t>return</a:t>
              </a:r>
              <a:r>
                <a:rPr lang="en-US">
                  <a:solidFill>
                    <a:srgbClr val="000000"/>
                  </a:solidFill>
                </a:rPr>
                <a:t> is one of several means to exit function; value </a:t>
              </a:r>
              <a:r>
                <a:rPr lang="en-US">
                  <a:solidFill>
                    <a:srgbClr val="000000"/>
                  </a:solidFill>
                  <a:latin typeface="Courier New" pitchFamily="49" charset="0"/>
                </a:rPr>
                <a:t>0</a:t>
              </a:r>
              <a:r>
                <a:rPr lang="en-US">
                  <a:solidFill>
                    <a:srgbClr val="000000"/>
                  </a:solidFill>
                </a:rPr>
                <a:t> indicates program terminated successfully.</a:t>
              </a:r>
            </a:p>
          </p:txBody>
        </p:sp>
        <p:sp>
          <p:nvSpPr>
            <p:cNvPr id="208930" name="Line 34"/>
            <p:cNvSpPr>
              <a:spLocks noChangeShapeType="1"/>
            </p:cNvSpPr>
            <p:nvPr/>
          </p:nvSpPr>
          <p:spPr bwMode="auto">
            <a:xfrm flipH="1" flipV="1">
              <a:off x="912" y="1514"/>
              <a:ext cx="960" cy="35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098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03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CDF3999-0DE7-484F-A72F-20A329581FF0}" type="slidenum">
              <a:rPr lang="en-US">
                <a:solidFill>
                  <a:srgbClr val="000000"/>
                </a:solidFill>
              </a:rPr>
              <a:pPr/>
              <a:t>31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094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fig01_04.cpp</a:t>
            </a:r>
            <a:br>
              <a:rPr lang="en-US"/>
            </a:br>
            <a:r>
              <a:rPr lang="en-US"/>
              <a:t>(1 of 1)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fig01_04.cpp</a:t>
            </a:r>
            <a:br>
              <a:rPr lang="en-US"/>
            </a:br>
            <a:r>
              <a:rPr lang="en-US"/>
              <a:t>output (1 of 1)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7010400" cy="3124200"/>
          </a:xfrm>
        </p:spPr>
        <p:txBody>
          <a:bodyPr/>
          <a:lstStyle/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      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// Fig. 1.4: fig01_04.cpp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2      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// Printing a line with multiple statements.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3      </a:t>
            </a:r>
            <a:r>
              <a:rPr lang="en-US" dirty="0">
                <a:solidFill>
                  <a:srgbClr val="0000FF"/>
                </a:solidFill>
                <a:cs typeface="Courier New" pitchFamily="49" charset="0"/>
              </a:rPr>
              <a:t>#include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&lt;</a:t>
            </a:r>
            <a:r>
              <a:rPr lang="en-US" dirty="0" err="1">
                <a:solidFill>
                  <a:srgbClr val="000000"/>
                </a:solidFill>
                <a:cs typeface="Courier New" pitchFamily="49" charset="0"/>
              </a:rPr>
              <a:t>iostream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4      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5      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// function main begins program execution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6      </a:t>
            </a:r>
            <a:r>
              <a:rPr lang="en-US" dirty="0" err="1">
                <a:solidFill>
                  <a:srgbClr val="0000FF"/>
                </a:solidFill>
                <a:cs typeface="Courier New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main()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7     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8     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  std::</a:t>
            </a:r>
            <a:r>
              <a:rPr lang="en-US" dirty="0" err="1">
                <a:solidFill>
                  <a:srgbClr val="000000"/>
                </a:solidFill>
                <a:cs typeface="Courier New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&lt;&lt; </a:t>
            </a:r>
            <a:r>
              <a:rPr lang="en-US" dirty="0">
                <a:solidFill>
                  <a:srgbClr val="0099FF"/>
                </a:solidFill>
                <a:cs typeface="Courier New" pitchFamily="49" charset="0"/>
              </a:rPr>
              <a:t>"Welcome "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; 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9     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  std::</a:t>
            </a:r>
            <a:r>
              <a:rPr lang="en-US" dirty="0" err="1">
                <a:solidFill>
                  <a:srgbClr val="000000"/>
                </a:solidFill>
                <a:cs typeface="Courier New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&lt;&lt; </a:t>
            </a:r>
            <a:r>
              <a:rPr lang="en-US" dirty="0">
                <a:solidFill>
                  <a:srgbClr val="0099FF"/>
                </a:solidFill>
                <a:cs typeface="Courier New" pitchFamily="49" charset="0"/>
              </a:rPr>
              <a:t>"to C++!\n"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10             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11   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  </a:t>
            </a:r>
            <a:r>
              <a:rPr lang="en-US" dirty="0">
                <a:solidFill>
                  <a:srgbClr val="0000FF"/>
                </a:solidFill>
                <a:cs typeface="Courier New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 </a:t>
            </a:r>
            <a:r>
              <a:rPr lang="en-US" dirty="0">
                <a:solidFill>
                  <a:srgbClr val="0099FF"/>
                </a:solidFill>
                <a:cs typeface="Courier New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;   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// indicate that program ended successfully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12    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 dirty="0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13    </a:t>
            </a:r>
            <a:r>
              <a:rPr lang="en-US" dirty="0">
                <a:solidFill>
                  <a:srgbClr val="000000"/>
                </a:solidFill>
                <a:cs typeface="Courier New" pitchFamily="49" charset="0"/>
              </a:rPr>
              <a:t>}</a:t>
            </a:r>
            <a:r>
              <a:rPr lang="en-US" dirty="0">
                <a:solidFill>
                  <a:srgbClr val="008000"/>
                </a:solidFill>
                <a:cs typeface="Courier New" pitchFamily="49" charset="0"/>
              </a:rPr>
              <a:t> // end function main</a:t>
            </a:r>
            <a:endParaRPr lang="en-US" dirty="0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210948" name="Rectangle 4"/>
          <p:cNvSpPr>
            <a:spLocks noChangeArrowheads="1"/>
          </p:cNvSpPr>
          <p:nvPr/>
        </p:nvSpPr>
        <p:spPr bwMode="auto">
          <a:xfrm>
            <a:off x="0" y="3048000"/>
            <a:ext cx="7010400" cy="5334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tIns="182880" bIns="182880"/>
          <a:lstStyle/>
          <a:p>
            <a:pPr>
              <a:spcBef>
                <a:spcPct val="20000"/>
              </a:spcBef>
            </a:pPr>
            <a:r>
              <a:rPr lang="en-US" sz="1200">
                <a:solidFill>
                  <a:srgbClr val="000000"/>
                </a:solidFill>
                <a:latin typeface="Courier New" pitchFamily="49" charset="0"/>
              </a:rPr>
              <a:t>Welcome to C++! 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2971800" y="990600"/>
            <a:ext cx="4114800" cy="990600"/>
            <a:chOff x="1872" y="624"/>
            <a:chExt cx="2592" cy="624"/>
          </a:xfrm>
        </p:grpSpPr>
        <p:sp>
          <p:nvSpPr>
            <p:cNvPr id="210949" name="Text Box 5"/>
            <p:cNvSpPr txBox="1">
              <a:spLocks noChangeArrowheads="1"/>
            </p:cNvSpPr>
            <p:nvPr/>
          </p:nvSpPr>
          <p:spPr bwMode="auto">
            <a:xfrm>
              <a:off x="2784" y="624"/>
              <a:ext cx="1680" cy="526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Multiple stream insertion statements produce one line of output.</a:t>
              </a:r>
            </a:p>
          </p:txBody>
        </p:sp>
        <p:sp>
          <p:nvSpPr>
            <p:cNvPr id="210950" name="Line 6"/>
            <p:cNvSpPr>
              <a:spLocks noChangeShapeType="1"/>
            </p:cNvSpPr>
            <p:nvPr/>
          </p:nvSpPr>
          <p:spPr bwMode="auto">
            <a:xfrm flipH="1">
              <a:off x="1872" y="720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0951" name="Line 7"/>
            <p:cNvSpPr>
              <a:spLocks noChangeShapeType="1"/>
            </p:cNvSpPr>
            <p:nvPr/>
          </p:nvSpPr>
          <p:spPr bwMode="auto">
            <a:xfrm flipH="1">
              <a:off x="1968" y="720"/>
              <a:ext cx="81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253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3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4AF181CC-99A1-481D-A646-553790305BEF}" type="slidenum">
              <a:rPr lang="en-US">
                <a:solidFill>
                  <a:srgbClr val="000000"/>
                </a:solidFill>
              </a:rPr>
              <a:pPr/>
              <a:t>32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299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fig01_05.cpp</a:t>
            </a:r>
            <a:br>
              <a:rPr lang="en-US"/>
            </a:br>
            <a:r>
              <a:rPr lang="en-US"/>
              <a:t>(1 of 1)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fig01_05.cpp</a:t>
            </a:r>
            <a:br>
              <a:rPr lang="en-US"/>
            </a:br>
            <a:r>
              <a:rPr lang="en-US"/>
              <a:t>output (1 of 1)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endParaRPr lang="en-US"/>
          </a:p>
        </p:txBody>
      </p:sp>
      <p:sp>
        <p:nvSpPr>
          <p:cNvPr id="212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0"/>
            <a:ext cx="7010400" cy="2895600"/>
          </a:xfrm>
        </p:spPr>
        <p:txBody>
          <a:bodyPr/>
          <a:lstStyle/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      </a:t>
            </a:r>
            <a:r>
              <a:rPr lang="en-US">
                <a:solidFill>
                  <a:srgbClr val="008000"/>
                </a:solidFill>
                <a:cs typeface="Courier New" pitchFamily="49" charset="0"/>
              </a:rPr>
              <a:t>// Fig. 1.5: fig01_05.cpp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2      </a:t>
            </a:r>
            <a:r>
              <a:rPr lang="en-US">
                <a:solidFill>
                  <a:srgbClr val="008000"/>
                </a:solidFill>
                <a:cs typeface="Courier New" pitchFamily="49" charset="0"/>
              </a:rPr>
              <a:t>// Printing multiple lines with a single statement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3      </a:t>
            </a:r>
            <a:r>
              <a:rPr lang="en-US">
                <a:solidFill>
                  <a:srgbClr val="0000FF"/>
                </a:solidFill>
                <a:cs typeface="Courier New" pitchFamily="49" charset="0"/>
              </a:rPr>
              <a:t>#include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&lt;iostream&gt;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4      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5      </a:t>
            </a:r>
            <a:r>
              <a:rPr lang="en-US">
                <a:solidFill>
                  <a:srgbClr val="008000"/>
                </a:solidFill>
                <a:cs typeface="Courier New" pitchFamily="49" charset="0"/>
              </a:rPr>
              <a:t>// function main begins program execution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6      </a:t>
            </a:r>
            <a:r>
              <a:rPr lang="en-US">
                <a:solidFill>
                  <a:srgbClr val="0000FF"/>
                </a:solidFill>
                <a:cs typeface="Courier New" pitchFamily="49" charset="0"/>
              </a:rPr>
              <a:t>int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main()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7      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{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8      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  std::cout &lt;&lt; </a:t>
            </a:r>
            <a:r>
              <a:rPr lang="en-US">
                <a:solidFill>
                  <a:srgbClr val="0099FF"/>
                </a:solidFill>
                <a:cs typeface="Courier New" pitchFamily="49" charset="0"/>
              </a:rPr>
              <a:t>"Welcome\nto\n\nC++!\n"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;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9      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10    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  </a:t>
            </a:r>
            <a:r>
              <a:rPr lang="en-US">
                <a:solidFill>
                  <a:srgbClr val="0000FF"/>
                </a:solidFill>
                <a:cs typeface="Courier New" pitchFamily="49" charset="0"/>
              </a:rPr>
              <a:t>return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 </a:t>
            </a:r>
            <a:r>
              <a:rPr lang="en-US">
                <a:solidFill>
                  <a:srgbClr val="0099FF"/>
                </a:solidFill>
                <a:cs typeface="Courier New" pitchFamily="49" charset="0"/>
              </a:rPr>
              <a:t>0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;   </a:t>
            </a:r>
            <a:r>
              <a:rPr lang="en-US">
                <a:solidFill>
                  <a:srgbClr val="008000"/>
                </a:solidFill>
                <a:cs typeface="Courier New" pitchFamily="49" charset="0"/>
              </a:rPr>
              <a:t>// indicate that program ended successfully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11    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r>
              <a:rPr lang="en-US">
                <a:solidFill>
                  <a:srgbClr val="5F5F5F"/>
                </a:solidFill>
                <a:latin typeface="AvantGarde" pitchFamily="34" charset="0"/>
                <a:cs typeface="Times New Roman" pitchFamily="18" charset="0"/>
              </a:rPr>
              <a:t>12    </a:t>
            </a:r>
            <a:r>
              <a:rPr lang="en-US">
                <a:solidFill>
                  <a:srgbClr val="000000"/>
                </a:solidFill>
                <a:cs typeface="Courier New" pitchFamily="49" charset="0"/>
              </a:rPr>
              <a:t>}</a:t>
            </a:r>
            <a:r>
              <a:rPr lang="en-US">
                <a:solidFill>
                  <a:srgbClr val="008000"/>
                </a:solidFill>
                <a:cs typeface="Courier New" pitchFamily="49" charset="0"/>
              </a:rPr>
              <a:t> // end function main</a:t>
            </a:r>
            <a:endParaRPr lang="en-US">
              <a:solidFill>
                <a:srgbClr val="000000"/>
              </a:solidFill>
              <a:latin typeface="Courier" pitchFamily="49" charset="0"/>
              <a:cs typeface="Times New Roman" pitchFamily="18" charset="0"/>
            </a:endParaRPr>
          </a:p>
          <a:p>
            <a:endParaRPr lang="en-US"/>
          </a:p>
        </p:txBody>
      </p:sp>
      <p:sp>
        <p:nvSpPr>
          <p:cNvPr id="212996" name="Rectangle 4"/>
          <p:cNvSpPr>
            <a:spLocks noChangeArrowheads="1"/>
          </p:cNvSpPr>
          <p:nvPr/>
        </p:nvSpPr>
        <p:spPr bwMode="auto">
          <a:xfrm>
            <a:off x="0" y="2819400"/>
            <a:ext cx="7010400" cy="11430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tIns="182880" bIns="182880"/>
          <a:lstStyle/>
          <a:p>
            <a:pPr>
              <a:spcBef>
                <a:spcPct val="20000"/>
              </a:spcBef>
            </a:pPr>
            <a:r>
              <a:rPr lang="en-US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Welcome</a:t>
            </a:r>
            <a:endParaRPr lang="en-US" sz="1200">
              <a:solidFill>
                <a:srgbClr val="000000"/>
              </a:solidFill>
              <a:latin typeface="Courier" pitchFamily="49" charset="0"/>
            </a:endParaRPr>
          </a:p>
          <a:p>
            <a:pPr>
              <a:spcBef>
                <a:spcPct val="20000"/>
              </a:spcBef>
            </a:pPr>
            <a:r>
              <a:rPr lang="en-US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to</a:t>
            </a:r>
            <a:endParaRPr lang="en-US" sz="1200">
              <a:solidFill>
                <a:srgbClr val="000000"/>
              </a:solidFill>
              <a:latin typeface="Courier" pitchFamily="49" charset="0"/>
            </a:endParaRPr>
          </a:p>
          <a:p>
            <a:pPr>
              <a:spcBef>
                <a:spcPct val="20000"/>
              </a:spcBef>
            </a:pPr>
            <a:r>
              <a:rPr lang="en-US" sz="1200">
                <a:solidFill>
                  <a:srgbClr val="000000"/>
                </a:solidFill>
              </a:rPr>
              <a:t> </a:t>
            </a:r>
            <a:endParaRPr lang="en-US" sz="1200">
              <a:solidFill>
                <a:srgbClr val="000000"/>
              </a:solidFill>
              <a:latin typeface="Courier" pitchFamily="49" charset="0"/>
            </a:endParaRPr>
          </a:p>
          <a:p>
            <a:pPr>
              <a:spcBef>
                <a:spcPct val="20000"/>
              </a:spcBef>
            </a:pPr>
            <a:r>
              <a:rPr lang="en-US" sz="1200">
                <a:solidFill>
                  <a:srgbClr val="000000"/>
                </a:solidFill>
                <a:latin typeface="Courier New" pitchFamily="49" charset="0"/>
              </a:rPr>
              <a:t>C++!</a:t>
            </a:r>
            <a:r>
              <a:rPr lang="en-US" sz="120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667000" y="914400"/>
            <a:ext cx="4114800" cy="838200"/>
            <a:chOff x="1728" y="528"/>
            <a:chExt cx="2592" cy="528"/>
          </a:xfrm>
        </p:grpSpPr>
        <p:sp>
          <p:nvSpPr>
            <p:cNvPr id="212997" name="Text Box 5"/>
            <p:cNvSpPr txBox="1">
              <a:spLocks noChangeArrowheads="1"/>
            </p:cNvSpPr>
            <p:nvPr/>
          </p:nvSpPr>
          <p:spPr bwMode="auto">
            <a:xfrm>
              <a:off x="2640" y="528"/>
              <a:ext cx="1680" cy="372"/>
            </a:xfrm>
            <a:prstGeom prst="rect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</a:pPr>
              <a:r>
                <a:rPr lang="en-US">
                  <a:solidFill>
                    <a:srgbClr val="000000"/>
                  </a:solidFill>
                </a:rPr>
                <a:t>Using newline characters to print on multiple lines.</a:t>
              </a:r>
            </a:p>
          </p:txBody>
        </p:sp>
        <p:sp>
          <p:nvSpPr>
            <p:cNvPr id="212998" name="Line 6"/>
            <p:cNvSpPr>
              <a:spLocks noChangeShapeType="1"/>
            </p:cNvSpPr>
            <p:nvPr/>
          </p:nvSpPr>
          <p:spPr bwMode="auto">
            <a:xfrm flipH="1">
              <a:off x="1728" y="624"/>
              <a:ext cx="91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2999" name="Line 7"/>
            <p:cNvSpPr>
              <a:spLocks noChangeShapeType="1"/>
            </p:cNvSpPr>
            <p:nvPr/>
          </p:nvSpPr>
          <p:spPr bwMode="auto">
            <a:xfrm flipH="1">
              <a:off x="1968" y="624"/>
              <a:ext cx="67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3000" name="Line 8"/>
            <p:cNvSpPr>
              <a:spLocks noChangeShapeType="1"/>
            </p:cNvSpPr>
            <p:nvPr/>
          </p:nvSpPr>
          <p:spPr bwMode="auto">
            <a:xfrm flipH="1">
              <a:off x="2160" y="624"/>
              <a:ext cx="48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3001" name="Line 9"/>
            <p:cNvSpPr>
              <a:spLocks noChangeShapeType="1"/>
            </p:cNvSpPr>
            <p:nvPr/>
          </p:nvSpPr>
          <p:spPr bwMode="auto">
            <a:xfrm flipH="1">
              <a:off x="2448" y="624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918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Extraction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Operator ( </a:t>
            </a:r>
            <a:r>
              <a:rPr lang="en-US" alt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&gt;&gt;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Variable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b="1" dirty="0" err="1" smtClean="0">
                <a:solidFill>
                  <a:srgbClr val="0000CC"/>
                </a:solidFill>
              </a:rPr>
              <a:t>cin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 smtClean="0"/>
              <a:t>is predefined to denote an </a:t>
            </a:r>
            <a:r>
              <a:rPr lang="en-US" dirty="0" smtClean="0">
                <a:solidFill>
                  <a:srgbClr val="0000CC"/>
                </a:solidFill>
              </a:rPr>
              <a:t>input stream that comes from the standard input device</a:t>
            </a:r>
            <a:r>
              <a:rPr lang="en-US" dirty="0" smtClean="0"/>
              <a:t> (keyboard).</a:t>
            </a:r>
            <a:endParaRPr lang="en-US" sz="3600" dirty="0" smtClean="0"/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sz="1800" b="1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extraction operator  </a:t>
            </a:r>
            <a:r>
              <a:rPr lang="en-US" b="1" dirty="0" smtClean="0">
                <a:solidFill>
                  <a:srgbClr val="0000CC"/>
                </a:solidFill>
              </a:rPr>
              <a:t>&gt;&gt;</a:t>
            </a:r>
            <a:r>
              <a:rPr lang="en-US" dirty="0" smtClean="0">
                <a:solidFill>
                  <a:srgbClr val="0000CC"/>
                </a:solidFill>
              </a:rPr>
              <a:t> </a:t>
            </a:r>
            <a:r>
              <a:rPr lang="en-US" dirty="0" smtClean="0"/>
              <a:t> takes 2 operands.</a:t>
            </a:r>
            <a:endParaRPr lang="en-US" sz="3600" dirty="0" smtClean="0"/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sz="1800" b="1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The left operand is a stream expression, such as </a:t>
            </a:r>
            <a:r>
              <a:rPr lang="en-US" b="1" dirty="0" err="1" smtClean="0">
                <a:solidFill>
                  <a:srgbClr val="0000CC"/>
                </a:solidFill>
              </a:rPr>
              <a:t>cin</a:t>
            </a:r>
            <a:r>
              <a:rPr lang="en-US" dirty="0" smtClean="0"/>
              <a:t>.  The right operand is a </a:t>
            </a:r>
            <a:r>
              <a:rPr lang="en-US" b="1" dirty="0" smtClean="0">
                <a:solidFill>
                  <a:srgbClr val="00B0F0"/>
                </a:solidFill>
              </a:rPr>
              <a:t>variable</a:t>
            </a:r>
            <a:r>
              <a:rPr lang="en-US" dirty="0" smtClean="0"/>
              <a:t> to which the value input by the user is assigned.</a:t>
            </a:r>
            <a:endParaRPr lang="en-US" sz="3600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46325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Input </a:t>
            </a:r>
            <a:r>
              <a:rPr lang="en-US" altLang="en-US" b="1" dirty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Statements</a:t>
            </a: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428223" y="4240679"/>
            <a:ext cx="7378700" cy="2044700"/>
            <a:chOff x="580" y="2644"/>
            <a:chExt cx="4648" cy="1288"/>
          </a:xfrm>
        </p:grpSpPr>
        <p:sp>
          <p:nvSpPr>
            <p:cNvPr id="20488" name="Rectangle 3"/>
            <p:cNvSpPr>
              <a:spLocks noChangeArrowheads="1"/>
            </p:cNvSpPr>
            <p:nvPr/>
          </p:nvSpPr>
          <p:spPr bwMode="auto">
            <a:xfrm>
              <a:off x="580" y="2644"/>
              <a:ext cx="4648" cy="618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  <p:sp>
          <p:nvSpPr>
            <p:cNvPr id="20489" name="Rectangle 4"/>
            <p:cNvSpPr>
              <a:spLocks noChangeArrowheads="1"/>
            </p:cNvSpPr>
            <p:nvPr/>
          </p:nvSpPr>
          <p:spPr bwMode="auto">
            <a:xfrm>
              <a:off x="580" y="3404"/>
              <a:ext cx="4648" cy="528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0485" name="Rectangle 7"/>
          <p:cNvSpPr>
            <a:spLocks noChangeArrowheads="1"/>
          </p:cNvSpPr>
          <p:nvPr/>
        </p:nvSpPr>
        <p:spPr bwMode="auto">
          <a:xfrm>
            <a:off x="457200" y="2295257"/>
            <a:ext cx="7378700" cy="901700"/>
          </a:xfrm>
          <a:prstGeom prst="rect">
            <a:avLst/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6" name="Rectangle 8"/>
          <p:cNvSpPr>
            <a:spLocks noChangeArrowheads="1"/>
          </p:cNvSpPr>
          <p:nvPr/>
        </p:nvSpPr>
        <p:spPr bwMode="auto">
          <a:xfrm>
            <a:off x="3025537" y="2408506"/>
            <a:ext cx="1752600" cy="520700"/>
          </a:xfrm>
          <a:prstGeom prst="rect">
            <a:avLst/>
          </a:prstGeom>
          <a:solidFill>
            <a:srgbClr val="FFCC66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7" name="Rectangle 9"/>
          <p:cNvSpPr>
            <a:spLocks noChangeArrowheads="1"/>
          </p:cNvSpPr>
          <p:nvPr/>
        </p:nvSpPr>
        <p:spPr bwMode="auto">
          <a:xfrm>
            <a:off x="1355725" y="2498725"/>
            <a:ext cx="3422412" cy="36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 dirty="0" err="1" smtClean="0">
                <a:solidFill>
                  <a:prstClr val="black"/>
                </a:solidFill>
              </a:rPr>
              <a:t>cin</a:t>
            </a:r>
            <a:r>
              <a:rPr lang="en-US" altLang="en-US" b="1" dirty="0" smtClean="0">
                <a:solidFill>
                  <a:prstClr val="black"/>
                </a:solidFill>
              </a:rPr>
              <a:t>  &gt;&gt;  </a:t>
            </a:r>
            <a:r>
              <a:rPr lang="en-US" altLang="en-US" b="1" i="1" dirty="0" smtClean="0">
                <a:solidFill>
                  <a:prstClr val="black"/>
                </a:solidFill>
              </a:rPr>
              <a:t>variable</a:t>
            </a:r>
            <a:r>
              <a:rPr lang="en-US" altLang="en-US" b="1" dirty="0" smtClean="0">
                <a:solidFill>
                  <a:prstClr val="black"/>
                </a:solidFill>
              </a:rPr>
              <a:t>   &gt;&gt; </a:t>
            </a:r>
            <a:r>
              <a:rPr lang="en-US" altLang="en-US" b="1" i="1" dirty="0" smtClean="0">
                <a:solidFill>
                  <a:prstClr val="black"/>
                </a:solidFill>
              </a:rPr>
              <a:t>variable</a:t>
            </a:r>
            <a:r>
              <a:rPr lang="en-US" altLang="en-US" b="1" dirty="0" smtClean="0">
                <a:solidFill>
                  <a:prstClr val="black"/>
                </a:solidFill>
              </a:rPr>
              <a:t>  </a:t>
            </a:r>
            <a:r>
              <a:rPr lang="en-US" altLang="en-US" b="1" dirty="0">
                <a:solidFill>
                  <a:prstClr val="black"/>
                </a:solidFill>
              </a:rPr>
              <a:t>. . . ;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2" name="Rectangle 11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20484" name="Rectangle 6"/>
          <p:cNvSpPr txBox="1">
            <a:spLocks noChangeArrowheads="1"/>
          </p:cNvSpPr>
          <p:nvPr/>
        </p:nvSpPr>
        <p:spPr bwMode="auto">
          <a:xfrm>
            <a:off x="228600" y="1597223"/>
            <a:ext cx="86868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800" b="1" dirty="0">
                <a:solidFill>
                  <a:srgbClr val="A50021"/>
                </a:solidFill>
              </a:rPr>
              <a:t>SYNTAX</a:t>
            </a:r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endParaRPr lang="en-US" altLang="en-US" sz="3200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1400" dirty="0">
                <a:solidFill>
                  <a:prstClr val="black"/>
                </a:solidFill>
              </a:rPr>
              <a:t>   </a:t>
            </a:r>
            <a:r>
              <a:rPr lang="en-US" altLang="en-US" sz="2400" dirty="0" err="1" smtClean="0">
                <a:solidFill>
                  <a:prstClr val="black"/>
                </a:solidFill>
              </a:rPr>
              <a:t>cin</a:t>
            </a:r>
            <a:r>
              <a:rPr lang="en-US" altLang="en-US" sz="2400" dirty="0" smtClean="0">
                <a:solidFill>
                  <a:prstClr val="black"/>
                </a:solidFill>
              </a:rPr>
              <a:t> </a:t>
            </a:r>
            <a:r>
              <a:rPr lang="en-US" altLang="en-US" sz="2400" dirty="0">
                <a:solidFill>
                  <a:prstClr val="black"/>
                </a:solidFill>
              </a:rPr>
              <a:t>statements can be linked together using </a:t>
            </a:r>
            <a:r>
              <a:rPr lang="en-US" altLang="en-US" sz="2400" dirty="0" smtClean="0">
                <a:solidFill>
                  <a:prstClr val="black"/>
                </a:solidFill>
              </a:rPr>
              <a:t>multiple </a:t>
            </a:r>
            <a:r>
              <a:rPr lang="en-US" altLang="en-US" sz="2400" b="1" dirty="0" smtClean="0">
                <a:solidFill>
                  <a:prstClr val="black"/>
                </a:solidFill>
              </a:rPr>
              <a:t>&gt;&gt;</a:t>
            </a:r>
            <a:r>
              <a:rPr lang="en-US" altLang="en-US" sz="2400" dirty="0" smtClean="0">
                <a:solidFill>
                  <a:prstClr val="black"/>
                </a:solidFill>
              </a:rPr>
              <a:t> </a:t>
            </a:r>
            <a:r>
              <a:rPr lang="en-US" altLang="en-US" sz="2400" dirty="0">
                <a:solidFill>
                  <a:prstClr val="black"/>
                </a:solidFill>
              </a:rPr>
              <a:t>operator.</a:t>
            </a: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srgbClr val="A50021"/>
                </a:solidFill>
              </a:rPr>
              <a:t>  </a:t>
            </a:r>
            <a:r>
              <a:rPr lang="en-US" altLang="en-US" sz="2400" dirty="0" smtClean="0">
                <a:solidFill>
                  <a:prstClr val="black"/>
                </a:solidFill>
              </a:rPr>
              <a:t>Example:</a:t>
            </a:r>
            <a:endParaRPr lang="en-US" altLang="en-US" sz="2400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endParaRPr lang="en-US" altLang="en-US" sz="1200" b="1" dirty="0">
              <a:solidFill>
                <a:srgbClr val="C0504D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srgbClr val="EEECE1"/>
                </a:solidFill>
              </a:rPr>
              <a:t>	</a:t>
            </a:r>
            <a:r>
              <a:rPr lang="en-US" altLang="en-US" sz="2400" b="1" dirty="0" err="1" smtClean="0">
                <a:solidFill>
                  <a:prstClr val="black"/>
                </a:solidFill>
              </a:rPr>
              <a:t>cin</a:t>
            </a:r>
            <a:r>
              <a:rPr lang="en-US" altLang="en-US" sz="2400" b="1" dirty="0" smtClean="0">
                <a:solidFill>
                  <a:prstClr val="black"/>
                </a:solidFill>
              </a:rPr>
              <a:t>  &gt;&gt;  number1;</a:t>
            </a:r>
            <a:endParaRPr lang="en-US" altLang="en-US" sz="2400" b="1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prstClr val="black"/>
                </a:solidFill>
              </a:rPr>
              <a:t>	</a:t>
            </a:r>
            <a:r>
              <a:rPr lang="en-US" altLang="en-US" sz="2400" b="1" dirty="0" err="1">
                <a:solidFill>
                  <a:prstClr val="black"/>
                </a:solidFill>
              </a:rPr>
              <a:t>cin</a:t>
            </a:r>
            <a:r>
              <a:rPr lang="en-US" altLang="en-US" sz="2400" b="1" dirty="0">
                <a:solidFill>
                  <a:prstClr val="black"/>
                </a:solidFill>
              </a:rPr>
              <a:t>  &gt;&gt;  </a:t>
            </a:r>
            <a:r>
              <a:rPr lang="en-US" altLang="en-US" sz="2400" b="1" dirty="0" smtClean="0">
                <a:solidFill>
                  <a:prstClr val="black"/>
                </a:solidFill>
              </a:rPr>
              <a:t>number2;</a:t>
            </a:r>
            <a:endParaRPr lang="en-US" altLang="en-US" sz="2400" b="1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endParaRPr lang="en-US" altLang="en-US" sz="2400" b="1" dirty="0">
              <a:solidFill>
                <a:prstClr val="black"/>
              </a:solidFill>
            </a:endParaRPr>
          </a:p>
          <a:p>
            <a:pPr marL="342900" indent="-342900">
              <a:spcBef>
                <a:spcPct val="20000"/>
              </a:spcBef>
              <a:buFont typeface="Monotype Sorts" pitchFamily="2" charset="2"/>
              <a:buNone/>
            </a:pPr>
            <a:r>
              <a:rPr lang="en-US" altLang="en-US" sz="2400" b="1" dirty="0">
                <a:solidFill>
                  <a:prstClr val="black"/>
                </a:solidFill>
              </a:rPr>
              <a:t>	</a:t>
            </a:r>
            <a:r>
              <a:rPr lang="en-US" altLang="en-US" sz="2400" b="1" dirty="0" err="1" smtClean="0">
                <a:solidFill>
                  <a:prstClr val="black"/>
                </a:solidFill>
              </a:rPr>
              <a:t>cin</a:t>
            </a:r>
            <a:r>
              <a:rPr lang="en-US" altLang="en-US" sz="2400" b="1" dirty="0" smtClean="0">
                <a:solidFill>
                  <a:prstClr val="black"/>
                </a:solidFill>
              </a:rPr>
              <a:t>  &gt;&gt; number1 &gt;&gt; number2;</a:t>
            </a:r>
            <a:endParaRPr lang="en-US" altLang="en-US" sz="2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17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000000"/>
                </a:solidFill>
              </a:rPr>
              <a:t>CS 110 – Fall 2014</a:t>
            </a:r>
            <a:endParaRPr lang="en-US" sz="1400" b="1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0254" y="2566599"/>
            <a:ext cx="4800600" cy="181588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000000"/>
                </a:solidFill>
              </a:rPr>
              <a:t>int</a:t>
            </a:r>
            <a:r>
              <a:rPr lang="en-US" sz="2800" b="1" dirty="0" smtClean="0">
                <a:solidFill>
                  <a:srgbClr val="000000"/>
                </a:solidFill>
              </a:rPr>
              <a:t> num;</a:t>
            </a:r>
          </a:p>
          <a:p>
            <a:r>
              <a:rPr lang="en-US" sz="2800" b="1" dirty="0" err="1" smtClean="0">
                <a:solidFill>
                  <a:srgbClr val="000000"/>
                </a:solidFill>
              </a:rPr>
              <a:t>cout</a:t>
            </a:r>
            <a:r>
              <a:rPr lang="en-US" sz="2800" b="1" dirty="0" smtClean="0">
                <a:solidFill>
                  <a:srgbClr val="000000"/>
                </a:solidFill>
              </a:rPr>
              <a:t>&lt;&lt; “Enter number\n \n”;</a:t>
            </a:r>
          </a:p>
          <a:p>
            <a:r>
              <a:rPr lang="en-US" sz="2800" b="1" dirty="0" err="1" smtClean="0">
                <a:solidFill>
                  <a:srgbClr val="000000"/>
                </a:solidFill>
              </a:rPr>
              <a:t>cin</a:t>
            </a:r>
            <a:r>
              <a:rPr lang="en-US" sz="2800" b="1" dirty="0" smtClean="0">
                <a:solidFill>
                  <a:srgbClr val="000000"/>
                </a:solidFill>
              </a:rPr>
              <a:t> &gt;&gt; num;</a:t>
            </a:r>
          </a:p>
          <a:p>
            <a:endParaRPr lang="en-US" sz="2800" b="1" dirty="0" smtClean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53000" y="2590800"/>
            <a:ext cx="4191000" cy="1815882"/>
          </a:xfrm>
          <a:prstGeom prst="rect">
            <a:avLst/>
          </a:prstGeom>
          <a:solidFill>
            <a:schemeClr val="tx1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FFFFFF"/>
                </a:solidFill>
              </a:rPr>
              <a:t>Enter number</a:t>
            </a:r>
          </a:p>
          <a:p>
            <a:endParaRPr lang="en-US" sz="2800" b="1" dirty="0" smtClean="0">
              <a:solidFill>
                <a:srgbClr val="FFFFFF"/>
              </a:solidFill>
            </a:endParaRPr>
          </a:p>
          <a:p>
            <a:r>
              <a:rPr lang="en-US" sz="2800" b="1" dirty="0" smtClean="0">
                <a:solidFill>
                  <a:srgbClr val="FFFFFF"/>
                </a:solidFill>
              </a:rPr>
              <a:t>5</a:t>
            </a:r>
          </a:p>
          <a:p>
            <a:endParaRPr lang="en-US" sz="2800" b="1" dirty="0" smtClean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50854" y="1829424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C000"/>
                </a:solidFill>
              </a:rPr>
              <a:t>Output: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6454" y="1804599"/>
            <a:ext cx="3124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FFC000"/>
                </a:solidFill>
              </a:rPr>
              <a:t>Code: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15" name="Title 1"/>
          <p:cNvSpPr txBox="1">
            <a:spLocks/>
          </p:cNvSpPr>
          <p:nvPr/>
        </p:nvSpPr>
        <p:spPr>
          <a:xfrm>
            <a:off x="457200" y="512070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altLang="en-US" b="1" dirty="0" smtClean="0">
                <a:solidFill>
                  <a:schemeClr val="accent6">
                    <a:lumMod val="75000"/>
                  </a:schemeClr>
                </a:solidFill>
                <a:ea typeface="+mn-ea"/>
                <a:cs typeface="+mn-cs"/>
              </a:rPr>
              <a:t>Input Statements</a:t>
            </a:r>
            <a:endParaRPr lang="en-US" altLang="en-US" b="1" dirty="0">
              <a:solidFill>
                <a:schemeClr val="accent6">
                  <a:lumMod val="75000"/>
                </a:scheme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35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-you-very-much--thumb100357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990600"/>
            <a:ext cx="52578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1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pt_template_07-25-2002">
  <a:themeElements>
    <a:clrScheme name="">
      <a:dk1>
        <a:srgbClr val="000000"/>
      </a:dk1>
      <a:lt1>
        <a:srgbClr val="FFFFFF"/>
      </a:lt1>
      <a:dk2>
        <a:srgbClr val="000000"/>
      </a:dk2>
      <a:lt2>
        <a:srgbClr val="FF0000"/>
      </a:lt2>
      <a:accent1>
        <a:srgbClr val="0099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CAFF"/>
      </a:accent5>
      <a:accent6>
        <a:srgbClr val="2D2DB9"/>
      </a:accent6>
      <a:hlink>
        <a:srgbClr val="0000FF"/>
      </a:hlink>
      <a:folHlink>
        <a:srgbClr val="B2B2B2"/>
      </a:folHlink>
    </a:clrScheme>
    <a:fontScheme name="ppt_template_07-25-2002">
      <a:majorFont>
        <a:latin typeface="AvantGarde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  <a:cs typeface="Times New Roman" pitchFamily="18" charset="0"/>
          </a:defRPr>
        </a:defPPr>
      </a:lstStyle>
    </a:lnDef>
  </a:objectDefaults>
  <a:extraClrSchemeLst>
    <a:extraClrScheme>
      <a:clrScheme name="ppt_template_07-25-2002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_template_07-25-2002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_template_07-25-200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ivic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008000"/>
    </a:lt2>
    <a:accent1>
      <a:srgbClr val="FFE699"/>
    </a:accent1>
    <a:accent2>
      <a:srgbClr val="FF0000"/>
    </a:accent2>
    <a:accent3>
      <a:srgbClr val="FFFFFF"/>
    </a:accent3>
    <a:accent4>
      <a:srgbClr val="000000"/>
    </a:accent4>
    <a:accent5>
      <a:srgbClr val="FFF0CA"/>
    </a:accent5>
    <a:accent6>
      <a:srgbClr val="E70000"/>
    </a:accent6>
    <a:hlink>
      <a:srgbClr val="CCCCFF"/>
    </a:hlink>
    <a:folHlink>
      <a:srgbClr val="99CCF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15474</TotalTime>
  <Words>1263</Words>
  <Application>Microsoft Office PowerPoint</Application>
  <PresentationFormat>On-screen Show (4:3)</PresentationFormat>
  <Paragraphs>294</Paragraphs>
  <Slides>36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5" baseType="lpstr">
      <vt:lpstr>AGaramond-Semibold--Identity-H</vt:lpstr>
      <vt:lpstr>Agency FB</vt:lpstr>
      <vt:lpstr>Arial</vt:lpstr>
      <vt:lpstr>AvantGarde</vt:lpstr>
      <vt:lpstr>Calibri</vt:lpstr>
      <vt:lpstr>Cambria</vt:lpstr>
      <vt:lpstr>Courier</vt:lpstr>
      <vt:lpstr>Courier New</vt:lpstr>
      <vt:lpstr>Monaco</vt:lpstr>
      <vt:lpstr>Monotype Sorts</vt:lpstr>
      <vt:lpstr>Symbol</vt:lpstr>
      <vt:lpstr>Times New Roman</vt:lpstr>
      <vt:lpstr>Wingdings</vt:lpstr>
      <vt:lpstr>Wingdings 2</vt:lpstr>
      <vt:lpstr>Office Theme</vt:lpstr>
      <vt:lpstr>ppt_template_07-25-2002</vt:lpstr>
      <vt:lpstr>1_Office Theme</vt:lpstr>
      <vt:lpstr>Civic</vt:lpstr>
      <vt:lpstr>Document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C++  Data Types</vt:lpstr>
      <vt:lpstr>C++ Primitive Data Types</vt:lpstr>
      <vt:lpstr>Primitive Data Types in C++</vt:lpstr>
      <vt:lpstr>Samples of C++ Data Values</vt:lpstr>
      <vt:lpstr>What Does a Variable Declaration Do?</vt:lpstr>
      <vt:lpstr>Variable Declaration</vt:lpstr>
      <vt:lpstr>PowerPoint Presentation</vt:lpstr>
      <vt:lpstr>PowerPoint Presentation</vt:lpstr>
      <vt:lpstr>PowerPoint Presentation</vt:lpstr>
      <vt:lpstr>PowerPoint Presentation</vt:lpstr>
      <vt:lpstr>Stream Operators – Input and Output</vt:lpstr>
      <vt:lpstr>Keyboard and Screen I/O</vt:lpstr>
      <vt:lpstr>Insertion Operator ( &lt;&lt; )</vt:lpstr>
      <vt:lpstr>Output Statements</vt:lpstr>
      <vt:lpstr>Output Statements (String constant)</vt:lpstr>
      <vt:lpstr>Output Statements (Expression)</vt:lpstr>
      <vt:lpstr>Escape Sequences</vt:lpstr>
      <vt:lpstr>Escape Sequences</vt:lpstr>
      <vt:lpstr>Newline</vt:lpstr>
      <vt:lpstr>fig01_02.cpp (1 of 1)  fig01_02.cpp output (1 of 1)  </vt:lpstr>
      <vt:lpstr>fig01_04.cpp (1 of 1)  fig01_04.cpp output (1 of 1)  </vt:lpstr>
      <vt:lpstr>fig01_05.cpp (1 of 1)  fig01_05.cpp output (1 of 1)  </vt:lpstr>
      <vt:lpstr>Extraction Operator ( &gt;&gt; )</vt:lpstr>
      <vt:lpstr>Input Statements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984</cp:revision>
  <dcterms:created xsi:type="dcterms:W3CDTF">2006-08-16T00:00:00Z</dcterms:created>
  <dcterms:modified xsi:type="dcterms:W3CDTF">2018-09-23T19:06:19Z</dcterms:modified>
</cp:coreProperties>
</file>