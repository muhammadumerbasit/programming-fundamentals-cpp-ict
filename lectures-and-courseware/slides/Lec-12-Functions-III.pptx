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3"/>
  </p:notesMasterIdLst>
  <p:sldIdLst>
    <p:sldId id="257" r:id="rId2"/>
    <p:sldId id="773" r:id="rId3"/>
    <p:sldId id="884" r:id="rId4"/>
    <p:sldId id="922" r:id="rId5"/>
    <p:sldId id="923" r:id="rId6"/>
    <p:sldId id="924" r:id="rId7"/>
    <p:sldId id="925" r:id="rId8"/>
    <p:sldId id="926" r:id="rId9"/>
    <p:sldId id="929" r:id="rId10"/>
    <p:sldId id="920" r:id="rId11"/>
    <p:sldId id="928" r:id="rId12"/>
    <p:sldId id="930" r:id="rId13"/>
    <p:sldId id="932" r:id="rId14"/>
    <p:sldId id="931" r:id="rId15"/>
    <p:sldId id="936" r:id="rId16"/>
    <p:sldId id="934" r:id="rId17"/>
    <p:sldId id="935" r:id="rId18"/>
    <p:sldId id="927" r:id="rId19"/>
    <p:sldId id="885" r:id="rId20"/>
    <p:sldId id="886" r:id="rId21"/>
    <p:sldId id="887" r:id="rId22"/>
    <p:sldId id="888" r:id="rId23"/>
    <p:sldId id="889" r:id="rId24"/>
    <p:sldId id="893" r:id="rId25"/>
    <p:sldId id="894" r:id="rId26"/>
    <p:sldId id="890" r:id="rId27"/>
    <p:sldId id="891" r:id="rId28"/>
    <p:sldId id="938" r:id="rId29"/>
    <p:sldId id="939" r:id="rId30"/>
    <p:sldId id="937" r:id="rId31"/>
    <p:sldId id="32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2E84"/>
    <a:srgbClr val="AD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34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1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7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98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61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36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08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87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63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72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01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33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66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6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41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97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091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73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557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89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199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387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78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29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343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934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134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66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376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308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4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8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11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Functions – III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Road Map for Today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Passing Variable to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Recursive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smtClean="0"/>
              <a:t>Function Overloading</a:t>
            </a:r>
            <a:endParaRPr lang="en-US" sz="3200" kern="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75750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Passing Variables to Functions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177162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Variables to Functions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302604"/>
            <a:ext cx="8839200" cy="48235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000" dirty="0"/>
              <a:t>The term </a:t>
            </a:r>
            <a:r>
              <a:rPr lang="en-US" sz="3000" b="1" i="1" dirty="0">
                <a:solidFill>
                  <a:srgbClr val="C00000"/>
                </a:solidFill>
              </a:rPr>
              <a:t>"passing a variable" </a:t>
            </a:r>
            <a:r>
              <a:rPr lang="en-US" sz="3000" dirty="0"/>
              <a:t>is used when a function is called with a variable you defined previously. </a:t>
            </a:r>
            <a:endParaRPr lang="en-US" sz="3000" dirty="0" smtClean="0"/>
          </a:p>
          <a:p>
            <a:pPr marL="0" indent="0">
              <a:buNone/>
            </a:pPr>
            <a:endParaRPr lang="en-US" sz="3000" dirty="0" smtClean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 smtClean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The variable </a:t>
            </a:r>
            <a:r>
              <a:rPr lang="en-US" sz="3000" b="1" dirty="0" err="1"/>
              <a:t>myAge</a:t>
            </a:r>
            <a:r>
              <a:rPr lang="en-US" sz="3000" dirty="0"/>
              <a:t> is </a:t>
            </a:r>
            <a:r>
              <a:rPr lang="en-US" sz="3000" b="1" i="1" dirty="0">
                <a:solidFill>
                  <a:srgbClr val="C00000"/>
                </a:solidFill>
              </a:rPr>
              <a:t>"passed" </a:t>
            </a:r>
            <a:r>
              <a:rPr lang="en-US" sz="3000" dirty="0"/>
              <a:t>to the function </a:t>
            </a:r>
            <a:r>
              <a:rPr lang="en-US" sz="3000" b="1" dirty="0" err="1"/>
              <a:t>calculateBirthYear</a:t>
            </a:r>
            <a:r>
              <a:rPr lang="en-US" sz="3000" dirty="0"/>
              <a:t>. The function can then use </a:t>
            </a:r>
            <a:r>
              <a:rPr lang="en-US" sz="3000" dirty="0" smtClean="0"/>
              <a:t>the value of that variable.</a:t>
            </a:r>
            <a:endParaRPr lang="en-US" sz="3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743124"/>
            <a:ext cx="3810000" cy="1236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894027"/>
            <a:ext cx="4829175" cy="1085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23051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Variables to Functions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302604"/>
            <a:ext cx="8839200" cy="48235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There are two ways that variable </a:t>
            </a:r>
            <a:r>
              <a:rPr lang="en-US" sz="3600" b="1" dirty="0" err="1"/>
              <a:t>myAge</a:t>
            </a:r>
            <a:r>
              <a:rPr lang="en-US" sz="3600" dirty="0"/>
              <a:t> can be passed to the function. </a:t>
            </a:r>
            <a:endParaRPr lang="en-US" sz="3600" dirty="0" smtClean="0"/>
          </a:p>
          <a:p>
            <a:pPr lvl="1"/>
            <a:r>
              <a:rPr lang="en-US" sz="3600" b="1" i="1" dirty="0" smtClean="0">
                <a:solidFill>
                  <a:srgbClr val="002060"/>
                </a:solidFill>
              </a:rPr>
              <a:t>pass by value</a:t>
            </a:r>
          </a:p>
          <a:p>
            <a:pPr marL="457200" lvl="1" indent="0">
              <a:buNone/>
            </a:pPr>
            <a:r>
              <a:rPr lang="en-US" sz="3600" b="1" i="1" dirty="0">
                <a:solidFill>
                  <a:srgbClr val="002060"/>
                </a:solidFill>
              </a:rPr>
              <a:t>	</a:t>
            </a:r>
            <a:r>
              <a:rPr lang="en-US" dirty="0" smtClean="0"/>
              <a:t>The </a:t>
            </a:r>
            <a:r>
              <a:rPr lang="en-US" b="1" dirty="0">
                <a:solidFill>
                  <a:srgbClr val="C00000"/>
                </a:solidFill>
              </a:rPr>
              <a:t>value in the memory </a:t>
            </a:r>
            <a:r>
              <a:rPr lang="en-US" dirty="0"/>
              <a:t>is copied to another location to be used within the </a:t>
            </a:r>
            <a:r>
              <a:rPr lang="en-US" dirty="0" smtClean="0"/>
              <a:t>function.</a:t>
            </a:r>
            <a:endParaRPr lang="en-US" b="1" i="1" dirty="0" smtClean="0">
              <a:solidFill>
                <a:srgbClr val="002060"/>
              </a:solidFill>
            </a:endParaRPr>
          </a:p>
          <a:p>
            <a:pPr lvl="1"/>
            <a:r>
              <a:rPr lang="en-US" sz="3600" b="1" i="1" dirty="0" smtClean="0">
                <a:solidFill>
                  <a:srgbClr val="002060"/>
                </a:solidFill>
              </a:rPr>
              <a:t>pass by reference</a:t>
            </a:r>
          </a:p>
          <a:p>
            <a:pPr marL="457200" lvl="1" indent="0">
              <a:buNone/>
            </a:pPr>
            <a:r>
              <a:rPr lang="en-US" sz="3600" dirty="0" smtClean="0"/>
              <a:t>	</a:t>
            </a:r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memory address of the variable </a:t>
            </a:r>
            <a:r>
              <a:rPr lang="en-US" dirty="0"/>
              <a:t>is passed to the function</a:t>
            </a:r>
            <a:r>
              <a:rPr lang="en-US" dirty="0" smtClean="0"/>
              <a:t>. </a:t>
            </a:r>
            <a:r>
              <a:rPr lang="en-US" b="1" i="1" dirty="0" smtClean="0"/>
              <a:t>&amp; operator is used with the variable name to pass its memory address to function. </a:t>
            </a:r>
            <a:endParaRPr lang="en-US" b="1" i="1" dirty="0"/>
          </a:p>
          <a:p>
            <a:pPr lvl="1"/>
            <a:endParaRPr lang="en-US" sz="3600" b="1" i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dirty="0" smtClean="0"/>
              <a:t> 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5244464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Value – Example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302604"/>
            <a:ext cx="8839200" cy="48235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endParaRPr lang="en-US" sz="3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57645"/>
            <a:ext cx="7010400" cy="5249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ounded Rectangle 7"/>
          <p:cNvSpPr/>
          <p:nvPr/>
        </p:nvSpPr>
        <p:spPr>
          <a:xfrm>
            <a:off x="5486400" y="2483704"/>
            <a:ext cx="3505200" cy="2057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Output</a:t>
            </a:r>
          </a:p>
          <a:p>
            <a:r>
              <a:rPr lang="en-US" sz="2800" b="1" dirty="0" err="1">
                <a:solidFill>
                  <a:schemeClr val="tx1"/>
                </a:solidFill>
              </a:rPr>
              <a:t>myAge</a:t>
            </a:r>
            <a:r>
              <a:rPr lang="en-US" sz="2800" b="1" dirty="0">
                <a:solidFill>
                  <a:schemeClr val="tx1"/>
                </a:solidFill>
              </a:rPr>
              <a:t> = 14</a:t>
            </a:r>
          </a:p>
          <a:p>
            <a:r>
              <a:rPr lang="en-US" sz="2800" b="1" dirty="0" err="1" smtClean="0">
                <a:solidFill>
                  <a:schemeClr val="tx1"/>
                </a:solidFill>
              </a:rPr>
              <a:t>UpdatedAge</a:t>
            </a:r>
            <a:r>
              <a:rPr lang="en-US" sz="2800" b="1" dirty="0" smtClean="0">
                <a:solidFill>
                  <a:schemeClr val="tx1"/>
                </a:solidFill>
              </a:rPr>
              <a:t> = 15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449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60236"/>
            <a:ext cx="7148941" cy="47860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5481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 by Reference – Example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302604"/>
            <a:ext cx="8839200" cy="48235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/>
            </a:r>
            <a:br>
              <a:rPr lang="en-US" sz="3600" dirty="0"/>
            </a:br>
            <a:endParaRPr lang="en-US" sz="30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5486400" y="2483704"/>
            <a:ext cx="3505200" cy="2057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Output</a:t>
            </a:r>
          </a:p>
          <a:p>
            <a:r>
              <a:rPr lang="en-US" sz="2800" b="1" dirty="0" err="1">
                <a:solidFill>
                  <a:schemeClr val="tx1"/>
                </a:solidFill>
              </a:rPr>
              <a:t>myAge</a:t>
            </a:r>
            <a:r>
              <a:rPr lang="en-US" sz="2800" b="1" dirty="0">
                <a:solidFill>
                  <a:schemeClr val="tx1"/>
                </a:solidFill>
              </a:rPr>
              <a:t> = </a:t>
            </a:r>
            <a:r>
              <a:rPr lang="en-US" sz="2800" b="1" dirty="0" smtClean="0">
                <a:solidFill>
                  <a:schemeClr val="tx1"/>
                </a:solidFill>
              </a:rPr>
              <a:t>15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276600" y="2286000"/>
            <a:ext cx="983670" cy="45720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33400" y="2255104"/>
            <a:ext cx="983670" cy="45720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731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5481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76400"/>
            <a:ext cx="7036880" cy="37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555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5481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method to use? 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302604"/>
            <a:ext cx="8839200" cy="48235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/>
              <a:t>T</a:t>
            </a:r>
            <a:r>
              <a:rPr lang="en-US" sz="3600" dirty="0" smtClean="0"/>
              <a:t>here </a:t>
            </a:r>
            <a:r>
              <a:rPr lang="en-US" sz="3600" dirty="0"/>
              <a:t>are two simple general rules</a:t>
            </a:r>
            <a:r>
              <a:rPr lang="en-US" sz="3600" dirty="0" smtClean="0"/>
              <a:t>:</a:t>
            </a:r>
          </a:p>
          <a:p>
            <a:pPr marL="0" indent="0">
              <a:buNone/>
            </a:pPr>
            <a:endParaRPr lang="en-US" sz="105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 smtClean="0"/>
              <a:t>If </a:t>
            </a:r>
            <a:r>
              <a:rPr lang="en-US" sz="3000" dirty="0"/>
              <a:t>a function should </a:t>
            </a:r>
            <a:r>
              <a:rPr lang="en-US" sz="3000" b="1" dirty="0"/>
              <a:t>return a single value</a:t>
            </a:r>
            <a:r>
              <a:rPr lang="en-US" sz="3000" dirty="0"/>
              <a:t>: </a:t>
            </a:r>
            <a:endParaRPr lang="en-US" sz="30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b="1" dirty="0" smtClean="0">
                <a:solidFill>
                  <a:srgbClr val="C00000"/>
                </a:solidFill>
              </a:rPr>
              <a:t> use </a:t>
            </a:r>
            <a:r>
              <a:rPr lang="en-US" sz="3200" b="1" dirty="0">
                <a:solidFill>
                  <a:srgbClr val="C00000"/>
                </a:solidFill>
              </a:rPr>
              <a:t>pass by </a:t>
            </a:r>
            <a:r>
              <a:rPr lang="en-US" sz="3200" b="1" dirty="0" smtClean="0">
                <a:solidFill>
                  <a:srgbClr val="C00000"/>
                </a:solidFill>
              </a:rPr>
              <a:t>value</a:t>
            </a:r>
          </a:p>
          <a:p>
            <a:pPr marL="457200" lvl="1" indent="0">
              <a:buNone/>
            </a:pPr>
            <a:endParaRPr lang="en-US" sz="26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 smtClean="0"/>
              <a:t>If </a:t>
            </a:r>
            <a:r>
              <a:rPr lang="en-US" sz="3000" dirty="0"/>
              <a:t>a function should </a:t>
            </a:r>
            <a:r>
              <a:rPr lang="en-US" sz="3000" b="1" dirty="0"/>
              <a:t>return two or more distinct values</a:t>
            </a:r>
            <a:r>
              <a:rPr lang="en-US" sz="3000" b="1" dirty="0" smtClean="0"/>
              <a:t>:</a:t>
            </a:r>
            <a:r>
              <a:rPr lang="en-US" sz="3000" dirty="0" smtClean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3200" b="1" dirty="0" smtClean="0">
                <a:solidFill>
                  <a:srgbClr val="0070C0"/>
                </a:solidFill>
              </a:rPr>
              <a:t> use pass by reference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2869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Recursive Function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268611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5977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Function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76200" y="1606025"/>
            <a:ext cx="8991600" cy="452596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800" dirty="0"/>
              <a:t>A </a:t>
            </a:r>
            <a:r>
              <a:rPr lang="en-US" sz="4800" b="1" dirty="0"/>
              <a:t>function</a:t>
            </a:r>
            <a:r>
              <a:rPr lang="en-US" sz="4800" dirty="0"/>
              <a:t> that </a:t>
            </a:r>
            <a:r>
              <a:rPr lang="en-US" sz="4800" b="1" i="1" dirty="0">
                <a:solidFill>
                  <a:srgbClr val="0070C0"/>
                </a:solidFill>
              </a:rPr>
              <a:t>calls itself </a:t>
            </a:r>
            <a:endParaRPr lang="en-US" sz="4800" b="1" i="1" dirty="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n-US" sz="4800" dirty="0" smtClean="0"/>
              <a:t>is </a:t>
            </a:r>
            <a:r>
              <a:rPr lang="en-US" sz="4800" dirty="0"/>
              <a:t>known as </a:t>
            </a:r>
            <a:endParaRPr lang="en-US" sz="4800" dirty="0" smtClean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C00000"/>
                </a:solidFill>
              </a:rPr>
              <a:t>a</a:t>
            </a:r>
            <a:r>
              <a:rPr lang="en-US" sz="4800" b="1" dirty="0" smtClean="0">
                <a:solidFill>
                  <a:srgbClr val="C00000"/>
                </a:solidFill>
              </a:rPr>
              <a:t> recursive function.</a:t>
            </a:r>
          </a:p>
          <a:p>
            <a:pPr marL="0" indent="0" algn="ctr">
              <a:buNone/>
            </a:pPr>
            <a:endParaRPr lang="en-US" sz="4800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4000" i="1" dirty="0"/>
              <a:t>And, this technique is known as </a:t>
            </a:r>
            <a:r>
              <a:rPr lang="en-US" sz="4000" i="1" dirty="0">
                <a:solidFill>
                  <a:srgbClr val="C00000"/>
                </a:solidFill>
              </a:rPr>
              <a:t>recursion</a:t>
            </a:r>
            <a:r>
              <a:rPr lang="en-US" sz="4000" i="1" dirty="0"/>
              <a:t>.</a:t>
            </a:r>
            <a:endParaRPr lang="en-US" sz="4000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5851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1028" name="Picture 4" descr="How recursion works in C++ programming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4778"/>
            <a:ext cx="7289702" cy="612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7487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48888"/>
            <a:ext cx="8458200" cy="47856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5977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Function – Example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9" name="Oval 8"/>
          <p:cNvSpPr/>
          <p:nvPr/>
        </p:nvSpPr>
        <p:spPr>
          <a:xfrm>
            <a:off x="5791200" y="3048000"/>
            <a:ext cx="2667000" cy="762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133600" y="3843985"/>
            <a:ext cx="2079009" cy="762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807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5977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Function - Example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08" y="1732508"/>
            <a:ext cx="7893783" cy="3904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0491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5977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Function - Example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1026" name="Picture 2" descr="Image result for recursive functions 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82815"/>
            <a:ext cx="7020079" cy="4081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5356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- Exercise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04800" y="1608762"/>
            <a:ext cx="8686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Write a program to calculate the Sum </a:t>
            </a:r>
            <a:r>
              <a:rPr lang="en-US" sz="4000" dirty="0"/>
              <a:t>of </a:t>
            </a:r>
            <a:r>
              <a:rPr lang="en-US" sz="4000" dirty="0" smtClean="0"/>
              <a:t>first </a:t>
            </a:r>
            <a:r>
              <a:rPr lang="en-US" sz="4000" b="1" i="1" dirty="0" smtClean="0"/>
              <a:t>n</a:t>
            </a:r>
            <a:r>
              <a:rPr lang="en-US" sz="4000" dirty="0" smtClean="0"/>
              <a:t> Natural </a:t>
            </a:r>
            <a:r>
              <a:rPr lang="en-US" sz="4000" dirty="0"/>
              <a:t>numbers using Recursion</a:t>
            </a:r>
          </a:p>
        </p:txBody>
      </p:sp>
    </p:spTree>
    <p:extLst>
      <p:ext uri="{BB962C8B-B14F-4D97-AF65-F5344CB8AC3E}">
        <p14:creationId xmlns:p14="http://schemas.microsoft.com/office/powerpoint/2010/main" val="4671291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- Exercise</a:t>
            </a:r>
            <a:endParaRPr lang="en-US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286000"/>
            <a:ext cx="6393366" cy="228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08406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Function Overloading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538646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Function Overloading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Two or more functions </a:t>
            </a:r>
            <a:endParaRPr lang="en-US" sz="4000" dirty="0" smtClean="0"/>
          </a:p>
          <a:p>
            <a:pPr marL="0" indent="0" algn="ctr">
              <a:buNone/>
            </a:pPr>
            <a:r>
              <a:rPr lang="en-US" sz="4000" dirty="0" smtClean="0"/>
              <a:t>having </a:t>
            </a:r>
            <a:r>
              <a:rPr lang="en-US" sz="4000" b="1" i="1" dirty="0">
                <a:solidFill>
                  <a:srgbClr val="C00000"/>
                </a:solidFill>
              </a:rPr>
              <a:t>same name </a:t>
            </a:r>
            <a:endParaRPr lang="en-US" sz="4000" b="1" i="1" dirty="0" smtClean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4000" dirty="0" smtClean="0"/>
              <a:t>but </a:t>
            </a:r>
          </a:p>
          <a:p>
            <a:pPr marL="0" indent="0" algn="ctr">
              <a:buNone/>
            </a:pPr>
            <a:r>
              <a:rPr lang="en-US" sz="4000" b="1" i="1" dirty="0" smtClean="0">
                <a:solidFill>
                  <a:srgbClr val="C00000"/>
                </a:solidFill>
              </a:rPr>
              <a:t>different </a:t>
            </a:r>
            <a:r>
              <a:rPr lang="en-US" sz="4000" b="1" i="1" dirty="0">
                <a:solidFill>
                  <a:srgbClr val="C00000"/>
                </a:solidFill>
              </a:rPr>
              <a:t>argument(s) </a:t>
            </a:r>
            <a:endParaRPr lang="en-US" sz="4000" b="1" i="1" dirty="0" smtClean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4000" dirty="0" smtClean="0"/>
              <a:t>are </a:t>
            </a:r>
            <a:r>
              <a:rPr lang="en-US" sz="4000" dirty="0"/>
              <a:t>known as </a:t>
            </a:r>
            <a:endParaRPr lang="en-US" sz="4000" dirty="0" smtClean="0"/>
          </a:p>
          <a:p>
            <a:pPr marL="0" indent="0" algn="ctr">
              <a:buNone/>
            </a:pPr>
            <a:r>
              <a:rPr lang="en-US" sz="4000" b="1" dirty="0" smtClean="0"/>
              <a:t>overloaded </a:t>
            </a:r>
            <a:r>
              <a:rPr lang="en-US" sz="4000" b="1" dirty="0"/>
              <a:t>functions.</a:t>
            </a:r>
          </a:p>
        </p:txBody>
      </p:sp>
    </p:spTree>
    <p:extLst>
      <p:ext uri="{BB962C8B-B14F-4D97-AF65-F5344CB8AC3E}">
        <p14:creationId xmlns:p14="http://schemas.microsoft.com/office/powerpoint/2010/main" val="6693978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Function Overloading – Examples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/>
          </a:p>
          <a:p>
            <a:pPr marL="0" indent="0" algn="ctr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dirty="0"/>
              <a:t>Here, all 4 functions are overloaded functions because argument(s) passed to these functions are different.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319481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Function Overloading – Examples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  <a:p>
            <a:pPr marL="0" indent="0" algn="ctr">
              <a:buNone/>
            </a:pPr>
            <a:endParaRPr lang="en-US" b="1" dirty="0" smtClean="0"/>
          </a:p>
        </p:txBody>
      </p:sp>
      <p:sp>
        <p:nvSpPr>
          <p:cNvPr id="8" name="Oval Callout 7"/>
          <p:cNvSpPr/>
          <p:nvPr/>
        </p:nvSpPr>
        <p:spPr>
          <a:xfrm>
            <a:off x="169460" y="5029200"/>
            <a:ext cx="5181600" cy="990600"/>
          </a:xfrm>
          <a:prstGeom prst="wedgeEllipseCallout">
            <a:avLst>
              <a:gd name="adj1" fmla="val -32041"/>
              <a:gd name="adj2" fmla="val -162946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Notice that, the return type of all these 4 functions are not same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33400" y="1600200"/>
            <a:ext cx="1066800" cy="25146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 Diagonal Corner Rectangle 10"/>
          <p:cNvSpPr/>
          <p:nvPr/>
        </p:nvSpPr>
        <p:spPr>
          <a:xfrm>
            <a:off x="377589" y="2272883"/>
            <a:ext cx="8614011" cy="2265977"/>
          </a:xfrm>
          <a:prstGeom prst="round2DiagRect">
            <a:avLst/>
          </a:prstGeom>
          <a:solidFill>
            <a:srgbClr val="C0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Overloaded </a:t>
            </a:r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may or may not have different return type but it should have different argument(s).</a:t>
            </a:r>
          </a:p>
        </p:txBody>
      </p:sp>
    </p:spTree>
    <p:extLst>
      <p:ext uri="{BB962C8B-B14F-4D97-AF65-F5344CB8AC3E}">
        <p14:creationId xmlns:p14="http://schemas.microsoft.com/office/powerpoint/2010/main" val="3282184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Function Overloading – Examples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// Error code 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  <a:p>
            <a:pPr marL="0" indent="0" algn="ctr">
              <a:buNone/>
            </a:pPr>
            <a:endParaRPr lang="en-US" b="1" dirty="0" smtClean="0"/>
          </a:p>
        </p:txBody>
      </p:sp>
      <p:sp>
        <p:nvSpPr>
          <p:cNvPr id="8" name="Rounded Rectangle 7"/>
          <p:cNvSpPr/>
          <p:nvPr/>
        </p:nvSpPr>
        <p:spPr>
          <a:xfrm>
            <a:off x="2446930" y="3881105"/>
            <a:ext cx="4250140" cy="12954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What is the error here?</a:t>
            </a:r>
            <a:endParaRPr 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6370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Function Overloading – Examples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urier New" panose="02070309020205020404" pitchFamily="49" charset="0"/>
              </a:rPr>
              <a:t>// Error code </a:t>
            </a:r>
            <a:endParaRPr lang="en-US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  <a:p>
            <a:pPr marL="0" indent="0" algn="ctr">
              <a:buNone/>
            </a:pPr>
            <a:endParaRPr lang="en-US" b="1" dirty="0" smtClean="0"/>
          </a:p>
        </p:txBody>
      </p:sp>
      <p:sp>
        <p:nvSpPr>
          <p:cNvPr id="8" name="Rounded Rectangular Callout 7"/>
          <p:cNvSpPr/>
          <p:nvPr/>
        </p:nvSpPr>
        <p:spPr>
          <a:xfrm>
            <a:off x="1676400" y="3881104"/>
            <a:ext cx="6781800" cy="2138695"/>
          </a:xfrm>
          <a:prstGeom prst="wedgeRoundRectCallout">
            <a:avLst>
              <a:gd name="adj1" fmla="val -15802"/>
              <a:gd name="adj2" fmla="val -77890"/>
              <a:gd name="adj3" fmla="val 16667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The number and type of arguments passed to these two functions are same even though the return type is different. </a:t>
            </a:r>
            <a:r>
              <a:rPr lang="en-US" sz="2400" b="1" dirty="0" smtClean="0">
                <a:solidFill>
                  <a:srgbClr val="C00000"/>
                </a:solidFill>
              </a:rPr>
              <a:t>Hence</a:t>
            </a:r>
            <a:r>
              <a:rPr lang="en-US" sz="2400" b="1" dirty="0">
                <a:solidFill>
                  <a:srgbClr val="C00000"/>
                </a:solidFill>
              </a:rPr>
              <a:t>, the compiler will throw error</a:t>
            </a:r>
            <a:r>
              <a:rPr lang="en-US" sz="2400" b="1" dirty="0" smtClean="0">
                <a:solidFill>
                  <a:srgbClr val="C00000"/>
                </a:solidFill>
              </a:rPr>
              <a:t>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9327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Function Overloading – Examples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test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  <a:p>
            <a:pPr marL="0" indent="0" algn="ctr">
              <a:buNone/>
            </a:pPr>
            <a:endParaRPr lang="en-US" b="1" dirty="0" smtClean="0"/>
          </a:p>
        </p:txBody>
      </p:sp>
      <p:sp>
        <p:nvSpPr>
          <p:cNvPr id="8" name="Rounded Rectangle 7"/>
          <p:cNvSpPr/>
          <p:nvPr/>
        </p:nvSpPr>
        <p:spPr>
          <a:xfrm>
            <a:off x="2446930" y="3881105"/>
            <a:ext cx="4250140" cy="12954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Will the compiler throw an error?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70" y="3466206"/>
            <a:ext cx="2095500" cy="2095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354170" y="5212899"/>
            <a:ext cx="24384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79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Function Overloading – Examples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double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test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/>
          </a:p>
          <a:p>
            <a:pPr marL="0" indent="0" algn="ctr">
              <a:buNone/>
            </a:pPr>
            <a:endParaRPr lang="en-US" b="1" dirty="0" smtClean="0"/>
          </a:p>
        </p:txBody>
      </p:sp>
      <p:sp>
        <p:nvSpPr>
          <p:cNvPr id="8" name="Rounded Rectangle 7"/>
          <p:cNvSpPr/>
          <p:nvPr/>
        </p:nvSpPr>
        <p:spPr>
          <a:xfrm>
            <a:off x="1219200" y="3879756"/>
            <a:ext cx="6849470" cy="1842448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The is correct because even if the number of arguments is same but the type </a:t>
            </a:r>
            <a:r>
              <a:rPr lang="en-US" sz="3200" b="1" smtClean="0">
                <a:solidFill>
                  <a:schemeClr val="tx1"/>
                </a:solidFill>
              </a:rPr>
              <a:t>of arguments </a:t>
            </a:r>
            <a:r>
              <a:rPr lang="en-US" sz="3200" b="1" dirty="0" smtClean="0">
                <a:solidFill>
                  <a:schemeClr val="tx1"/>
                </a:solidFill>
              </a:rPr>
              <a:t>is different.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3981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Function Overloading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5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5.5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" name="Left Arrow 1"/>
          <p:cNvSpPr/>
          <p:nvPr/>
        </p:nvSpPr>
        <p:spPr>
          <a:xfrm>
            <a:off x="4036894" y="2057400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/>
          <p:cNvSpPr/>
          <p:nvPr/>
        </p:nvSpPr>
        <p:spPr>
          <a:xfrm>
            <a:off x="2973506" y="4267200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213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5187" y="470118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>Function Overloading</a:t>
            </a:r>
            <a:r>
              <a:rPr lang="en-US" sz="36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– Example continued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3869" y="1381723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"Integer number: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"Float number: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"Integer number: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and float number:"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24756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5187" y="470118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FF0000"/>
                </a:solidFill>
              </a:rPr>
              <a:t>Function Overloading</a:t>
            </a:r>
            <a:r>
              <a:rPr lang="en-US" sz="36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– Example continued</a:t>
            </a:r>
            <a:endParaRPr lang="en-US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3869" y="1381723"/>
            <a:ext cx="8849437" cy="4524315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"Integer number: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"Float number: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"Integer number: 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 and float number:"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var2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515337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197" y="319644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Function Overloading – </a:t>
            </a:r>
            <a:r>
              <a:rPr lang="en-US" sz="4400" dirty="0" smtClean="0">
                <a:solidFill>
                  <a:srgbClr val="FF0000"/>
                </a:solidFill>
              </a:rPr>
              <a:t>Exercise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81000" y="1132820"/>
            <a:ext cx="8610600" cy="499334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000" dirty="0" smtClean="0"/>
              <a:t>Write a set of overloaded functions named </a:t>
            </a:r>
            <a:r>
              <a:rPr lang="en-US" sz="4000" b="1" dirty="0" smtClean="0"/>
              <a:t>print</a:t>
            </a:r>
            <a:r>
              <a:rPr lang="en-US" sz="4000" dirty="0" smtClean="0"/>
              <a:t> which takes only one argument. </a:t>
            </a:r>
          </a:p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sz="4000" dirty="0" smtClean="0"/>
              <a:t>The function simply prints the argument passed to it like if you pass an integer 5, the function prints “Integer: 5” and if you pass a float 5.0, the function prints “Float: 5.0”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 smtClean="0">
                <a:solidFill>
                  <a:srgbClr val="FF0000"/>
                </a:solidFill>
              </a:rPr>
              <a:t>Pass an integer, a float and a string argument to show how overloaded function </a:t>
            </a:r>
            <a:r>
              <a:rPr lang="en-US" sz="4000" b="1" dirty="0" smtClean="0">
                <a:solidFill>
                  <a:srgbClr val="FF0000"/>
                </a:solidFill>
              </a:rPr>
              <a:t>print </a:t>
            </a:r>
            <a:r>
              <a:rPr lang="en-US" sz="4000" dirty="0" smtClean="0">
                <a:solidFill>
                  <a:srgbClr val="FF0000"/>
                </a:solidFill>
              </a:rPr>
              <a:t>works.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28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032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Semester Project Groups</a:t>
            </a:r>
            <a:endParaRPr lang="en-US" sz="5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19100" y="1302605"/>
            <a:ext cx="8305800" cy="4687670"/>
          </a:xfrm>
        </p:spPr>
        <p:txBody>
          <a:bodyPr>
            <a:normAutofit/>
          </a:bodyPr>
          <a:lstStyle/>
          <a:p>
            <a:r>
              <a:rPr lang="en-US" dirty="0" smtClean="0"/>
              <a:t>Write down the following </a:t>
            </a:r>
            <a:r>
              <a:rPr lang="en-US" dirty="0" smtClean="0"/>
              <a:t>on a </a:t>
            </a:r>
            <a:r>
              <a:rPr lang="en-US" dirty="0" smtClean="0"/>
              <a:t>paper and hand over to me:</a:t>
            </a:r>
            <a:endParaRPr lang="en-US" dirty="0" smtClean="0">
              <a:solidFill>
                <a:srgbClr val="AD0101"/>
              </a:solidFill>
            </a:endParaRPr>
          </a:p>
          <a:p>
            <a:pPr lvl="1"/>
            <a:r>
              <a:rPr lang="en-US" dirty="0" smtClean="0">
                <a:solidFill>
                  <a:srgbClr val="AD0101"/>
                </a:solidFill>
              </a:rPr>
              <a:t>Names of Group Members</a:t>
            </a:r>
          </a:p>
          <a:p>
            <a:pPr lvl="1"/>
            <a:r>
              <a:rPr lang="en-US" dirty="0" smtClean="0">
                <a:solidFill>
                  <a:srgbClr val="AD0101"/>
                </a:solidFill>
              </a:rPr>
              <a:t>Mark the Team Lead</a:t>
            </a:r>
          </a:p>
          <a:p>
            <a:pPr lvl="1"/>
            <a:r>
              <a:rPr lang="en-US" dirty="0" smtClean="0"/>
              <a:t>Group of 5 </a:t>
            </a:r>
            <a:r>
              <a:rPr lang="en-US" smtClean="0"/>
              <a:t>students </a:t>
            </a:r>
            <a:r>
              <a:rPr lang="en-US" smtClean="0"/>
              <a:t>max</a:t>
            </a:r>
            <a:endParaRPr lang="en-US" dirty="0" smtClean="0">
              <a:solidFill>
                <a:srgbClr val="AD010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1082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8" name="Picture 7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43100" y="1543050"/>
            <a:ext cx="5257800" cy="3771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24145</TotalTime>
  <Words>666</Words>
  <Application>Microsoft Office PowerPoint</Application>
  <PresentationFormat>On-screen Show (4:3)</PresentationFormat>
  <Paragraphs>213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AGaramond-Semibold--Identity-H</vt:lpstr>
      <vt:lpstr>Arial</vt:lpstr>
      <vt:lpstr>Calibri</vt:lpstr>
      <vt:lpstr>Courier New</vt:lpstr>
      <vt:lpstr>Wingdings</vt:lpstr>
      <vt:lpstr>Office Theme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1703</cp:revision>
  <dcterms:created xsi:type="dcterms:W3CDTF">2006-08-16T00:00:00Z</dcterms:created>
  <dcterms:modified xsi:type="dcterms:W3CDTF">2018-12-03T11:37:51Z</dcterms:modified>
</cp:coreProperties>
</file>