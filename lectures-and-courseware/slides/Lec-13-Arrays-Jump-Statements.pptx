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0"/>
  </p:notesMasterIdLst>
  <p:sldIdLst>
    <p:sldId id="257" r:id="rId2"/>
    <p:sldId id="899" r:id="rId3"/>
    <p:sldId id="773" r:id="rId4"/>
    <p:sldId id="825" r:id="rId5"/>
    <p:sldId id="895" r:id="rId6"/>
    <p:sldId id="897" r:id="rId7"/>
    <p:sldId id="898" r:id="rId8"/>
    <p:sldId id="896" r:id="rId9"/>
    <p:sldId id="900" r:id="rId10"/>
    <p:sldId id="901" r:id="rId11"/>
    <p:sldId id="902" r:id="rId12"/>
    <p:sldId id="903" r:id="rId13"/>
    <p:sldId id="904" r:id="rId14"/>
    <p:sldId id="905" r:id="rId15"/>
    <p:sldId id="906" r:id="rId16"/>
    <p:sldId id="907" r:id="rId17"/>
    <p:sldId id="908" r:id="rId18"/>
    <p:sldId id="909" r:id="rId19"/>
    <p:sldId id="910" r:id="rId20"/>
    <p:sldId id="911" r:id="rId21"/>
    <p:sldId id="912" r:id="rId22"/>
    <p:sldId id="913" r:id="rId23"/>
    <p:sldId id="914" r:id="rId24"/>
    <p:sldId id="915" r:id="rId25"/>
    <p:sldId id="916" r:id="rId26"/>
    <p:sldId id="917" r:id="rId27"/>
    <p:sldId id="918" r:id="rId28"/>
    <p:sldId id="919" r:id="rId29"/>
    <p:sldId id="920" r:id="rId30"/>
    <p:sldId id="921" r:id="rId31"/>
    <p:sldId id="947" r:id="rId32"/>
    <p:sldId id="948" r:id="rId33"/>
    <p:sldId id="922" r:id="rId34"/>
    <p:sldId id="923" r:id="rId35"/>
    <p:sldId id="924" r:id="rId36"/>
    <p:sldId id="925" r:id="rId37"/>
    <p:sldId id="926" r:id="rId38"/>
    <p:sldId id="927" r:id="rId39"/>
    <p:sldId id="928" r:id="rId40"/>
    <p:sldId id="929" r:id="rId41"/>
    <p:sldId id="930" r:id="rId42"/>
    <p:sldId id="931" r:id="rId43"/>
    <p:sldId id="932" r:id="rId44"/>
    <p:sldId id="933" r:id="rId45"/>
    <p:sldId id="934" r:id="rId46"/>
    <p:sldId id="935" r:id="rId47"/>
    <p:sldId id="936" r:id="rId48"/>
    <p:sldId id="937" r:id="rId49"/>
    <p:sldId id="938" r:id="rId50"/>
    <p:sldId id="939" r:id="rId51"/>
    <p:sldId id="940" r:id="rId52"/>
    <p:sldId id="941" r:id="rId53"/>
    <p:sldId id="942" r:id="rId54"/>
    <p:sldId id="943" r:id="rId55"/>
    <p:sldId id="944" r:id="rId56"/>
    <p:sldId id="945" r:id="rId57"/>
    <p:sldId id="946" r:id="rId58"/>
    <p:sldId id="325" r:id="rId5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0101"/>
    <a:srgbClr val="922E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94434" autoAdjust="0"/>
  </p:normalViewPr>
  <p:slideViewPr>
    <p:cSldViewPr>
      <p:cViewPr varScale="1">
        <p:scale>
          <a:sx n="70" d="100"/>
          <a:sy n="70" d="100"/>
        </p:scale>
        <p:origin x="13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2F8C8-4AB1-4EC7-8A80-DF0BAD6D312F}" type="datetimeFigureOut">
              <a:rPr lang="en-US" smtClean="0"/>
              <a:pPr/>
              <a:t>12/5/2018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378537-16E5-4CC2-9695-625595435CC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886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D54AAF-9BF3-4853-8FDE-D596CE60BAD0}" type="slidenum">
              <a:rPr lang="en-US"/>
              <a:pPr/>
              <a:t>1</a:t>
            </a:fld>
            <a:endParaRPr lang="en-US"/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3414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567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736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141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5985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0692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5054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2322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7281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9986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3342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0017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971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2128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0883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4239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94865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3208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1561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945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46615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2048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5831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43414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2001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35043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392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0876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45226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02009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3791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83267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69156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60385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77636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7365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4521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21249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77974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531044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17681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88035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84459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01429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71093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58083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29368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25495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93050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01571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17602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23341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173532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86705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837850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3577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3527774"/>
            <a:ext cx="6654627" cy="218958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alpha val="88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350730"/>
            <a:ext cx="7772400" cy="14700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 smtClean="0">
                <a:solidFill>
                  <a:schemeClr val="bg1"/>
                </a:solidFill>
              </a:rPr>
              <a:t>CS-111</a:t>
            </a:r>
            <a:r>
              <a:rPr lang="en-US" sz="4000" dirty="0">
                <a:solidFill>
                  <a:schemeClr val="bg1"/>
                </a:solidFill>
              </a:rPr>
              <a:t/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b="1" dirty="0" smtClean="0">
                <a:solidFill>
                  <a:schemeClr val="bg1"/>
                </a:solidFill>
              </a:rPr>
              <a:t>Fundamentals of Computer </a:t>
            </a:r>
            <a:r>
              <a:rPr lang="en-US" sz="4000" b="1" dirty="0">
                <a:solidFill>
                  <a:schemeClr val="bg1"/>
                </a:solidFill>
              </a:rPr>
              <a:t>Programming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69913" y="3746267"/>
            <a:ext cx="6400800" cy="17526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Lecture 13</a:t>
            </a:r>
          </a:p>
          <a:p>
            <a:pPr algn="ctr"/>
            <a:r>
              <a:rPr lang="en-US" dirty="0" smtClean="0">
                <a:solidFill>
                  <a:schemeClr val="bg1"/>
                </a:solidFill>
              </a:rPr>
              <a:t>Arrays &amp; </a:t>
            </a:r>
            <a:r>
              <a:rPr lang="en-US" smtClean="0">
                <a:solidFill>
                  <a:schemeClr val="bg1"/>
                </a:solidFill>
              </a:rPr>
              <a:t>Jump Statements</a:t>
            </a:r>
            <a:endParaRPr lang="en-US" dirty="0" smtClean="0">
              <a:solidFill>
                <a:schemeClr val="bg1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029200" cy="365125"/>
          </a:xfrm>
        </p:spPr>
        <p:txBody>
          <a:bodyPr/>
          <a:lstStyle/>
          <a:p>
            <a:r>
              <a:rPr lang="en-US" sz="1800" b="1" dirty="0" smtClean="0">
                <a:solidFill>
                  <a:schemeClr val="bg1"/>
                </a:solidFill>
              </a:rPr>
              <a:t>Institute of Geographical Information Systems</a:t>
            </a:r>
            <a:endParaRPr lang="en-US" sz="1800" b="1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http://www.nust.edu.pk/SiteCollectionImages/logo_SEECS_1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772400" y="5867400"/>
            <a:ext cx="1143000" cy="923925"/>
          </a:xfrm>
          <a:prstGeom prst="rect">
            <a:avLst/>
          </a:prstGeom>
          <a:noFill/>
        </p:spPr>
      </p:pic>
      <p:sp>
        <p:nvSpPr>
          <p:cNvPr id="15" name="Rectangle 14"/>
          <p:cNvSpPr/>
          <p:nvPr/>
        </p:nvSpPr>
        <p:spPr>
          <a:xfrm>
            <a:off x="0" y="5867400"/>
            <a:ext cx="2286000" cy="990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Course Instructor:</a:t>
            </a:r>
          </a:p>
          <a:p>
            <a:pPr algn="ctr"/>
            <a:r>
              <a:rPr lang="en-US" b="1" dirty="0" smtClean="0"/>
              <a:t>Qurrat-</a:t>
            </a:r>
            <a:r>
              <a:rPr lang="en-US" b="1" dirty="0" err="1" smtClean="0"/>
              <a:t>ul</a:t>
            </a:r>
            <a:r>
              <a:rPr lang="en-US" b="1" dirty="0" smtClean="0"/>
              <a:t>-</a:t>
            </a:r>
            <a:r>
              <a:rPr lang="en-US" b="1" dirty="0" err="1" smtClean="0"/>
              <a:t>ain</a:t>
            </a:r>
            <a:r>
              <a:rPr lang="en-US" b="1" dirty="0" smtClean="0"/>
              <a:t> Babar</a:t>
            </a:r>
            <a:endParaRPr lang="en-US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5181600" y="6144994"/>
            <a:ext cx="2400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NUST Institute of Civil Engineering (NICE)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307133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Project Titles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025930"/>
            <a:ext cx="8839200" cy="5247619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The </a:t>
            </a:r>
            <a:r>
              <a:rPr lang="en-US" sz="3200" dirty="0"/>
              <a:t>application you are going to </a:t>
            </a:r>
            <a:r>
              <a:rPr lang="en-US" sz="3200" dirty="0" smtClean="0"/>
              <a:t>develop </a:t>
            </a:r>
            <a:r>
              <a:rPr lang="en-US" sz="3200" dirty="0"/>
              <a:t>as your </a:t>
            </a:r>
            <a:r>
              <a:rPr lang="en-US" sz="3200" dirty="0" smtClean="0"/>
              <a:t>project – </a:t>
            </a:r>
            <a:r>
              <a:rPr lang="en-US" sz="3200" b="1" dirty="0" smtClean="0"/>
              <a:t>give it a name/title</a:t>
            </a:r>
          </a:p>
          <a:p>
            <a:endParaRPr lang="en-US" sz="3200" dirty="0"/>
          </a:p>
          <a:p>
            <a:r>
              <a:rPr lang="en-US" sz="2800" b="1" dirty="0" smtClean="0">
                <a:solidFill>
                  <a:srgbClr val="0070C0"/>
                </a:solidFill>
              </a:rPr>
              <a:t>Project Abstract – one page summary of your project 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US" sz="2800" dirty="0" smtClean="0"/>
              <a:t>Introduction/ Background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US" sz="2800" dirty="0" smtClean="0"/>
              <a:t>The problem that your application addresses – Motivation 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US" sz="2800" dirty="0" smtClean="0"/>
              <a:t>Your approach to solving that problem/ How your project is going to solve the problem</a:t>
            </a:r>
          </a:p>
          <a:p>
            <a:endParaRPr lang="en-US" sz="3200" dirty="0" smtClean="0"/>
          </a:p>
          <a:p>
            <a:r>
              <a:rPr lang="en-US" sz="2800" dirty="0" smtClean="0">
                <a:solidFill>
                  <a:srgbClr val="C00000"/>
                </a:solidFill>
              </a:rPr>
              <a:t>Deadline: To be submitted on LMS by 7</a:t>
            </a:r>
            <a:r>
              <a:rPr lang="en-US" sz="2800" baseline="30000" dirty="0" smtClean="0">
                <a:solidFill>
                  <a:srgbClr val="C00000"/>
                </a:solidFill>
              </a:rPr>
              <a:t>th</a:t>
            </a:r>
            <a:r>
              <a:rPr lang="en-US" sz="2800" dirty="0" smtClean="0">
                <a:solidFill>
                  <a:srgbClr val="C00000"/>
                </a:solidFill>
              </a:rPr>
              <a:t> Dec, 2018 2355 hrs. Only the Team Lead should upload the abstract on LMS.</a:t>
            </a:r>
          </a:p>
          <a:p>
            <a:endParaRPr lang="en-US" sz="3200" dirty="0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53393873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Road Map for Today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Recap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Arrays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Jump Statements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87575062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Recap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What are recursive functions?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What are overloaded functions?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smtClean="0"/>
              <a:t>Why is the purpose of overloading functions?</a:t>
            </a:r>
            <a:endParaRPr lang="en-US" sz="3200" dirty="0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78707142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Recap – Overloaded functions – I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302604"/>
            <a:ext cx="8382000" cy="44196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b="1" dirty="0">
                <a:solidFill>
                  <a:srgbClr val="8000FF"/>
                </a:solidFill>
                <a:latin typeface="Courier New" panose="02070309020205020404" pitchFamily="49" charset="0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display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var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</a:rPr>
              <a:t>"Integer number: "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var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endl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>
                <a:solidFill>
                  <a:srgbClr val="8000FF"/>
                </a:solidFill>
                <a:latin typeface="Courier New" panose="02070309020205020404" pitchFamily="49" charset="0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display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8000FF"/>
                </a:solidFill>
                <a:latin typeface="Courier New" panose="02070309020205020404" pitchFamily="49" charset="0"/>
              </a:rPr>
              <a:t>float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var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</a:rPr>
              <a:t>"Float number: "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var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endl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>
                <a:solidFill>
                  <a:srgbClr val="8000FF"/>
                </a:solidFill>
                <a:latin typeface="Courier New" panose="02070309020205020404" pitchFamily="49" charset="0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display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var1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8000FF"/>
                </a:solidFill>
                <a:latin typeface="Courier New" panose="02070309020205020404" pitchFamily="49" charset="0"/>
              </a:rPr>
              <a:t>float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var2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</a:rPr>
              <a:t>"Integer number: "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var1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</a:rPr>
              <a:t>" and float number:"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var2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9524833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Recap – Overloaded functions – II 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302604"/>
            <a:ext cx="8382000" cy="49457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804000"/>
                </a:solidFill>
                <a:latin typeface="Courier New" panose="02070309020205020404" pitchFamily="49" charset="0"/>
              </a:rPr>
              <a:t>#</a:t>
            </a:r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</a:rPr>
              <a:t>include &lt;</a:t>
            </a:r>
            <a:r>
              <a:rPr lang="en-US" b="1" dirty="0" smtClean="0">
                <a:solidFill>
                  <a:srgbClr val="804000"/>
                </a:solidFill>
                <a:latin typeface="Courier New" panose="02070309020205020404" pitchFamily="49" charset="0"/>
              </a:rPr>
              <a:t>string&gt; </a:t>
            </a: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add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a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b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sum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sum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a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+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b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sum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>
                <a:solidFill>
                  <a:srgbClr val="8000FF"/>
                </a:solidFill>
                <a:latin typeface="Courier New" panose="02070309020205020404" pitchFamily="49" charset="0"/>
              </a:rPr>
              <a:t>string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8000FF"/>
                </a:solidFill>
                <a:latin typeface="Courier New" panose="02070309020205020404" pitchFamily="49" charset="0"/>
              </a:rPr>
              <a:t>add(string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a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8000FF"/>
                </a:solidFill>
                <a:latin typeface="Courier New" panose="02070309020205020404" pitchFamily="49" charset="0"/>
              </a:rPr>
              <a:t>string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b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>
                <a:solidFill>
                  <a:srgbClr val="8000FF"/>
                </a:solidFill>
                <a:latin typeface="Courier New" panose="02070309020205020404" pitchFamily="49" charset="0"/>
              </a:rPr>
              <a:t>string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sum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sum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a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+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b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sum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</a:p>
          <a:p>
            <a:endParaRPr lang="en-US" b="1" dirty="0">
              <a:solidFill>
                <a:srgbClr val="000080"/>
              </a:solidFill>
              <a:effectLst/>
              <a:latin typeface="Courier New" panose="02070309020205020404" pitchFamily="49" charset="0"/>
            </a:endParaRPr>
          </a:p>
          <a:p>
            <a:endParaRPr lang="en-US" dirty="0">
              <a:effectLst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2" name="Rounded Rectangular Callout 1"/>
          <p:cNvSpPr/>
          <p:nvPr/>
        </p:nvSpPr>
        <p:spPr>
          <a:xfrm>
            <a:off x="3662149" y="1520209"/>
            <a:ext cx="3429000" cy="685800"/>
          </a:xfrm>
          <a:prstGeom prst="wedgeRoundRectCallout">
            <a:avLst>
              <a:gd name="adj1" fmla="val -71380"/>
              <a:gd name="adj2" fmla="val -15681"/>
              <a:gd name="adj3" fmla="val 16667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Library for including the return type “</a:t>
            </a:r>
            <a:r>
              <a:rPr lang="en-US" b="1" dirty="0" smtClean="0">
                <a:solidFill>
                  <a:srgbClr val="C00000"/>
                </a:solidFill>
              </a:rPr>
              <a:t>string</a:t>
            </a:r>
            <a:r>
              <a:rPr lang="en-US" dirty="0" smtClean="0">
                <a:solidFill>
                  <a:srgbClr val="C00000"/>
                </a:solidFill>
              </a:rPr>
              <a:t>”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9" name="Rounded Rectangular Callout 8"/>
          <p:cNvSpPr/>
          <p:nvPr/>
        </p:nvSpPr>
        <p:spPr>
          <a:xfrm>
            <a:off x="3469374" y="3234139"/>
            <a:ext cx="3429000" cy="685800"/>
          </a:xfrm>
          <a:prstGeom prst="wedgeRoundRectCallout">
            <a:avLst>
              <a:gd name="adj1" fmla="val -41131"/>
              <a:gd name="adj2" fmla="val 119642"/>
              <a:gd name="adj3" fmla="val 16667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s</a:t>
            </a:r>
            <a:r>
              <a:rPr lang="en-US" b="1" dirty="0" smtClean="0">
                <a:solidFill>
                  <a:srgbClr val="C00000"/>
                </a:solidFill>
              </a:rPr>
              <a:t>tring </a:t>
            </a:r>
            <a:r>
              <a:rPr lang="en-US" dirty="0" smtClean="0">
                <a:solidFill>
                  <a:srgbClr val="C00000"/>
                </a:solidFill>
              </a:rPr>
              <a:t>is a keyword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0" name="Rounded Rectangular Callout 9"/>
          <p:cNvSpPr/>
          <p:nvPr/>
        </p:nvSpPr>
        <p:spPr>
          <a:xfrm>
            <a:off x="3276600" y="5105400"/>
            <a:ext cx="3043451" cy="685800"/>
          </a:xfrm>
          <a:prstGeom prst="wedgeRoundRectCallout">
            <a:avLst>
              <a:gd name="adj1" fmla="val -71380"/>
              <a:gd name="adj2" fmla="val -15681"/>
              <a:gd name="adj3" fmla="val 16667"/>
            </a:avLst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+</a:t>
            </a:r>
            <a:r>
              <a:rPr lang="en-US" dirty="0" smtClean="0">
                <a:solidFill>
                  <a:srgbClr val="C00000"/>
                </a:solidFill>
              </a:rPr>
              <a:t> operator when used with strings </a:t>
            </a:r>
            <a:r>
              <a:rPr lang="en-US" b="1" dirty="0" smtClean="0">
                <a:solidFill>
                  <a:srgbClr val="C00000"/>
                </a:solidFill>
              </a:rPr>
              <a:t>concatenates</a:t>
            </a:r>
            <a:r>
              <a:rPr lang="en-US" dirty="0" smtClean="0">
                <a:solidFill>
                  <a:srgbClr val="C00000"/>
                </a:solidFill>
              </a:rPr>
              <a:t> them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138438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0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6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Recap – Overloaded functions – II 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13" name="Rectangle 1027"/>
          <p:cNvSpPr txBox="1">
            <a:spLocks noChangeArrowheads="1"/>
          </p:cNvSpPr>
          <p:nvPr/>
        </p:nvSpPr>
        <p:spPr>
          <a:xfrm>
            <a:off x="609600" y="1302604"/>
            <a:ext cx="8382000" cy="494579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b="1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main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a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8000"/>
                </a:solidFill>
                <a:latin typeface="Courier New" panose="02070309020205020404" pitchFamily="49" charset="0"/>
              </a:rPr>
              <a:t>1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b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8000"/>
                </a:solidFill>
                <a:latin typeface="Courier New" panose="02070309020205020404" pitchFamily="49" charset="0"/>
              </a:rPr>
              <a:t>1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c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string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x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smtClean="0">
                <a:latin typeface="Courier New" panose="02070309020205020404" pitchFamily="49" charset="0"/>
              </a:rPr>
              <a:t>"Hello"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string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y 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= </a:t>
            </a:r>
            <a:r>
              <a:rPr lang="en-US" b="1" dirty="0" smtClean="0">
                <a:latin typeface="Courier New" panose="02070309020205020404" pitchFamily="49" charset="0"/>
              </a:rPr>
              <a:t>“World"</a:t>
            </a:r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string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z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c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add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a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b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</a:rPr>
              <a:t>"c is: "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c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endl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z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add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y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latin typeface="Courier New" panose="02070309020205020404" pitchFamily="49" charset="0"/>
              </a:rPr>
              <a:t>"z is: "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z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endl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780055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594718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Practice Question</a:t>
            </a:r>
            <a:endParaRPr lang="en-US" sz="44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381000" y="1524000"/>
            <a:ext cx="8610600" cy="46021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 smtClean="0"/>
              <a:t>Write a program that calculates </a:t>
            </a:r>
            <a:r>
              <a:rPr lang="en-US" sz="3600" dirty="0"/>
              <a:t>the area </a:t>
            </a:r>
            <a:r>
              <a:rPr lang="en-US" sz="3600" dirty="0" smtClean="0"/>
              <a:t>of circle</a:t>
            </a:r>
            <a:r>
              <a:rPr lang="en-US" sz="3600" dirty="0"/>
              <a:t>, rectangle and  triangle using function overloading</a:t>
            </a:r>
            <a:r>
              <a:rPr lang="en-US" sz="3600" dirty="0" smtClean="0"/>
              <a:t>.</a:t>
            </a:r>
          </a:p>
          <a:p>
            <a:pPr marL="0" indent="0">
              <a:buNone/>
            </a:pPr>
            <a:endParaRPr lang="en-US" sz="3600" dirty="0">
              <a:solidFill>
                <a:srgbClr val="FF0000"/>
              </a:solidFill>
            </a:endParaRPr>
          </a:p>
          <a:p>
            <a:r>
              <a:rPr lang="en-US" sz="2800" i="1" dirty="0" smtClean="0"/>
              <a:t>Area of circle </a:t>
            </a:r>
            <a:r>
              <a:rPr lang="en-US" sz="2800" dirty="0" smtClean="0"/>
              <a:t>= </a:t>
            </a:r>
            <a:r>
              <a:rPr lang="el-GR" sz="2800" i="1" dirty="0" smtClean="0"/>
              <a:t>π</a:t>
            </a:r>
            <a:r>
              <a:rPr lang="en-US" sz="2800" i="1" dirty="0" smtClean="0"/>
              <a:t>r</a:t>
            </a:r>
            <a:r>
              <a:rPr lang="en-US" sz="2800" baseline="30000" dirty="0" smtClean="0"/>
              <a:t>2</a:t>
            </a:r>
          </a:p>
          <a:p>
            <a:r>
              <a:rPr lang="en-US" sz="2800" i="1" dirty="0"/>
              <a:t>Area of rectangle = length * width</a:t>
            </a:r>
          </a:p>
          <a:p>
            <a:r>
              <a:rPr lang="en-US" sz="2800" i="1" dirty="0"/>
              <a:t>Area of triangle = ½ * base * height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14055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2318027"/>
            <a:ext cx="9144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C++ Arrays</a:t>
            </a:r>
            <a:endParaRPr lang="en-US" sz="6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255158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Why do we need Arrays?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3"/>
            <a:ext cx="8839200" cy="5247619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3200" dirty="0"/>
              <a:t>Consider a situation where we need </a:t>
            </a:r>
            <a:endParaRPr lang="en-US" sz="3200" dirty="0" smtClean="0"/>
          </a:p>
          <a:p>
            <a:pPr algn="ctr"/>
            <a:r>
              <a:rPr lang="en-US" sz="3200" dirty="0" smtClean="0"/>
              <a:t>to </a:t>
            </a:r>
            <a:r>
              <a:rPr lang="en-US" sz="3200" dirty="0"/>
              <a:t>store 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five</a:t>
            </a:r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200" dirty="0" smtClean="0"/>
              <a:t>integers.</a:t>
            </a:r>
          </a:p>
          <a:p>
            <a:endParaRPr lang="en-US" sz="3200" dirty="0"/>
          </a:p>
          <a:p>
            <a:r>
              <a:rPr lang="en-US" sz="3200" b="1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3200" b="1" dirty="0">
                <a:solidFill>
                  <a:srgbClr val="000000"/>
                </a:solidFill>
                <a:latin typeface="Courier New" panose="02070309020205020404" pitchFamily="49" charset="0"/>
              </a:rPr>
              <a:t> main</a:t>
            </a:r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sz="32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32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sz="32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sz="3200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32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3200" b="1" dirty="0">
                <a:solidFill>
                  <a:srgbClr val="000000"/>
                </a:solidFill>
                <a:latin typeface="Courier New" panose="02070309020205020404" pitchFamily="49" charset="0"/>
              </a:rPr>
              <a:t>number1</a:t>
            </a:r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32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3200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3200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32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3200" b="1" dirty="0">
                <a:solidFill>
                  <a:srgbClr val="000000"/>
                </a:solidFill>
                <a:latin typeface="Courier New" panose="02070309020205020404" pitchFamily="49" charset="0"/>
              </a:rPr>
              <a:t>number2</a:t>
            </a:r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32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3200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3200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32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3200" b="1" dirty="0">
                <a:solidFill>
                  <a:srgbClr val="000000"/>
                </a:solidFill>
                <a:latin typeface="Courier New" panose="02070309020205020404" pitchFamily="49" charset="0"/>
              </a:rPr>
              <a:t>number3</a:t>
            </a:r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32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3200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3200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32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3200" b="1" dirty="0">
                <a:solidFill>
                  <a:srgbClr val="000000"/>
                </a:solidFill>
                <a:latin typeface="Courier New" panose="02070309020205020404" pitchFamily="49" charset="0"/>
              </a:rPr>
              <a:t>number4</a:t>
            </a:r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32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3200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3200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32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3200" b="1" dirty="0">
                <a:solidFill>
                  <a:srgbClr val="000000"/>
                </a:solidFill>
                <a:latin typeface="Courier New" panose="02070309020205020404" pitchFamily="49" charset="0"/>
              </a:rPr>
              <a:t>number5</a:t>
            </a:r>
            <a:r>
              <a:rPr lang="en-US" sz="32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32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3200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32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sz="3200" b="1" dirty="0"/>
          </a:p>
          <a:p>
            <a:endParaRPr lang="en-US" sz="3200" dirty="0"/>
          </a:p>
          <a:p>
            <a:endParaRPr lang="en-US" sz="32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Rounded Rectangle 7"/>
          <p:cNvSpPr/>
          <p:nvPr/>
        </p:nvSpPr>
        <p:spPr>
          <a:xfrm>
            <a:off x="4800600" y="3402989"/>
            <a:ext cx="2705100" cy="838200"/>
          </a:xfrm>
          <a:prstGeom prst="round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C00000"/>
                </a:solidFill>
              </a:rPr>
              <a:t>Quite simple!!!</a:t>
            </a:r>
          </a:p>
        </p:txBody>
      </p:sp>
    </p:spTree>
    <p:extLst>
      <p:ext uri="{BB962C8B-B14F-4D97-AF65-F5344CB8AC3E}">
        <p14:creationId xmlns:p14="http://schemas.microsoft.com/office/powerpoint/2010/main" val="92174395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4500"/>
                            </p:stCondLst>
                            <p:childTnLst>
                              <p:par>
                                <p:cTn id="33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500"/>
                            </p:stCondLst>
                            <p:childTnLst>
                              <p:par>
                                <p:cTn id="37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500"/>
                            </p:stCondLst>
                            <p:childTnLst>
                              <p:par>
                                <p:cTn id="4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Why do we need Arrays?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945319"/>
            <a:ext cx="8839200" cy="3752059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3200" dirty="0" smtClean="0"/>
              <a:t>Now consider a situation where we need </a:t>
            </a:r>
          </a:p>
          <a:p>
            <a:pPr algn="ctr"/>
            <a:r>
              <a:rPr lang="en-US" sz="3200" dirty="0" smtClean="0"/>
              <a:t>to store </a:t>
            </a:r>
            <a:r>
              <a:rPr lang="en-US" sz="3200" b="1" dirty="0" smtClean="0">
                <a:solidFill>
                  <a:schemeClr val="accent6">
                    <a:lumMod val="75000"/>
                  </a:schemeClr>
                </a:solidFill>
              </a:rPr>
              <a:t>500</a:t>
            </a:r>
            <a:r>
              <a:rPr lang="en-US" sz="3200" dirty="0" smtClean="0"/>
              <a:t> integers.</a:t>
            </a:r>
            <a:endParaRPr lang="en-US" sz="3200" dirty="0"/>
          </a:p>
          <a:p>
            <a:endParaRPr lang="en-US" sz="32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Rounded Rectangle 7"/>
          <p:cNvSpPr/>
          <p:nvPr/>
        </p:nvSpPr>
        <p:spPr>
          <a:xfrm>
            <a:off x="3219450" y="3581400"/>
            <a:ext cx="2705100" cy="838200"/>
          </a:xfrm>
          <a:prstGeom prst="round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C00000"/>
                </a:solidFill>
              </a:rPr>
              <a:t>Now what?</a:t>
            </a:r>
          </a:p>
        </p:txBody>
      </p:sp>
    </p:spTree>
    <p:extLst>
      <p:ext uri="{BB962C8B-B14F-4D97-AF65-F5344CB8AC3E}">
        <p14:creationId xmlns:p14="http://schemas.microsoft.com/office/powerpoint/2010/main" val="38169607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Why do we need Arrays?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3"/>
            <a:ext cx="8839200" cy="5247619"/>
          </a:xfrm>
          <a:prstGeom prst="rect">
            <a:avLst/>
          </a:prstGeom>
        </p:spPr>
        <p:txBody>
          <a:bodyPr/>
          <a:lstStyle/>
          <a:p>
            <a:r>
              <a:rPr lang="en-US" sz="2400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main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sz="2400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number1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24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2400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number2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24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2400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number3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24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2400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number4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24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2400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number5</a:t>
            </a:r>
            <a:r>
              <a:rPr lang="en-US" sz="24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</a:p>
          <a:p>
            <a:pPr lvl="1"/>
            <a:r>
              <a:rPr lang="en-US" sz="2400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number6</a:t>
            </a:r>
            <a:r>
              <a:rPr lang="en-US" sz="24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2400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number7</a:t>
            </a:r>
            <a:r>
              <a:rPr lang="en-US" sz="24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2400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number8</a:t>
            </a:r>
            <a:r>
              <a:rPr lang="en-US" sz="24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2400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number9</a:t>
            </a:r>
            <a:r>
              <a:rPr lang="en-US" sz="24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2400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number10</a:t>
            </a:r>
            <a:r>
              <a:rPr lang="en-US" sz="24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</a:p>
          <a:p>
            <a:pPr lvl="1"/>
            <a:r>
              <a:rPr lang="en-US" sz="24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…</a:t>
            </a:r>
          </a:p>
          <a:p>
            <a:pPr lvl="1"/>
            <a:r>
              <a:rPr lang="en-US" sz="24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…</a:t>
            </a:r>
          </a:p>
          <a:p>
            <a:pPr lvl="1"/>
            <a:r>
              <a:rPr lang="en-US" sz="24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… }</a:t>
            </a:r>
            <a:endParaRPr lang="en-US" sz="2400" dirty="0"/>
          </a:p>
          <a:p>
            <a:endParaRPr lang="en-US" sz="3200" dirty="0"/>
          </a:p>
          <a:p>
            <a:endParaRPr lang="en-US" sz="32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8183856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1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5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9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Why do we need Arrays?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3"/>
            <a:ext cx="8839200" cy="5247619"/>
          </a:xfrm>
          <a:prstGeom prst="rect">
            <a:avLst/>
          </a:prstGeom>
        </p:spPr>
        <p:txBody>
          <a:bodyPr/>
          <a:lstStyle/>
          <a:p>
            <a:r>
              <a:rPr lang="en-US" sz="2400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main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sz="2400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number1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24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2400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number2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24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2400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number3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24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2400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number4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24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2400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number5</a:t>
            </a:r>
            <a:r>
              <a:rPr lang="en-US" sz="24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</a:p>
          <a:p>
            <a:pPr lvl="1"/>
            <a:r>
              <a:rPr lang="en-US" sz="2400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number6</a:t>
            </a:r>
            <a:r>
              <a:rPr lang="en-US" sz="24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2400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number7</a:t>
            </a:r>
            <a:r>
              <a:rPr lang="en-US" sz="24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2400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number8</a:t>
            </a:r>
            <a:r>
              <a:rPr lang="en-US" sz="24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2400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number9</a:t>
            </a:r>
            <a:r>
              <a:rPr lang="en-US" sz="24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24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2400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number10</a:t>
            </a:r>
            <a:r>
              <a:rPr lang="en-US" sz="24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</a:p>
          <a:p>
            <a:pPr lvl="1"/>
            <a:r>
              <a:rPr lang="en-US" sz="24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…</a:t>
            </a:r>
          </a:p>
          <a:p>
            <a:pPr lvl="1"/>
            <a:r>
              <a:rPr lang="en-US" sz="24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…</a:t>
            </a:r>
          </a:p>
          <a:p>
            <a:pPr lvl="1"/>
            <a:r>
              <a:rPr lang="en-US" sz="24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… }</a:t>
            </a:r>
            <a:endParaRPr lang="en-US" sz="2400" dirty="0"/>
          </a:p>
          <a:p>
            <a:endParaRPr lang="en-US" sz="3200" dirty="0"/>
          </a:p>
          <a:p>
            <a:endParaRPr lang="en-US" sz="32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Rounded Rectangle 7"/>
          <p:cNvSpPr/>
          <p:nvPr/>
        </p:nvSpPr>
        <p:spPr>
          <a:xfrm>
            <a:off x="3276600" y="2286000"/>
            <a:ext cx="5562600" cy="2514600"/>
          </a:xfrm>
          <a:prstGeom prst="round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 smtClean="0">
                <a:solidFill>
                  <a:schemeClr val="tx2">
                    <a:lumMod val="50000"/>
                  </a:schemeClr>
                </a:solidFill>
              </a:rPr>
              <a:t>We would like to have:</a:t>
            </a:r>
          </a:p>
          <a:p>
            <a:pPr algn="ctr"/>
            <a:r>
              <a:rPr lang="en-US" sz="2800" dirty="0" smtClean="0">
                <a:solidFill>
                  <a:srgbClr val="C00000"/>
                </a:solidFill>
              </a:rPr>
              <a:t>Some data structure which can handle a </a:t>
            </a:r>
            <a:r>
              <a:rPr lang="en-US" sz="2800" dirty="0">
                <a:solidFill>
                  <a:srgbClr val="C00000"/>
                </a:solidFill>
              </a:rPr>
              <a:t>large number </a:t>
            </a:r>
            <a:r>
              <a:rPr lang="en-US" sz="2800" dirty="0" smtClean="0">
                <a:solidFill>
                  <a:srgbClr val="C00000"/>
                </a:solidFill>
              </a:rPr>
              <a:t>of </a:t>
            </a:r>
          </a:p>
          <a:p>
            <a:pPr algn="ctr"/>
            <a:r>
              <a:rPr lang="en-US" sz="2800" dirty="0" smtClean="0">
                <a:solidFill>
                  <a:srgbClr val="C00000"/>
                </a:solidFill>
              </a:rPr>
              <a:t>values of same data type</a:t>
            </a:r>
          </a:p>
          <a:p>
            <a:pPr algn="ctr"/>
            <a:endParaRPr lang="en-US" sz="2800" dirty="0" smtClean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62234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What we need is…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3"/>
            <a:ext cx="8839200" cy="5247619"/>
          </a:xfrm>
          <a:prstGeom prst="rect">
            <a:avLst/>
          </a:prstGeom>
        </p:spPr>
        <p:txBody>
          <a:bodyPr/>
          <a:lstStyle/>
          <a:p>
            <a:r>
              <a:rPr lang="en-US" sz="3200" dirty="0"/>
              <a:t>Instead of many variables with different names, we need: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/>
              <a:t>A single </a:t>
            </a:r>
            <a:r>
              <a:rPr lang="en-US" sz="3200" b="1" i="1" dirty="0"/>
              <a:t>name</a:t>
            </a:r>
            <a:r>
              <a:rPr lang="en-US" sz="3200" dirty="0"/>
              <a:t> to represent a </a:t>
            </a:r>
            <a:r>
              <a:rPr lang="en-US" sz="3200" b="1" i="1" dirty="0"/>
              <a:t>set of variables </a:t>
            </a:r>
            <a:r>
              <a:rPr lang="en-US" sz="3200" dirty="0" smtClean="0"/>
              <a:t>and</a:t>
            </a:r>
            <a:endParaRPr lang="en-US" sz="32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 smtClean="0"/>
              <a:t>The </a:t>
            </a:r>
            <a:r>
              <a:rPr lang="en-US" sz="3200" b="1" i="1" dirty="0" smtClean="0"/>
              <a:t>elements</a:t>
            </a:r>
            <a:r>
              <a:rPr lang="en-US" sz="3200" dirty="0" smtClean="0"/>
              <a:t> </a:t>
            </a:r>
            <a:r>
              <a:rPr lang="en-US" sz="3200" dirty="0"/>
              <a:t>could be </a:t>
            </a:r>
            <a:r>
              <a:rPr lang="en-US" sz="3200" b="1" i="1" dirty="0"/>
              <a:t>accessed </a:t>
            </a:r>
            <a:r>
              <a:rPr lang="en-US" sz="3200" b="1" i="1" dirty="0" smtClean="0"/>
              <a:t>individually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200" dirty="0" smtClean="0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9" name="Rounded Rectangle 8"/>
          <p:cNvSpPr/>
          <p:nvPr/>
        </p:nvSpPr>
        <p:spPr>
          <a:xfrm>
            <a:off x="1981200" y="4114800"/>
            <a:ext cx="5562600" cy="2017188"/>
          </a:xfrm>
          <a:prstGeom prst="roundRect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C00000"/>
                </a:solidFill>
              </a:rPr>
              <a:t>To handle such situations, almost all the programming languages provide a concept called</a:t>
            </a:r>
            <a:r>
              <a:rPr lang="en-US" sz="2800" dirty="0">
                <a:solidFill>
                  <a:schemeClr val="bg1"/>
                </a:solidFill>
              </a:rPr>
              <a:t> </a:t>
            </a:r>
            <a:r>
              <a:rPr lang="en-US" sz="2800" b="1" dirty="0">
                <a:solidFill>
                  <a:schemeClr val="tx1"/>
                </a:solidFill>
              </a:rPr>
              <a:t>array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r>
              <a:rPr lang="en-US" sz="2800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2408208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5095079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z="3600" dirty="0"/>
              <a:t>An array is a collection of data </a:t>
            </a:r>
            <a:r>
              <a:rPr lang="en-US" altLang="en-US" sz="3600" dirty="0" smtClean="0"/>
              <a:t>items/variables that </a:t>
            </a:r>
            <a:r>
              <a:rPr lang="en-US" altLang="en-US" sz="3600" dirty="0"/>
              <a:t>are of the 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3600" dirty="0" smtClean="0"/>
              <a:t>Same </a:t>
            </a:r>
            <a:r>
              <a:rPr lang="en-US" altLang="en-US" sz="3600" dirty="0"/>
              <a:t>type </a:t>
            </a:r>
            <a:r>
              <a:rPr lang="en-US" altLang="en-US" sz="3600" dirty="0" smtClean="0"/>
              <a:t>and </a:t>
            </a:r>
          </a:p>
          <a:p>
            <a:pPr marL="1028700" lvl="1" indent="-5715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3600" dirty="0" smtClean="0"/>
              <a:t>Referenced by the common name</a:t>
            </a:r>
          </a:p>
          <a:p>
            <a:pPr marL="1485900" lvl="2" indent="-571500">
              <a:lnSpc>
                <a:spcPct val="150000"/>
              </a:lnSpc>
              <a:buFont typeface="Symbol" panose="05050102010706020507" pitchFamily="18" charset="2"/>
              <a:buChar char=""/>
            </a:pPr>
            <a:r>
              <a:rPr lang="en-US" altLang="en-US" sz="3600" dirty="0" smtClean="0"/>
              <a:t>e.g</a:t>
            </a:r>
            <a:r>
              <a:rPr lang="en-US" altLang="en-US" sz="3600" dirty="0"/>
              <a:t>., a collection of integers, collection of characters, collection of </a:t>
            </a:r>
            <a:r>
              <a:rPr lang="en-US" altLang="en-US" sz="3600" dirty="0" smtClean="0"/>
              <a:t>doubles</a:t>
            </a:r>
            <a:endParaRPr lang="en-US" altLang="en-US" sz="36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1480191"/>
            <a:ext cx="4553585" cy="422016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What is an Array?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5753323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0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5095079"/>
          </a:xfrm>
          <a:prstGeom prst="rect">
            <a:avLst/>
          </a:prstGeom>
        </p:spPr>
        <p:txBody>
          <a:bodyPr/>
          <a:lstStyle/>
          <a:p>
            <a:endParaRPr lang="en-US" altLang="en-US" sz="3600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Array Declaration – syntax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10" name="Rounded Rectangle 9"/>
          <p:cNvSpPr/>
          <p:nvPr/>
        </p:nvSpPr>
        <p:spPr>
          <a:xfrm>
            <a:off x="990600" y="2209800"/>
            <a:ext cx="7162800" cy="1326531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Tx/>
              <a:buNone/>
            </a:pPr>
            <a:endParaRPr lang="en-US" altLang="en-US" sz="2400" b="1" dirty="0" smtClean="0">
              <a:solidFill>
                <a:srgbClr val="0070C0"/>
              </a:solidFill>
              <a:latin typeface="Courier New" panose="02070309020205020404" pitchFamily="49" charset="0"/>
            </a:endParaRPr>
          </a:p>
          <a:p>
            <a:pPr algn="ctr">
              <a:buFontTx/>
              <a:buNone/>
            </a:pPr>
            <a:r>
              <a:rPr lang="en-US" altLang="en-US" sz="2400" b="1" dirty="0" smtClean="0">
                <a:solidFill>
                  <a:srgbClr val="0070C0"/>
                </a:solidFill>
                <a:latin typeface="Courier New" panose="02070309020205020404" pitchFamily="49" charset="0"/>
              </a:rPr>
              <a:t>Return-type Array-name</a:t>
            </a:r>
            <a:r>
              <a:rPr lang="en-US" altLang="en-US" sz="2400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[</a:t>
            </a:r>
            <a:r>
              <a:rPr lang="en-US" altLang="en-US" sz="2400" dirty="0" err="1" smtClean="0">
                <a:solidFill>
                  <a:schemeClr val="tx1"/>
                </a:solidFill>
                <a:latin typeface="Courier New" panose="02070309020205020404" pitchFamily="49" charset="0"/>
              </a:rPr>
              <a:t>sizeOfArray</a:t>
            </a:r>
            <a:r>
              <a:rPr lang="en-US" altLang="en-US" sz="2400" dirty="0">
                <a:solidFill>
                  <a:schemeClr val="tx1"/>
                </a:solidFill>
                <a:latin typeface="Courier New" panose="02070309020205020404" pitchFamily="49" charset="0"/>
              </a:rPr>
              <a:t>]</a:t>
            </a:r>
            <a:r>
              <a:rPr lang="en-US" altLang="en-US" sz="2400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; </a:t>
            </a:r>
          </a:p>
          <a:p>
            <a:pPr algn="ctr"/>
            <a:endParaRPr lang="en-US" dirty="0"/>
          </a:p>
        </p:txBody>
      </p:sp>
      <p:sp>
        <p:nvSpPr>
          <p:cNvPr id="11" name="Rounded Rectangle 10"/>
          <p:cNvSpPr/>
          <p:nvPr/>
        </p:nvSpPr>
        <p:spPr>
          <a:xfrm>
            <a:off x="2590800" y="3832844"/>
            <a:ext cx="3581400" cy="838200"/>
          </a:xfrm>
          <a:prstGeom prst="round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 smtClean="0">
                <a:solidFill>
                  <a:srgbClr val="C00000"/>
                </a:solidFill>
              </a:rPr>
              <a:t>int</a:t>
            </a:r>
            <a:r>
              <a:rPr lang="en-US" sz="2800" dirty="0" smtClean="0">
                <a:solidFill>
                  <a:srgbClr val="C00000"/>
                </a:solidFill>
              </a:rPr>
              <a:t> </a:t>
            </a:r>
            <a:r>
              <a:rPr lang="en-US" sz="2800" dirty="0" err="1" smtClean="0">
                <a:solidFill>
                  <a:srgbClr val="C00000"/>
                </a:solidFill>
              </a:rPr>
              <a:t>roll_numbers</a:t>
            </a:r>
            <a:r>
              <a:rPr lang="en-US" sz="2800" dirty="0" smtClean="0">
                <a:solidFill>
                  <a:srgbClr val="C00000"/>
                </a:solidFill>
              </a:rPr>
              <a:t>[100</a:t>
            </a:r>
            <a:r>
              <a:rPr lang="en-US" sz="2800" dirty="0">
                <a:solidFill>
                  <a:srgbClr val="C00000"/>
                </a:solidFill>
              </a:rPr>
              <a:t>]; </a:t>
            </a:r>
            <a:endParaRPr lang="en-US" sz="2800" dirty="0" smtClean="0">
              <a:solidFill>
                <a:srgbClr val="C00000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85800" y="4999387"/>
            <a:ext cx="3314700" cy="838200"/>
          </a:xfrm>
          <a:prstGeom prst="round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smtClean="0">
                <a:solidFill>
                  <a:srgbClr val="C00000"/>
                </a:solidFill>
              </a:rPr>
              <a:t>float distances[25];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76800" y="4999387"/>
            <a:ext cx="2705100" cy="838200"/>
          </a:xfrm>
          <a:prstGeom prst="round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 smtClean="0">
                <a:solidFill>
                  <a:srgbClr val="C00000"/>
                </a:solidFill>
              </a:rPr>
              <a:t>int</a:t>
            </a:r>
            <a:r>
              <a:rPr lang="en-US" sz="2800" dirty="0" smtClean="0">
                <a:solidFill>
                  <a:srgbClr val="C00000"/>
                </a:solidFill>
              </a:rPr>
              <a:t> marks[500]; </a:t>
            </a:r>
          </a:p>
        </p:txBody>
      </p:sp>
    </p:spTree>
    <p:extLst>
      <p:ext uri="{BB962C8B-B14F-4D97-AF65-F5344CB8AC3E}">
        <p14:creationId xmlns:p14="http://schemas.microsoft.com/office/powerpoint/2010/main" val="6893818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5095079"/>
          </a:xfrm>
          <a:prstGeom prst="rect">
            <a:avLst/>
          </a:prstGeom>
        </p:spPr>
        <p:txBody>
          <a:bodyPr/>
          <a:lstStyle/>
          <a:p>
            <a:endParaRPr lang="en-US" altLang="en-US" sz="3600" dirty="0"/>
          </a:p>
          <a:p>
            <a:endParaRPr lang="en-US" altLang="en-US" sz="3600" dirty="0" smtClean="0"/>
          </a:p>
          <a:p>
            <a:endParaRPr lang="en-US" altLang="en-US" sz="36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 smtClean="0"/>
              <a:t>All array elements are of the type</a:t>
            </a:r>
            <a:r>
              <a:rPr lang="en-US" altLang="en-US" sz="3200" b="1" i="1" dirty="0" smtClean="0"/>
              <a:t> int</a:t>
            </a:r>
            <a:r>
              <a:rPr lang="en-US" altLang="en-US" sz="3200" dirty="0" smtClean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/>
              <a:t>Name </a:t>
            </a:r>
            <a:r>
              <a:rPr lang="en-US" altLang="en-US" sz="3200" dirty="0" smtClean="0"/>
              <a:t>of the array is </a:t>
            </a:r>
            <a:r>
              <a:rPr lang="en-US" altLang="en-US" sz="3200" b="1" i="1" dirty="0" smtClean="0"/>
              <a:t>marks</a:t>
            </a:r>
            <a:r>
              <a:rPr lang="en-US" altLang="en-US" sz="3200" dirty="0" smtClean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en-US" sz="3200" dirty="0" smtClean="0"/>
              <a:t>The </a:t>
            </a:r>
            <a:r>
              <a:rPr lang="en-US" altLang="en-US" sz="3200" dirty="0"/>
              <a:t>size of the array is </a:t>
            </a:r>
            <a:r>
              <a:rPr lang="en-US" altLang="en-US" sz="3200" b="1" i="1" dirty="0" smtClean="0"/>
              <a:t>500</a:t>
            </a:r>
            <a:r>
              <a:rPr lang="en-US" altLang="en-US" sz="3200" dirty="0" smtClean="0"/>
              <a:t>, which gives us the </a:t>
            </a:r>
            <a:r>
              <a:rPr lang="en-US" altLang="en-US" sz="3200" b="1" i="1" dirty="0" smtClean="0"/>
              <a:t>number of elements in the array</a:t>
            </a:r>
            <a:r>
              <a:rPr lang="en-US" altLang="en-US" sz="3200" dirty="0" smtClean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Array Declaration – syntax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Rounded Rectangle 7"/>
          <p:cNvSpPr/>
          <p:nvPr/>
        </p:nvSpPr>
        <p:spPr>
          <a:xfrm>
            <a:off x="3219450" y="1701027"/>
            <a:ext cx="2705100" cy="838200"/>
          </a:xfrm>
          <a:prstGeom prst="round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 smtClean="0">
                <a:solidFill>
                  <a:srgbClr val="C00000"/>
                </a:solidFill>
              </a:rPr>
              <a:t>int</a:t>
            </a:r>
            <a:r>
              <a:rPr lang="en-US" sz="2800" dirty="0" smtClean="0">
                <a:solidFill>
                  <a:srgbClr val="C00000"/>
                </a:solidFill>
              </a:rPr>
              <a:t> marks[500]; </a:t>
            </a:r>
          </a:p>
        </p:txBody>
      </p:sp>
    </p:spTree>
    <p:extLst>
      <p:ext uri="{BB962C8B-B14F-4D97-AF65-F5344CB8AC3E}">
        <p14:creationId xmlns:p14="http://schemas.microsoft.com/office/powerpoint/2010/main" val="22920745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5095079"/>
          </a:xfrm>
          <a:prstGeom prst="rect">
            <a:avLst/>
          </a:prstGeom>
          <a:solidFill>
            <a:schemeClr val="tx1"/>
          </a:solidFill>
        </p:spPr>
        <p:txBody>
          <a:bodyPr/>
          <a:lstStyle/>
          <a:p>
            <a:pPr lvl="2">
              <a:buFont typeface="Monotype Sorts" pitchFamily="2" charset="2"/>
              <a:buNone/>
            </a:pPr>
            <a:r>
              <a:rPr lang="en-US" altLang="en-US" sz="2800" b="1" dirty="0">
                <a:solidFill>
                  <a:srgbClr val="99FF33"/>
                </a:solidFill>
                <a:latin typeface="Courier New" panose="02070309020205020404" pitchFamily="49" charset="0"/>
              </a:rPr>
              <a:t>// array of 10 uninitialized </a:t>
            </a:r>
            <a:r>
              <a:rPr lang="en-US" altLang="en-US" sz="2800" b="1" dirty="0" err="1">
                <a:solidFill>
                  <a:srgbClr val="99FF33"/>
                </a:solidFill>
                <a:latin typeface="Courier New" panose="02070309020205020404" pitchFamily="49" charset="0"/>
              </a:rPr>
              <a:t>ints</a:t>
            </a:r>
            <a:r>
              <a:rPr lang="en-US" altLang="en-US" sz="2800" b="1" dirty="0">
                <a:solidFill>
                  <a:srgbClr val="99FF33"/>
                </a:solidFill>
                <a:latin typeface="Courier New" panose="02070309020205020404" pitchFamily="49" charset="0"/>
              </a:rPr>
              <a:t> </a:t>
            </a:r>
          </a:p>
          <a:p>
            <a:pPr lvl="2">
              <a:buFont typeface="Monotype Sorts" pitchFamily="2" charset="2"/>
              <a:buNone/>
            </a:pPr>
            <a:r>
              <a:rPr lang="en-US" altLang="en-US" sz="2800" b="1" dirty="0" err="1">
                <a:solidFill>
                  <a:srgbClr val="00CCFF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800" b="1" dirty="0">
                <a:latin typeface="Courier New" panose="02070309020205020404" pitchFamily="49" charset="0"/>
              </a:rPr>
              <a:t> </a:t>
            </a:r>
            <a:r>
              <a:rPr lang="en-US" altLang="en-US" sz="2800" b="1" dirty="0" err="1" smtClean="0">
                <a:solidFill>
                  <a:schemeClr val="bg1"/>
                </a:solidFill>
                <a:latin typeface="Courier New" panose="02070309020205020404" pitchFamily="49" charset="0"/>
              </a:rPr>
              <a:t>Ar</a:t>
            </a:r>
            <a:r>
              <a:rPr lang="en-US" altLang="en-US" sz="2800" b="1" dirty="0" smtClean="0">
                <a:solidFill>
                  <a:schemeClr val="bg1"/>
                </a:solidFill>
                <a:latin typeface="Courier New" panose="02070309020205020404" pitchFamily="49" charset="0"/>
              </a:rPr>
              <a:t>[10</a:t>
            </a:r>
            <a:r>
              <a:rPr lang="en-US" altLang="en-US" sz="2800" b="1" dirty="0">
                <a:solidFill>
                  <a:schemeClr val="bg1"/>
                </a:solidFill>
                <a:latin typeface="Courier New" panose="02070309020205020404" pitchFamily="49" charset="0"/>
              </a:rPr>
              <a:t>];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Pictorial view of an Array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grpSp>
        <p:nvGrpSpPr>
          <p:cNvPr id="9" name="Group 1083"/>
          <p:cNvGrpSpPr>
            <a:grpSpLocks/>
          </p:cNvGrpSpPr>
          <p:nvPr/>
        </p:nvGrpSpPr>
        <p:grpSpPr bwMode="auto">
          <a:xfrm>
            <a:off x="609600" y="2883252"/>
            <a:ext cx="7772400" cy="774348"/>
            <a:chOff x="528" y="2592"/>
            <a:chExt cx="4620" cy="444"/>
          </a:xfrm>
        </p:grpSpPr>
        <p:sp>
          <p:nvSpPr>
            <p:cNvPr id="10" name="Rectangle 1039"/>
            <p:cNvSpPr>
              <a:spLocks noChangeArrowheads="1"/>
            </p:cNvSpPr>
            <p:nvPr/>
          </p:nvSpPr>
          <p:spPr bwMode="auto">
            <a:xfrm>
              <a:off x="1268" y="2812"/>
              <a:ext cx="431" cy="211"/>
            </a:xfrm>
            <a:prstGeom prst="rect">
              <a:avLst/>
            </a:prstGeom>
            <a:solidFill>
              <a:srgbClr val="00FFFF"/>
            </a:solidFill>
            <a:ln w="15875">
              <a:solidFill>
                <a:srgbClr val="8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Rectangle 1040"/>
            <p:cNvSpPr>
              <a:spLocks noChangeArrowheads="1"/>
            </p:cNvSpPr>
            <p:nvPr/>
          </p:nvSpPr>
          <p:spPr bwMode="auto">
            <a:xfrm>
              <a:off x="1386" y="2844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 dirty="0">
                  <a:solidFill>
                    <a:srgbClr val="000000"/>
                  </a:solidFill>
                  <a:latin typeface="Courier" pitchFamily="49" charset="0"/>
                </a:rPr>
                <a:t>--</a:t>
              </a:r>
              <a:endParaRPr lang="en-US" altLang="en-US" sz="2000" dirty="0">
                <a:latin typeface="Arial" panose="020B0604020202020204" pitchFamily="34" charset="0"/>
              </a:endParaRPr>
            </a:p>
          </p:txBody>
        </p:sp>
        <p:sp>
          <p:nvSpPr>
            <p:cNvPr id="12" name="Rectangle 1041"/>
            <p:cNvSpPr>
              <a:spLocks noChangeArrowheads="1"/>
            </p:cNvSpPr>
            <p:nvPr/>
          </p:nvSpPr>
          <p:spPr bwMode="auto">
            <a:xfrm>
              <a:off x="1699" y="2812"/>
              <a:ext cx="431" cy="211"/>
            </a:xfrm>
            <a:prstGeom prst="rect">
              <a:avLst/>
            </a:prstGeom>
            <a:solidFill>
              <a:srgbClr val="00FFFF"/>
            </a:solidFill>
            <a:ln w="15875">
              <a:solidFill>
                <a:srgbClr val="8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Rectangle 1042"/>
            <p:cNvSpPr>
              <a:spLocks noChangeArrowheads="1"/>
            </p:cNvSpPr>
            <p:nvPr/>
          </p:nvSpPr>
          <p:spPr bwMode="auto">
            <a:xfrm>
              <a:off x="1818" y="2844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 dirty="0">
                  <a:solidFill>
                    <a:srgbClr val="000000"/>
                  </a:solidFill>
                  <a:latin typeface="Courier" pitchFamily="49" charset="0"/>
                </a:rPr>
                <a:t>--</a:t>
              </a:r>
              <a:endParaRPr lang="en-US" altLang="en-US" sz="2000" dirty="0">
                <a:latin typeface="Arial" panose="020B0604020202020204" pitchFamily="34" charset="0"/>
              </a:endParaRPr>
            </a:p>
          </p:txBody>
        </p:sp>
        <p:sp>
          <p:nvSpPr>
            <p:cNvPr id="14" name="Rectangle 1043"/>
            <p:cNvSpPr>
              <a:spLocks noChangeArrowheads="1"/>
            </p:cNvSpPr>
            <p:nvPr/>
          </p:nvSpPr>
          <p:spPr bwMode="auto">
            <a:xfrm>
              <a:off x="2130" y="2812"/>
              <a:ext cx="431" cy="211"/>
            </a:xfrm>
            <a:prstGeom prst="rect">
              <a:avLst/>
            </a:prstGeom>
            <a:solidFill>
              <a:srgbClr val="00FFFF"/>
            </a:solidFill>
            <a:ln w="15875">
              <a:solidFill>
                <a:srgbClr val="8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1044"/>
            <p:cNvSpPr>
              <a:spLocks noChangeArrowheads="1"/>
            </p:cNvSpPr>
            <p:nvPr/>
          </p:nvSpPr>
          <p:spPr bwMode="auto">
            <a:xfrm>
              <a:off x="2249" y="2844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 dirty="0">
                  <a:solidFill>
                    <a:srgbClr val="000000"/>
                  </a:solidFill>
                  <a:latin typeface="Courier" pitchFamily="49" charset="0"/>
                </a:rPr>
                <a:t>--</a:t>
              </a:r>
              <a:endParaRPr lang="en-US" altLang="en-US" sz="2000" dirty="0">
                <a:latin typeface="Arial" panose="020B0604020202020204" pitchFamily="34" charset="0"/>
              </a:endParaRPr>
            </a:p>
          </p:txBody>
        </p:sp>
        <p:sp>
          <p:nvSpPr>
            <p:cNvPr id="16" name="Rectangle 1045"/>
            <p:cNvSpPr>
              <a:spLocks noChangeArrowheads="1"/>
            </p:cNvSpPr>
            <p:nvPr/>
          </p:nvSpPr>
          <p:spPr bwMode="auto">
            <a:xfrm>
              <a:off x="837" y="2812"/>
              <a:ext cx="431" cy="211"/>
            </a:xfrm>
            <a:prstGeom prst="rect">
              <a:avLst/>
            </a:prstGeom>
            <a:solidFill>
              <a:srgbClr val="00FFFF"/>
            </a:solidFill>
            <a:ln w="15875">
              <a:solidFill>
                <a:srgbClr val="8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Rectangle 1046"/>
            <p:cNvSpPr>
              <a:spLocks noChangeArrowheads="1"/>
            </p:cNvSpPr>
            <p:nvPr/>
          </p:nvSpPr>
          <p:spPr bwMode="auto">
            <a:xfrm>
              <a:off x="955" y="284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 dirty="0">
                  <a:solidFill>
                    <a:srgbClr val="000000"/>
                  </a:solidFill>
                  <a:latin typeface="Courier" pitchFamily="49" charset="0"/>
                </a:rPr>
                <a:t>-- </a:t>
              </a:r>
              <a:endParaRPr lang="en-US" altLang="en-US" sz="2000" dirty="0">
                <a:latin typeface="Arial" panose="020B0604020202020204" pitchFamily="34" charset="0"/>
              </a:endParaRPr>
            </a:p>
          </p:txBody>
        </p:sp>
        <p:sp>
          <p:nvSpPr>
            <p:cNvPr id="18" name="Rectangle 1047"/>
            <p:cNvSpPr>
              <a:spLocks noChangeArrowheads="1"/>
            </p:cNvSpPr>
            <p:nvPr/>
          </p:nvSpPr>
          <p:spPr bwMode="auto">
            <a:xfrm>
              <a:off x="528" y="2832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 dirty="0" err="1" smtClean="0">
                  <a:solidFill>
                    <a:srgbClr val="00FFFF"/>
                  </a:solidFill>
                  <a:latin typeface="Courier" pitchFamily="49" charset="0"/>
                </a:rPr>
                <a:t>Ar</a:t>
              </a:r>
              <a:endParaRPr lang="en-US" altLang="en-US" sz="2000" dirty="0">
                <a:latin typeface="Arial" panose="020B0604020202020204" pitchFamily="34" charset="0"/>
              </a:endParaRPr>
            </a:p>
          </p:txBody>
        </p:sp>
        <p:sp>
          <p:nvSpPr>
            <p:cNvPr id="19" name="Rectangle 1058"/>
            <p:cNvSpPr>
              <a:spLocks noChangeArrowheads="1"/>
            </p:cNvSpPr>
            <p:nvPr/>
          </p:nvSpPr>
          <p:spPr bwMode="auto">
            <a:xfrm>
              <a:off x="2992" y="2812"/>
              <a:ext cx="432" cy="211"/>
            </a:xfrm>
            <a:prstGeom prst="rect">
              <a:avLst/>
            </a:prstGeom>
            <a:solidFill>
              <a:srgbClr val="00FFFF"/>
            </a:solidFill>
            <a:ln w="15875">
              <a:solidFill>
                <a:srgbClr val="8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Rectangle 1059"/>
            <p:cNvSpPr>
              <a:spLocks noChangeArrowheads="1"/>
            </p:cNvSpPr>
            <p:nvPr/>
          </p:nvSpPr>
          <p:spPr bwMode="auto">
            <a:xfrm>
              <a:off x="3111" y="2844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solidFill>
                    <a:srgbClr val="000000"/>
                  </a:solidFill>
                  <a:latin typeface="Courier" pitchFamily="49" charset="0"/>
                </a:rPr>
                <a:t>--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1" name="Rectangle 1060"/>
            <p:cNvSpPr>
              <a:spLocks noChangeArrowheads="1"/>
            </p:cNvSpPr>
            <p:nvPr/>
          </p:nvSpPr>
          <p:spPr bwMode="auto">
            <a:xfrm>
              <a:off x="3424" y="2812"/>
              <a:ext cx="431" cy="211"/>
            </a:xfrm>
            <a:prstGeom prst="rect">
              <a:avLst/>
            </a:prstGeom>
            <a:solidFill>
              <a:srgbClr val="00FFFF"/>
            </a:solidFill>
            <a:ln w="15875">
              <a:solidFill>
                <a:srgbClr val="8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Rectangle 1061"/>
            <p:cNvSpPr>
              <a:spLocks noChangeArrowheads="1"/>
            </p:cNvSpPr>
            <p:nvPr/>
          </p:nvSpPr>
          <p:spPr bwMode="auto">
            <a:xfrm>
              <a:off x="3542" y="2844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solidFill>
                    <a:srgbClr val="000000"/>
                  </a:solidFill>
                  <a:latin typeface="Courier" pitchFamily="49" charset="0"/>
                </a:rPr>
                <a:t>--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3" name="Rectangle 1062"/>
            <p:cNvSpPr>
              <a:spLocks noChangeArrowheads="1"/>
            </p:cNvSpPr>
            <p:nvPr/>
          </p:nvSpPr>
          <p:spPr bwMode="auto">
            <a:xfrm>
              <a:off x="3855" y="2812"/>
              <a:ext cx="431" cy="211"/>
            </a:xfrm>
            <a:prstGeom prst="rect">
              <a:avLst/>
            </a:prstGeom>
            <a:solidFill>
              <a:srgbClr val="00FFFF"/>
            </a:solidFill>
            <a:ln w="15875">
              <a:solidFill>
                <a:srgbClr val="8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Rectangle 1063"/>
            <p:cNvSpPr>
              <a:spLocks noChangeArrowheads="1"/>
            </p:cNvSpPr>
            <p:nvPr/>
          </p:nvSpPr>
          <p:spPr bwMode="auto">
            <a:xfrm>
              <a:off x="3973" y="2844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solidFill>
                    <a:srgbClr val="000000"/>
                  </a:solidFill>
                  <a:latin typeface="Courier" pitchFamily="49" charset="0"/>
                </a:rPr>
                <a:t>--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5" name="Rectangle 1064"/>
            <p:cNvSpPr>
              <a:spLocks noChangeArrowheads="1"/>
            </p:cNvSpPr>
            <p:nvPr/>
          </p:nvSpPr>
          <p:spPr bwMode="auto">
            <a:xfrm>
              <a:off x="2561" y="2812"/>
              <a:ext cx="431" cy="211"/>
            </a:xfrm>
            <a:prstGeom prst="rect">
              <a:avLst/>
            </a:prstGeom>
            <a:solidFill>
              <a:srgbClr val="00FFFF"/>
            </a:solidFill>
            <a:ln w="15875">
              <a:solidFill>
                <a:srgbClr val="8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Rectangle 1065"/>
            <p:cNvSpPr>
              <a:spLocks noChangeArrowheads="1"/>
            </p:cNvSpPr>
            <p:nvPr/>
          </p:nvSpPr>
          <p:spPr bwMode="auto">
            <a:xfrm>
              <a:off x="2680" y="2844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solidFill>
                    <a:srgbClr val="000000"/>
                  </a:solidFill>
                  <a:latin typeface="Courier" pitchFamily="49" charset="0"/>
                </a:rPr>
                <a:t>--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7" name="Rectangle 1066"/>
            <p:cNvSpPr>
              <a:spLocks noChangeArrowheads="1"/>
            </p:cNvSpPr>
            <p:nvPr/>
          </p:nvSpPr>
          <p:spPr bwMode="auto">
            <a:xfrm>
              <a:off x="4286" y="2812"/>
              <a:ext cx="431" cy="211"/>
            </a:xfrm>
            <a:prstGeom prst="rect">
              <a:avLst/>
            </a:prstGeom>
            <a:solidFill>
              <a:srgbClr val="00FFFF"/>
            </a:solidFill>
            <a:ln w="15875">
              <a:solidFill>
                <a:srgbClr val="8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Rectangle 1067"/>
            <p:cNvSpPr>
              <a:spLocks noChangeArrowheads="1"/>
            </p:cNvSpPr>
            <p:nvPr/>
          </p:nvSpPr>
          <p:spPr bwMode="auto">
            <a:xfrm>
              <a:off x="4405" y="2844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solidFill>
                    <a:srgbClr val="000000"/>
                  </a:solidFill>
                  <a:latin typeface="Courier" pitchFamily="49" charset="0"/>
                </a:rPr>
                <a:t>--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29" name="Rectangle 1068"/>
            <p:cNvSpPr>
              <a:spLocks noChangeArrowheads="1"/>
            </p:cNvSpPr>
            <p:nvPr/>
          </p:nvSpPr>
          <p:spPr bwMode="auto">
            <a:xfrm>
              <a:off x="4717" y="2812"/>
              <a:ext cx="431" cy="211"/>
            </a:xfrm>
            <a:prstGeom prst="rect">
              <a:avLst/>
            </a:prstGeom>
            <a:solidFill>
              <a:srgbClr val="00FFFF"/>
            </a:solidFill>
            <a:ln w="15875">
              <a:solidFill>
                <a:srgbClr val="8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Rectangle 1069"/>
            <p:cNvSpPr>
              <a:spLocks noChangeArrowheads="1"/>
            </p:cNvSpPr>
            <p:nvPr/>
          </p:nvSpPr>
          <p:spPr bwMode="auto">
            <a:xfrm>
              <a:off x="4836" y="2844"/>
              <a:ext cx="19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solidFill>
                    <a:srgbClr val="000000"/>
                  </a:solidFill>
                  <a:latin typeface="Courier" pitchFamily="49" charset="0"/>
                </a:rPr>
                <a:t>--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31" name="Rectangle 1029"/>
            <p:cNvSpPr>
              <a:spLocks noChangeArrowheads="1"/>
            </p:cNvSpPr>
            <p:nvPr/>
          </p:nvSpPr>
          <p:spPr bwMode="auto">
            <a:xfrm>
              <a:off x="2637" y="2592"/>
              <a:ext cx="183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 dirty="0">
                  <a:solidFill>
                    <a:srgbClr val="00FFFF"/>
                  </a:solidFill>
                  <a:latin typeface="Courier" pitchFamily="49" charset="0"/>
                </a:rPr>
                <a:t> </a:t>
              </a:r>
              <a:r>
                <a:rPr lang="en-US" altLang="en-US" sz="2000" b="0" dirty="0" smtClean="0">
                  <a:solidFill>
                    <a:srgbClr val="00FFFF"/>
                  </a:solidFill>
                  <a:latin typeface="Courier" pitchFamily="49" charset="0"/>
                </a:rPr>
                <a:t>5</a:t>
              </a:r>
              <a:endParaRPr lang="en-US" altLang="en-US" sz="2000" dirty="0">
                <a:latin typeface="Arial" panose="020B0604020202020204" pitchFamily="34" charset="0"/>
              </a:endParaRPr>
            </a:p>
          </p:txBody>
        </p:sp>
        <p:sp>
          <p:nvSpPr>
            <p:cNvPr id="32" name="Rectangle 1030"/>
            <p:cNvSpPr>
              <a:spLocks noChangeArrowheads="1"/>
            </p:cNvSpPr>
            <p:nvPr/>
          </p:nvSpPr>
          <p:spPr bwMode="auto">
            <a:xfrm>
              <a:off x="3068" y="2592"/>
              <a:ext cx="183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 dirty="0">
                  <a:solidFill>
                    <a:srgbClr val="00FFFF"/>
                  </a:solidFill>
                  <a:latin typeface="Courier" pitchFamily="49" charset="0"/>
                </a:rPr>
                <a:t> </a:t>
              </a:r>
              <a:r>
                <a:rPr lang="en-US" altLang="en-US" sz="2000" b="0" dirty="0" smtClean="0">
                  <a:solidFill>
                    <a:srgbClr val="00FFFF"/>
                  </a:solidFill>
                  <a:latin typeface="Courier" pitchFamily="49" charset="0"/>
                </a:rPr>
                <a:t>6</a:t>
              </a:r>
              <a:endParaRPr lang="en-US" altLang="en-US" sz="2000" dirty="0">
                <a:latin typeface="Arial" panose="020B0604020202020204" pitchFamily="34" charset="0"/>
              </a:endParaRPr>
            </a:p>
          </p:txBody>
        </p:sp>
        <p:sp>
          <p:nvSpPr>
            <p:cNvPr id="33" name="Rectangle 1031"/>
            <p:cNvSpPr>
              <a:spLocks noChangeArrowheads="1"/>
            </p:cNvSpPr>
            <p:nvPr/>
          </p:nvSpPr>
          <p:spPr bwMode="auto">
            <a:xfrm>
              <a:off x="3500" y="2592"/>
              <a:ext cx="183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 dirty="0">
                  <a:solidFill>
                    <a:srgbClr val="00FFFF"/>
                  </a:solidFill>
                  <a:latin typeface="Courier" pitchFamily="49" charset="0"/>
                </a:rPr>
                <a:t> </a:t>
              </a:r>
              <a:r>
                <a:rPr lang="en-US" altLang="en-US" sz="2000" b="0" dirty="0" smtClean="0">
                  <a:solidFill>
                    <a:srgbClr val="00FFFF"/>
                  </a:solidFill>
                  <a:latin typeface="Courier" pitchFamily="49" charset="0"/>
                </a:rPr>
                <a:t>7</a:t>
              </a:r>
              <a:endParaRPr lang="en-US" altLang="en-US" sz="2000" dirty="0">
                <a:latin typeface="Arial" panose="020B0604020202020204" pitchFamily="34" charset="0"/>
              </a:endParaRPr>
            </a:p>
          </p:txBody>
        </p:sp>
        <p:sp>
          <p:nvSpPr>
            <p:cNvPr id="34" name="Rectangle 1032"/>
            <p:cNvSpPr>
              <a:spLocks noChangeArrowheads="1"/>
            </p:cNvSpPr>
            <p:nvPr/>
          </p:nvSpPr>
          <p:spPr bwMode="auto">
            <a:xfrm>
              <a:off x="2206" y="2592"/>
              <a:ext cx="183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 dirty="0">
                  <a:solidFill>
                    <a:srgbClr val="00FFFF"/>
                  </a:solidFill>
                  <a:latin typeface="Courier" pitchFamily="49" charset="0"/>
                </a:rPr>
                <a:t> </a:t>
              </a:r>
              <a:r>
                <a:rPr lang="en-US" altLang="en-US" sz="2000" b="0" dirty="0" smtClean="0">
                  <a:solidFill>
                    <a:srgbClr val="00FFFF"/>
                  </a:solidFill>
                  <a:latin typeface="Courier" pitchFamily="49" charset="0"/>
                </a:rPr>
                <a:t>4</a:t>
              </a:r>
              <a:endParaRPr lang="en-US" altLang="en-US" sz="2000" dirty="0">
                <a:latin typeface="Arial" panose="020B0604020202020204" pitchFamily="34" charset="0"/>
              </a:endParaRPr>
            </a:p>
          </p:txBody>
        </p:sp>
        <p:sp>
          <p:nvSpPr>
            <p:cNvPr id="35" name="Rectangle 1033"/>
            <p:cNvSpPr>
              <a:spLocks noChangeArrowheads="1"/>
            </p:cNvSpPr>
            <p:nvPr/>
          </p:nvSpPr>
          <p:spPr bwMode="auto">
            <a:xfrm>
              <a:off x="913" y="2592"/>
              <a:ext cx="183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 dirty="0">
                  <a:solidFill>
                    <a:srgbClr val="00FFFF"/>
                  </a:solidFill>
                  <a:latin typeface="Courier" pitchFamily="49" charset="0"/>
                </a:rPr>
                <a:t> </a:t>
              </a:r>
              <a:r>
                <a:rPr lang="en-US" altLang="en-US" sz="2000" b="0" dirty="0" smtClean="0">
                  <a:solidFill>
                    <a:srgbClr val="00FFFF"/>
                  </a:solidFill>
                  <a:latin typeface="Courier" pitchFamily="49" charset="0"/>
                </a:rPr>
                <a:t>1</a:t>
              </a:r>
              <a:endParaRPr lang="en-US" altLang="en-US" sz="2000" dirty="0">
                <a:latin typeface="Arial" panose="020B0604020202020204" pitchFamily="34" charset="0"/>
              </a:endParaRPr>
            </a:p>
          </p:txBody>
        </p:sp>
        <p:sp>
          <p:nvSpPr>
            <p:cNvPr id="36" name="Rectangle 1034"/>
            <p:cNvSpPr>
              <a:spLocks noChangeArrowheads="1"/>
            </p:cNvSpPr>
            <p:nvPr/>
          </p:nvSpPr>
          <p:spPr bwMode="auto">
            <a:xfrm>
              <a:off x="1775" y="2592"/>
              <a:ext cx="183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 dirty="0">
                  <a:solidFill>
                    <a:srgbClr val="00FFFF"/>
                  </a:solidFill>
                  <a:latin typeface="Courier" pitchFamily="49" charset="0"/>
                </a:rPr>
                <a:t> </a:t>
              </a:r>
              <a:r>
                <a:rPr lang="en-US" altLang="en-US" sz="2000" b="0" dirty="0" smtClean="0">
                  <a:solidFill>
                    <a:srgbClr val="00FFFF"/>
                  </a:solidFill>
                  <a:latin typeface="Courier" pitchFamily="49" charset="0"/>
                </a:rPr>
                <a:t>3</a:t>
              </a:r>
              <a:endParaRPr lang="en-US" altLang="en-US" sz="2000" dirty="0">
                <a:latin typeface="Arial" panose="020B0604020202020204" pitchFamily="34" charset="0"/>
              </a:endParaRPr>
            </a:p>
          </p:txBody>
        </p:sp>
        <p:sp>
          <p:nvSpPr>
            <p:cNvPr id="37" name="Rectangle 1035"/>
            <p:cNvSpPr>
              <a:spLocks noChangeArrowheads="1"/>
            </p:cNvSpPr>
            <p:nvPr/>
          </p:nvSpPr>
          <p:spPr bwMode="auto">
            <a:xfrm>
              <a:off x="4362" y="2592"/>
              <a:ext cx="183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 dirty="0">
                  <a:solidFill>
                    <a:srgbClr val="00FFFF"/>
                  </a:solidFill>
                  <a:latin typeface="Courier" pitchFamily="49" charset="0"/>
                </a:rPr>
                <a:t> </a:t>
              </a:r>
              <a:r>
                <a:rPr lang="en-US" altLang="en-US" sz="2000" b="0" dirty="0" smtClean="0">
                  <a:solidFill>
                    <a:srgbClr val="00FFFF"/>
                  </a:solidFill>
                  <a:latin typeface="Courier" pitchFamily="49" charset="0"/>
                </a:rPr>
                <a:t>9</a:t>
              </a:r>
              <a:endParaRPr lang="en-US" altLang="en-US" sz="2000" dirty="0">
                <a:latin typeface="Arial" panose="020B0604020202020204" pitchFamily="34" charset="0"/>
              </a:endParaRPr>
            </a:p>
          </p:txBody>
        </p:sp>
        <p:sp>
          <p:nvSpPr>
            <p:cNvPr id="38" name="Rectangle 1036"/>
            <p:cNvSpPr>
              <a:spLocks noChangeArrowheads="1"/>
            </p:cNvSpPr>
            <p:nvPr/>
          </p:nvSpPr>
          <p:spPr bwMode="auto">
            <a:xfrm>
              <a:off x="4776" y="2592"/>
              <a:ext cx="274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 dirty="0">
                  <a:solidFill>
                    <a:srgbClr val="00FFFF"/>
                  </a:solidFill>
                  <a:latin typeface="Courier" pitchFamily="49" charset="0"/>
                </a:rPr>
                <a:t> </a:t>
              </a:r>
              <a:r>
                <a:rPr lang="en-US" altLang="en-US" sz="2000" b="0" dirty="0" smtClean="0">
                  <a:solidFill>
                    <a:srgbClr val="00FFFF"/>
                  </a:solidFill>
                  <a:latin typeface="Courier" pitchFamily="49" charset="0"/>
                </a:rPr>
                <a:t>10</a:t>
              </a:r>
              <a:endParaRPr lang="en-US" altLang="en-US" sz="2000" dirty="0">
                <a:latin typeface="Arial" panose="020B0604020202020204" pitchFamily="34" charset="0"/>
              </a:endParaRPr>
            </a:p>
          </p:txBody>
        </p:sp>
        <p:sp>
          <p:nvSpPr>
            <p:cNvPr id="39" name="Rectangle 1037"/>
            <p:cNvSpPr>
              <a:spLocks noChangeArrowheads="1"/>
            </p:cNvSpPr>
            <p:nvPr/>
          </p:nvSpPr>
          <p:spPr bwMode="auto">
            <a:xfrm>
              <a:off x="3931" y="2592"/>
              <a:ext cx="183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 dirty="0">
                  <a:solidFill>
                    <a:srgbClr val="00FFFF"/>
                  </a:solidFill>
                  <a:latin typeface="Courier" pitchFamily="49" charset="0"/>
                </a:rPr>
                <a:t> </a:t>
              </a:r>
              <a:r>
                <a:rPr lang="en-US" altLang="en-US" sz="2000" b="0" dirty="0" smtClean="0">
                  <a:solidFill>
                    <a:srgbClr val="00FFFF"/>
                  </a:solidFill>
                  <a:latin typeface="Courier" pitchFamily="49" charset="0"/>
                </a:rPr>
                <a:t>8</a:t>
              </a:r>
              <a:endParaRPr lang="en-US" altLang="en-US" sz="2000" dirty="0">
                <a:latin typeface="Arial" panose="020B0604020202020204" pitchFamily="34" charset="0"/>
              </a:endParaRPr>
            </a:p>
          </p:txBody>
        </p:sp>
        <p:sp>
          <p:nvSpPr>
            <p:cNvPr id="40" name="Rectangle 1038"/>
            <p:cNvSpPr>
              <a:spLocks noChangeArrowheads="1"/>
            </p:cNvSpPr>
            <p:nvPr/>
          </p:nvSpPr>
          <p:spPr bwMode="auto">
            <a:xfrm>
              <a:off x="1344" y="2592"/>
              <a:ext cx="183" cy="1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 dirty="0">
                  <a:solidFill>
                    <a:srgbClr val="00FFFF"/>
                  </a:solidFill>
                  <a:latin typeface="Courier" pitchFamily="49" charset="0"/>
                </a:rPr>
                <a:t> </a:t>
              </a:r>
              <a:r>
                <a:rPr lang="en-US" altLang="en-US" sz="2000" b="0" dirty="0" smtClean="0">
                  <a:solidFill>
                    <a:srgbClr val="00FFFF"/>
                  </a:solidFill>
                  <a:latin typeface="Courier" pitchFamily="49" charset="0"/>
                </a:rPr>
                <a:t>2</a:t>
              </a:r>
              <a:endParaRPr lang="en-US" altLang="en-US" sz="2000" dirty="0"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24000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5095079"/>
          </a:xfrm>
          <a:prstGeom prst="rect">
            <a:avLst/>
          </a:prstGeom>
        </p:spPr>
        <p:txBody>
          <a:bodyPr/>
          <a:lstStyle/>
          <a:p>
            <a:pPr marL="457200" indent="-4572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altLang="en-US" sz="4000" dirty="0" smtClean="0"/>
              <a:t>Declare </a:t>
            </a:r>
            <a:r>
              <a:rPr lang="en-US" altLang="en-US" sz="4000" dirty="0"/>
              <a:t>an array of 10 integers:</a:t>
            </a:r>
          </a:p>
          <a:p>
            <a:pPr lvl="1">
              <a:lnSpc>
                <a:spcPct val="90000"/>
              </a:lnSpc>
            </a:pPr>
            <a:r>
              <a:rPr lang="en-US" altLang="en-US" sz="3600" b="1" dirty="0" err="1">
                <a:solidFill>
                  <a:srgbClr val="00CCFF"/>
                </a:solidFill>
              </a:rPr>
              <a:t>int</a:t>
            </a:r>
            <a:r>
              <a:rPr lang="en-US" altLang="en-US" sz="3600" b="1" dirty="0"/>
              <a:t> </a:t>
            </a:r>
            <a:r>
              <a:rPr lang="en-US" altLang="en-US" sz="3600" b="1" dirty="0" err="1"/>
              <a:t>Ar</a:t>
            </a:r>
            <a:r>
              <a:rPr lang="en-US" altLang="en-US" sz="3600" b="1" dirty="0"/>
              <a:t>[10];    // array of 10 </a:t>
            </a:r>
            <a:r>
              <a:rPr lang="en-US" altLang="en-US" sz="3600" b="1" dirty="0" err="1" smtClean="0"/>
              <a:t>ints</a:t>
            </a:r>
            <a:endParaRPr lang="en-US" altLang="en-US" sz="3600" b="1" dirty="0" smtClean="0"/>
          </a:p>
          <a:p>
            <a:pPr lvl="1">
              <a:lnSpc>
                <a:spcPct val="90000"/>
              </a:lnSpc>
            </a:pPr>
            <a:endParaRPr lang="en-US" altLang="en-US" sz="2800" b="1" dirty="0"/>
          </a:p>
          <a:p>
            <a:pPr marL="1028700" lvl="1" indent="-5715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Index expression is used to refer to an element </a:t>
            </a:r>
          </a:p>
          <a:p>
            <a:pPr marL="1028700" lvl="1" indent="-5715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3200" dirty="0" smtClean="0"/>
              <a:t>It is written </a:t>
            </a:r>
            <a:r>
              <a:rPr lang="en-US" sz="3200" dirty="0"/>
              <a:t>in square brackets [ ], immediately after the array </a:t>
            </a:r>
            <a:r>
              <a:rPr lang="en-US" sz="3200" dirty="0" smtClean="0"/>
              <a:t>name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Array </a:t>
            </a:r>
            <a:r>
              <a:rPr lang="en-US" altLang="en-US" sz="4000" dirty="0" smtClean="0">
                <a:solidFill>
                  <a:srgbClr val="FF0000"/>
                </a:solidFill>
              </a:rPr>
              <a:t>Index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7948596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5095079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3600" dirty="0"/>
              <a:t>W</a:t>
            </a:r>
            <a:r>
              <a:rPr lang="en-US" sz="3600" dirty="0" smtClean="0"/>
              <a:t>hen </a:t>
            </a:r>
            <a:r>
              <a:rPr lang="en-US" sz="3600" dirty="0"/>
              <a:t>we use a[</a:t>
            </a:r>
            <a:r>
              <a:rPr lang="en-US" sz="3600" b="1" i="1" dirty="0" err="1"/>
              <a:t>i</a:t>
            </a:r>
            <a:r>
              <a:rPr lang="en-US" sz="3600" dirty="0" smtClean="0"/>
              <a:t>]</a:t>
            </a:r>
          </a:p>
          <a:p>
            <a:pPr marL="1028700" lvl="1" indent="-5715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3600" dirty="0" smtClean="0"/>
              <a:t>if </a:t>
            </a:r>
            <a:r>
              <a:rPr lang="en-US" sz="3600" b="1" i="1" dirty="0" err="1"/>
              <a:t>i</a:t>
            </a:r>
            <a:r>
              <a:rPr lang="en-US" sz="3600" dirty="0"/>
              <a:t> is equal to 5 at that point, refers to 5th </a:t>
            </a:r>
            <a:r>
              <a:rPr lang="en-US" sz="3600" dirty="0" smtClean="0"/>
              <a:t>element</a:t>
            </a:r>
          </a:p>
          <a:p>
            <a:pPr marL="1028700" lvl="1" indent="-5715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sz="3600" dirty="0" smtClean="0"/>
              <a:t>if </a:t>
            </a:r>
            <a:r>
              <a:rPr lang="en-US" sz="3600" b="1" i="1" dirty="0" err="1"/>
              <a:t>i</a:t>
            </a:r>
            <a:r>
              <a:rPr lang="en-US" sz="3600" dirty="0"/>
              <a:t> is equal to 123, </a:t>
            </a:r>
            <a:r>
              <a:rPr lang="en-US" sz="3600" dirty="0" smtClean="0"/>
              <a:t>refers to 123rd element</a:t>
            </a:r>
          </a:p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en-US" sz="3600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Array </a:t>
            </a:r>
            <a:r>
              <a:rPr lang="en-US" altLang="en-US" sz="4000" dirty="0" smtClean="0">
                <a:solidFill>
                  <a:srgbClr val="FF0000"/>
                </a:solidFill>
              </a:rPr>
              <a:t>Index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Rounded Rectangle 7"/>
          <p:cNvSpPr/>
          <p:nvPr/>
        </p:nvSpPr>
        <p:spPr>
          <a:xfrm>
            <a:off x="1143000" y="4419600"/>
            <a:ext cx="6858000" cy="838200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r>
              <a:rPr lang="en-US" sz="28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IMPORTANT: C</a:t>
            </a:r>
            <a:r>
              <a:rPr lang="en-US" sz="28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++ array index starts with 0</a:t>
            </a:r>
          </a:p>
        </p:txBody>
      </p:sp>
    </p:spTree>
    <p:extLst>
      <p:ext uri="{BB962C8B-B14F-4D97-AF65-F5344CB8AC3E}">
        <p14:creationId xmlns:p14="http://schemas.microsoft.com/office/powerpoint/2010/main" val="1914869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5095079"/>
          </a:xfrm>
          <a:prstGeom prst="rect">
            <a:avLst/>
          </a:prstGeom>
          <a:solidFill>
            <a:schemeClr val="tx1"/>
          </a:solidFill>
        </p:spPr>
        <p:txBody>
          <a:bodyPr/>
          <a:lstStyle/>
          <a:p>
            <a:pPr lvl="2">
              <a:buFont typeface="Monotype Sorts" pitchFamily="2" charset="2"/>
              <a:buNone/>
            </a:pPr>
            <a:r>
              <a:rPr lang="en-US" altLang="en-US" sz="2800" b="1" dirty="0">
                <a:solidFill>
                  <a:srgbClr val="99FF33"/>
                </a:solidFill>
                <a:latin typeface="Courier New" panose="02070309020205020404" pitchFamily="49" charset="0"/>
              </a:rPr>
              <a:t>// array of 10 uninitialized </a:t>
            </a:r>
            <a:r>
              <a:rPr lang="en-US" altLang="en-US" sz="2800" b="1" dirty="0" err="1">
                <a:solidFill>
                  <a:srgbClr val="99FF33"/>
                </a:solidFill>
                <a:latin typeface="Courier New" panose="02070309020205020404" pitchFamily="49" charset="0"/>
              </a:rPr>
              <a:t>ints</a:t>
            </a:r>
            <a:r>
              <a:rPr lang="en-US" altLang="en-US" sz="2800" b="1" dirty="0">
                <a:solidFill>
                  <a:srgbClr val="99FF33"/>
                </a:solidFill>
                <a:latin typeface="Courier New" panose="02070309020205020404" pitchFamily="49" charset="0"/>
              </a:rPr>
              <a:t> </a:t>
            </a:r>
          </a:p>
          <a:p>
            <a:pPr lvl="2">
              <a:buFont typeface="Monotype Sorts" pitchFamily="2" charset="2"/>
              <a:buNone/>
            </a:pPr>
            <a:r>
              <a:rPr lang="en-US" altLang="en-US" sz="2800" b="1" dirty="0" err="1">
                <a:solidFill>
                  <a:srgbClr val="00CCFF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800" b="1" dirty="0">
                <a:latin typeface="Courier New" panose="02070309020205020404" pitchFamily="49" charset="0"/>
              </a:rPr>
              <a:t> </a:t>
            </a:r>
            <a:r>
              <a:rPr lang="en-US" altLang="en-US" sz="2800" b="1" dirty="0" err="1" smtClean="0">
                <a:solidFill>
                  <a:schemeClr val="bg1"/>
                </a:solidFill>
                <a:latin typeface="Courier New" panose="02070309020205020404" pitchFamily="49" charset="0"/>
              </a:rPr>
              <a:t>Ar</a:t>
            </a:r>
            <a:r>
              <a:rPr lang="en-US" altLang="en-US" sz="2800" b="1" dirty="0" smtClean="0">
                <a:solidFill>
                  <a:schemeClr val="bg1"/>
                </a:solidFill>
                <a:latin typeface="Courier New" panose="02070309020205020404" pitchFamily="49" charset="0"/>
              </a:rPr>
              <a:t>[10];</a:t>
            </a:r>
          </a:p>
          <a:p>
            <a:pPr lvl="2">
              <a:buFont typeface="Monotype Sorts" pitchFamily="2" charset="2"/>
              <a:buNone/>
            </a:pPr>
            <a:endParaRPr lang="en-US" altLang="en-US" sz="2800" b="1" dirty="0">
              <a:solidFill>
                <a:schemeClr val="bg1"/>
              </a:solidFill>
              <a:latin typeface="Courier New" panose="02070309020205020404" pitchFamily="49" charset="0"/>
            </a:endParaRPr>
          </a:p>
          <a:p>
            <a:pPr lvl="2">
              <a:buFont typeface="Monotype Sorts" pitchFamily="2" charset="2"/>
              <a:buNone/>
            </a:pPr>
            <a:r>
              <a:rPr lang="en-US" altLang="en-US" sz="2800" b="1" dirty="0" err="1">
                <a:solidFill>
                  <a:schemeClr val="bg1"/>
                </a:solidFill>
                <a:latin typeface="Courier New" panose="02070309020205020404" pitchFamily="49" charset="0"/>
              </a:rPr>
              <a:t>Ar</a:t>
            </a:r>
            <a:r>
              <a:rPr lang="en-US" altLang="en-US" sz="2800" b="1" dirty="0">
                <a:solidFill>
                  <a:schemeClr val="bg1"/>
                </a:solidFill>
                <a:latin typeface="Courier New" panose="02070309020205020404" pitchFamily="49" charset="0"/>
              </a:rPr>
              <a:t>[3] = 1;</a:t>
            </a:r>
          </a:p>
          <a:p>
            <a:pPr lvl="2">
              <a:buFont typeface="Monotype Sorts" pitchFamily="2" charset="2"/>
              <a:buNone/>
            </a:pPr>
            <a:r>
              <a:rPr lang="en-US" altLang="en-US" sz="2800" b="1" dirty="0" err="1">
                <a:solidFill>
                  <a:srgbClr val="00CCFF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800" b="1" dirty="0">
                <a:solidFill>
                  <a:schemeClr val="bg1"/>
                </a:solidFill>
                <a:latin typeface="Courier New" panose="02070309020205020404" pitchFamily="49" charset="0"/>
              </a:rPr>
              <a:t> x = </a:t>
            </a:r>
            <a:r>
              <a:rPr lang="en-US" altLang="en-US" sz="2800" b="1" dirty="0" err="1">
                <a:solidFill>
                  <a:schemeClr val="bg1"/>
                </a:solidFill>
                <a:latin typeface="Courier New" panose="02070309020205020404" pitchFamily="49" charset="0"/>
              </a:rPr>
              <a:t>Ar</a:t>
            </a:r>
            <a:r>
              <a:rPr lang="en-US" altLang="en-US" sz="2800" b="1" dirty="0">
                <a:solidFill>
                  <a:schemeClr val="bg1"/>
                </a:solidFill>
                <a:latin typeface="Courier New" panose="02070309020205020404" pitchFamily="49" charset="0"/>
              </a:rPr>
              <a:t>[3</a:t>
            </a:r>
            <a:r>
              <a:rPr lang="en-US" altLang="en-US" sz="2800" b="1" dirty="0" smtClean="0">
                <a:solidFill>
                  <a:schemeClr val="bg1"/>
                </a:solidFill>
                <a:latin typeface="Courier New" panose="02070309020205020404" pitchFamily="49" charset="0"/>
              </a:rPr>
              <a:t>]; </a:t>
            </a:r>
          </a:p>
          <a:p>
            <a:pPr lvl="2">
              <a:buFont typeface="Monotype Sorts" pitchFamily="2" charset="2"/>
              <a:buNone/>
            </a:pPr>
            <a:endParaRPr lang="en-US" altLang="en-US" sz="2800" b="1" dirty="0">
              <a:solidFill>
                <a:schemeClr val="bg1"/>
              </a:solidFill>
              <a:latin typeface="Courier New" panose="02070309020205020404" pitchFamily="49" charset="0"/>
            </a:endParaRPr>
          </a:p>
          <a:p>
            <a:pPr lvl="2">
              <a:buFont typeface="Monotype Sorts" pitchFamily="2" charset="2"/>
              <a:buNone/>
            </a:pPr>
            <a:endParaRPr lang="en-US" altLang="en-US" sz="2800" b="1" dirty="0">
              <a:solidFill>
                <a:schemeClr val="bg1"/>
              </a:solidFill>
              <a:latin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Array Index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grpSp>
        <p:nvGrpSpPr>
          <p:cNvPr id="41" name="Group 67"/>
          <p:cNvGrpSpPr>
            <a:grpSpLocks/>
          </p:cNvGrpSpPr>
          <p:nvPr/>
        </p:nvGrpSpPr>
        <p:grpSpPr bwMode="auto">
          <a:xfrm>
            <a:off x="304800" y="4572000"/>
            <a:ext cx="8534400" cy="1066800"/>
            <a:chOff x="531" y="3216"/>
            <a:chExt cx="4620" cy="672"/>
          </a:xfrm>
        </p:grpSpPr>
        <p:sp>
          <p:nvSpPr>
            <p:cNvPr id="42" name="Rectangle 4"/>
            <p:cNvSpPr>
              <a:spLocks noChangeArrowheads="1"/>
            </p:cNvSpPr>
            <p:nvPr/>
          </p:nvSpPr>
          <p:spPr bwMode="auto">
            <a:xfrm>
              <a:off x="1271" y="3436"/>
              <a:ext cx="431" cy="211"/>
            </a:xfrm>
            <a:prstGeom prst="rect">
              <a:avLst/>
            </a:prstGeom>
            <a:solidFill>
              <a:srgbClr val="00FFFF"/>
            </a:solidFill>
            <a:ln w="15875">
              <a:solidFill>
                <a:srgbClr val="8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Rectangle 5"/>
            <p:cNvSpPr>
              <a:spLocks noChangeArrowheads="1"/>
            </p:cNvSpPr>
            <p:nvPr/>
          </p:nvSpPr>
          <p:spPr bwMode="auto">
            <a:xfrm>
              <a:off x="1389" y="3468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solidFill>
                    <a:srgbClr val="000000"/>
                  </a:solidFill>
                  <a:latin typeface="Courier" pitchFamily="49" charset="0"/>
                </a:rPr>
                <a:t>--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44" name="Rectangle 6"/>
            <p:cNvSpPr>
              <a:spLocks noChangeArrowheads="1"/>
            </p:cNvSpPr>
            <p:nvPr/>
          </p:nvSpPr>
          <p:spPr bwMode="auto">
            <a:xfrm>
              <a:off x="1702" y="3436"/>
              <a:ext cx="431" cy="211"/>
            </a:xfrm>
            <a:prstGeom prst="rect">
              <a:avLst/>
            </a:prstGeom>
            <a:solidFill>
              <a:srgbClr val="00FFFF"/>
            </a:solidFill>
            <a:ln w="15875">
              <a:solidFill>
                <a:srgbClr val="8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Rectangle 7"/>
            <p:cNvSpPr>
              <a:spLocks noChangeArrowheads="1"/>
            </p:cNvSpPr>
            <p:nvPr/>
          </p:nvSpPr>
          <p:spPr bwMode="auto">
            <a:xfrm>
              <a:off x="1821" y="3468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solidFill>
                    <a:srgbClr val="000000"/>
                  </a:solidFill>
                  <a:latin typeface="Courier" pitchFamily="49" charset="0"/>
                </a:rPr>
                <a:t>--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46" name="Rectangle 8"/>
            <p:cNvSpPr>
              <a:spLocks noChangeArrowheads="1"/>
            </p:cNvSpPr>
            <p:nvPr/>
          </p:nvSpPr>
          <p:spPr bwMode="auto">
            <a:xfrm>
              <a:off x="2133" y="3436"/>
              <a:ext cx="431" cy="211"/>
            </a:xfrm>
            <a:prstGeom prst="rect">
              <a:avLst/>
            </a:prstGeom>
            <a:solidFill>
              <a:srgbClr val="00FFFF"/>
            </a:solidFill>
            <a:ln w="15875">
              <a:solidFill>
                <a:srgbClr val="8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Rectangle 9"/>
            <p:cNvSpPr>
              <a:spLocks noChangeArrowheads="1"/>
            </p:cNvSpPr>
            <p:nvPr/>
          </p:nvSpPr>
          <p:spPr bwMode="auto">
            <a:xfrm>
              <a:off x="2252" y="3468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solidFill>
                    <a:srgbClr val="000000"/>
                  </a:solidFill>
                  <a:latin typeface="Courier" pitchFamily="49" charset="0"/>
                </a:rPr>
                <a:t> 1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48" name="Rectangle 10"/>
            <p:cNvSpPr>
              <a:spLocks noChangeArrowheads="1"/>
            </p:cNvSpPr>
            <p:nvPr/>
          </p:nvSpPr>
          <p:spPr bwMode="auto">
            <a:xfrm>
              <a:off x="840" y="3436"/>
              <a:ext cx="431" cy="211"/>
            </a:xfrm>
            <a:prstGeom prst="rect">
              <a:avLst/>
            </a:prstGeom>
            <a:solidFill>
              <a:srgbClr val="00FFFF"/>
            </a:solidFill>
            <a:ln w="15875">
              <a:solidFill>
                <a:srgbClr val="8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Rectangle 11"/>
            <p:cNvSpPr>
              <a:spLocks noChangeArrowheads="1"/>
            </p:cNvSpPr>
            <p:nvPr/>
          </p:nvSpPr>
          <p:spPr bwMode="auto">
            <a:xfrm>
              <a:off x="958" y="3468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solidFill>
                    <a:srgbClr val="000000"/>
                  </a:solidFill>
                  <a:latin typeface="Courier" pitchFamily="49" charset="0"/>
                </a:rPr>
                <a:t>--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50" name="Rectangle 12"/>
            <p:cNvSpPr>
              <a:spLocks noChangeArrowheads="1"/>
            </p:cNvSpPr>
            <p:nvPr/>
          </p:nvSpPr>
          <p:spPr bwMode="auto">
            <a:xfrm>
              <a:off x="531" y="3456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solidFill>
                    <a:srgbClr val="00FFFF"/>
                  </a:solidFill>
                  <a:latin typeface="Courier" pitchFamily="49" charset="0"/>
                </a:rPr>
                <a:t>Ar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51" name="Rectangle 13"/>
            <p:cNvSpPr>
              <a:spLocks noChangeArrowheads="1"/>
            </p:cNvSpPr>
            <p:nvPr/>
          </p:nvSpPr>
          <p:spPr bwMode="auto">
            <a:xfrm>
              <a:off x="2995" y="3436"/>
              <a:ext cx="432" cy="211"/>
            </a:xfrm>
            <a:prstGeom prst="rect">
              <a:avLst/>
            </a:prstGeom>
            <a:solidFill>
              <a:srgbClr val="00FFFF"/>
            </a:solidFill>
            <a:ln w="15875">
              <a:solidFill>
                <a:srgbClr val="8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14"/>
            <p:cNvSpPr>
              <a:spLocks noChangeArrowheads="1"/>
            </p:cNvSpPr>
            <p:nvPr/>
          </p:nvSpPr>
          <p:spPr bwMode="auto">
            <a:xfrm>
              <a:off x="3114" y="3468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solidFill>
                    <a:srgbClr val="000000"/>
                  </a:solidFill>
                  <a:latin typeface="Courier" pitchFamily="49" charset="0"/>
                </a:rPr>
                <a:t>--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53" name="Rectangle 15"/>
            <p:cNvSpPr>
              <a:spLocks noChangeArrowheads="1"/>
            </p:cNvSpPr>
            <p:nvPr/>
          </p:nvSpPr>
          <p:spPr bwMode="auto">
            <a:xfrm>
              <a:off x="3427" y="3436"/>
              <a:ext cx="431" cy="211"/>
            </a:xfrm>
            <a:prstGeom prst="rect">
              <a:avLst/>
            </a:prstGeom>
            <a:solidFill>
              <a:srgbClr val="00FFFF"/>
            </a:solidFill>
            <a:ln w="15875">
              <a:solidFill>
                <a:srgbClr val="8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Rectangle 16"/>
            <p:cNvSpPr>
              <a:spLocks noChangeArrowheads="1"/>
            </p:cNvSpPr>
            <p:nvPr/>
          </p:nvSpPr>
          <p:spPr bwMode="auto">
            <a:xfrm>
              <a:off x="3545" y="3468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solidFill>
                    <a:srgbClr val="000000"/>
                  </a:solidFill>
                  <a:latin typeface="Courier" pitchFamily="49" charset="0"/>
                </a:rPr>
                <a:t>--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55" name="Rectangle 17"/>
            <p:cNvSpPr>
              <a:spLocks noChangeArrowheads="1"/>
            </p:cNvSpPr>
            <p:nvPr/>
          </p:nvSpPr>
          <p:spPr bwMode="auto">
            <a:xfrm>
              <a:off x="3858" y="3436"/>
              <a:ext cx="431" cy="211"/>
            </a:xfrm>
            <a:prstGeom prst="rect">
              <a:avLst/>
            </a:prstGeom>
            <a:solidFill>
              <a:srgbClr val="00FFFF"/>
            </a:solidFill>
            <a:ln w="15875">
              <a:solidFill>
                <a:srgbClr val="8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Rectangle 18"/>
            <p:cNvSpPr>
              <a:spLocks noChangeArrowheads="1"/>
            </p:cNvSpPr>
            <p:nvPr/>
          </p:nvSpPr>
          <p:spPr bwMode="auto">
            <a:xfrm>
              <a:off x="3976" y="3468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solidFill>
                    <a:srgbClr val="000000"/>
                  </a:solidFill>
                  <a:latin typeface="Courier" pitchFamily="49" charset="0"/>
                </a:rPr>
                <a:t>--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57" name="Rectangle 19"/>
            <p:cNvSpPr>
              <a:spLocks noChangeArrowheads="1"/>
            </p:cNvSpPr>
            <p:nvPr/>
          </p:nvSpPr>
          <p:spPr bwMode="auto">
            <a:xfrm>
              <a:off x="2564" y="3436"/>
              <a:ext cx="431" cy="211"/>
            </a:xfrm>
            <a:prstGeom prst="rect">
              <a:avLst/>
            </a:prstGeom>
            <a:solidFill>
              <a:srgbClr val="00FFFF"/>
            </a:solidFill>
            <a:ln w="15875">
              <a:solidFill>
                <a:srgbClr val="8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Rectangle 20"/>
            <p:cNvSpPr>
              <a:spLocks noChangeArrowheads="1"/>
            </p:cNvSpPr>
            <p:nvPr/>
          </p:nvSpPr>
          <p:spPr bwMode="auto">
            <a:xfrm>
              <a:off x="2683" y="3468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solidFill>
                    <a:srgbClr val="000000"/>
                  </a:solidFill>
                  <a:latin typeface="Courier" pitchFamily="49" charset="0"/>
                </a:rPr>
                <a:t>--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59" name="Rectangle 21"/>
            <p:cNvSpPr>
              <a:spLocks noChangeArrowheads="1"/>
            </p:cNvSpPr>
            <p:nvPr/>
          </p:nvSpPr>
          <p:spPr bwMode="auto">
            <a:xfrm>
              <a:off x="4289" y="3436"/>
              <a:ext cx="431" cy="211"/>
            </a:xfrm>
            <a:prstGeom prst="rect">
              <a:avLst/>
            </a:prstGeom>
            <a:solidFill>
              <a:srgbClr val="00FFFF"/>
            </a:solidFill>
            <a:ln w="15875">
              <a:solidFill>
                <a:srgbClr val="8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Rectangle 22"/>
            <p:cNvSpPr>
              <a:spLocks noChangeArrowheads="1"/>
            </p:cNvSpPr>
            <p:nvPr/>
          </p:nvSpPr>
          <p:spPr bwMode="auto">
            <a:xfrm>
              <a:off x="4408" y="3468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solidFill>
                    <a:srgbClr val="000000"/>
                  </a:solidFill>
                  <a:latin typeface="Courier" pitchFamily="49" charset="0"/>
                </a:rPr>
                <a:t>--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61" name="Rectangle 23"/>
            <p:cNvSpPr>
              <a:spLocks noChangeArrowheads="1"/>
            </p:cNvSpPr>
            <p:nvPr/>
          </p:nvSpPr>
          <p:spPr bwMode="auto">
            <a:xfrm>
              <a:off x="4720" y="3436"/>
              <a:ext cx="431" cy="211"/>
            </a:xfrm>
            <a:prstGeom prst="rect">
              <a:avLst/>
            </a:prstGeom>
            <a:solidFill>
              <a:srgbClr val="00FFFF"/>
            </a:solidFill>
            <a:ln w="15875">
              <a:solidFill>
                <a:srgbClr val="8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Rectangle 24"/>
            <p:cNvSpPr>
              <a:spLocks noChangeArrowheads="1"/>
            </p:cNvSpPr>
            <p:nvPr/>
          </p:nvSpPr>
          <p:spPr bwMode="auto">
            <a:xfrm>
              <a:off x="4839" y="3468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solidFill>
                    <a:srgbClr val="000000"/>
                  </a:solidFill>
                  <a:latin typeface="Courier" pitchFamily="49" charset="0"/>
                </a:rPr>
                <a:t>--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63" name="Rectangle 25"/>
            <p:cNvSpPr>
              <a:spLocks noChangeArrowheads="1"/>
            </p:cNvSpPr>
            <p:nvPr/>
          </p:nvSpPr>
          <p:spPr bwMode="auto">
            <a:xfrm>
              <a:off x="2640" y="3216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solidFill>
                    <a:srgbClr val="00FFFF"/>
                  </a:solidFill>
                  <a:latin typeface="Courier" pitchFamily="49" charset="0"/>
                </a:rPr>
                <a:t> 4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64" name="Rectangle 26"/>
            <p:cNvSpPr>
              <a:spLocks noChangeArrowheads="1"/>
            </p:cNvSpPr>
            <p:nvPr/>
          </p:nvSpPr>
          <p:spPr bwMode="auto">
            <a:xfrm>
              <a:off x="3071" y="3216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solidFill>
                    <a:srgbClr val="00FFFF"/>
                  </a:solidFill>
                  <a:latin typeface="Courier" pitchFamily="49" charset="0"/>
                </a:rPr>
                <a:t> 5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65" name="Rectangle 27"/>
            <p:cNvSpPr>
              <a:spLocks noChangeArrowheads="1"/>
            </p:cNvSpPr>
            <p:nvPr/>
          </p:nvSpPr>
          <p:spPr bwMode="auto">
            <a:xfrm>
              <a:off x="3503" y="3216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solidFill>
                    <a:srgbClr val="00FFFF"/>
                  </a:solidFill>
                  <a:latin typeface="Courier" pitchFamily="49" charset="0"/>
                </a:rPr>
                <a:t> 6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66" name="Rectangle 28"/>
            <p:cNvSpPr>
              <a:spLocks noChangeArrowheads="1"/>
            </p:cNvSpPr>
            <p:nvPr/>
          </p:nvSpPr>
          <p:spPr bwMode="auto">
            <a:xfrm>
              <a:off x="2209" y="3216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solidFill>
                    <a:srgbClr val="00FFFF"/>
                  </a:solidFill>
                  <a:latin typeface="Courier" pitchFamily="49" charset="0"/>
                </a:rPr>
                <a:t> 3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67" name="Rectangle 29"/>
            <p:cNvSpPr>
              <a:spLocks noChangeArrowheads="1"/>
            </p:cNvSpPr>
            <p:nvPr/>
          </p:nvSpPr>
          <p:spPr bwMode="auto">
            <a:xfrm>
              <a:off x="916" y="3216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solidFill>
                    <a:srgbClr val="00FFFF"/>
                  </a:solidFill>
                  <a:latin typeface="Courier" pitchFamily="49" charset="0"/>
                </a:rPr>
                <a:t> 0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68" name="Rectangle 30"/>
            <p:cNvSpPr>
              <a:spLocks noChangeArrowheads="1"/>
            </p:cNvSpPr>
            <p:nvPr/>
          </p:nvSpPr>
          <p:spPr bwMode="auto">
            <a:xfrm>
              <a:off x="1778" y="3216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solidFill>
                    <a:srgbClr val="00FFFF"/>
                  </a:solidFill>
                  <a:latin typeface="Courier" pitchFamily="49" charset="0"/>
                </a:rPr>
                <a:t> 2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69" name="Rectangle 31"/>
            <p:cNvSpPr>
              <a:spLocks noChangeArrowheads="1"/>
            </p:cNvSpPr>
            <p:nvPr/>
          </p:nvSpPr>
          <p:spPr bwMode="auto">
            <a:xfrm>
              <a:off x="4365" y="3216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solidFill>
                    <a:srgbClr val="00FFFF"/>
                  </a:solidFill>
                  <a:latin typeface="Courier" pitchFamily="49" charset="0"/>
                </a:rPr>
                <a:t> 8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70" name="Rectangle 32"/>
            <p:cNvSpPr>
              <a:spLocks noChangeArrowheads="1"/>
            </p:cNvSpPr>
            <p:nvPr/>
          </p:nvSpPr>
          <p:spPr bwMode="auto">
            <a:xfrm>
              <a:off x="4779" y="3216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solidFill>
                    <a:srgbClr val="00FFFF"/>
                  </a:solidFill>
                  <a:latin typeface="Courier" pitchFamily="49" charset="0"/>
                </a:rPr>
                <a:t> 9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71" name="Rectangle 33"/>
            <p:cNvSpPr>
              <a:spLocks noChangeArrowheads="1"/>
            </p:cNvSpPr>
            <p:nvPr/>
          </p:nvSpPr>
          <p:spPr bwMode="auto">
            <a:xfrm>
              <a:off x="3934" y="3216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solidFill>
                    <a:srgbClr val="00FFFF"/>
                  </a:solidFill>
                  <a:latin typeface="Courier" pitchFamily="49" charset="0"/>
                </a:rPr>
                <a:t> 7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72" name="Rectangle 34"/>
            <p:cNvSpPr>
              <a:spLocks noChangeArrowheads="1"/>
            </p:cNvSpPr>
            <p:nvPr/>
          </p:nvSpPr>
          <p:spPr bwMode="auto">
            <a:xfrm>
              <a:off x="1347" y="3216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 dirty="0">
                  <a:solidFill>
                    <a:srgbClr val="00FFFF"/>
                  </a:solidFill>
                  <a:latin typeface="Courier" pitchFamily="49" charset="0"/>
                </a:rPr>
                <a:t> 1</a:t>
              </a:r>
              <a:endParaRPr lang="en-US" altLang="en-US" sz="2000" dirty="0">
                <a:latin typeface="Arial" panose="020B0604020202020204" pitchFamily="34" charset="0"/>
              </a:endParaRPr>
            </a:p>
          </p:txBody>
        </p:sp>
        <p:sp>
          <p:nvSpPr>
            <p:cNvPr id="73" name="Rectangle 45"/>
            <p:cNvSpPr>
              <a:spLocks noChangeArrowheads="1"/>
            </p:cNvSpPr>
            <p:nvPr/>
          </p:nvSpPr>
          <p:spPr bwMode="auto">
            <a:xfrm>
              <a:off x="2592" y="3696"/>
              <a:ext cx="41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solidFill>
                    <a:srgbClr val="00FFFF"/>
                  </a:solidFill>
                  <a:latin typeface="Courier" pitchFamily="49" charset="0"/>
                </a:rPr>
                <a:t>Ar[4]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74" name="Rectangle 46"/>
            <p:cNvSpPr>
              <a:spLocks noChangeArrowheads="1"/>
            </p:cNvSpPr>
            <p:nvPr/>
          </p:nvSpPr>
          <p:spPr bwMode="auto">
            <a:xfrm>
              <a:off x="3023" y="3696"/>
              <a:ext cx="4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solidFill>
                    <a:srgbClr val="00FFFF"/>
                  </a:solidFill>
                  <a:latin typeface="Courier" pitchFamily="49" charset="0"/>
                </a:rPr>
                <a:t>Ar[5]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75" name="Rectangle 47"/>
            <p:cNvSpPr>
              <a:spLocks noChangeArrowheads="1"/>
            </p:cNvSpPr>
            <p:nvPr/>
          </p:nvSpPr>
          <p:spPr bwMode="auto">
            <a:xfrm>
              <a:off x="3455" y="3696"/>
              <a:ext cx="41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solidFill>
                    <a:srgbClr val="00FFFF"/>
                  </a:solidFill>
                  <a:latin typeface="Courier" pitchFamily="49" charset="0"/>
                </a:rPr>
                <a:t>Ar[6]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76" name="Rectangle 48"/>
            <p:cNvSpPr>
              <a:spLocks noChangeArrowheads="1"/>
            </p:cNvSpPr>
            <p:nvPr/>
          </p:nvSpPr>
          <p:spPr bwMode="auto">
            <a:xfrm>
              <a:off x="2161" y="3696"/>
              <a:ext cx="4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solidFill>
                    <a:srgbClr val="00FFFF"/>
                  </a:solidFill>
                  <a:latin typeface="Courier" pitchFamily="49" charset="0"/>
                </a:rPr>
                <a:t>Ar[3]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77" name="Rectangle 49"/>
            <p:cNvSpPr>
              <a:spLocks noChangeArrowheads="1"/>
            </p:cNvSpPr>
            <p:nvPr/>
          </p:nvSpPr>
          <p:spPr bwMode="auto">
            <a:xfrm>
              <a:off x="868" y="3696"/>
              <a:ext cx="41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solidFill>
                    <a:srgbClr val="00FFFF"/>
                  </a:solidFill>
                  <a:latin typeface="Courier" pitchFamily="49" charset="0"/>
                </a:rPr>
                <a:t>Ar[0]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78" name="Rectangle 50"/>
            <p:cNvSpPr>
              <a:spLocks noChangeArrowheads="1"/>
            </p:cNvSpPr>
            <p:nvPr/>
          </p:nvSpPr>
          <p:spPr bwMode="auto">
            <a:xfrm>
              <a:off x="1730" y="3696"/>
              <a:ext cx="41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solidFill>
                    <a:srgbClr val="00FFFF"/>
                  </a:solidFill>
                  <a:latin typeface="Courier" pitchFamily="49" charset="0"/>
                </a:rPr>
                <a:t>Ar[2]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79" name="Rectangle 51"/>
            <p:cNvSpPr>
              <a:spLocks noChangeArrowheads="1"/>
            </p:cNvSpPr>
            <p:nvPr/>
          </p:nvSpPr>
          <p:spPr bwMode="auto">
            <a:xfrm>
              <a:off x="4317" y="3696"/>
              <a:ext cx="4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solidFill>
                    <a:srgbClr val="00FFFF"/>
                  </a:solidFill>
                  <a:latin typeface="Courier" pitchFamily="49" charset="0"/>
                </a:rPr>
                <a:t>Ar[8]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80" name="Rectangle 52"/>
            <p:cNvSpPr>
              <a:spLocks noChangeArrowheads="1"/>
            </p:cNvSpPr>
            <p:nvPr/>
          </p:nvSpPr>
          <p:spPr bwMode="auto">
            <a:xfrm>
              <a:off x="4731" y="3696"/>
              <a:ext cx="41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solidFill>
                    <a:srgbClr val="00FFFF"/>
                  </a:solidFill>
                  <a:latin typeface="Courier" pitchFamily="49" charset="0"/>
                </a:rPr>
                <a:t>Ar[9]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81" name="Rectangle 53"/>
            <p:cNvSpPr>
              <a:spLocks noChangeArrowheads="1"/>
            </p:cNvSpPr>
            <p:nvPr/>
          </p:nvSpPr>
          <p:spPr bwMode="auto">
            <a:xfrm>
              <a:off x="3886" y="3696"/>
              <a:ext cx="4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solidFill>
                    <a:srgbClr val="00FFFF"/>
                  </a:solidFill>
                  <a:latin typeface="Courier" pitchFamily="49" charset="0"/>
                </a:rPr>
                <a:t>Ar[7]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82" name="Rectangle 54"/>
            <p:cNvSpPr>
              <a:spLocks noChangeArrowheads="1"/>
            </p:cNvSpPr>
            <p:nvPr/>
          </p:nvSpPr>
          <p:spPr bwMode="auto">
            <a:xfrm>
              <a:off x="1299" y="3696"/>
              <a:ext cx="4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solidFill>
                    <a:srgbClr val="00FFFF"/>
                  </a:solidFill>
                  <a:latin typeface="Courier" pitchFamily="49" charset="0"/>
                </a:rPr>
                <a:t>Ar[1]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83" name="Line 102"/>
          <p:cNvSpPr>
            <a:spLocks noChangeShapeType="1"/>
          </p:cNvSpPr>
          <p:nvPr/>
        </p:nvSpPr>
        <p:spPr bwMode="auto">
          <a:xfrm>
            <a:off x="3483956" y="3542445"/>
            <a:ext cx="97444" cy="951767"/>
          </a:xfrm>
          <a:prstGeom prst="line">
            <a:avLst/>
          </a:prstGeom>
          <a:noFill/>
          <a:ln w="57150">
            <a:solidFill>
              <a:schemeClr val="bg1"/>
            </a:solidFill>
            <a:round/>
            <a:headEnd type="none" w="sm" len="sm"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47478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5095079"/>
          </a:xfrm>
          <a:prstGeom prst="rect">
            <a:avLst/>
          </a:prstGeom>
        </p:spPr>
        <p:txBody>
          <a:bodyPr/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altLang="en-US" sz="3600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Array </a:t>
            </a:r>
            <a:r>
              <a:rPr lang="en-US" altLang="en-US" sz="4000" dirty="0" smtClean="0">
                <a:solidFill>
                  <a:srgbClr val="FF0000"/>
                </a:solidFill>
              </a:rPr>
              <a:t>Index - Example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583193"/>
            <a:ext cx="8382000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61999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991600" cy="1143000"/>
          </a:xfrm>
          <a:noFill/>
          <a:ln/>
        </p:spPr>
        <p:txBody>
          <a:bodyPr>
            <a:normAutofit/>
          </a:bodyPr>
          <a:lstStyle/>
          <a:p>
            <a:r>
              <a:rPr lang="en-US" altLang="en-US" sz="40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Array Index - Example</a:t>
            </a:r>
          </a:p>
        </p:txBody>
      </p:sp>
      <p:sp>
        <p:nvSpPr>
          <p:cNvPr id="3072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9387"/>
            <a:ext cx="8077200" cy="3579813"/>
          </a:xfrm>
          <a:noFill/>
          <a:ln/>
        </p:spPr>
        <p:txBody>
          <a:bodyPr/>
          <a:lstStyle/>
          <a:p>
            <a:r>
              <a:rPr lang="en-US" altLang="en-US" sz="2400" dirty="0"/>
              <a:t>Consider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 sz="2000" b="1" dirty="0" err="1">
                <a:solidFill>
                  <a:srgbClr val="00CCFF"/>
                </a:solidFill>
                <a:latin typeface="Courier New" panose="02070309020205020404" pitchFamily="49" charset="0"/>
              </a:rPr>
              <a:t>int</a:t>
            </a:r>
            <a:r>
              <a:rPr lang="en-US" altLang="en-US" sz="2000" b="1" dirty="0">
                <a:latin typeface="Courier New" panose="02070309020205020404" pitchFamily="49" charset="0"/>
              </a:rPr>
              <a:t>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Ar</a:t>
            </a:r>
            <a:r>
              <a:rPr lang="en-US" altLang="en-US" sz="2000" b="1" dirty="0">
                <a:latin typeface="Courier New" panose="02070309020205020404" pitchFamily="49" charset="0"/>
              </a:rPr>
              <a:t>[10],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i</a:t>
            </a:r>
            <a:r>
              <a:rPr lang="en-US" altLang="en-US" sz="2000" b="1" dirty="0">
                <a:latin typeface="Courier New" panose="02070309020205020404" pitchFamily="49" charset="0"/>
              </a:rPr>
              <a:t> = 7, j = 2, k = 4;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 sz="2000" b="1" dirty="0" err="1">
                <a:latin typeface="Courier New" panose="02070309020205020404" pitchFamily="49" charset="0"/>
              </a:rPr>
              <a:t>Ar</a:t>
            </a:r>
            <a:r>
              <a:rPr lang="en-US" altLang="en-US" sz="2000" b="1" dirty="0">
                <a:latin typeface="Courier New" panose="02070309020205020404" pitchFamily="49" charset="0"/>
              </a:rPr>
              <a:t>[0] = 1;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 sz="2000" b="1" dirty="0" err="1" smtClean="0">
                <a:latin typeface="Courier New" panose="02070309020205020404" pitchFamily="49" charset="0"/>
              </a:rPr>
              <a:t>Ar</a:t>
            </a:r>
            <a:r>
              <a:rPr lang="en-US" altLang="en-US" sz="2000" b="1" dirty="0" smtClean="0">
                <a:latin typeface="Courier New" panose="02070309020205020404" pitchFamily="49" charset="0"/>
              </a:rPr>
              <a:t>[</a:t>
            </a:r>
            <a:r>
              <a:rPr lang="en-US" altLang="en-US" sz="2000" b="1" dirty="0" err="1" smtClean="0">
                <a:latin typeface="Courier New" panose="02070309020205020404" pitchFamily="49" charset="0"/>
              </a:rPr>
              <a:t>i</a:t>
            </a:r>
            <a:r>
              <a:rPr lang="en-US" altLang="en-US" sz="2000" b="1" dirty="0" smtClean="0">
                <a:latin typeface="Courier New" panose="02070309020205020404" pitchFamily="49" charset="0"/>
              </a:rPr>
              <a:t>] </a:t>
            </a:r>
            <a:r>
              <a:rPr lang="en-US" altLang="en-US" sz="2000" b="1" dirty="0">
                <a:latin typeface="Courier New" panose="02070309020205020404" pitchFamily="49" charset="0"/>
              </a:rPr>
              <a:t>= 5;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 sz="2000" b="1" dirty="0" err="1">
                <a:latin typeface="Courier New" panose="02070309020205020404" pitchFamily="49" charset="0"/>
              </a:rPr>
              <a:t>Ar</a:t>
            </a:r>
            <a:r>
              <a:rPr lang="en-US" altLang="en-US" sz="2000" b="1" dirty="0">
                <a:latin typeface="Courier New" panose="02070309020205020404" pitchFamily="49" charset="0"/>
              </a:rPr>
              <a:t>[j] = </a:t>
            </a:r>
            <a:r>
              <a:rPr lang="en-US" altLang="en-US" sz="2000" b="1" dirty="0" err="1" smtClean="0">
                <a:latin typeface="Courier New" panose="02070309020205020404" pitchFamily="49" charset="0"/>
              </a:rPr>
              <a:t>Ar</a:t>
            </a:r>
            <a:r>
              <a:rPr lang="en-US" altLang="en-US" sz="2000" b="1" dirty="0" smtClean="0">
                <a:latin typeface="Courier New" panose="02070309020205020404" pitchFamily="49" charset="0"/>
              </a:rPr>
              <a:t>[</a:t>
            </a:r>
            <a:r>
              <a:rPr lang="en-US" altLang="en-US" sz="2000" b="1" dirty="0" err="1" smtClean="0">
                <a:latin typeface="Courier New" panose="02070309020205020404" pitchFamily="49" charset="0"/>
              </a:rPr>
              <a:t>i</a:t>
            </a:r>
            <a:r>
              <a:rPr lang="en-US" altLang="en-US" sz="2000" b="1" dirty="0" smtClean="0">
                <a:latin typeface="Courier New" panose="02070309020205020404" pitchFamily="49" charset="0"/>
              </a:rPr>
              <a:t>] </a:t>
            </a:r>
            <a:r>
              <a:rPr lang="en-US" altLang="en-US" sz="2000" b="1" dirty="0">
                <a:latin typeface="Courier New" panose="02070309020205020404" pitchFamily="49" charset="0"/>
              </a:rPr>
              <a:t>+ 3;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 sz="2000" b="1" dirty="0" err="1">
                <a:latin typeface="Courier New" panose="02070309020205020404" pitchFamily="49" charset="0"/>
              </a:rPr>
              <a:t>Ar</a:t>
            </a:r>
            <a:r>
              <a:rPr lang="en-US" altLang="en-US" sz="2000" b="1" dirty="0">
                <a:latin typeface="Courier New" panose="02070309020205020404" pitchFamily="49" charset="0"/>
              </a:rPr>
              <a:t>[j+1] =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Ar</a:t>
            </a:r>
            <a:r>
              <a:rPr lang="en-US" altLang="en-US" sz="2000" b="1" dirty="0">
                <a:latin typeface="Courier New" panose="02070309020205020404" pitchFamily="49" charset="0"/>
              </a:rPr>
              <a:t>[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i</a:t>
            </a:r>
            <a:r>
              <a:rPr lang="en-US" altLang="en-US" sz="2000" b="1" dirty="0">
                <a:latin typeface="Courier New" panose="02070309020205020404" pitchFamily="49" charset="0"/>
              </a:rPr>
              <a:t>] + 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Ar</a:t>
            </a:r>
            <a:r>
              <a:rPr lang="en-US" altLang="en-US" sz="2000" b="1" dirty="0">
                <a:latin typeface="Courier New" panose="02070309020205020404" pitchFamily="49" charset="0"/>
              </a:rPr>
              <a:t>[0];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 sz="2000" b="1" dirty="0" err="1">
                <a:latin typeface="Courier New" panose="02070309020205020404" pitchFamily="49" charset="0"/>
              </a:rPr>
              <a:t>Ar</a:t>
            </a:r>
            <a:r>
              <a:rPr lang="en-US" altLang="en-US" sz="2000" b="1" dirty="0">
                <a:latin typeface="Courier New" panose="02070309020205020404" pitchFamily="49" charset="0"/>
              </a:rPr>
              <a:t>[</a:t>
            </a:r>
            <a:r>
              <a:rPr lang="en-US" altLang="en-US" sz="2000" b="1" dirty="0" err="1">
                <a:latin typeface="Courier New" panose="02070309020205020404" pitchFamily="49" charset="0"/>
              </a:rPr>
              <a:t>Ar</a:t>
            </a:r>
            <a:r>
              <a:rPr lang="en-US" altLang="en-US" sz="2000" b="1" dirty="0">
                <a:latin typeface="Courier New" panose="02070309020205020404" pitchFamily="49" charset="0"/>
              </a:rPr>
              <a:t>[j]] = 12</a:t>
            </a:r>
            <a:r>
              <a:rPr lang="en-US" altLang="en-US" sz="2000" b="1" dirty="0" smtClean="0">
                <a:latin typeface="Courier New" panose="02070309020205020404" pitchFamily="49" charset="0"/>
              </a:rPr>
              <a:t>;</a:t>
            </a:r>
          </a:p>
          <a:p>
            <a:pPr lvl="1">
              <a:buFont typeface="Monotype Sorts" pitchFamily="2" charset="2"/>
              <a:buNone/>
            </a:pPr>
            <a:r>
              <a:rPr lang="en-US" altLang="en-US" sz="2000" b="1" dirty="0" err="1" smtClean="0">
                <a:latin typeface="Courier New" panose="02070309020205020404" pitchFamily="49" charset="0"/>
              </a:rPr>
              <a:t>cin</a:t>
            </a:r>
            <a:r>
              <a:rPr lang="en-US" altLang="en-US" sz="2000" b="1" dirty="0" smtClean="0">
                <a:latin typeface="Courier New" panose="02070309020205020404" pitchFamily="49" charset="0"/>
              </a:rPr>
              <a:t> &gt;&gt; </a:t>
            </a:r>
            <a:r>
              <a:rPr lang="en-US" altLang="en-US" sz="2000" b="1" dirty="0" err="1" smtClean="0">
                <a:latin typeface="Courier New" panose="02070309020205020404" pitchFamily="49" charset="0"/>
              </a:rPr>
              <a:t>Ar</a:t>
            </a:r>
            <a:r>
              <a:rPr lang="en-US" altLang="en-US" sz="2000" b="1" dirty="0" smtClean="0">
                <a:latin typeface="Courier New" panose="02070309020205020404" pitchFamily="49" charset="0"/>
              </a:rPr>
              <a:t>[k]; </a:t>
            </a:r>
            <a:r>
              <a:rPr lang="en-US" altLang="en-US" sz="2000" b="1" dirty="0" smtClean="0">
                <a:solidFill>
                  <a:srgbClr val="FFC000"/>
                </a:solidFill>
                <a:latin typeface="Courier New" panose="02070309020205020404" pitchFamily="49" charset="0"/>
              </a:rPr>
              <a:t>// where the next input value is 3</a:t>
            </a:r>
            <a:endParaRPr lang="en-US" altLang="en-US" sz="2000" b="1" dirty="0">
              <a:solidFill>
                <a:srgbClr val="FFC000"/>
              </a:solidFill>
              <a:latin typeface="Courier New" panose="02070309020205020404" pitchFamily="49" charset="0"/>
            </a:endParaRPr>
          </a:p>
        </p:txBody>
      </p:sp>
      <p:grpSp>
        <p:nvGrpSpPr>
          <p:cNvPr id="307206" name="Group 6"/>
          <p:cNvGrpSpPr>
            <a:grpSpLocks/>
          </p:cNvGrpSpPr>
          <p:nvPr/>
        </p:nvGrpSpPr>
        <p:grpSpPr bwMode="auto">
          <a:xfrm>
            <a:off x="304800" y="5181600"/>
            <a:ext cx="8534400" cy="1069975"/>
            <a:chOff x="531" y="3216"/>
            <a:chExt cx="4620" cy="674"/>
          </a:xfrm>
        </p:grpSpPr>
        <p:sp>
          <p:nvSpPr>
            <p:cNvPr id="307207" name="Rectangle 7"/>
            <p:cNvSpPr>
              <a:spLocks noChangeArrowheads="1"/>
            </p:cNvSpPr>
            <p:nvPr/>
          </p:nvSpPr>
          <p:spPr bwMode="auto">
            <a:xfrm>
              <a:off x="1271" y="3436"/>
              <a:ext cx="431" cy="211"/>
            </a:xfrm>
            <a:prstGeom prst="rect">
              <a:avLst/>
            </a:prstGeom>
            <a:solidFill>
              <a:srgbClr val="00FFFF"/>
            </a:solidFill>
            <a:ln w="15875">
              <a:solidFill>
                <a:srgbClr val="8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208" name="Rectangle 8"/>
            <p:cNvSpPr>
              <a:spLocks noChangeArrowheads="1"/>
            </p:cNvSpPr>
            <p:nvPr/>
          </p:nvSpPr>
          <p:spPr bwMode="auto">
            <a:xfrm>
              <a:off x="1389" y="3468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latin typeface="Courier" pitchFamily="49" charset="0"/>
                </a:rPr>
                <a:t>--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307209" name="Rectangle 9"/>
            <p:cNvSpPr>
              <a:spLocks noChangeArrowheads="1"/>
            </p:cNvSpPr>
            <p:nvPr/>
          </p:nvSpPr>
          <p:spPr bwMode="auto">
            <a:xfrm>
              <a:off x="1702" y="3436"/>
              <a:ext cx="431" cy="211"/>
            </a:xfrm>
            <a:prstGeom prst="rect">
              <a:avLst/>
            </a:prstGeom>
            <a:solidFill>
              <a:srgbClr val="00FFFF"/>
            </a:solidFill>
            <a:ln w="15875">
              <a:solidFill>
                <a:srgbClr val="8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210" name="Rectangle 10"/>
            <p:cNvSpPr>
              <a:spLocks noChangeArrowheads="1"/>
            </p:cNvSpPr>
            <p:nvPr/>
          </p:nvSpPr>
          <p:spPr bwMode="auto">
            <a:xfrm>
              <a:off x="1821" y="3468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latin typeface="Courier" pitchFamily="49" charset="0"/>
                </a:rPr>
                <a:t> 8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307211" name="Rectangle 11"/>
            <p:cNvSpPr>
              <a:spLocks noChangeArrowheads="1"/>
            </p:cNvSpPr>
            <p:nvPr/>
          </p:nvSpPr>
          <p:spPr bwMode="auto">
            <a:xfrm>
              <a:off x="2133" y="3436"/>
              <a:ext cx="431" cy="211"/>
            </a:xfrm>
            <a:prstGeom prst="rect">
              <a:avLst/>
            </a:prstGeom>
            <a:solidFill>
              <a:srgbClr val="00FFFF"/>
            </a:solidFill>
            <a:ln w="15875">
              <a:solidFill>
                <a:srgbClr val="8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212" name="Rectangle 12"/>
            <p:cNvSpPr>
              <a:spLocks noChangeArrowheads="1"/>
            </p:cNvSpPr>
            <p:nvPr/>
          </p:nvSpPr>
          <p:spPr bwMode="auto">
            <a:xfrm>
              <a:off x="2252" y="3468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latin typeface="Courier" pitchFamily="49" charset="0"/>
                </a:rPr>
                <a:t> 6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307213" name="Rectangle 13"/>
            <p:cNvSpPr>
              <a:spLocks noChangeArrowheads="1"/>
            </p:cNvSpPr>
            <p:nvPr/>
          </p:nvSpPr>
          <p:spPr bwMode="auto">
            <a:xfrm>
              <a:off x="840" y="3436"/>
              <a:ext cx="431" cy="211"/>
            </a:xfrm>
            <a:prstGeom prst="rect">
              <a:avLst/>
            </a:prstGeom>
            <a:solidFill>
              <a:srgbClr val="00FFFF"/>
            </a:solidFill>
            <a:ln w="15875">
              <a:solidFill>
                <a:srgbClr val="8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214" name="Rectangle 14"/>
            <p:cNvSpPr>
              <a:spLocks noChangeArrowheads="1"/>
            </p:cNvSpPr>
            <p:nvPr/>
          </p:nvSpPr>
          <p:spPr bwMode="auto">
            <a:xfrm>
              <a:off x="958" y="3468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latin typeface="Courier" pitchFamily="49" charset="0"/>
                </a:rPr>
                <a:t> 1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307215" name="Rectangle 15"/>
            <p:cNvSpPr>
              <a:spLocks noChangeArrowheads="1"/>
            </p:cNvSpPr>
            <p:nvPr/>
          </p:nvSpPr>
          <p:spPr bwMode="auto">
            <a:xfrm>
              <a:off x="531" y="3456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latin typeface="Courier" pitchFamily="49" charset="0"/>
                </a:rPr>
                <a:t>Ar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307216" name="Rectangle 16"/>
            <p:cNvSpPr>
              <a:spLocks noChangeArrowheads="1"/>
            </p:cNvSpPr>
            <p:nvPr/>
          </p:nvSpPr>
          <p:spPr bwMode="auto">
            <a:xfrm>
              <a:off x="2995" y="3436"/>
              <a:ext cx="432" cy="211"/>
            </a:xfrm>
            <a:prstGeom prst="rect">
              <a:avLst/>
            </a:prstGeom>
            <a:solidFill>
              <a:srgbClr val="00FFFF"/>
            </a:solidFill>
            <a:ln w="15875">
              <a:solidFill>
                <a:srgbClr val="8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217" name="Rectangle 17"/>
            <p:cNvSpPr>
              <a:spLocks noChangeArrowheads="1"/>
            </p:cNvSpPr>
            <p:nvPr/>
          </p:nvSpPr>
          <p:spPr bwMode="auto">
            <a:xfrm>
              <a:off x="3114" y="3468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latin typeface="Courier" pitchFamily="49" charset="0"/>
                </a:rPr>
                <a:t>--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307218" name="Rectangle 18"/>
            <p:cNvSpPr>
              <a:spLocks noChangeArrowheads="1"/>
            </p:cNvSpPr>
            <p:nvPr/>
          </p:nvSpPr>
          <p:spPr bwMode="auto">
            <a:xfrm>
              <a:off x="3427" y="3436"/>
              <a:ext cx="431" cy="211"/>
            </a:xfrm>
            <a:prstGeom prst="rect">
              <a:avLst/>
            </a:prstGeom>
            <a:solidFill>
              <a:srgbClr val="00FFFF"/>
            </a:solidFill>
            <a:ln w="15875">
              <a:solidFill>
                <a:srgbClr val="8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219" name="Rectangle 19"/>
            <p:cNvSpPr>
              <a:spLocks noChangeArrowheads="1"/>
            </p:cNvSpPr>
            <p:nvPr/>
          </p:nvSpPr>
          <p:spPr bwMode="auto">
            <a:xfrm>
              <a:off x="3545" y="3468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latin typeface="Courier" pitchFamily="49" charset="0"/>
                </a:rPr>
                <a:t>--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307220" name="Rectangle 20"/>
            <p:cNvSpPr>
              <a:spLocks noChangeArrowheads="1"/>
            </p:cNvSpPr>
            <p:nvPr/>
          </p:nvSpPr>
          <p:spPr bwMode="auto">
            <a:xfrm>
              <a:off x="3858" y="3436"/>
              <a:ext cx="431" cy="211"/>
            </a:xfrm>
            <a:prstGeom prst="rect">
              <a:avLst/>
            </a:prstGeom>
            <a:solidFill>
              <a:srgbClr val="00FFFF"/>
            </a:solidFill>
            <a:ln w="15875">
              <a:solidFill>
                <a:srgbClr val="8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221" name="Rectangle 21"/>
            <p:cNvSpPr>
              <a:spLocks noChangeArrowheads="1"/>
            </p:cNvSpPr>
            <p:nvPr/>
          </p:nvSpPr>
          <p:spPr bwMode="auto">
            <a:xfrm>
              <a:off x="3976" y="3468"/>
              <a:ext cx="8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latin typeface="Courier" pitchFamily="49" charset="0"/>
                </a:rPr>
                <a:t>5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307222" name="Rectangle 22"/>
            <p:cNvSpPr>
              <a:spLocks noChangeArrowheads="1"/>
            </p:cNvSpPr>
            <p:nvPr/>
          </p:nvSpPr>
          <p:spPr bwMode="auto">
            <a:xfrm>
              <a:off x="2564" y="3436"/>
              <a:ext cx="431" cy="211"/>
            </a:xfrm>
            <a:prstGeom prst="rect">
              <a:avLst/>
            </a:prstGeom>
            <a:solidFill>
              <a:srgbClr val="00FFFF"/>
            </a:solidFill>
            <a:ln w="15875">
              <a:solidFill>
                <a:srgbClr val="8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223" name="Rectangle 23"/>
            <p:cNvSpPr>
              <a:spLocks noChangeArrowheads="1"/>
            </p:cNvSpPr>
            <p:nvPr/>
          </p:nvSpPr>
          <p:spPr bwMode="auto">
            <a:xfrm>
              <a:off x="2683" y="3468"/>
              <a:ext cx="83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latin typeface="Courier" pitchFamily="49" charset="0"/>
                </a:rPr>
                <a:t>3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307224" name="Rectangle 24"/>
            <p:cNvSpPr>
              <a:spLocks noChangeArrowheads="1"/>
            </p:cNvSpPr>
            <p:nvPr/>
          </p:nvSpPr>
          <p:spPr bwMode="auto">
            <a:xfrm>
              <a:off x="4289" y="3436"/>
              <a:ext cx="431" cy="211"/>
            </a:xfrm>
            <a:prstGeom prst="rect">
              <a:avLst/>
            </a:prstGeom>
            <a:solidFill>
              <a:srgbClr val="00FFFF"/>
            </a:solidFill>
            <a:ln w="15875">
              <a:solidFill>
                <a:srgbClr val="8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225" name="Rectangle 25"/>
            <p:cNvSpPr>
              <a:spLocks noChangeArrowheads="1"/>
            </p:cNvSpPr>
            <p:nvPr/>
          </p:nvSpPr>
          <p:spPr bwMode="auto">
            <a:xfrm>
              <a:off x="4408" y="3468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latin typeface="Courier" pitchFamily="49" charset="0"/>
                </a:rPr>
                <a:t>12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307226" name="Rectangle 26"/>
            <p:cNvSpPr>
              <a:spLocks noChangeArrowheads="1"/>
            </p:cNvSpPr>
            <p:nvPr/>
          </p:nvSpPr>
          <p:spPr bwMode="auto">
            <a:xfrm>
              <a:off x="4720" y="3436"/>
              <a:ext cx="431" cy="211"/>
            </a:xfrm>
            <a:prstGeom prst="rect">
              <a:avLst/>
            </a:prstGeom>
            <a:solidFill>
              <a:srgbClr val="00FFFF"/>
            </a:solidFill>
            <a:ln w="15875">
              <a:solidFill>
                <a:srgbClr val="80008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227" name="Rectangle 27"/>
            <p:cNvSpPr>
              <a:spLocks noChangeArrowheads="1"/>
            </p:cNvSpPr>
            <p:nvPr/>
          </p:nvSpPr>
          <p:spPr bwMode="auto">
            <a:xfrm>
              <a:off x="4839" y="3468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latin typeface="Courier" pitchFamily="49" charset="0"/>
                </a:rPr>
                <a:t>--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307228" name="Rectangle 28"/>
            <p:cNvSpPr>
              <a:spLocks noChangeArrowheads="1"/>
            </p:cNvSpPr>
            <p:nvPr/>
          </p:nvSpPr>
          <p:spPr bwMode="auto">
            <a:xfrm>
              <a:off x="2640" y="3216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latin typeface="Courier" pitchFamily="49" charset="0"/>
                </a:rPr>
                <a:t> 4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307229" name="Rectangle 29"/>
            <p:cNvSpPr>
              <a:spLocks noChangeArrowheads="1"/>
            </p:cNvSpPr>
            <p:nvPr/>
          </p:nvSpPr>
          <p:spPr bwMode="auto">
            <a:xfrm>
              <a:off x="3071" y="3216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latin typeface="Courier" pitchFamily="49" charset="0"/>
                </a:rPr>
                <a:t> 5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307230" name="Rectangle 30"/>
            <p:cNvSpPr>
              <a:spLocks noChangeArrowheads="1"/>
            </p:cNvSpPr>
            <p:nvPr/>
          </p:nvSpPr>
          <p:spPr bwMode="auto">
            <a:xfrm>
              <a:off x="3503" y="3216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latin typeface="Courier" pitchFamily="49" charset="0"/>
                </a:rPr>
                <a:t> 6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307231" name="Rectangle 31"/>
            <p:cNvSpPr>
              <a:spLocks noChangeArrowheads="1"/>
            </p:cNvSpPr>
            <p:nvPr/>
          </p:nvSpPr>
          <p:spPr bwMode="auto">
            <a:xfrm>
              <a:off x="2209" y="3216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latin typeface="Courier" pitchFamily="49" charset="0"/>
                </a:rPr>
                <a:t> 3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307232" name="Rectangle 32"/>
            <p:cNvSpPr>
              <a:spLocks noChangeArrowheads="1"/>
            </p:cNvSpPr>
            <p:nvPr/>
          </p:nvSpPr>
          <p:spPr bwMode="auto">
            <a:xfrm>
              <a:off x="916" y="3216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latin typeface="Courier" pitchFamily="49" charset="0"/>
                </a:rPr>
                <a:t> 0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307233" name="Rectangle 33"/>
            <p:cNvSpPr>
              <a:spLocks noChangeArrowheads="1"/>
            </p:cNvSpPr>
            <p:nvPr/>
          </p:nvSpPr>
          <p:spPr bwMode="auto">
            <a:xfrm>
              <a:off x="1778" y="3216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latin typeface="Courier" pitchFamily="49" charset="0"/>
                </a:rPr>
                <a:t> 2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307234" name="Rectangle 34"/>
            <p:cNvSpPr>
              <a:spLocks noChangeArrowheads="1"/>
            </p:cNvSpPr>
            <p:nvPr/>
          </p:nvSpPr>
          <p:spPr bwMode="auto">
            <a:xfrm>
              <a:off x="4365" y="3216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latin typeface="Courier" pitchFamily="49" charset="0"/>
                </a:rPr>
                <a:t> 8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307235" name="Rectangle 35"/>
            <p:cNvSpPr>
              <a:spLocks noChangeArrowheads="1"/>
            </p:cNvSpPr>
            <p:nvPr/>
          </p:nvSpPr>
          <p:spPr bwMode="auto">
            <a:xfrm>
              <a:off x="4779" y="3216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latin typeface="Courier" pitchFamily="49" charset="0"/>
                </a:rPr>
                <a:t> 9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307236" name="Rectangle 36"/>
            <p:cNvSpPr>
              <a:spLocks noChangeArrowheads="1"/>
            </p:cNvSpPr>
            <p:nvPr/>
          </p:nvSpPr>
          <p:spPr bwMode="auto">
            <a:xfrm>
              <a:off x="3934" y="3216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latin typeface="Courier" pitchFamily="49" charset="0"/>
                </a:rPr>
                <a:t> 7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307237" name="Rectangle 37"/>
            <p:cNvSpPr>
              <a:spLocks noChangeArrowheads="1"/>
            </p:cNvSpPr>
            <p:nvPr/>
          </p:nvSpPr>
          <p:spPr bwMode="auto">
            <a:xfrm>
              <a:off x="1347" y="3216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latin typeface="Courier" pitchFamily="49" charset="0"/>
                </a:rPr>
                <a:t> 1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307238" name="Rectangle 38"/>
            <p:cNvSpPr>
              <a:spLocks noChangeArrowheads="1"/>
            </p:cNvSpPr>
            <p:nvPr/>
          </p:nvSpPr>
          <p:spPr bwMode="auto">
            <a:xfrm>
              <a:off x="2592" y="3696"/>
              <a:ext cx="417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latin typeface="Courier" pitchFamily="49" charset="0"/>
                </a:rPr>
                <a:t>Ar[4]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307239" name="Rectangle 39"/>
            <p:cNvSpPr>
              <a:spLocks noChangeArrowheads="1"/>
            </p:cNvSpPr>
            <p:nvPr/>
          </p:nvSpPr>
          <p:spPr bwMode="auto">
            <a:xfrm>
              <a:off x="3023" y="3696"/>
              <a:ext cx="4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latin typeface="Courier" pitchFamily="49" charset="0"/>
                </a:rPr>
                <a:t>Ar[5]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307240" name="Rectangle 40"/>
            <p:cNvSpPr>
              <a:spLocks noChangeArrowheads="1"/>
            </p:cNvSpPr>
            <p:nvPr/>
          </p:nvSpPr>
          <p:spPr bwMode="auto">
            <a:xfrm>
              <a:off x="3455" y="3696"/>
              <a:ext cx="417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latin typeface="Courier" pitchFamily="49" charset="0"/>
                </a:rPr>
                <a:t>Ar[6]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307241" name="Rectangle 41"/>
            <p:cNvSpPr>
              <a:spLocks noChangeArrowheads="1"/>
            </p:cNvSpPr>
            <p:nvPr/>
          </p:nvSpPr>
          <p:spPr bwMode="auto">
            <a:xfrm>
              <a:off x="2161" y="3696"/>
              <a:ext cx="4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latin typeface="Courier" pitchFamily="49" charset="0"/>
                </a:rPr>
                <a:t>Ar[3]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307242" name="Rectangle 42"/>
            <p:cNvSpPr>
              <a:spLocks noChangeArrowheads="1"/>
            </p:cNvSpPr>
            <p:nvPr/>
          </p:nvSpPr>
          <p:spPr bwMode="auto">
            <a:xfrm>
              <a:off x="868" y="3696"/>
              <a:ext cx="417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latin typeface="Courier" pitchFamily="49" charset="0"/>
                </a:rPr>
                <a:t>Ar[0]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307243" name="Rectangle 43"/>
            <p:cNvSpPr>
              <a:spLocks noChangeArrowheads="1"/>
            </p:cNvSpPr>
            <p:nvPr/>
          </p:nvSpPr>
          <p:spPr bwMode="auto">
            <a:xfrm>
              <a:off x="1730" y="3696"/>
              <a:ext cx="417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 dirty="0" err="1">
                  <a:latin typeface="Courier" pitchFamily="49" charset="0"/>
                </a:rPr>
                <a:t>Ar</a:t>
              </a:r>
              <a:r>
                <a:rPr lang="en-US" altLang="en-US" sz="2000" b="0" dirty="0">
                  <a:latin typeface="Courier" pitchFamily="49" charset="0"/>
                </a:rPr>
                <a:t>[2]</a:t>
              </a:r>
              <a:endParaRPr lang="en-US" altLang="en-US" sz="2000" dirty="0">
                <a:latin typeface="Arial" panose="020B0604020202020204" pitchFamily="34" charset="0"/>
              </a:endParaRPr>
            </a:p>
          </p:txBody>
        </p:sp>
        <p:sp>
          <p:nvSpPr>
            <p:cNvPr id="307244" name="Rectangle 44"/>
            <p:cNvSpPr>
              <a:spLocks noChangeArrowheads="1"/>
            </p:cNvSpPr>
            <p:nvPr/>
          </p:nvSpPr>
          <p:spPr bwMode="auto">
            <a:xfrm>
              <a:off x="4317" y="3696"/>
              <a:ext cx="4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latin typeface="Courier" pitchFamily="49" charset="0"/>
                </a:rPr>
                <a:t>Ar[8]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307245" name="Rectangle 45"/>
            <p:cNvSpPr>
              <a:spLocks noChangeArrowheads="1"/>
            </p:cNvSpPr>
            <p:nvPr/>
          </p:nvSpPr>
          <p:spPr bwMode="auto">
            <a:xfrm>
              <a:off x="4731" y="3696"/>
              <a:ext cx="417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latin typeface="Courier" pitchFamily="49" charset="0"/>
                </a:rPr>
                <a:t>Ar[9]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307246" name="Rectangle 46"/>
            <p:cNvSpPr>
              <a:spLocks noChangeArrowheads="1"/>
            </p:cNvSpPr>
            <p:nvPr/>
          </p:nvSpPr>
          <p:spPr bwMode="auto">
            <a:xfrm>
              <a:off x="3886" y="3696"/>
              <a:ext cx="4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latin typeface="Courier" pitchFamily="49" charset="0"/>
                </a:rPr>
                <a:t>Ar[7]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  <p:sp>
          <p:nvSpPr>
            <p:cNvPr id="307247" name="Rectangle 47"/>
            <p:cNvSpPr>
              <a:spLocks noChangeArrowheads="1"/>
            </p:cNvSpPr>
            <p:nvPr/>
          </p:nvSpPr>
          <p:spPr bwMode="auto">
            <a:xfrm>
              <a:off x="1299" y="3696"/>
              <a:ext cx="413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algn="l">
                <a:spcBef>
                  <a:spcPct val="0"/>
                </a:spcBef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spcBef>
                  <a:spcPct val="20000"/>
                </a:spcBef>
                <a:buFont typeface="Monotype Sorts" pitchFamily="2" charset="2"/>
                <a:buNone/>
              </a:pPr>
              <a:r>
                <a:rPr lang="en-US" altLang="en-US" sz="2000" b="0">
                  <a:latin typeface="Courier" pitchFamily="49" charset="0"/>
                </a:rPr>
                <a:t>Ar[1]</a:t>
              </a:r>
              <a:endParaRPr lang="en-US" altLang="en-US" sz="2000">
                <a:latin typeface="Arial" panose="020B0604020202020204" pitchFamily="34" charset="0"/>
              </a:endParaRPr>
            </a:p>
          </p:txBody>
        </p:sp>
      </p:grpSp>
      <p:sp>
        <p:nvSpPr>
          <p:cNvPr id="2" name="Oval Callout 1"/>
          <p:cNvSpPr/>
          <p:nvPr/>
        </p:nvSpPr>
        <p:spPr>
          <a:xfrm>
            <a:off x="2116975" y="3429000"/>
            <a:ext cx="3982720" cy="1371600"/>
          </a:xfrm>
          <a:prstGeom prst="wedgeEllipseCallout">
            <a:avLst>
              <a:gd name="adj1" fmla="val -49594"/>
              <a:gd name="adj2" fmla="val 72251"/>
            </a:avLst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will </a:t>
            </a:r>
            <a:r>
              <a:rPr lang="en-US" sz="2400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</a:t>
            </a:r>
            <a:r>
              <a:rPr lang="en-US" sz="24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[1] print on the screen?</a:t>
            </a:r>
            <a:endParaRPr lang="en-US" sz="24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78983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5095079"/>
          </a:xfrm>
          <a:prstGeom prst="rect">
            <a:avLst/>
          </a:prstGeom>
        </p:spPr>
        <p:txBody>
          <a:bodyPr/>
          <a:lstStyle/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 smtClean="0"/>
              <a:t>If the </a:t>
            </a:r>
            <a:r>
              <a:rPr lang="en-US" sz="3600" dirty="0"/>
              <a:t>elements of array are uninitialized, </a:t>
            </a:r>
            <a:r>
              <a:rPr lang="en-US" sz="3600" dirty="0" smtClean="0"/>
              <a:t>then the behavior of the compiler is </a:t>
            </a:r>
            <a:r>
              <a:rPr lang="en-US" sz="3600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undefined</a:t>
            </a:r>
          </a:p>
          <a:p>
            <a:pPr marL="1028700" lvl="1" indent="-571500">
              <a:lnSpc>
                <a:spcPct val="90000"/>
              </a:lnSpc>
              <a:buFont typeface="Symbol" panose="05050102010706020507" pitchFamily="18" charset="2"/>
              <a:buChar char=""/>
            </a:pPr>
            <a:r>
              <a:rPr lang="en-US" sz="3600" dirty="0" smtClean="0"/>
              <a:t>As we are trying to </a:t>
            </a:r>
            <a:r>
              <a:rPr lang="en-US" sz="3600" dirty="0"/>
              <a:t>read them before </a:t>
            </a:r>
            <a:r>
              <a:rPr lang="en-US" sz="3600" dirty="0" smtClean="0"/>
              <a:t>writing </a:t>
            </a:r>
            <a:r>
              <a:rPr lang="en-US" sz="3600" dirty="0"/>
              <a:t>them. </a:t>
            </a:r>
            <a:endParaRPr lang="en-US" sz="3600" dirty="0" smtClean="0"/>
          </a:p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 smtClean="0"/>
              <a:t>The </a:t>
            </a:r>
            <a:r>
              <a:rPr lang="en-US" sz="3600" dirty="0"/>
              <a:t>program </a:t>
            </a:r>
            <a:r>
              <a:rPr lang="en-US" sz="3600" dirty="0" smtClean="0"/>
              <a:t>will be </a:t>
            </a:r>
            <a:r>
              <a:rPr lang="en-US" sz="3600" dirty="0"/>
              <a:t>ill-formed. </a:t>
            </a:r>
            <a:endParaRPr lang="en-US" sz="3600" dirty="0" smtClean="0"/>
          </a:p>
          <a:p>
            <a:pPr marL="571500" indent="-57150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3600" dirty="0" smtClean="0"/>
              <a:t>There </a:t>
            </a:r>
            <a:r>
              <a:rPr lang="en-US" sz="3600" dirty="0"/>
              <a:t>is no way to "check" for this; it is </a:t>
            </a:r>
            <a:r>
              <a:rPr lang="en-US" sz="3600" dirty="0" smtClean="0"/>
              <a:t>the developers </a:t>
            </a:r>
            <a:r>
              <a:rPr lang="en-US" sz="3600" dirty="0"/>
              <a:t>responsibility to write a correct program.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</a:rPr>
              <a:t>Uninitialized Array Elements</a:t>
            </a: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2760944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2318027"/>
            <a:ext cx="9144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Array Initialization</a:t>
            </a:r>
            <a:endParaRPr lang="en-US" sz="6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60093433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Array </a:t>
            </a:r>
            <a:r>
              <a:rPr lang="en-US" sz="40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Initialization 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150064"/>
            <a:ext cx="8839200" cy="5247619"/>
          </a:xfrm>
          <a:prstGeom prst="rect">
            <a:avLst/>
          </a:prstGeom>
        </p:spPr>
        <p:txBody>
          <a:bodyPr/>
          <a:lstStyle/>
          <a:p>
            <a:pPr lvl="1"/>
            <a:endParaRPr lang="en-US" altLang="en-US" sz="3200" dirty="0" smtClean="0"/>
          </a:p>
          <a:p>
            <a:pPr marL="514350" indent="-514350">
              <a:buFont typeface="+mj-lt"/>
              <a:buAutoNum type="arabicPeriod"/>
            </a:pPr>
            <a:r>
              <a:rPr lang="en-US" alt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Individually assign values to each element</a:t>
            </a:r>
          </a:p>
          <a:p>
            <a:pPr lvl="3"/>
            <a:r>
              <a:rPr lang="en-US" altLang="en-US" sz="3200" dirty="0"/>
              <a:t>n[ </a:t>
            </a:r>
            <a:r>
              <a:rPr lang="en-US" altLang="en-US" sz="3200" dirty="0" smtClean="0"/>
              <a:t>0 </a:t>
            </a:r>
            <a:r>
              <a:rPr lang="en-US" altLang="en-US" sz="3200" dirty="0"/>
              <a:t>] = </a:t>
            </a:r>
            <a:r>
              <a:rPr lang="en-US" altLang="en-US" sz="3200" dirty="0" smtClean="0"/>
              <a:t>1;</a:t>
            </a:r>
          </a:p>
          <a:p>
            <a:pPr lvl="3"/>
            <a:r>
              <a:rPr lang="en-US" altLang="en-US" sz="3200" dirty="0"/>
              <a:t>n[ </a:t>
            </a:r>
            <a:r>
              <a:rPr lang="en-US" altLang="en-US" sz="3200" dirty="0" smtClean="0"/>
              <a:t>1 </a:t>
            </a:r>
            <a:r>
              <a:rPr lang="en-US" altLang="en-US" sz="3200" dirty="0"/>
              <a:t>] = </a:t>
            </a:r>
            <a:r>
              <a:rPr lang="en-US" altLang="en-US" sz="3200" dirty="0" smtClean="0"/>
              <a:t>2;</a:t>
            </a:r>
          </a:p>
          <a:p>
            <a:pPr lvl="3"/>
            <a:r>
              <a:rPr lang="en-US" altLang="en-US" sz="3200" dirty="0"/>
              <a:t>n[ </a:t>
            </a:r>
            <a:r>
              <a:rPr lang="en-US" altLang="en-US" sz="3200" dirty="0" smtClean="0"/>
              <a:t>2 </a:t>
            </a:r>
            <a:r>
              <a:rPr lang="en-US" altLang="en-US" sz="3200" dirty="0"/>
              <a:t>] = </a:t>
            </a:r>
            <a:r>
              <a:rPr lang="en-US" altLang="en-US" sz="3200" dirty="0" smtClean="0"/>
              <a:t>3;</a:t>
            </a:r>
          </a:p>
          <a:p>
            <a:pPr lvl="3"/>
            <a:r>
              <a:rPr lang="en-US" altLang="en-US" sz="3200" dirty="0"/>
              <a:t>n[ </a:t>
            </a:r>
            <a:r>
              <a:rPr lang="en-US" altLang="en-US" sz="3200" dirty="0" smtClean="0"/>
              <a:t>3 </a:t>
            </a:r>
            <a:r>
              <a:rPr lang="en-US" altLang="en-US" sz="3200" dirty="0"/>
              <a:t>] = </a:t>
            </a:r>
            <a:r>
              <a:rPr lang="en-US" altLang="en-US" sz="3200" dirty="0" smtClean="0"/>
              <a:t>4;</a:t>
            </a:r>
          </a:p>
          <a:p>
            <a:pPr lvl="3"/>
            <a:r>
              <a:rPr lang="en-US" altLang="en-US" sz="3200" dirty="0"/>
              <a:t>n[ </a:t>
            </a:r>
            <a:r>
              <a:rPr lang="en-US" altLang="en-US" sz="3200" dirty="0" smtClean="0"/>
              <a:t>4 </a:t>
            </a:r>
            <a:r>
              <a:rPr lang="en-US" altLang="en-US" sz="3200" dirty="0"/>
              <a:t>] = </a:t>
            </a:r>
            <a:r>
              <a:rPr lang="en-US" altLang="en-US" sz="3200" dirty="0" smtClean="0"/>
              <a:t>5;</a:t>
            </a:r>
            <a:endParaRPr lang="en-US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1"/>
            <a:endParaRPr lang="en-US" altLang="en-US" sz="3200" dirty="0" smtClean="0"/>
          </a:p>
          <a:p>
            <a:pPr lvl="1"/>
            <a:r>
              <a:rPr lang="en-US" altLang="en-US" sz="3200" dirty="0" smtClean="0"/>
              <a:t>To </a:t>
            </a:r>
            <a:r>
              <a:rPr lang="en-US" altLang="en-US" sz="3200" dirty="0"/>
              <a:t>set every element to same value</a:t>
            </a:r>
          </a:p>
          <a:p>
            <a:pPr lvl="3">
              <a:buFontTx/>
              <a:buNone/>
            </a:pPr>
            <a:r>
              <a:rPr lang="en-US" altLang="en-US" sz="3200" dirty="0" err="1"/>
              <a:t>int</a:t>
            </a:r>
            <a:r>
              <a:rPr lang="en-US" altLang="en-US" sz="3200" dirty="0"/>
              <a:t> n[ 5 ] = { 0 };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5020183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Array </a:t>
            </a:r>
            <a:r>
              <a:rPr lang="en-US" sz="40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Initialization 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150064"/>
            <a:ext cx="8839200" cy="5247619"/>
          </a:xfrm>
          <a:prstGeom prst="rect">
            <a:avLst/>
          </a:prstGeom>
        </p:spPr>
        <p:txBody>
          <a:bodyPr/>
          <a:lstStyle/>
          <a:p>
            <a:pPr marL="742950" indent="-742950">
              <a:buFont typeface="+mj-lt"/>
              <a:buAutoNum type="arabicPeriod"/>
            </a:pPr>
            <a:endParaRPr lang="en-US" altLang="en-US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742950" indent="-742950">
              <a:buFont typeface="+mj-lt"/>
              <a:buAutoNum type="arabicPeriod" startAt="2"/>
            </a:pPr>
            <a:r>
              <a:rPr lang="en-US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Initializer </a:t>
            </a:r>
            <a:r>
              <a:rPr lang="en-US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list</a:t>
            </a:r>
          </a:p>
          <a:p>
            <a:pPr lvl="2"/>
            <a:r>
              <a:rPr lang="en-US" altLang="en-US" sz="3200" dirty="0"/>
              <a:t>Specify each element when array declared</a:t>
            </a:r>
          </a:p>
          <a:p>
            <a:pPr lvl="2"/>
            <a:r>
              <a:rPr lang="en-US" altLang="en-US" sz="3200" dirty="0" err="1"/>
              <a:t>int</a:t>
            </a:r>
            <a:r>
              <a:rPr lang="en-US" altLang="en-US" sz="3200" dirty="0"/>
              <a:t> n[ 5 ] = { 1, 2, 3, 4, 5 }; </a:t>
            </a:r>
            <a:endParaRPr lang="en-US" altLang="en-US" sz="3200" dirty="0" smtClean="0"/>
          </a:p>
          <a:p>
            <a:pPr lvl="2"/>
            <a:endParaRPr lang="en-US" altLang="en-US" sz="3200" dirty="0"/>
          </a:p>
          <a:p>
            <a:pPr lvl="2"/>
            <a:r>
              <a:rPr lang="en-US" altLang="en-US" sz="3200" dirty="0"/>
              <a:t>If not enough initializers, rightmost elements 0</a:t>
            </a:r>
          </a:p>
          <a:p>
            <a:pPr lvl="2"/>
            <a:r>
              <a:rPr lang="en-US" altLang="en-US" sz="3200" dirty="0"/>
              <a:t>If too </a:t>
            </a:r>
            <a:r>
              <a:rPr lang="en-US" altLang="en-US" sz="3200" dirty="0" smtClean="0"/>
              <a:t>many, syntax error</a:t>
            </a:r>
            <a:endParaRPr lang="en-US" altLang="en-US" sz="3200" dirty="0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51140456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Array </a:t>
            </a:r>
            <a:r>
              <a:rPr lang="en-US" sz="40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Initialization 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150064"/>
            <a:ext cx="8839200" cy="5247619"/>
          </a:xfrm>
          <a:prstGeom prst="rect">
            <a:avLst/>
          </a:prstGeom>
        </p:spPr>
        <p:txBody>
          <a:bodyPr/>
          <a:lstStyle/>
          <a:p>
            <a:pPr marL="742950" indent="-742950">
              <a:buFont typeface="+mj-lt"/>
              <a:buAutoNum type="arabicPeriod" startAt="2"/>
            </a:pPr>
            <a:endParaRPr lang="en-US" altLang="en-US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742950" indent="-742950">
              <a:buFont typeface="+mj-lt"/>
              <a:buAutoNum type="arabicPeriod" startAt="3"/>
            </a:pPr>
            <a:r>
              <a:rPr lang="en-US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 array size omitted, initializers determine size</a:t>
            </a:r>
          </a:p>
          <a:p>
            <a:pPr lvl="2"/>
            <a:r>
              <a:rPr lang="en-US" altLang="en-US" sz="3600" dirty="0" err="1" smtClean="0"/>
              <a:t>int</a:t>
            </a:r>
            <a:r>
              <a:rPr lang="en-US" altLang="en-US" sz="3600" dirty="0" smtClean="0"/>
              <a:t> n[] = { 1, 2, 3, 4, 5 }; </a:t>
            </a:r>
          </a:p>
          <a:p>
            <a:pPr lvl="2"/>
            <a:endParaRPr lang="en-US" altLang="en-US" sz="3600" dirty="0"/>
          </a:p>
          <a:p>
            <a:pPr lvl="1"/>
            <a:r>
              <a:rPr lang="en-US" altLang="en-US" sz="3600" dirty="0"/>
              <a:t>5 initializers, therefore 5 element array</a:t>
            </a:r>
          </a:p>
          <a:p>
            <a:endParaRPr lang="en-US" sz="3200" dirty="0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8020335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Array </a:t>
            </a:r>
            <a:r>
              <a:rPr lang="en-US" sz="40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Initialization 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150064"/>
            <a:ext cx="8839200" cy="5247619"/>
          </a:xfrm>
          <a:prstGeom prst="rect">
            <a:avLst/>
          </a:prstGeom>
        </p:spPr>
        <p:txBody>
          <a:bodyPr/>
          <a:lstStyle/>
          <a:p>
            <a:pPr marL="742950" indent="-742950">
              <a:buFont typeface="+mj-lt"/>
              <a:buAutoNum type="arabicPeriod" startAt="2"/>
            </a:pPr>
            <a:endParaRPr lang="en-US" altLang="en-US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742950" indent="-742950">
              <a:buFont typeface="+mj-lt"/>
              <a:buAutoNum type="arabicPeriod" startAt="4"/>
            </a:pPr>
            <a:r>
              <a:rPr lang="en-US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a loop to set each array element within the loop</a:t>
            </a:r>
          </a:p>
          <a:p>
            <a:pPr marL="742950" indent="-742950">
              <a:buFont typeface="+mj-lt"/>
              <a:buAutoNum type="arabicPeriod" startAt="4"/>
            </a:pPr>
            <a:endParaRPr lang="en-US" altLang="en-US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	</a:t>
            </a:r>
            <a:r>
              <a:rPr lang="en-US" altLang="en-US" sz="3600" dirty="0" err="1" smtClean="0">
                <a:solidFill>
                  <a:srgbClr val="0000FF"/>
                </a:solidFill>
                <a:cs typeface="Courier New" panose="02070309020205020404" pitchFamily="49" charset="0"/>
              </a:rPr>
              <a:t>int</a:t>
            </a:r>
            <a:r>
              <a:rPr lang="en-US" altLang="en-US" sz="3600" dirty="0" smtClean="0">
                <a:solidFill>
                  <a:srgbClr val="000000"/>
                </a:solidFill>
                <a:cs typeface="Courier New" panose="02070309020205020404" pitchFamily="49" charset="0"/>
              </a:rPr>
              <a:t> n[10];</a:t>
            </a:r>
            <a:endParaRPr lang="en-US" altLang="en-US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4"/>
            <a:r>
              <a:rPr lang="en-US" altLang="en-US" sz="3200" dirty="0">
                <a:solidFill>
                  <a:srgbClr val="0000FF"/>
                </a:solidFill>
                <a:cs typeface="Courier New" panose="02070309020205020404" pitchFamily="49" charset="0"/>
              </a:rPr>
              <a:t>for</a:t>
            </a:r>
            <a:r>
              <a:rPr lang="en-US" altLang="en-US" sz="3200" dirty="0">
                <a:solidFill>
                  <a:srgbClr val="000000"/>
                </a:solidFill>
                <a:cs typeface="Courier New" panose="02070309020205020404" pitchFamily="49" charset="0"/>
              </a:rPr>
              <a:t> ( </a:t>
            </a:r>
            <a:r>
              <a:rPr lang="en-US" altLang="en-US" sz="3200" dirty="0" err="1">
                <a:solidFill>
                  <a:srgbClr val="0000FF"/>
                </a:solidFill>
                <a:cs typeface="Courier New" panose="02070309020205020404" pitchFamily="49" charset="0"/>
              </a:rPr>
              <a:t>int</a:t>
            </a:r>
            <a:r>
              <a:rPr lang="en-US" altLang="en-US" sz="3200" dirty="0">
                <a:solidFill>
                  <a:srgbClr val="000000"/>
                </a:solidFill>
                <a:cs typeface="Courier New" panose="02070309020205020404" pitchFamily="49" charset="0"/>
              </a:rPr>
              <a:t> </a:t>
            </a:r>
            <a:r>
              <a:rPr lang="en-US" altLang="en-US" sz="3200" dirty="0" err="1">
                <a:solidFill>
                  <a:srgbClr val="000000"/>
                </a:solidFill>
                <a:cs typeface="Courier New" panose="02070309020205020404" pitchFamily="49" charset="0"/>
              </a:rPr>
              <a:t>i</a:t>
            </a:r>
            <a:r>
              <a:rPr lang="en-US" altLang="en-US" sz="3200" dirty="0">
                <a:solidFill>
                  <a:srgbClr val="000000"/>
                </a:solidFill>
                <a:cs typeface="Courier New" panose="02070309020205020404" pitchFamily="49" charset="0"/>
              </a:rPr>
              <a:t> = </a:t>
            </a:r>
            <a:r>
              <a:rPr lang="en-US" altLang="en-US" sz="3200" dirty="0">
                <a:solidFill>
                  <a:srgbClr val="0099FF"/>
                </a:solidFill>
                <a:cs typeface="Courier New" panose="02070309020205020404" pitchFamily="49" charset="0"/>
              </a:rPr>
              <a:t>0</a:t>
            </a:r>
            <a:r>
              <a:rPr lang="en-US" altLang="en-US" sz="3200" dirty="0">
                <a:solidFill>
                  <a:srgbClr val="000000"/>
                </a:solidFill>
                <a:cs typeface="Courier New" panose="02070309020205020404" pitchFamily="49" charset="0"/>
              </a:rPr>
              <a:t>; </a:t>
            </a:r>
            <a:r>
              <a:rPr lang="en-US" altLang="en-US" sz="3200" dirty="0" err="1">
                <a:solidFill>
                  <a:srgbClr val="000000"/>
                </a:solidFill>
                <a:cs typeface="Courier New" panose="02070309020205020404" pitchFamily="49" charset="0"/>
              </a:rPr>
              <a:t>i</a:t>
            </a:r>
            <a:r>
              <a:rPr lang="en-US" altLang="en-US" sz="3200" dirty="0">
                <a:solidFill>
                  <a:srgbClr val="000000"/>
                </a:solidFill>
                <a:cs typeface="Courier New" panose="02070309020205020404" pitchFamily="49" charset="0"/>
              </a:rPr>
              <a:t> &lt; </a:t>
            </a:r>
            <a:r>
              <a:rPr lang="en-US" altLang="en-US" sz="3200" dirty="0">
                <a:solidFill>
                  <a:srgbClr val="0099FF"/>
                </a:solidFill>
                <a:cs typeface="Courier New" panose="02070309020205020404" pitchFamily="49" charset="0"/>
              </a:rPr>
              <a:t>10</a:t>
            </a:r>
            <a:r>
              <a:rPr lang="en-US" altLang="en-US" sz="3200" dirty="0">
                <a:solidFill>
                  <a:srgbClr val="000000"/>
                </a:solidFill>
                <a:cs typeface="Courier New" panose="02070309020205020404" pitchFamily="49" charset="0"/>
              </a:rPr>
              <a:t>; </a:t>
            </a:r>
            <a:r>
              <a:rPr lang="en-US" altLang="en-US" sz="3200" dirty="0" err="1">
                <a:solidFill>
                  <a:srgbClr val="000000"/>
                </a:solidFill>
                <a:cs typeface="Courier New" panose="02070309020205020404" pitchFamily="49" charset="0"/>
              </a:rPr>
              <a:t>i</a:t>
            </a:r>
            <a:r>
              <a:rPr lang="en-US" altLang="en-US" sz="3200" dirty="0">
                <a:solidFill>
                  <a:srgbClr val="000000"/>
                </a:solidFill>
                <a:cs typeface="Courier New" panose="02070309020205020404" pitchFamily="49" charset="0"/>
              </a:rPr>
              <a:t>++ </a:t>
            </a:r>
            <a:r>
              <a:rPr lang="en-US" altLang="en-US" sz="3200" dirty="0" smtClean="0">
                <a:solidFill>
                  <a:srgbClr val="000000"/>
                </a:solidFill>
                <a:cs typeface="Courier New" panose="02070309020205020404" pitchFamily="49" charset="0"/>
              </a:rPr>
              <a:t>)</a:t>
            </a:r>
          </a:p>
          <a:p>
            <a:pPr lvl="4"/>
            <a:r>
              <a:rPr lang="en-US" altLang="en-US" sz="3200" dirty="0">
                <a:solidFill>
                  <a:srgbClr val="000000"/>
                </a:solidFill>
                <a:cs typeface="Courier New" panose="02070309020205020404" pitchFamily="49" charset="0"/>
              </a:rPr>
              <a:t>	</a:t>
            </a:r>
            <a:r>
              <a:rPr lang="en-US" altLang="en-US" sz="3200" dirty="0" smtClean="0">
                <a:solidFill>
                  <a:srgbClr val="000000"/>
                </a:solidFill>
                <a:cs typeface="Courier New" panose="02070309020205020404" pitchFamily="49" charset="0"/>
              </a:rPr>
              <a:t>n</a:t>
            </a:r>
            <a:r>
              <a:rPr lang="en-US" altLang="en-US" sz="3200" dirty="0">
                <a:solidFill>
                  <a:srgbClr val="000000"/>
                </a:solidFill>
                <a:cs typeface="Courier New" panose="02070309020205020404" pitchFamily="49" charset="0"/>
              </a:rPr>
              <a:t>[ </a:t>
            </a:r>
            <a:r>
              <a:rPr lang="en-US" altLang="en-US" sz="3200" dirty="0" err="1">
                <a:solidFill>
                  <a:srgbClr val="000000"/>
                </a:solidFill>
                <a:cs typeface="Courier New" panose="02070309020205020404" pitchFamily="49" charset="0"/>
              </a:rPr>
              <a:t>i</a:t>
            </a:r>
            <a:r>
              <a:rPr lang="en-US" altLang="en-US" sz="3200" dirty="0">
                <a:solidFill>
                  <a:srgbClr val="000000"/>
                </a:solidFill>
                <a:cs typeface="Courier New" panose="02070309020205020404" pitchFamily="49" charset="0"/>
              </a:rPr>
              <a:t> ] = </a:t>
            </a:r>
            <a:r>
              <a:rPr lang="en-US" altLang="en-US" sz="3200" dirty="0">
                <a:solidFill>
                  <a:srgbClr val="0099FF"/>
                </a:solidFill>
                <a:cs typeface="Courier New" panose="02070309020205020404" pitchFamily="49" charset="0"/>
              </a:rPr>
              <a:t>0</a:t>
            </a:r>
            <a:r>
              <a:rPr lang="en-US" altLang="en-US" sz="3200" dirty="0">
                <a:solidFill>
                  <a:srgbClr val="000000"/>
                </a:solidFill>
                <a:cs typeface="Courier New" panose="02070309020205020404" pitchFamily="49" charset="0"/>
              </a:rPr>
              <a:t>;</a:t>
            </a:r>
            <a:endParaRPr lang="en-US" sz="3200" dirty="0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8495415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What will be the output? 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0" y="1304092"/>
            <a:ext cx="5257800" cy="5247619"/>
          </a:xfrm>
          <a:prstGeom prst="rect">
            <a:avLst/>
          </a:prstGeom>
        </p:spPr>
        <p:txBody>
          <a:bodyPr/>
          <a:lstStyle/>
          <a:p>
            <a:r>
              <a:rPr lang="en-US" altLang="en-US" sz="3600" dirty="0" err="1"/>
              <a:t>int</a:t>
            </a:r>
            <a:r>
              <a:rPr lang="en-US" altLang="en-US" sz="3600" dirty="0"/>
              <a:t> main()</a:t>
            </a:r>
          </a:p>
          <a:p>
            <a:r>
              <a:rPr lang="en-US" altLang="en-US" sz="3600" dirty="0"/>
              <a:t>{</a:t>
            </a:r>
          </a:p>
          <a:p>
            <a:r>
              <a:rPr lang="en-US" altLang="en-US" sz="3600" dirty="0"/>
              <a:t>    </a:t>
            </a:r>
            <a:r>
              <a:rPr lang="en-US" altLang="en-US" sz="3600" dirty="0" err="1"/>
              <a:t>int</a:t>
            </a:r>
            <a:r>
              <a:rPr lang="en-US" altLang="en-US" sz="3600" dirty="0"/>
              <a:t> </a:t>
            </a:r>
            <a:r>
              <a:rPr lang="en-US" altLang="en-US" sz="3600" dirty="0" err="1"/>
              <a:t>i</a:t>
            </a:r>
            <a:r>
              <a:rPr lang="en-US" altLang="en-US" sz="3600" dirty="0"/>
              <a:t>;</a:t>
            </a:r>
          </a:p>
          <a:p>
            <a:r>
              <a:rPr lang="en-US" altLang="en-US" sz="3600" dirty="0"/>
              <a:t>    </a:t>
            </a:r>
            <a:r>
              <a:rPr lang="en-US" altLang="en-US" sz="3600" dirty="0" err="1"/>
              <a:t>int</a:t>
            </a:r>
            <a:r>
              <a:rPr lang="en-US" altLang="en-US" sz="3600" dirty="0"/>
              <a:t> </a:t>
            </a:r>
            <a:r>
              <a:rPr lang="en-US" altLang="en-US" sz="3600" dirty="0" err="1"/>
              <a:t>arr</a:t>
            </a:r>
            <a:r>
              <a:rPr lang="en-US" altLang="en-US" sz="3600" dirty="0"/>
              <a:t>[5] = {1};</a:t>
            </a:r>
          </a:p>
          <a:p>
            <a:r>
              <a:rPr lang="en-US" altLang="en-US" sz="3600" dirty="0"/>
              <a:t>    for (</a:t>
            </a:r>
            <a:r>
              <a:rPr lang="en-US" altLang="en-US" sz="3600" dirty="0" err="1"/>
              <a:t>i</a:t>
            </a:r>
            <a:r>
              <a:rPr lang="en-US" altLang="en-US" sz="3600" dirty="0"/>
              <a:t> = 0; </a:t>
            </a:r>
            <a:r>
              <a:rPr lang="en-US" altLang="en-US" sz="3600" dirty="0" err="1"/>
              <a:t>i</a:t>
            </a:r>
            <a:r>
              <a:rPr lang="en-US" altLang="en-US" sz="3600" dirty="0"/>
              <a:t> &lt; 5; </a:t>
            </a:r>
            <a:r>
              <a:rPr lang="en-US" altLang="en-US" sz="3600" dirty="0" err="1"/>
              <a:t>i</a:t>
            </a:r>
            <a:r>
              <a:rPr lang="en-US" altLang="en-US" sz="3600" dirty="0"/>
              <a:t>++)</a:t>
            </a:r>
          </a:p>
          <a:p>
            <a:r>
              <a:rPr lang="en-US" altLang="en-US" sz="3600" dirty="0" smtClean="0"/>
              <a:t>	</a:t>
            </a:r>
            <a:r>
              <a:rPr lang="en-US" altLang="en-US" sz="3600" dirty="0" err="1" smtClean="0"/>
              <a:t>cout</a:t>
            </a:r>
            <a:r>
              <a:rPr lang="en-US" altLang="en-US" sz="3600" dirty="0" smtClean="0"/>
              <a:t> &lt;&lt; </a:t>
            </a:r>
            <a:r>
              <a:rPr lang="en-US" altLang="en-US" sz="3600" dirty="0" err="1" smtClean="0"/>
              <a:t>arr</a:t>
            </a:r>
            <a:r>
              <a:rPr lang="en-US" altLang="en-US" sz="3600" dirty="0" smtClean="0"/>
              <a:t>[</a:t>
            </a:r>
            <a:r>
              <a:rPr lang="en-US" altLang="en-US" sz="3600" dirty="0" err="1" smtClean="0"/>
              <a:t>i</a:t>
            </a:r>
            <a:r>
              <a:rPr lang="en-US" altLang="en-US" sz="3600" dirty="0" smtClean="0"/>
              <a:t>];</a:t>
            </a:r>
            <a:endParaRPr lang="en-US" altLang="en-US" sz="3600" dirty="0"/>
          </a:p>
          <a:p>
            <a:r>
              <a:rPr lang="en-US" altLang="en-US" sz="3600" dirty="0"/>
              <a:t>    return 0;</a:t>
            </a:r>
          </a:p>
          <a:p>
            <a:r>
              <a:rPr lang="en-US" altLang="en-US" sz="3600" dirty="0"/>
              <a:t>}</a:t>
            </a:r>
            <a:endParaRPr lang="en-US" sz="3200" dirty="0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2670633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Exercise - I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304093"/>
            <a:ext cx="7924800" cy="4563308"/>
          </a:xfrm>
          <a:prstGeom prst="rect">
            <a:avLst/>
          </a:prstGeom>
        </p:spPr>
        <p:txBody>
          <a:bodyPr/>
          <a:lstStyle/>
          <a:p>
            <a:r>
              <a:rPr lang="en-US" sz="3600" dirty="0"/>
              <a:t>Take 10 </a:t>
            </a:r>
            <a:r>
              <a:rPr lang="en-US" sz="3600" dirty="0" smtClean="0"/>
              <a:t>character inputs </a:t>
            </a:r>
            <a:r>
              <a:rPr lang="en-US" sz="3600" dirty="0"/>
              <a:t>from user and store them in an array and print them on screen.</a:t>
            </a:r>
            <a:endParaRPr lang="en-US" sz="3200" dirty="0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87204357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Exercise - II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304093"/>
            <a:ext cx="8610600" cy="4563308"/>
          </a:xfrm>
          <a:prstGeom prst="rect">
            <a:avLst/>
          </a:prstGeom>
        </p:spPr>
        <p:txBody>
          <a:bodyPr/>
          <a:lstStyle/>
          <a:p>
            <a:r>
              <a:rPr lang="en-US" sz="3600" dirty="0"/>
              <a:t>Write a program to find the sum and product of all elements of an array.</a:t>
            </a:r>
            <a:endParaRPr lang="en-US" sz="3200" dirty="0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84165172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2318027"/>
            <a:ext cx="9144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Jump Statements</a:t>
            </a:r>
          </a:p>
          <a:p>
            <a:pPr algn="ctr"/>
            <a:r>
              <a:rPr lang="en-US" sz="6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(</a:t>
            </a:r>
            <a:r>
              <a:rPr lang="en-US" sz="6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break &amp; </a:t>
            </a:r>
            <a:r>
              <a:rPr lang="en-US" sz="6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continue</a:t>
            </a:r>
            <a:r>
              <a:rPr lang="en-US" sz="6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)</a:t>
            </a:r>
            <a:endParaRPr lang="en-US" sz="6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111818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594718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b</a:t>
            </a:r>
            <a:r>
              <a:rPr lang="en-US" sz="44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reak &amp; continue</a:t>
            </a:r>
            <a:endParaRPr lang="en-US" sz="44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152400" y="1828800"/>
            <a:ext cx="8534400" cy="4297363"/>
          </a:xfrm>
        </p:spPr>
        <p:txBody>
          <a:bodyPr/>
          <a:lstStyle/>
          <a:p>
            <a:pPr marL="0" indent="0" algn="ctr">
              <a:buNone/>
            </a:pPr>
            <a:r>
              <a:rPr lang="en-US" sz="4000" dirty="0"/>
              <a:t>In C++, there are two statements </a:t>
            </a:r>
            <a:endParaRPr lang="en-US" sz="4000" dirty="0" smtClean="0"/>
          </a:p>
          <a:p>
            <a:pPr marL="0" indent="0" algn="ctr">
              <a:buNone/>
            </a:pPr>
            <a:r>
              <a:rPr lang="en-US" sz="4000" b="1" i="1" dirty="0" smtClean="0"/>
              <a:t>break</a:t>
            </a:r>
            <a:r>
              <a:rPr lang="en-US" sz="4000" b="1" i="1" dirty="0"/>
              <a:t>; and continue;</a:t>
            </a:r>
            <a:r>
              <a:rPr lang="en-US" sz="4000" dirty="0"/>
              <a:t> </a:t>
            </a:r>
            <a:endParaRPr lang="en-US" sz="4000" dirty="0" smtClean="0"/>
          </a:p>
          <a:p>
            <a:pPr marL="0" indent="0" algn="ctr">
              <a:buNone/>
            </a:pPr>
            <a:r>
              <a:rPr lang="en-US" sz="4000" dirty="0" smtClean="0"/>
              <a:t>to </a:t>
            </a:r>
            <a:r>
              <a:rPr lang="en-US" sz="4000" dirty="0"/>
              <a:t>alter the normal flow of a </a:t>
            </a:r>
            <a:r>
              <a:rPr lang="en-US" sz="4000" dirty="0" smtClean="0"/>
              <a:t>program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780315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When to use break &amp; continue?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152400" y="1600200"/>
            <a:ext cx="8534400" cy="4525963"/>
          </a:xfrm>
        </p:spPr>
        <p:txBody>
          <a:bodyPr/>
          <a:lstStyle/>
          <a:p>
            <a:r>
              <a:rPr lang="en-US" dirty="0"/>
              <a:t>Sometimes, it is desirable </a:t>
            </a:r>
            <a:endParaRPr lang="en-US" dirty="0" smtClean="0"/>
          </a:p>
          <a:p>
            <a:pPr lvl="1"/>
            <a:r>
              <a:rPr lang="en-US" dirty="0" smtClean="0"/>
              <a:t>to </a:t>
            </a:r>
            <a:r>
              <a:rPr lang="en-US" dirty="0"/>
              <a:t>skip the execution of a loop for a certain test condition or </a:t>
            </a:r>
            <a:endParaRPr lang="en-US" dirty="0" smtClean="0"/>
          </a:p>
          <a:p>
            <a:pPr lvl="1"/>
            <a:r>
              <a:rPr lang="en-US" dirty="0" smtClean="0"/>
              <a:t>terminate </a:t>
            </a:r>
            <a:r>
              <a:rPr lang="en-US" dirty="0"/>
              <a:t>it immediately without checking the condition.</a:t>
            </a:r>
          </a:p>
          <a:p>
            <a:r>
              <a:rPr lang="en-US" dirty="0"/>
              <a:t>For example: You want to loop through data of all </a:t>
            </a:r>
            <a:r>
              <a:rPr lang="en-US" dirty="0" smtClean="0"/>
              <a:t>people </a:t>
            </a:r>
            <a:r>
              <a:rPr lang="en-US" dirty="0"/>
              <a:t>except people aged 65. Or, you </a:t>
            </a:r>
            <a:r>
              <a:rPr lang="en-US" dirty="0" smtClean="0"/>
              <a:t>just want </a:t>
            </a:r>
            <a:r>
              <a:rPr lang="en-US" dirty="0"/>
              <a:t>to find the first person aged 20.</a:t>
            </a:r>
          </a:p>
        </p:txBody>
      </p:sp>
    </p:spTree>
    <p:extLst>
      <p:ext uri="{BB962C8B-B14F-4D97-AF65-F5344CB8AC3E}">
        <p14:creationId xmlns:p14="http://schemas.microsoft.com/office/powerpoint/2010/main" val="4611762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break Statement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419100" y="1589464"/>
            <a:ext cx="83058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800" dirty="0"/>
              <a:t>The </a:t>
            </a:r>
            <a:r>
              <a:rPr lang="en-US" sz="4800" dirty="0" smtClean="0"/>
              <a:t>break </a:t>
            </a:r>
            <a:r>
              <a:rPr lang="en-US" sz="4800" dirty="0"/>
              <a:t>statement </a:t>
            </a:r>
            <a:endParaRPr lang="en-US" sz="4800" dirty="0" smtClean="0"/>
          </a:p>
          <a:p>
            <a:pPr marL="0" indent="0" algn="ctr">
              <a:buNone/>
            </a:pPr>
            <a:r>
              <a:rPr lang="en-US" sz="4800" dirty="0" smtClean="0"/>
              <a:t>terminates </a:t>
            </a:r>
            <a:r>
              <a:rPr lang="en-US" sz="4800" dirty="0"/>
              <a:t>a </a:t>
            </a:r>
            <a:r>
              <a:rPr lang="en-US" sz="4800" b="1" i="1" dirty="0">
                <a:solidFill>
                  <a:srgbClr val="C00000"/>
                </a:solidFill>
              </a:rPr>
              <a:t>loop (for, while and </a:t>
            </a:r>
            <a:r>
              <a:rPr lang="en-US" sz="4800" b="1" i="1" dirty="0" smtClean="0">
                <a:solidFill>
                  <a:srgbClr val="C00000"/>
                </a:solidFill>
              </a:rPr>
              <a:t>do…while </a:t>
            </a:r>
            <a:r>
              <a:rPr lang="en-US" sz="4800" b="1" i="1" dirty="0">
                <a:solidFill>
                  <a:srgbClr val="C00000"/>
                </a:solidFill>
              </a:rPr>
              <a:t>loop) </a:t>
            </a:r>
            <a:r>
              <a:rPr lang="en-US" sz="4800" dirty="0" smtClean="0"/>
              <a:t>and </a:t>
            </a:r>
            <a:r>
              <a:rPr lang="en-US" sz="4800" b="1" i="1" dirty="0" smtClean="0">
                <a:solidFill>
                  <a:srgbClr val="C00000"/>
                </a:solidFill>
              </a:rPr>
              <a:t>a</a:t>
            </a:r>
            <a:r>
              <a:rPr lang="en-US" sz="4800" b="1" i="1" dirty="0">
                <a:solidFill>
                  <a:srgbClr val="C00000"/>
                </a:solidFill>
              </a:rPr>
              <a:t> switch statement</a:t>
            </a:r>
            <a:r>
              <a:rPr lang="en-US" sz="4800" dirty="0"/>
              <a:t> immediately when it appears.</a:t>
            </a:r>
          </a:p>
        </p:txBody>
      </p:sp>
    </p:spTree>
    <p:extLst>
      <p:ext uri="{BB962C8B-B14F-4D97-AF65-F5344CB8AC3E}">
        <p14:creationId xmlns:p14="http://schemas.microsoft.com/office/powerpoint/2010/main" val="13194450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break Statement - syntax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Rounded Rectangle 7"/>
          <p:cNvSpPr/>
          <p:nvPr/>
        </p:nvSpPr>
        <p:spPr>
          <a:xfrm>
            <a:off x="2164876" y="3015734"/>
            <a:ext cx="4814248" cy="838200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r>
              <a:rPr lang="en-US" altLang="en-US" sz="4000" b="1" dirty="0" smtClean="0">
                <a:solidFill>
                  <a:srgbClr val="0070C0"/>
                </a:solidFill>
                <a:latin typeface="Courier New" panose="02070309020205020404" pitchFamily="49" charset="0"/>
              </a:rPr>
              <a:t>break;</a:t>
            </a:r>
            <a:endParaRPr lang="en-US" altLang="en-US" sz="4000" dirty="0" smtClean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2952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251" y="914974"/>
            <a:ext cx="8149498" cy="5636737"/>
          </a:xfrm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336998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How </a:t>
            </a:r>
            <a:r>
              <a:rPr lang="en-US" sz="40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break statement works</a:t>
            </a:r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?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9" name="Oval 8"/>
          <p:cNvSpPr/>
          <p:nvPr/>
        </p:nvSpPr>
        <p:spPr>
          <a:xfrm>
            <a:off x="509761" y="1301115"/>
            <a:ext cx="838200" cy="526196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7982926" y="1247900"/>
            <a:ext cx="838200" cy="526196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528081" y="3962400"/>
            <a:ext cx="838200" cy="526196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3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316090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363940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break Statement – Example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28599" y="1427215"/>
            <a:ext cx="8849437" cy="1323439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C++ program to add all number entered by user until user enters 0.</a:t>
            </a:r>
            <a:endParaRPr lang="en-US" sz="4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543522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break Statement – Example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28599" y="1036403"/>
            <a:ext cx="8849437" cy="5693866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pPr lvl="1"/>
            <a:r>
              <a:rPr lang="en-US" sz="1600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sz="1600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sz="1600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sz="1600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endParaRPr lang="en-US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1600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main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sz="1600" dirty="0" smtClean="0">
                <a:solidFill>
                  <a:srgbClr val="8000FF"/>
                </a:solidFill>
                <a:latin typeface="Courier New" panose="02070309020205020404" pitchFamily="49" charset="0"/>
              </a:rPr>
              <a:t>float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number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sum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latin typeface="Courier New" panose="02070309020205020404" pitchFamily="49" charset="0"/>
              </a:rPr>
              <a:t>0.0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endParaRPr lang="en-US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sz="1600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en-US" sz="1600" dirty="0">
                <a:solidFill>
                  <a:srgbClr val="008000"/>
                </a:solidFill>
                <a:latin typeface="Courier New" panose="02070309020205020404" pitchFamily="49" charset="0"/>
              </a:rPr>
              <a:t>test expression is always true </a:t>
            </a:r>
            <a:endParaRPr lang="en-US" sz="1600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while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true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3"/>
            <a:r>
              <a:rPr lang="en-US" sz="16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urier New" panose="02070309020205020404" pitchFamily="49" charset="0"/>
              </a:rPr>
              <a:t>"Enter a number: "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3"/>
            <a:r>
              <a:rPr lang="en-US" sz="16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cin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&gt;&gt;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number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3"/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3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number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!=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latin typeface="Courier New" panose="02070309020205020404" pitchFamily="49" charset="0"/>
              </a:rPr>
              <a:t>0.0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3"/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sum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+=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number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3"/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3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else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4"/>
            <a:r>
              <a:rPr lang="en-US" sz="1600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en-US" sz="1600" dirty="0">
                <a:solidFill>
                  <a:srgbClr val="008000"/>
                </a:solidFill>
                <a:latin typeface="Courier New" panose="02070309020205020404" pitchFamily="49" charset="0"/>
              </a:rPr>
              <a:t>terminates the loop if number equals 0.0 </a:t>
            </a:r>
            <a:endParaRPr lang="en-US" sz="1600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lvl="4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break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3"/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sz="16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urier New" panose="02070309020205020404" pitchFamily="49" charset="0"/>
              </a:rPr>
              <a:t>"Sum = "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sum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sz="1600" dirty="0">
              <a:effectLst/>
            </a:endParaRPr>
          </a:p>
        </p:txBody>
      </p:sp>
      <p:sp>
        <p:nvSpPr>
          <p:cNvPr id="2" name="Left Arrow 1"/>
          <p:cNvSpPr/>
          <p:nvPr/>
        </p:nvSpPr>
        <p:spPr>
          <a:xfrm>
            <a:off x="3505200" y="1095320"/>
            <a:ext cx="1063388" cy="451721"/>
          </a:xfrm>
          <a:prstGeom prst="lef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82813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break Statement – Example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28599" y="1036403"/>
            <a:ext cx="8849437" cy="5693866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pPr lvl="1"/>
            <a:r>
              <a:rPr lang="en-US" sz="1600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sz="1600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sz="1600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sz="1600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endParaRPr lang="en-US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1600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main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sz="1600" dirty="0" smtClean="0">
                <a:solidFill>
                  <a:srgbClr val="8000FF"/>
                </a:solidFill>
                <a:latin typeface="Courier New" panose="02070309020205020404" pitchFamily="49" charset="0"/>
              </a:rPr>
              <a:t>float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number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sum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latin typeface="Courier New" panose="02070309020205020404" pitchFamily="49" charset="0"/>
              </a:rPr>
              <a:t>0.0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endParaRPr lang="en-US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sz="1600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en-US" sz="1600" dirty="0">
                <a:solidFill>
                  <a:srgbClr val="008000"/>
                </a:solidFill>
                <a:latin typeface="Courier New" panose="02070309020205020404" pitchFamily="49" charset="0"/>
              </a:rPr>
              <a:t>test expression is always true </a:t>
            </a:r>
            <a:endParaRPr lang="en-US" sz="1600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while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true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3"/>
            <a:r>
              <a:rPr lang="en-US" sz="16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urier New" panose="02070309020205020404" pitchFamily="49" charset="0"/>
              </a:rPr>
              <a:t>"Enter a number: "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3"/>
            <a:r>
              <a:rPr lang="en-US" sz="16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cin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&gt;&gt;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number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3"/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3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number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!=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latin typeface="Courier New" panose="02070309020205020404" pitchFamily="49" charset="0"/>
              </a:rPr>
              <a:t>0.0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3"/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sum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+=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number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3"/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3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else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4"/>
            <a:r>
              <a:rPr lang="en-US" sz="1600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en-US" sz="1600" dirty="0">
                <a:solidFill>
                  <a:srgbClr val="008000"/>
                </a:solidFill>
                <a:latin typeface="Courier New" panose="02070309020205020404" pitchFamily="49" charset="0"/>
              </a:rPr>
              <a:t>terminates the loop if number equals 0.0 </a:t>
            </a:r>
            <a:endParaRPr lang="en-US" sz="1600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lvl="4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break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3"/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sz="16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urier New" panose="02070309020205020404" pitchFamily="49" charset="0"/>
              </a:rPr>
              <a:t>"Sum = "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sum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sz="1600" dirty="0">
              <a:effectLst/>
            </a:endParaRPr>
          </a:p>
        </p:txBody>
      </p:sp>
      <p:sp>
        <p:nvSpPr>
          <p:cNvPr id="2" name="Left Arrow 1"/>
          <p:cNvSpPr/>
          <p:nvPr/>
        </p:nvSpPr>
        <p:spPr>
          <a:xfrm>
            <a:off x="2590800" y="1710075"/>
            <a:ext cx="914400" cy="423526"/>
          </a:xfrm>
          <a:prstGeom prst="lef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56577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break Statement – Example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28599" y="1036403"/>
            <a:ext cx="8849437" cy="5693866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pPr lvl="1"/>
            <a:r>
              <a:rPr lang="en-US" sz="1600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sz="1600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sz="1600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sz="1600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endParaRPr lang="en-US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1600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main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sz="1600" dirty="0" smtClean="0">
                <a:solidFill>
                  <a:srgbClr val="8000FF"/>
                </a:solidFill>
                <a:latin typeface="Courier New" panose="02070309020205020404" pitchFamily="49" charset="0"/>
              </a:rPr>
              <a:t>float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number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sum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latin typeface="Courier New" panose="02070309020205020404" pitchFamily="49" charset="0"/>
              </a:rPr>
              <a:t>0.0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endParaRPr lang="en-US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sz="1600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en-US" sz="1600" dirty="0">
                <a:solidFill>
                  <a:srgbClr val="008000"/>
                </a:solidFill>
                <a:latin typeface="Courier New" panose="02070309020205020404" pitchFamily="49" charset="0"/>
              </a:rPr>
              <a:t>test expression is always true </a:t>
            </a:r>
            <a:endParaRPr lang="en-US" sz="1600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while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true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3"/>
            <a:r>
              <a:rPr lang="en-US" sz="16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urier New" panose="02070309020205020404" pitchFamily="49" charset="0"/>
              </a:rPr>
              <a:t>"Enter a number: "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3"/>
            <a:r>
              <a:rPr lang="en-US" sz="16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cin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&gt;&gt;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number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3"/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3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number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!=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latin typeface="Courier New" panose="02070309020205020404" pitchFamily="49" charset="0"/>
              </a:rPr>
              <a:t>0.0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3"/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sum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+=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number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3"/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3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else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4"/>
            <a:r>
              <a:rPr lang="en-US" sz="1600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en-US" sz="1600" dirty="0">
                <a:solidFill>
                  <a:srgbClr val="008000"/>
                </a:solidFill>
                <a:latin typeface="Courier New" panose="02070309020205020404" pitchFamily="49" charset="0"/>
              </a:rPr>
              <a:t>terminates the loop if number equals 0.0 </a:t>
            </a:r>
            <a:endParaRPr lang="en-US" sz="1600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lvl="4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break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3"/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sz="16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urier New" panose="02070309020205020404" pitchFamily="49" charset="0"/>
              </a:rPr>
              <a:t>"Sum = "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sum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sz="1600" dirty="0">
              <a:effectLst/>
            </a:endParaRPr>
          </a:p>
        </p:txBody>
      </p:sp>
      <p:sp>
        <p:nvSpPr>
          <p:cNvPr id="2" name="Left Arrow 1"/>
          <p:cNvSpPr/>
          <p:nvPr/>
        </p:nvSpPr>
        <p:spPr>
          <a:xfrm>
            <a:off x="4556078" y="1981200"/>
            <a:ext cx="914400" cy="423526"/>
          </a:xfrm>
          <a:prstGeom prst="lef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75405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break Statement – Example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28599" y="1036403"/>
            <a:ext cx="8849437" cy="5693866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pPr lvl="1"/>
            <a:r>
              <a:rPr lang="en-US" sz="1600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sz="1600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sz="1600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sz="1600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endParaRPr lang="en-US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1600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main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sz="1600" dirty="0" smtClean="0">
                <a:solidFill>
                  <a:srgbClr val="8000FF"/>
                </a:solidFill>
                <a:latin typeface="Courier New" panose="02070309020205020404" pitchFamily="49" charset="0"/>
              </a:rPr>
              <a:t>float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number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sum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latin typeface="Courier New" panose="02070309020205020404" pitchFamily="49" charset="0"/>
              </a:rPr>
              <a:t>0.0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endParaRPr lang="en-US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sz="1600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en-US" sz="1600" dirty="0">
                <a:solidFill>
                  <a:srgbClr val="008000"/>
                </a:solidFill>
                <a:latin typeface="Courier New" panose="02070309020205020404" pitchFamily="49" charset="0"/>
              </a:rPr>
              <a:t>test expression is always true </a:t>
            </a:r>
            <a:endParaRPr lang="en-US" sz="1600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while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true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3"/>
            <a:r>
              <a:rPr lang="en-US" sz="16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urier New" panose="02070309020205020404" pitchFamily="49" charset="0"/>
              </a:rPr>
              <a:t>"Enter a number: "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3"/>
            <a:r>
              <a:rPr lang="en-US" sz="16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cin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&gt;&gt;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number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3"/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3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number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!=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latin typeface="Courier New" panose="02070309020205020404" pitchFamily="49" charset="0"/>
              </a:rPr>
              <a:t>0.0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3"/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sum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+=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number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3"/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3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else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4"/>
            <a:r>
              <a:rPr lang="en-US" sz="1600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en-US" sz="1600" dirty="0">
                <a:solidFill>
                  <a:srgbClr val="008000"/>
                </a:solidFill>
                <a:latin typeface="Courier New" panose="02070309020205020404" pitchFamily="49" charset="0"/>
              </a:rPr>
              <a:t>terminates the loop if number equals 0.0 </a:t>
            </a:r>
            <a:endParaRPr lang="en-US" sz="1600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lvl="4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break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3"/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sz="16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urier New" panose="02070309020205020404" pitchFamily="49" charset="0"/>
              </a:rPr>
              <a:t>"Sum = "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sum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sz="1600" dirty="0">
              <a:effectLst/>
            </a:endParaRPr>
          </a:p>
        </p:txBody>
      </p:sp>
      <p:sp>
        <p:nvSpPr>
          <p:cNvPr id="2" name="Left Arrow 1"/>
          <p:cNvSpPr/>
          <p:nvPr/>
        </p:nvSpPr>
        <p:spPr>
          <a:xfrm>
            <a:off x="3276600" y="2667000"/>
            <a:ext cx="914400" cy="423526"/>
          </a:xfrm>
          <a:prstGeom prst="lef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71498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break Statement – Example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28599" y="1036403"/>
            <a:ext cx="8849437" cy="5693866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pPr lvl="1"/>
            <a:r>
              <a:rPr lang="en-US" sz="1600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sz="1600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sz="1600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sz="1600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endParaRPr lang="en-US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1600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main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sz="1600" dirty="0" smtClean="0">
                <a:solidFill>
                  <a:srgbClr val="8000FF"/>
                </a:solidFill>
                <a:latin typeface="Courier New" panose="02070309020205020404" pitchFamily="49" charset="0"/>
              </a:rPr>
              <a:t>float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number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sum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latin typeface="Courier New" panose="02070309020205020404" pitchFamily="49" charset="0"/>
              </a:rPr>
              <a:t>0.0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endParaRPr lang="en-US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sz="1600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en-US" sz="1600" dirty="0">
                <a:solidFill>
                  <a:srgbClr val="008000"/>
                </a:solidFill>
                <a:latin typeface="Courier New" panose="02070309020205020404" pitchFamily="49" charset="0"/>
              </a:rPr>
              <a:t>test expression is always true </a:t>
            </a:r>
            <a:endParaRPr lang="en-US" sz="1600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while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true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3"/>
            <a:r>
              <a:rPr lang="en-US" sz="16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urier New" panose="02070309020205020404" pitchFamily="49" charset="0"/>
              </a:rPr>
              <a:t>"Enter a number: "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3"/>
            <a:r>
              <a:rPr lang="en-US" sz="16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cin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&gt;&gt;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number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3"/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3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number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!=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latin typeface="Courier New" panose="02070309020205020404" pitchFamily="49" charset="0"/>
              </a:rPr>
              <a:t>0.0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3"/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sum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+=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number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3"/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3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else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4"/>
            <a:r>
              <a:rPr lang="en-US" sz="1600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en-US" sz="1600" dirty="0">
                <a:solidFill>
                  <a:srgbClr val="008000"/>
                </a:solidFill>
                <a:latin typeface="Courier New" panose="02070309020205020404" pitchFamily="49" charset="0"/>
              </a:rPr>
              <a:t>terminates the loop if number equals 0.0 </a:t>
            </a:r>
            <a:endParaRPr lang="en-US" sz="1600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lvl="4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break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3"/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sz="16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urier New" panose="02070309020205020404" pitchFamily="49" charset="0"/>
              </a:rPr>
              <a:t>"Sum = "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sum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sz="1600" dirty="0">
              <a:effectLst/>
            </a:endParaRPr>
          </a:p>
        </p:txBody>
      </p:sp>
      <p:sp>
        <p:nvSpPr>
          <p:cNvPr id="2" name="Left Arrow 1"/>
          <p:cNvSpPr/>
          <p:nvPr/>
        </p:nvSpPr>
        <p:spPr>
          <a:xfrm>
            <a:off x="5105400" y="2971800"/>
            <a:ext cx="1143000" cy="501215"/>
          </a:xfrm>
          <a:prstGeom prst="lef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14228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break Statement – Example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28599" y="1036403"/>
            <a:ext cx="8849437" cy="5693866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pPr lvl="1"/>
            <a:r>
              <a:rPr lang="en-US" sz="1600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sz="1600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sz="1600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sz="1600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endParaRPr lang="en-US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1600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main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sz="1600" dirty="0" smtClean="0">
                <a:solidFill>
                  <a:srgbClr val="8000FF"/>
                </a:solidFill>
                <a:latin typeface="Courier New" panose="02070309020205020404" pitchFamily="49" charset="0"/>
              </a:rPr>
              <a:t>float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number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sum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latin typeface="Courier New" panose="02070309020205020404" pitchFamily="49" charset="0"/>
              </a:rPr>
              <a:t>0.0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endParaRPr lang="en-US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sz="1600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en-US" sz="1600" dirty="0">
                <a:solidFill>
                  <a:srgbClr val="008000"/>
                </a:solidFill>
                <a:latin typeface="Courier New" panose="02070309020205020404" pitchFamily="49" charset="0"/>
              </a:rPr>
              <a:t>test expression is always true </a:t>
            </a:r>
            <a:endParaRPr lang="en-US" sz="1600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while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true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3"/>
            <a:r>
              <a:rPr lang="en-US" sz="16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urier New" panose="02070309020205020404" pitchFamily="49" charset="0"/>
              </a:rPr>
              <a:t>"Enter a number: "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3"/>
            <a:r>
              <a:rPr lang="en-US" sz="16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cin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&gt;&gt;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number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3"/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3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number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!=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latin typeface="Courier New" panose="02070309020205020404" pitchFamily="49" charset="0"/>
              </a:rPr>
              <a:t>0.0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3"/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sum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+=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number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3"/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3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else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4"/>
            <a:r>
              <a:rPr lang="en-US" sz="1600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en-US" sz="1600" dirty="0">
                <a:solidFill>
                  <a:srgbClr val="008000"/>
                </a:solidFill>
                <a:latin typeface="Courier New" panose="02070309020205020404" pitchFamily="49" charset="0"/>
              </a:rPr>
              <a:t>terminates the loop if number equals 0.0 </a:t>
            </a:r>
            <a:endParaRPr lang="en-US" sz="1600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lvl="4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break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3"/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sz="16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urier New" panose="02070309020205020404" pitchFamily="49" charset="0"/>
              </a:rPr>
              <a:t>"Sum = "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sum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sz="1600" dirty="0">
              <a:effectLst/>
            </a:endParaRPr>
          </a:p>
        </p:txBody>
      </p:sp>
      <p:sp>
        <p:nvSpPr>
          <p:cNvPr id="2" name="Left Arrow 1"/>
          <p:cNvSpPr/>
          <p:nvPr/>
        </p:nvSpPr>
        <p:spPr>
          <a:xfrm>
            <a:off x="4495800" y="3883336"/>
            <a:ext cx="1143000" cy="501215"/>
          </a:xfrm>
          <a:prstGeom prst="lef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8166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break Statement – Example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28599" y="1036403"/>
            <a:ext cx="8849437" cy="5693866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pPr lvl="1"/>
            <a:r>
              <a:rPr lang="en-US" sz="1600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sz="1600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sz="1600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sz="1600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endParaRPr lang="en-US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1600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main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sz="1600" dirty="0" smtClean="0">
                <a:solidFill>
                  <a:srgbClr val="8000FF"/>
                </a:solidFill>
                <a:latin typeface="Courier New" panose="02070309020205020404" pitchFamily="49" charset="0"/>
              </a:rPr>
              <a:t>float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number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sum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latin typeface="Courier New" panose="02070309020205020404" pitchFamily="49" charset="0"/>
              </a:rPr>
              <a:t>0.0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endParaRPr lang="en-US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sz="1600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en-US" sz="1600" dirty="0">
                <a:solidFill>
                  <a:srgbClr val="008000"/>
                </a:solidFill>
                <a:latin typeface="Courier New" panose="02070309020205020404" pitchFamily="49" charset="0"/>
              </a:rPr>
              <a:t>test expression is always true </a:t>
            </a:r>
            <a:endParaRPr lang="en-US" sz="1600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while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true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3"/>
            <a:r>
              <a:rPr lang="en-US" sz="16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urier New" panose="02070309020205020404" pitchFamily="49" charset="0"/>
              </a:rPr>
              <a:t>"Enter a number: "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3"/>
            <a:r>
              <a:rPr lang="en-US" sz="16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cin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&gt;&gt;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number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3"/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3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number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!=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latin typeface="Courier New" panose="02070309020205020404" pitchFamily="49" charset="0"/>
              </a:rPr>
              <a:t>0.0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3"/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sum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+=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number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3"/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3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else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4"/>
            <a:r>
              <a:rPr lang="en-US" sz="1600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en-US" sz="1600" dirty="0">
                <a:solidFill>
                  <a:srgbClr val="008000"/>
                </a:solidFill>
                <a:latin typeface="Courier New" panose="02070309020205020404" pitchFamily="49" charset="0"/>
              </a:rPr>
              <a:t>terminates the loop if number equals 0.0 </a:t>
            </a:r>
            <a:endParaRPr lang="en-US" sz="1600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lvl="4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break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3"/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sz="16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urier New" panose="02070309020205020404" pitchFamily="49" charset="0"/>
              </a:rPr>
              <a:t>"Sum = "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sum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sz="1600" dirty="0">
              <a:effectLst/>
            </a:endParaRPr>
          </a:p>
        </p:txBody>
      </p:sp>
      <p:sp>
        <p:nvSpPr>
          <p:cNvPr id="2" name="Left Arrow 1"/>
          <p:cNvSpPr/>
          <p:nvPr/>
        </p:nvSpPr>
        <p:spPr>
          <a:xfrm>
            <a:off x="3276600" y="4876800"/>
            <a:ext cx="1143000" cy="501215"/>
          </a:xfrm>
          <a:prstGeom prst="lef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9117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break Statement – Example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28599" y="1036403"/>
            <a:ext cx="8849437" cy="5693866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pPr lvl="1"/>
            <a:r>
              <a:rPr lang="en-US" sz="1600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sz="1600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sz="1600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sz="1600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endParaRPr lang="en-US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1600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main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sz="1600" dirty="0" smtClean="0">
                <a:solidFill>
                  <a:srgbClr val="8000FF"/>
                </a:solidFill>
                <a:latin typeface="Courier New" panose="02070309020205020404" pitchFamily="49" charset="0"/>
              </a:rPr>
              <a:t>float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number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sum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latin typeface="Courier New" panose="02070309020205020404" pitchFamily="49" charset="0"/>
              </a:rPr>
              <a:t>0.0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endParaRPr lang="en-US" sz="1600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sz="1600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en-US" sz="1600" dirty="0">
                <a:solidFill>
                  <a:srgbClr val="008000"/>
                </a:solidFill>
                <a:latin typeface="Courier New" panose="02070309020205020404" pitchFamily="49" charset="0"/>
              </a:rPr>
              <a:t>test expression is always true </a:t>
            </a:r>
            <a:endParaRPr lang="en-US" sz="1600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while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600" b="1" dirty="0">
                <a:solidFill>
                  <a:srgbClr val="0000FF"/>
                </a:solidFill>
                <a:latin typeface="Courier New" panose="02070309020205020404" pitchFamily="49" charset="0"/>
              </a:rPr>
              <a:t>true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3"/>
            <a:r>
              <a:rPr lang="en-US" sz="16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urier New" panose="02070309020205020404" pitchFamily="49" charset="0"/>
              </a:rPr>
              <a:t>"Enter a number: "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3"/>
            <a:r>
              <a:rPr lang="en-US" sz="16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cin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&gt;&gt;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number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3"/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3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number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!=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latin typeface="Courier New" panose="02070309020205020404" pitchFamily="49" charset="0"/>
              </a:rPr>
              <a:t>0.0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3"/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sum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+=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number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3"/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3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else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4"/>
            <a:r>
              <a:rPr lang="en-US" sz="1600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 </a:t>
            </a:r>
            <a:r>
              <a:rPr lang="en-US" sz="1600" dirty="0">
                <a:solidFill>
                  <a:srgbClr val="008000"/>
                </a:solidFill>
                <a:latin typeface="Courier New" panose="02070309020205020404" pitchFamily="49" charset="0"/>
              </a:rPr>
              <a:t>terminates the loop if number equals 0.0 </a:t>
            </a:r>
            <a:endParaRPr lang="en-US" sz="1600" dirty="0" smtClean="0">
              <a:solidFill>
                <a:srgbClr val="008000"/>
              </a:solidFill>
              <a:latin typeface="Courier New" panose="02070309020205020404" pitchFamily="49" charset="0"/>
            </a:endParaRPr>
          </a:p>
          <a:p>
            <a:pPr lvl="4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break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3"/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sz="16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ourier New" panose="02070309020205020404" pitchFamily="49" charset="0"/>
              </a:rPr>
              <a:t>"Sum = "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sum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sz="16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sz="1600" dirty="0">
              <a:effectLst/>
            </a:endParaRPr>
          </a:p>
        </p:txBody>
      </p:sp>
      <p:sp>
        <p:nvSpPr>
          <p:cNvPr id="2" name="Left Arrow 1"/>
          <p:cNvSpPr/>
          <p:nvPr/>
        </p:nvSpPr>
        <p:spPr>
          <a:xfrm>
            <a:off x="4343400" y="5570989"/>
            <a:ext cx="1143000" cy="501215"/>
          </a:xfrm>
          <a:prstGeom prst="lef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4346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continue Statement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419100" y="1589464"/>
            <a:ext cx="83058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It is sometimes necessary to skip a certain test condition within a loop. 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In </a:t>
            </a:r>
            <a:r>
              <a:rPr lang="en-US" dirty="0"/>
              <a:t>such case, </a:t>
            </a:r>
            <a:r>
              <a:rPr lang="en-US" dirty="0" smtClean="0"/>
              <a:t>continue </a:t>
            </a:r>
            <a:r>
              <a:rPr lang="en-US" dirty="0"/>
              <a:t>statement is </a:t>
            </a:r>
            <a:r>
              <a:rPr lang="en-US" dirty="0" smtClean="0"/>
              <a:t>used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62010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continue Statement - syntax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Rounded Rectangle 7"/>
          <p:cNvSpPr/>
          <p:nvPr/>
        </p:nvSpPr>
        <p:spPr>
          <a:xfrm>
            <a:off x="2164876" y="3009900"/>
            <a:ext cx="4814248" cy="838200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FontTx/>
              <a:buNone/>
            </a:pPr>
            <a:r>
              <a:rPr lang="en-US" altLang="en-US" sz="2400" b="1" dirty="0" smtClean="0">
                <a:solidFill>
                  <a:srgbClr val="0070C0"/>
                </a:solidFill>
                <a:latin typeface="Courier New" panose="02070309020205020404" pitchFamily="49" charset="0"/>
              </a:rPr>
              <a:t>continue;</a:t>
            </a:r>
            <a:endParaRPr lang="en-US" altLang="en-US" sz="2400" dirty="0" smtClean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7256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761" y="911457"/>
            <a:ext cx="8229600" cy="5637277"/>
          </a:xfrm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336998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How continue statement </a:t>
            </a:r>
            <a:r>
              <a:rPr lang="en-US" sz="40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works</a:t>
            </a:r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?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02604"/>
            <a:ext cx="8839200" cy="4419600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9" name="Oval 8"/>
          <p:cNvSpPr/>
          <p:nvPr/>
        </p:nvSpPr>
        <p:spPr>
          <a:xfrm>
            <a:off x="274661" y="1099588"/>
            <a:ext cx="838200" cy="526196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1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7849800" y="1035040"/>
            <a:ext cx="838200" cy="526196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2" name="Oval 11"/>
          <p:cNvSpPr/>
          <p:nvPr/>
        </p:nvSpPr>
        <p:spPr>
          <a:xfrm>
            <a:off x="322997" y="4038600"/>
            <a:ext cx="838200" cy="526196"/>
          </a:xfrm>
          <a:prstGeom prst="ellipse">
            <a:avLst/>
          </a:prstGeom>
          <a:solidFill>
            <a:srgbClr val="FFFF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FF0000"/>
                </a:solidFill>
              </a:rPr>
              <a:t>3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05597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363940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continue Statement – Example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28599" y="1286360"/>
            <a:ext cx="8849437" cy="1200329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C</a:t>
            </a:r>
            <a:r>
              <a:rPr lang="en-US" sz="3600" dirty="0"/>
              <a:t>++ program to display integer from 1 to 10 except 6 and 9.</a:t>
            </a:r>
          </a:p>
        </p:txBody>
      </p:sp>
    </p:spTree>
    <p:extLst>
      <p:ext uri="{BB962C8B-B14F-4D97-AF65-F5344CB8AC3E}">
        <p14:creationId xmlns:p14="http://schemas.microsoft.com/office/powerpoint/2010/main" val="8214244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continue </a:t>
            </a:r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Statement – Example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28599" y="1036403"/>
            <a:ext cx="8849437" cy="4801314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dirty="0" smtClean="0">
                <a:solidFill>
                  <a:srgbClr val="804000"/>
                </a:solidFill>
                <a:latin typeface="Courier New" panose="02070309020205020404" pitchFamily="49" charset="0"/>
              </a:rPr>
              <a:t>&gt;</a:t>
            </a: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main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1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10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++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||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9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	continue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"\t"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dirty="0">
              <a:effectLst/>
            </a:endParaRPr>
          </a:p>
        </p:txBody>
      </p:sp>
      <p:sp>
        <p:nvSpPr>
          <p:cNvPr id="2" name="Left Arrow 1"/>
          <p:cNvSpPr/>
          <p:nvPr/>
        </p:nvSpPr>
        <p:spPr>
          <a:xfrm>
            <a:off x="3505200" y="1095320"/>
            <a:ext cx="1063388" cy="451721"/>
          </a:xfrm>
          <a:prstGeom prst="lef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976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continue </a:t>
            </a:r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Statement – Example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28599" y="1036403"/>
            <a:ext cx="8849437" cy="4801314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dirty="0" smtClean="0">
                <a:solidFill>
                  <a:srgbClr val="804000"/>
                </a:solidFill>
                <a:latin typeface="Courier New" panose="02070309020205020404" pitchFamily="49" charset="0"/>
              </a:rPr>
              <a:t>&gt;</a:t>
            </a: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main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1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10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++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||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9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	continue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"\t"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dirty="0">
              <a:effectLst/>
            </a:endParaRPr>
          </a:p>
        </p:txBody>
      </p:sp>
      <p:sp>
        <p:nvSpPr>
          <p:cNvPr id="2" name="Left Arrow 1"/>
          <p:cNvSpPr/>
          <p:nvPr/>
        </p:nvSpPr>
        <p:spPr>
          <a:xfrm>
            <a:off x="2057400" y="1905000"/>
            <a:ext cx="1063388" cy="451721"/>
          </a:xfrm>
          <a:prstGeom prst="lef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9369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continue </a:t>
            </a:r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Statement – Example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28599" y="1036403"/>
            <a:ext cx="8849437" cy="4801314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dirty="0" smtClean="0">
                <a:solidFill>
                  <a:srgbClr val="804000"/>
                </a:solidFill>
                <a:latin typeface="Courier New" panose="02070309020205020404" pitchFamily="49" charset="0"/>
              </a:rPr>
              <a:t>&gt;</a:t>
            </a: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main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1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10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++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||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9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	continue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"\t"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dirty="0">
              <a:effectLst/>
            </a:endParaRPr>
          </a:p>
        </p:txBody>
      </p:sp>
      <p:sp>
        <p:nvSpPr>
          <p:cNvPr id="2" name="Left Arrow 1"/>
          <p:cNvSpPr/>
          <p:nvPr/>
        </p:nvSpPr>
        <p:spPr>
          <a:xfrm>
            <a:off x="4953000" y="2590800"/>
            <a:ext cx="1063388" cy="451721"/>
          </a:xfrm>
          <a:prstGeom prst="lef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0918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continue </a:t>
            </a:r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Statement – Example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28599" y="1036403"/>
            <a:ext cx="8849437" cy="4801314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dirty="0" smtClean="0">
                <a:solidFill>
                  <a:srgbClr val="804000"/>
                </a:solidFill>
                <a:latin typeface="Courier New" panose="02070309020205020404" pitchFamily="49" charset="0"/>
              </a:rPr>
              <a:t>&gt;</a:t>
            </a: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main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1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10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++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||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9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	continue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"\t"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dirty="0">
              <a:effectLst/>
            </a:endParaRPr>
          </a:p>
        </p:txBody>
      </p:sp>
      <p:sp>
        <p:nvSpPr>
          <p:cNvPr id="2" name="Left Arrow 1"/>
          <p:cNvSpPr/>
          <p:nvPr/>
        </p:nvSpPr>
        <p:spPr>
          <a:xfrm>
            <a:off x="4419600" y="3231221"/>
            <a:ext cx="1063388" cy="451721"/>
          </a:xfrm>
          <a:prstGeom prst="lef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90667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continue </a:t>
            </a:r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Statement – Example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28599" y="1036403"/>
            <a:ext cx="8849437" cy="4801314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dirty="0" smtClean="0">
                <a:solidFill>
                  <a:srgbClr val="804000"/>
                </a:solidFill>
                <a:latin typeface="Courier New" panose="02070309020205020404" pitchFamily="49" charset="0"/>
              </a:rPr>
              <a:t>&gt;</a:t>
            </a: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main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1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10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++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||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9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	continue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"\t"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dirty="0">
              <a:effectLst/>
            </a:endParaRPr>
          </a:p>
        </p:txBody>
      </p:sp>
      <p:sp>
        <p:nvSpPr>
          <p:cNvPr id="2" name="Left Arrow 1"/>
          <p:cNvSpPr/>
          <p:nvPr/>
        </p:nvSpPr>
        <p:spPr>
          <a:xfrm>
            <a:off x="3626323" y="3758091"/>
            <a:ext cx="1063388" cy="451721"/>
          </a:xfrm>
          <a:prstGeom prst="lef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4100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599" y="258075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FF0000"/>
                </a:solidFill>
              </a:rPr>
              <a:t>continue </a:t>
            </a:r>
            <a:r>
              <a:rPr lang="en-US" sz="40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Statement – Example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1388" y="1547041"/>
            <a:ext cx="8534400" cy="4873823"/>
          </a:xfrm>
          <a:prstGeom prst="rect">
            <a:avLst/>
          </a:prstGeom>
        </p:spPr>
        <p:txBody>
          <a:bodyPr/>
          <a:lstStyle/>
          <a:p>
            <a:pPr algn="just"/>
            <a:endParaRPr lang="en-US" sz="3600" dirty="0" smtClean="0">
              <a:solidFill>
                <a:srgbClr val="0269AF"/>
              </a:solidFill>
              <a:latin typeface="AGaramond-Semibold--Identity-H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228599" y="1036403"/>
            <a:ext cx="8849437" cy="4801314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dirty="0" smtClean="0">
                <a:solidFill>
                  <a:srgbClr val="804000"/>
                </a:solidFill>
                <a:latin typeface="Courier New" panose="02070309020205020404" pitchFamily="49" charset="0"/>
              </a:rPr>
              <a:t>&gt;</a:t>
            </a: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main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for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1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10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++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6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||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==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9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	continue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urier New" panose="02070309020205020404" pitchFamily="49" charset="0"/>
              </a:rPr>
              <a:t>i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latin typeface="Courier New" panose="02070309020205020404" pitchFamily="49" charset="0"/>
              </a:rPr>
              <a:t>"\t"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</a:p>
          <a:p>
            <a:pPr lvl="1"/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dirty="0">
              <a:effectLst/>
            </a:endParaRPr>
          </a:p>
        </p:txBody>
      </p:sp>
      <p:sp>
        <p:nvSpPr>
          <p:cNvPr id="2" name="Left Arrow 1"/>
          <p:cNvSpPr/>
          <p:nvPr/>
        </p:nvSpPr>
        <p:spPr>
          <a:xfrm>
            <a:off x="3886200" y="4267200"/>
            <a:ext cx="1063388" cy="451721"/>
          </a:xfrm>
          <a:prstGeom prst="lef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99851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pic>
        <p:nvPicPr>
          <p:cNvPr id="8" name="Picture 7" descr="thank-you-very-much--thumb10035738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43100" y="1543050"/>
            <a:ext cx="5257800" cy="3771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27591</TotalTime>
  <Words>2188</Words>
  <Application>Microsoft Office PowerPoint</Application>
  <PresentationFormat>On-screen Show (4:3)</PresentationFormat>
  <Paragraphs>715</Paragraphs>
  <Slides>58</Slides>
  <Notes>56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7" baseType="lpstr">
      <vt:lpstr>AGaramond-Semibold--Identity-H</vt:lpstr>
      <vt:lpstr>Arial</vt:lpstr>
      <vt:lpstr>Calibri</vt:lpstr>
      <vt:lpstr>Courier</vt:lpstr>
      <vt:lpstr>Courier New</vt:lpstr>
      <vt:lpstr>Monotype Sorts</vt:lpstr>
      <vt:lpstr>Symbol</vt:lpstr>
      <vt:lpstr>Wingdings</vt:lpstr>
      <vt:lpstr>Office Theme</vt:lpstr>
      <vt:lpstr>CS-111 Fundamentals of Computer Programming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Array Index - Example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Quratulain</dc:creator>
  <cp:lastModifiedBy>Muhammad Zohaib Awan</cp:lastModifiedBy>
  <cp:revision>1773</cp:revision>
  <dcterms:created xsi:type="dcterms:W3CDTF">2006-08-16T00:00:00Z</dcterms:created>
  <dcterms:modified xsi:type="dcterms:W3CDTF">2018-12-04T21:46:30Z</dcterms:modified>
</cp:coreProperties>
</file>