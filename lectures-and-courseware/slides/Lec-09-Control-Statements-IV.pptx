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9"/>
  </p:notesMasterIdLst>
  <p:sldIdLst>
    <p:sldId id="257" r:id="rId2"/>
    <p:sldId id="824" r:id="rId3"/>
    <p:sldId id="845" r:id="rId4"/>
    <p:sldId id="825" r:id="rId5"/>
    <p:sldId id="826" r:id="rId6"/>
    <p:sldId id="827" r:id="rId7"/>
    <p:sldId id="828" r:id="rId8"/>
    <p:sldId id="829" r:id="rId9"/>
    <p:sldId id="830" r:id="rId10"/>
    <p:sldId id="831" r:id="rId11"/>
    <p:sldId id="832" r:id="rId12"/>
    <p:sldId id="833" r:id="rId13"/>
    <p:sldId id="834" r:id="rId14"/>
    <p:sldId id="835" r:id="rId15"/>
    <p:sldId id="836" r:id="rId16"/>
    <p:sldId id="837" r:id="rId17"/>
    <p:sldId id="838" r:id="rId18"/>
    <p:sldId id="839" r:id="rId19"/>
    <p:sldId id="840" r:id="rId20"/>
    <p:sldId id="841" r:id="rId21"/>
    <p:sldId id="842" r:id="rId22"/>
    <p:sldId id="843" r:id="rId23"/>
    <p:sldId id="846" r:id="rId24"/>
    <p:sldId id="847" r:id="rId25"/>
    <p:sldId id="848" r:id="rId26"/>
    <p:sldId id="844" r:id="rId27"/>
    <p:sldId id="325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2E84"/>
    <a:srgbClr val="AD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34" autoAdjust="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2F8C8-4AB1-4EC7-8A80-DF0BAD6D312F}" type="datetimeFigureOut">
              <a:rPr lang="en-US" smtClean="0"/>
              <a:pPr/>
              <a:t>11/6/2018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78537-16E5-4CC2-9695-625595435CC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886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D54AAF-9BF3-4853-8FDE-D596CE60BAD0}" type="slidenum">
              <a:rPr lang="en-US"/>
              <a:pPr/>
              <a:t>1</a:t>
            </a:fld>
            <a:endParaRPr lang="en-US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41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866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6821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9849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0967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0022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135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1070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3703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18373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76021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3028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1675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2197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3601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9339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5135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48809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7717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354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6836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0667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5774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765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321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332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527774"/>
            <a:ext cx="6654627" cy="218958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alpha val="71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350730"/>
            <a:ext cx="7772400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 smtClean="0">
                <a:solidFill>
                  <a:schemeClr val="bg1"/>
                </a:solidFill>
              </a:rPr>
              <a:t>CS-111</a:t>
            </a:r>
            <a:r>
              <a:rPr lang="en-US" sz="4000" dirty="0">
                <a:solidFill>
                  <a:schemeClr val="bg1"/>
                </a:solidFill>
              </a:rPr>
              <a:t/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b="1" dirty="0" smtClean="0">
                <a:solidFill>
                  <a:schemeClr val="bg1"/>
                </a:solidFill>
              </a:rPr>
              <a:t>Fundamentals of Computer </a:t>
            </a:r>
            <a:r>
              <a:rPr lang="en-US" sz="4000" b="1" dirty="0">
                <a:solidFill>
                  <a:schemeClr val="bg1"/>
                </a:solidFill>
              </a:rPr>
              <a:t>Programming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69913" y="3746267"/>
            <a:ext cx="6400800" cy="17526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Lecture 09</a:t>
            </a:r>
          </a:p>
          <a:p>
            <a:pPr algn="ctr"/>
            <a:r>
              <a:rPr lang="en-US" smtClean="0">
                <a:solidFill>
                  <a:schemeClr val="bg1"/>
                </a:solidFill>
              </a:rPr>
              <a:t>Control Statements – IV</a:t>
            </a:r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r>
              <a:rPr lang="en-US" sz="1800" b="1" dirty="0" smtClean="0">
                <a:solidFill>
                  <a:schemeClr val="bg1"/>
                </a:solidFill>
              </a:rPr>
              <a:t>Institute of Geographical Information Systems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http://www.nust.edu.pk/SiteCollectionImages/logo_SEECS_1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72400" y="5867400"/>
            <a:ext cx="1143000" cy="923925"/>
          </a:xfrm>
          <a:prstGeom prst="rect">
            <a:avLst/>
          </a:prstGeom>
          <a:noFill/>
        </p:spPr>
      </p:pic>
      <p:sp>
        <p:nvSpPr>
          <p:cNvPr id="15" name="Rectangle 14"/>
          <p:cNvSpPr/>
          <p:nvPr/>
        </p:nvSpPr>
        <p:spPr>
          <a:xfrm>
            <a:off x="0" y="5867400"/>
            <a:ext cx="2286000" cy="990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Course Instructor:</a:t>
            </a:r>
          </a:p>
          <a:p>
            <a:pPr algn="ctr"/>
            <a:r>
              <a:rPr lang="en-US" b="1" dirty="0" smtClean="0"/>
              <a:t>Qurrat-</a:t>
            </a:r>
            <a:r>
              <a:rPr lang="en-US" b="1" dirty="0" err="1" smtClean="0"/>
              <a:t>ul</a:t>
            </a:r>
            <a:r>
              <a:rPr lang="en-US" b="1" dirty="0" smtClean="0"/>
              <a:t>-</a:t>
            </a:r>
            <a:r>
              <a:rPr lang="en-US" b="1" dirty="0" err="1" smtClean="0"/>
              <a:t>ain</a:t>
            </a:r>
            <a:r>
              <a:rPr lang="en-US" b="1" dirty="0" smtClean="0"/>
              <a:t> Babar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181600" y="6144994"/>
            <a:ext cx="2400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NUST Institute of Civil Engineering (NICE)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752600"/>
            <a:ext cx="5410200" cy="43611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" y="152723"/>
            <a:ext cx="8458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chemeClr val="accent6">
                    <a:lumMod val="75000"/>
                  </a:schemeClr>
                </a:solidFill>
                <a:latin typeface="Agency FB" panose="020B0503020202020204" pitchFamily="34" charset="0"/>
              </a:rPr>
              <a:t>Honesty &amp; Integrity</a:t>
            </a:r>
            <a:endParaRPr lang="en-US" sz="5400" b="1" dirty="0">
              <a:solidFill>
                <a:schemeClr val="accent6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pic>
        <p:nvPicPr>
          <p:cNvPr id="1026" name="Picture 2" descr="Image result for honesty and integrit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228776"/>
            <a:ext cx="3733800" cy="5505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98723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449759"/>
            <a:ext cx="5257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Road Map for Today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267200"/>
          </a:xfrm>
          <a:prstGeom prst="rect">
            <a:avLst/>
          </a:prstGeom>
        </p:spPr>
        <p:txBody>
          <a:bodyPr/>
          <a:lstStyle/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r>
              <a:rPr lang="en-US" sz="3200" kern="0" dirty="0" smtClean="0">
                <a:solidFill>
                  <a:prstClr val="black"/>
                </a:solidFill>
              </a:rPr>
              <a:t>Control Statements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en-US" sz="3200" kern="0" dirty="0" smtClean="0">
                <a:solidFill>
                  <a:srgbClr val="C00000"/>
                </a:solidFill>
              </a:rPr>
              <a:t>Selection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i="1" dirty="0">
                <a:solidFill>
                  <a:srgbClr val="002060"/>
                </a:solidFill>
              </a:rPr>
              <a:t>if</a:t>
            </a:r>
            <a:r>
              <a:rPr lang="en-US" sz="3200" dirty="0">
                <a:solidFill>
                  <a:srgbClr val="002060"/>
                </a:solidFill>
              </a:rPr>
              <a:t> 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i="1" dirty="0">
                <a:solidFill>
                  <a:srgbClr val="002060"/>
                </a:solidFill>
              </a:rPr>
              <a:t>switch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en-US" sz="3200" i="1" dirty="0" smtClean="0">
                <a:solidFill>
                  <a:srgbClr val="FF0000"/>
                </a:solidFill>
              </a:rPr>
              <a:t>Iteration</a:t>
            </a:r>
          </a:p>
          <a:p>
            <a:pPr marL="1371600" lvl="2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Arial" panose="020B0604020202020204" pitchFamily="34" charset="0"/>
              <a:buChar char="•"/>
              <a:defRPr/>
            </a:pPr>
            <a:r>
              <a:rPr lang="en-US" sz="3200" i="1" dirty="0">
                <a:solidFill>
                  <a:srgbClr val="002060"/>
                </a:solidFill>
              </a:rPr>
              <a:t>while</a:t>
            </a:r>
          </a:p>
          <a:p>
            <a:pPr marL="1371600" lvl="2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Arial" panose="020B0604020202020204" pitchFamily="34" charset="0"/>
              <a:buChar char="•"/>
              <a:defRPr/>
            </a:pPr>
            <a:r>
              <a:rPr lang="en-US" sz="3200" i="1" dirty="0">
                <a:solidFill>
                  <a:srgbClr val="002060"/>
                </a:solidFill>
              </a:rPr>
              <a:t>do…while</a:t>
            </a:r>
          </a:p>
          <a:p>
            <a:pPr marL="1371600" lvl="2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Arial" panose="020B0604020202020204" pitchFamily="34" charset="0"/>
              <a:buChar char="•"/>
              <a:defRPr/>
            </a:pPr>
            <a:r>
              <a:rPr lang="en-US" sz="3200" i="1" dirty="0">
                <a:solidFill>
                  <a:srgbClr val="002060"/>
                </a:solidFill>
              </a:rPr>
              <a:t>for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en-US" sz="3200" kern="0" dirty="0" smtClean="0">
                <a:solidFill>
                  <a:srgbClr val="C00000"/>
                </a:solidFill>
              </a:rPr>
              <a:t>Jump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2" name="Left Arrow 1"/>
          <p:cNvSpPr/>
          <p:nvPr/>
        </p:nvSpPr>
        <p:spPr>
          <a:xfrm>
            <a:off x="3429000" y="5029200"/>
            <a:ext cx="1905000" cy="685800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8458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449759"/>
            <a:ext cx="525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“for” loop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419600"/>
          </a:xfrm>
          <a:prstGeom prst="rect">
            <a:avLst/>
          </a:prstGeom>
        </p:spPr>
        <p:txBody>
          <a:bodyPr/>
          <a:lstStyle/>
          <a:p>
            <a:r>
              <a:rPr lang="en-US" altLang="en-US" sz="3200" dirty="0">
                <a:solidFill>
                  <a:prstClr val="black"/>
                </a:solidFill>
              </a:rPr>
              <a:t>A </a:t>
            </a:r>
            <a:r>
              <a:rPr lang="en-US" altLang="en-US" sz="3200" dirty="0">
                <a:solidFill>
                  <a:srgbClr val="FF0000"/>
                </a:solidFill>
              </a:rPr>
              <a:t>for</a:t>
            </a:r>
            <a:r>
              <a:rPr lang="en-US" altLang="en-US" sz="3200" dirty="0" smtClean="0">
                <a:solidFill>
                  <a:prstClr val="black"/>
                </a:solidFill>
              </a:rPr>
              <a:t> loop is also </a:t>
            </a:r>
            <a:r>
              <a:rPr lang="en-US" altLang="en-US" sz="3200" dirty="0">
                <a:solidFill>
                  <a:prstClr val="black"/>
                </a:solidFill>
              </a:rPr>
              <a:t>a </a:t>
            </a:r>
            <a:r>
              <a:rPr lang="en-US" altLang="en-US" sz="3200" b="1" dirty="0">
                <a:solidFill>
                  <a:prstClr val="black"/>
                </a:solidFill>
              </a:rPr>
              <a:t>“pre test” </a:t>
            </a:r>
            <a:r>
              <a:rPr lang="en-US" altLang="en-US" sz="3200" dirty="0">
                <a:solidFill>
                  <a:prstClr val="black"/>
                </a:solidFill>
              </a:rPr>
              <a:t>loop - the condition is tested before the loop body is executed</a:t>
            </a:r>
          </a:p>
          <a:p>
            <a:endParaRPr lang="en-US" altLang="en-US" sz="3200" dirty="0">
              <a:solidFill>
                <a:prstClr val="black"/>
              </a:solidFill>
            </a:endParaRPr>
          </a:p>
          <a:p>
            <a:r>
              <a:rPr lang="en-US" sz="3200" dirty="0">
                <a:solidFill>
                  <a:prstClr val="black"/>
                </a:solidFill>
              </a:rPr>
              <a:t>E</a:t>
            </a:r>
            <a:r>
              <a:rPr lang="en-US" sz="3200" dirty="0" smtClean="0">
                <a:solidFill>
                  <a:prstClr val="black"/>
                </a:solidFill>
              </a:rPr>
              <a:t>xecutes </a:t>
            </a:r>
            <a:r>
              <a:rPr lang="en-US" sz="3200" dirty="0">
                <a:solidFill>
                  <a:prstClr val="black"/>
                </a:solidFill>
              </a:rPr>
              <a:t>a specified block of code a </a:t>
            </a:r>
            <a:r>
              <a:rPr lang="en-US" sz="32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specified number of times</a:t>
            </a:r>
            <a:r>
              <a:rPr lang="en-US" sz="32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and </a:t>
            </a:r>
            <a:r>
              <a:rPr lang="en-US" sz="32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keeps track </a:t>
            </a:r>
            <a:r>
              <a:rPr lang="en-US" sz="32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</a:t>
            </a:r>
            <a:r>
              <a:rPr lang="en-US" sz="3200" dirty="0">
                <a:solidFill>
                  <a:prstClr val="black"/>
                </a:solidFill>
              </a:rPr>
              <a:t>he value of the variable</a:t>
            </a:r>
            <a:endParaRPr lang="en-US" alt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4505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95300" y="2033714"/>
            <a:ext cx="7810500" cy="22098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for</a:t>
            </a:r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initialization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 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test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 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update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{</a:t>
            </a:r>
            <a:endParaRPr lang="en-US" altLang="en-US" sz="2800" dirty="0" smtClean="0">
              <a:solidFill>
                <a:prstClr val="black"/>
              </a:solidFill>
              <a:latin typeface="Courier New" panose="02070309020205020404" pitchFamily="49" charset="0"/>
            </a:endParaRPr>
          </a:p>
          <a:p>
            <a:r>
              <a:rPr lang="en-US" altLang="en-US" sz="2800" i="1" dirty="0">
                <a:solidFill>
                  <a:prstClr val="black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statement(s);</a:t>
            </a:r>
          </a:p>
          <a:p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}</a:t>
            </a:r>
          </a:p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449759"/>
            <a:ext cx="525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“</a:t>
            </a:r>
            <a:r>
              <a:rPr lang="en-US" sz="4000" dirty="0" smtClean="0">
                <a:solidFill>
                  <a:srgbClr val="FF0000"/>
                </a:solidFill>
              </a:rPr>
              <a:t>for” loop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419600"/>
          </a:xfrm>
          <a:prstGeom prst="rect">
            <a:avLst/>
          </a:prstGeom>
        </p:spPr>
        <p:txBody>
          <a:bodyPr/>
          <a:lstStyle/>
          <a:p>
            <a:endParaRPr lang="en-US" alt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4656161" y="2165636"/>
            <a:ext cx="381000" cy="533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1493861" y="2505182"/>
            <a:ext cx="5143500" cy="3231625"/>
            <a:chOff x="1485900" y="3089998"/>
            <a:chExt cx="5143500" cy="3231625"/>
          </a:xfrm>
        </p:grpSpPr>
        <p:sp>
          <p:nvSpPr>
            <p:cNvPr id="12" name="Flowchart: Merge 11"/>
            <p:cNvSpPr/>
            <p:nvPr/>
          </p:nvSpPr>
          <p:spPr>
            <a:xfrm rot="12459657">
              <a:off x="5150145" y="3089998"/>
              <a:ext cx="762000" cy="2256945"/>
            </a:xfrm>
            <a:prstGeom prst="flowChartMerge">
              <a:avLst/>
            </a:prstGeom>
            <a:solidFill>
              <a:srgbClr val="FFFF00"/>
            </a:solidFill>
            <a:ln w="31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Oval Callout 8"/>
            <p:cNvSpPr/>
            <p:nvPr/>
          </p:nvSpPr>
          <p:spPr>
            <a:xfrm>
              <a:off x="1485900" y="4979532"/>
              <a:ext cx="5143500" cy="1342091"/>
            </a:xfrm>
            <a:prstGeom prst="wedgeEllipseCallout">
              <a:avLst>
                <a:gd name="adj1" fmla="val 16265"/>
                <a:gd name="adj2" fmla="val -180953"/>
              </a:avLst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Semi-colons not to denote end of executable statements But to separate three parts inside for ( ….. )</a:t>
              </a:r>
            </a:p>
          </p:txBody>
        </p:sp>
      </p:grpSp>
      <p:sp>
        <p:nvSpPr>
          <p:cNvPr id="10" name="Oval 9"/>
          <p:cNvSpPr/>
          <p:nvPr/>
        </p:nvSpPr>
        <p:spPr>
          <a:xfrm>
            <a:off x="5951561" y="2165636"/>
            <a:ext cx="381000" cy="533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Oval Callout 13"/>
          <p:cNvSpPr/>
          <p:nvPr/>
        </p:nvSpPr>
        <p:spPr>
          <a:xfrm>
            <a:off x="6332561" y="959970"/>
            <a:ext cx="2362200" cy="838200"/>
          </a:xfrm>
          <a:prstGeom prst="wedgeEllipseCallout">
            <a:avLst>
              <a:gd name="adj1" fmla="val 8715"/>
              <a:gd name="adj2" fmla="val 104833"/>
            </a:avLst>
          </a:prstGeom>
          <a:solidFill>
            <a:srgbClr val="FFFF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Note absence of semi-colon</a:t>
            </a:r>
          </a:p>
        </p:txBody>
      </p:sp>
    </p:spTree>
    <p:extLst>
      <p:ext uri="{BB962C8B-B14F-4D97-AF65-F5344CB8AC3E}">
        <p14:creationId xmlns:p14="http://schemas.microsoft.com/office/powerpoint/2010/main" val="3310236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0500" y="2590800"/>
            <a:ext cx="891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L</a:t>
            </a:r>
            <a:r>
              <a:rPr lang="en-US" sz="4000" dirty="0" smtClean="0">
                <a:solidFill>
                  <a:srgbClr val="FF0000"/>
                </a:solidFill>
              </a:rPr>
              <a:t>ets discuss each part separately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419600"/>
          </a:xfrm>
          <a:prstGeom prst="rect">
            <a:avLst/>
          </a:prstGeom>
        </p:spPr>
        <p:txBody>
          <a:bodyPr/>
          <a:lstStyle/>
          <a:p>
            <a:endParaRPr lang="en-US" alt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5277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733800"/>
            <a:ext cx="7924800" cy="22098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for</a:t>
            </a:r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800" b="1" i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initialization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 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test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 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update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{</a:t>
            </a:r>
            <a:endParaRPr lang="en-US" altLang="en-US" sz="2800" dirty="0" smtClean="0">
              <a:solidFill>
                <a:prstClr val="black"/>
              </a:solidFill>
              <a:latin typeface="Courier New" panose="02070309020205020404" pitchFamily="49" charset="0"/>
            </a:endParaRPr>
          </a:p>
          <a:p>
            <a:r>
              <a:rPr lang="en-US" altLang="en-US" sz="2800" i="1" dirty="0">
                <a:solidFill>
                  <a:prstClr val="black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statement(s);</a:t>
            </a:r>
          </a:p>
          <a:p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}</a:t>
            </a:r>
          </a:p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91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“for” </a:t>
            </a:r>
            <a:r>
              <a:rPr lang="en-US" sz="4000" dirty="0" smtClean="0">
                <a:solidFill>
                  <a:srgbClr val="FF0000"/>
                </a:solidFill>
              </a:rPr>
              <a:t>loop – </a:t>
            </a:r>
            <a:r>
              <a:rPr lang="en-US" sz="40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initialization</a:t>
            </a:r>
            <a:endParaRPr lang="en-US" sz="40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3790950" y="1941611"/>
            <a:ext cx="1295400" cy="99060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372100" y="1645832"/>
            <a:ext cx="3390900" cy="16415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 smtClean="0">
                <a:solidFill>
                  <a:prstClr val="black"/>
                </a:solidFill>
              </a:rPr>
              <a:t>Lets say we have a variable </a:t>
            </a:r>
            <a:r>
              <a:rPr lang="en-US" sz="2400" b="1" dirty="0" smtClean="0">
                <a:solidFill>
                  <a:prstClr val="black"/>
                </a:solidFill>
              </a:rPr>
              <a:t>counter</a:t>
            </a:r>
          </a:p>
          <a:p>
            <a:endParaRPr lang="en-US" dirty="0" smtClean="0">
              <a:solidFill>
                <a:prstClr val="black"/>
              </a:solidFill>
            </a:endParaRPr>
          </a:p>
          <a:p>
            <a:r>
              <a:rPr lang="en-US" sz="24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i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anose="02070309020205020404" pitchFamily="49" charset="0"/>
              </a:rPr>
              <a:t>nt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counter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</a:rPr>
              <a:t>= 1;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600" y="3733800"/>
            <a:ext cx="7924800" cy="22098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for</a:t>
            </a:r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800" b="1" i="1" dirty="0" err="1" smtClean="0">
                <a:solidFill>
                  <a:srgbClr val="FF000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800" b="1" i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 counter = 1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 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test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 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update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{</a:t>
            </a:r>
            <a:endParaRPr lang="en-US" altLang="en-US" sz="2800" dirty="0" smtClean="0">
              <a:solidFill>
                <a:prstClr val="black"/>
              </a:solidFill>
              <a:latin typeface="Courier New" panose="02070309020205020404" pitchFamily="49" charset="0"/>
            </a:endParaRPr>
          </a:p>
          <a:p>
            <a:r>
              <a:rPr lang="en-US" altLang="en-US" sz="2800" i="1" dirty="0">
                <a:solidFill>
                  <a:prstClr val="black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statement(s);</a:t>
            </a:r>
          </a:p>
          <a:p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}</a:t>
            </a:r>
          </a:p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419600"/>
          </a:xfrm>
          <a:prstGeom prst="rect">
            <a:avLst/>
          </a:prstGeom>
        </p:spPr>
        <p:txBody>
          <a:bodyPr/>
          <a:lstStyle/>
          <a:p>
            <a:endParaRPr lang="en-US" alt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11" name="Rectangular Callout 10"/>
          <p:cNvSpPr/>
          <p:nvPr/>
        </p:nvSpPr>
        <p:spPr>
          <a:xfrm>
            <a:off x="228600" y="1611004"/>
            <a:ext cx="3276600" cy="1676400"/>
          </a:xfrm>
          <a:prstGeom prst="wedgeRectCallout">
            <a:avLst>
              <a:gd name="adj1" fmla="val 33732"/>
              <a:gd name="adj2" fmla="val 87737"/>
            </a:avLst>
          </a:pr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00000"/>
                </a:solidFill>
              </a:rPr>
              <a:t>Initialization expression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00000"/>
                </a:solidFill>
              </a:rPr>
              <a:t>Control variable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00000"/>
                </a:solidFill>
              </a:rPr>
              <a:t>Declaration &amp; definition of the </a:t>
            </a:r>
            <a:r>
              <a:rPr lang="en-US" sz="2000" b="1" dirty="0" smtClean="0">
                <a:solidFill>
                  <a:srgbClr val="C00000"/>
                </a:solidFill>
              </a:rPr>
              <a:t>control variable</a:t>
            </a:r>
            <a:endParaRPr lang="en-US" sz="2000" b="1" dirty="0">
              <a:solidFill>
                <a:srgbClr val="C00000"/>
              </a:solidFill>
            </a:endParaRPr>
          </a:p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5184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6" grpId="0" animBg="1"/>
      <p:bldP spid="17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606472" y="3737212"/>
            <a:ext cx="7927928" cy="22098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22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for</a:t>
            </a:r>
            <a:r>
              <a:rPr lang="en-US" altLang="en-US" sz="22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 (</a:t>
            </a:r>
            <a:r>
              <a:rPr lang="en-US" altLang="en-US" sz="2200" b="1" dirty="0" err="1" smtClean="0">
                <a:solidFill>
                  <a:srgbClr val="0070C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2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 counter = 1</a:t>
            </a:r>
            <a:r>
              <a:rPr lang="en-US" altLang="en-US" sz="22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 </a:t>
            </a:r>
            <a:r>
              <a:rPr lang="en-US" sz="2200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counter &lt;= </a:t>
            </a:r>
            <a:r>
              <a:rPr lang="en-US" sz="2200" b="1" i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3</a:t>
            </a:r>
            <a:r>
              <a:rPr lang="en-US" altLang="en-US" sz="22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</a:t>
            </a:r>
            <a:r>
              <a:rPr lang="en-US" altLang="en-US" sz="22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update</a:t>
            </a:r>
            <a:r>
              <a:rPr lang="en-US" altLang="en-US" sz="22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2800" i="1" dirty="0">
                <a:solidFill>
                  <a:prstClr val="black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statement(s);</a:t>
            </a:r>
          </a:p>
          <a:p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}</a:t>
            </a:r>
          </a:p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91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“for” </a:t>
            </a:r>
            <a:r>
              <a:rPr lang="en-US" sz="4000" dirty="0" smtClean="0">
                <a:solidFill>
                  <a:srgbClr val="FF0000"/>
                </a:solidFill>
              </a:rPr>
              <a:t>loop – </a:t>
            </a:r>
            <a:r>
              <a:rPr lang="en-US" sz="40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 condition</a:t>
            </a:r>
            <a:endParaRPr lang="en-US" sz="40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 rot="10800000">
            <a:off x="3790950" y="1941611"/>
            <a:ext cx="1295400" cy="99060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28600" y="1441464"/>
            <a:ext cx="3390900" cy="16415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 smtClean="0">
                <a:solidFill>
                  <a:prstClr val="black"/>
                </a:solidFill>
              </a:rPr>
              <a:t>Lets say we want to execute the loop body 3 times:</a:t>
            </a:r>
            <a:endParaRPr lang="en-US" sz="2400" b="1" dirty="0" smtClean="0">
              <a:solidFill>
                <a:prstClr val="black"/>
              </a:solidFill>
            </a:endParaRPr>
          </a:p>
          <a:p>
            <a:endParaRPr lang="en-US" dirty="0" smtClean="0">
              <a:solidFill>
                <a:prstClr val="black"/>
              </a:solidFill>
            </a:endParaRPr>
          </a:p>
          <a:p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counter &lt;= 3;</a:t>
            </a:r>
            <a:endParaRPr lang="en-US" sz="2400" b="1" dirty="0">
              <a:solidFill>
                <a:prstClr val="black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419600"/>
          </a:xfrm>
          <a:prstGeom prst="rect">
            <a:avLst/>
          </a:prstGeom>
        </p:spPr>
        <p:txBody>
          <a:bodyPr/>
          <a:lstStyle/>
          <a:p>
            <a:endParaRPr lang="en-US" alt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06472" y="3737212"/>
            <a:ext cx="7924800" cy="22098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for</a:t>
            </a:r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8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 counter = 1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 </a:t>
            </a:r>
            <a:r>
              <a:rPr lang="en-US" altLang="en-US" sz="2800" b="1" i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test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 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update</a:t>
            </a:r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2800" i="1" dirty="0">
                <a:solidFill>
                  <a:prstClr val="black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statement(s);</a:t>
            </a:r>
          </a:p>
          <a:p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}</a:t>
            </a:r>
          </a:p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1" name="Rectangular Callout 10"/>
          <p:cNvSpPr/>
          <p:nvPr/>
        </p:nvSpPr>
        <p:spPr>
          <a:xfrm>
            <a:off x="5410200" y="1339334"/>
            <a:ext cx="3495533" cy="1676400"/>
          </a:xfrm>
          <a:prstGeom prst="wedgeRectCallout">
            <a:avLst>
              <a:gd name="adj1" fmla="val -37493"/>
              <a:gd name="adj2" fmla="val 102391"/>
            </a:avLst>
          </a:pr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C00000"/>
                </a:solidFill>
              </a:rPr>
              <a:t>Loop continuation condition</a:t>
            </a:r>
            <a:endParaRPr lang="en-US" dirty="0" smtClean="0">
              <a:solidFill>
                <a:prstClr val="white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C00000"/>
                </a:solidFill>
              </a:rPr>
              <a:t>Number of times the loop body should execute</a:t>
            </a:r>
          </a:p>
        </p:txBody>
      </p:sp>
    </p:spTree>
    <p:extLst>
      <p:ext uri="{BB962C8B-B14F-4D97-AF65-F5344CB8AC3E}">
        <p14:creationId xmlns:p14="http://schemas.microsoft.com/office/powerpoint/2010/main" val="15356959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7" grpId="0" animBg="1"/>
      <p:bldP spid="17" grpId="1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>
          <a:xfrm>
            <a:off x="593962" y="3708317"/>
            <a:ext cx="7927928" cy="22098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215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for</a:t>
            </a:r>
            <a:r>
              <a:rPr lang="en-US" altLang="en-US" sz="215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 (</a:t>
            </a:r>
            <a:r>
              <a:rPr lang="en-US" altLang="en-US" sz="2150" b="1" dirty="0" err="1" smtClean="0">
                <a:solidFill>
                  <a:srgbClr val="0070C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15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 counter = 1</a:t>
            </a:r>
            <a:r>
              <a:rPr lang="en-US" altLang="en-US" sz="215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 </a:t>
            </a:r>
            <a:r>
              <a:rPr lang="en-US" sz="2150" i="1" dirty="0">
                <a:solidFill>
                  <a:prstClr val="black"/>
                </a:solidFill>
                <a:latin typeface="Courier New" panose="02070309020205020404" pitchFamily="49" charset="0"/>
              </a:rPr>
              <a:t>counter &lt;= </a:t>
            </a:r>
            <a:r>
              <a:rPr lang="en-US" sz="215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3</a:t>
            </a:r>
            <a:r>
              <a:rPr lang="en-US" altLang="en-US" sz="215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</a:t>
            </a:r>
            <a:r>
              <a:rPr lang="en-US" altLang="en-US" sz="2150" b="1" i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++counter</a:t>
            </a:r>
            <a:r>
              <a:rPr lang="en-US" altLang="en-US" sz="215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)</a:t>
            </a:r>
            <a:r>
              <a:rPr lang="en-US" altLang="en-US" sz="22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2800" i="1" dirty="0">
                <a:solidFill>
                  <a:prstClr val="black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statement(s);</a:t>
            </a:r>
          </a:p>
          <a:p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}</a:t>
            </a:r>
          </a:p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93962" y="3708317"/>
            <a:ext cx="7927928" cy="22098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sz="23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for</a:t>
            </a:r>
            <a:r>
              <a:rPr lang="en-US" altLang="en-US" sz="23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 (</a:t>
            </a:r>
            <a:r>
              <a:rPr lang="en-US" altLang="en-US" sz="2300" b="1" dirty="0" err="1" smtClean="0">
                <a:solidFill>
                  <a:srgbClr val="0070C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3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 counter = 1</a:t>
            </a:r>
            <a:r>
              <a:rPr lang="en-US" altLang="en-US" sz="23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 </a:t>
            </a:r>
            <a:r>
              <a:rPr lang="en-US" sz="2300" i="1" dirty="0">
                <a:solidFill>
                  <a:prstClr val="black"/>
                </a:solidFill>
                <a:latin typeface="Courier New" panose="02070309020205020404" pitchFamily="49" charset="0"/>
              </a:rPr>
              <a:t>counter &lt;= </a:t>
            </a:r>
            <a:r>
              <a:rPr lang="en-US" sz="23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3</a:t>
            </a:r>
            <a:r>
              <a:rPr lang="en-US" altLang="en-US" sz="23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; </a:t>
            </a:r>
            <a:r>
              <a:rPr lang="en-US" altLang="en-US" sz="2300" b="1" i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update</a:t>
            </a:r>
            <a:r>
              <a:rPr lang="en-US" altLang="en-US" sz="23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)</a:t>
            </a:r>
            <a:r>
              <a:rPr lang="en-US" altLang="en-US" sz="22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en-US" sz="2800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2800" i="1" dirty="0">
                <a:solidFill>
                  <a:prstClr val="black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i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statement(s);</a:t>
            </a:r>
          </a:p>
          <a:p>
            <a:r>
              <a:rPr lang="en-US" altLang="en-US" sz="2800" dirty="0">
                <a:solidFill>
                  <a:prstClr val="black"/>
                </a:solidFill>
                <a:latin typeface="Courier New" panose="02070309020205020404" pitchFamily="49" charset="0"/>
              </a:rPr>
              <a:t>}</a:t>
            </a:r>
          </a:p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91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“for” </a:t>
            </a:r>
            <a:r>
              <a:rPr lang="en-US" sz="4000" dirty="0" smtClean="0">
                <a:solidFill>
                  <a:srgbClr val="FF0000"/>
                </a:solidFill>
              </a:rPr>
              <a:t>loop – </a:t>
            </a:r>
            <a:r>
              <a:rPr lang="en-US" sz="40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update</a:t>
            </a:r>
            <a:endParaRPr lang="en-US" sz="40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 rot="10800000">
            <a:off x="3790950" y="1941611"/>
            <a:ext cx="1295400" cy="99060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28600" y="1441464"/>
            <a:ext cx="3390900" cy="16415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</a:rPr>
              <a:t>++counter;</a:t>
            </a:r>
            <a:endParaRPr lang="en-US" sz="2400" b="1" dirty="0">
              <a:solidFill>
                <a:prstClr val="black"/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419600"/>
          </a:xfrm>
          <a:prstGeom prst="rect">
            <a:avLst/>
          </a:prstGeom>
        </p:spPr>
        <p:txBody>
          <a:bodyPr/>
          <a:lstStyle/>
          <a:p>
            <a:endParaRPr lang="en-US" alt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11" name="Rectangular Callout 10"/>
          <p:cNvSpPr/>
          <p:nvPr/>
        </p:nvSpPr>
        <p:spPr>
          <a:xfrm>
            <a:off x="5629133" y="1339334"/>
            <a:ext cx="3276600" cy="1676400"/>
          </a:xfrm>
          <a:prstGeom prst="wedgeRectCallout">
            <a:avLst>
              <a:gd name="adj1" fmla="val 10407"/>
              <a:gd name="adj2" fmla="val 103205"/>
            </a:avLst>
          </a:pr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C00000"/>
                </a:solidFill>
              </a:rPr>
              <a:t>Instructions </a:t>
            </a:r>
            <a:r>
              <a:rPr lang="en-US" sz="2000" b="1" dirty="0">
                <a:solidFill>
                  <a:srgbClr val="C00000"/>
                </a:solidFill>
              </a:rPr>
              <a:t>to execute at end of every </a:t>
            </a:r>
            <a:r>
              <a:rPr lang="en-US" sz="2000" b="1" dirty="0" smtClean="0">
                <a:solidFill>
                  <a:srgbClr val="C00000"/>
                </a:solidFill>
              </a:rPr>
              <a:t>iteration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C00000"/>
                </a:solidFill>
              </a:rPr>
              <a:t>Increment/decrement of the control variable</a:t>
            </a:r>
          </a:p>
        </p:txBody>
      </p:sp>
      <p:sp>
        <p:nvSpPr>
          <p:cNvPr id="14" name="AutoShape 8"/>
          <p:cNvSpPr>
            <a:spLocks noChangeArrowheads="1"/>
          </p:cNvSpPr>
          <p:nvPr/>
        </p:nvSpPr>
        <p:spPr bwMode="auto">
          <a:xfrm>
            <a:off x="1047750" y="3406929"/>
            <a:ext cx="6781800" cy="2819400"/>
          </a:xfrm>
          <a:prstGeom prst="wave">
            <a:avLst>
              <a:gd name="adj1" fmla="val 13005"/>
              <a:gd name="adj2" fmla="val 0"/>
            </a:avLst>
          </a:prstGeom>
          <a:solidFill>
            <a:srgbClr val="C00000"/>
          </a:solidFill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prstClr val="white"/>
                </a:solidFill>
                <a:latin typeface="Arial" pitchFamily="34" charset="0"/>
              </a:rPr>
              <a:t>   IMPORTANT!!</a:t>
            </a:r>
          </a:p>
          <a:p>
            <a:pPr>
              <a:spcBef>
                <a:spcPct val="0"/>
              </a:spcBef>
            </a:pPr>
            <a:r>
              <a:rPr lang="en-US" sz="3200" b="1" dirty="0">
                <a:solidFill>
                  <a:prstClr val="white"/>
                </a:solidFill>
                <a:latin typeface="Arial" pitchFamily="34" charset="0"/>
              </a:rPr>
              <a:t>The </a:t>
            </a:r>
            <a:r>
              <a:rPr lang="en-US" sz="3200" b="1" dirty="0" smtClean="0">
                <a:solidFill>
                  <a:prstClr val="white"/>
                </a:solidFill>
                <a:latin typeface="Arial" pitchFamily="34" charset="0"/>
              </a:rPr>
              <a:t>update </a:t>
            </a:r>
            <a:r>
              <a:rPr lang="en-US" sz="3200" b="1" dirty="0">
                <a:solidFill>
                  <a:prstClr val="white"/>
                </a:solidFill>
                <a:latin typeface="Arial" pitchFamily="34" charset="0"/>
              </a:rPr>
              <a:t>is performed AFTER</a:t>
            </a:r>
          </a:p>
          <a:p>
            <a:pPr>
              <a:spcBef>
                <a:spcPct val="0"/>
              </a:spcBef>
            </a:pPr>
            <a:r>
              <a:rPr lang="en-US" sz="3200" b="1" dirty="0">
                <a:solidFill>
                  <a:prstClr val="white"/>
                </a:solidFill>
                <a:latin typeface="Arial" pitchFamily="34" charset="0"/>
              </a:rPr>
              <a:t>       the body of the loop</a:t>
            </a:r>
            <a:endParaRPr lang="en-AU" sz="3200" b="1" dirty="0">
              <a:solidFill>
                <a:prstClr val="white"/>
              </a:solidFill>
              <a:latin typeface="Arial" pitchFamily="34" charset="0"/>
            </a:endParaRPr>
          </a:p>
          <a:p>
            <a:endParaRPr lang="en-AU" sz="32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0803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2" grpId="0" animBg="1"/>
      <p:bldP spid="15" grpId="0" animBg="1"/>
      <p:bldP spid="16" grpId="0" animBg="1"/>
      <p:bldP spid="11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“for” loop </a:t>
            </a:r>
            <a:r>
              <a:rPr lang="en-US" sz="4000" dirty="0">
                <a:solidFill>
                  <a:srgbClr val="FF0000"/>
                </a:solidFill>
              </a:rPr>
              <a:t>- Example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8599" y="1482566"/>
            <a:ext cx="7006989" cy="3970318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dirty="0" err="1" smtClean="0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 smtClean="0">
                <a:solidFill>
                  <a:srgbClr val="804000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main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counter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counter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3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++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counter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counter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67600" y="1341864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Output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77257" y="1929558"/>
            <a:ext cx="1140819" cy="1200329"/>
          </a:xfrm>
          <a:prstGeom prst="rect">
            <a:avLst/>
          </a:prstGeom>
          <a:solidFill>
            <a:srgbClr val="FFFF00">
              <a:alpha val="37000"/>
            </a:srgbClr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  <a:p>
            <a:endParaRPr lang="en-US" dirty="0" smtClean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 smtClean="0">
              <a:solidFill>
                <a:prstClr val="black"/>
              </a:solidFill>
            </a:endParaRPr>
          </a:p>
        </p:txBody>
      </p:sp>
      <p:sp>
        <p:nvSpPr>
          <p:cNvPr id="2" name="Down Arrow 1"/>
          <p:cNvSpPr/>
          <p:nvPr/>
        </p:nvSpPr>
        <p:spPr>
          <a:xfrm>
            <a:off x="2057400" y="2150323"/>
            <a:ext cx="685800" cy="766465"/>
          </a:xfrm>
          <a:prstGeom prst="downArrow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Down Arrow 12"/>
          <p:cNvSpPr/>
          <p:nvPr/>
        </p:nvSpPr>
        <p:spPr>
          <a:xfrm>
            <a:off x="4225688" y="2150322"/>
            <a:ext cx="685800" cy="766465"/>
          </a:xfrm>
          <a:prstGeom prst="downArrow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Left Arrow 8"/>
          <p:cNvSpPr/>
          <p:nvPr/>
        </p:nvSpPr>
        <p:spPr>
          <a:xfrm>
            <a:off x="4724400" y="3192859"/>
            <a:ext cx="1066800" cy="707352"/>
          </a:xfrm>
          <a:prstGeom prst="leftArrow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prstClr val="white"/>
                </a:solidFill>
              </a:rPr>
              <a:t>3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5" name="Down Arrow 14"/>
          <p:cNvSpPr/>
          <p:nvPr/>
        </p:nvSpPr>
        <p:spPr>
          <a:xfrm>
            <a:off x="5979994" y="2116203"/>
            <a:ext cx="685800" cy="766465"/>
          </a:xfrm>
          <a:prstGeom prst="downArrow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7257" y="2066758"/>
            <a:ext cx="57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1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77257" y="2373868"/>
            <a:ext cx="57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2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80007" y="2678668"/>
            <a:ext cx="57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3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57978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2" grpId="0" animBg="1"/>
      <p:bldP spid="13" grpId="0" animBg="1"/>
      <p:bldP spid="9" grpId="0" animBg="1"/>
      <p:bldP spid="15" grpId="0" animBg="1"/>
      <p:bldP spid="10" grpId="0"/>
      <p:bldP spid="17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“for” loop </a:t>
            </a:r>
            <a:r>
              <a:rPr lang="en-US" sz="4000" dirty="0">
                <a:solidFill>
                  <a:srgbClr val="FF0000"/>
                </a:solidFill>
              </a:rPr>
              <a:t>- Example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6719" y="1764030"/>
            <a:ext cx="8686800" cy="1231106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1F497D">
                    <a:lumMod val="50000"/>
                  </a:srgbClr>
                </a:solidFill>
                <a:latin typeface="Courier New" panose="02070309020205020404" pitchFamily="49" charset="0"/>
              </a:rPr>
              <a:t>A</a:t>
            </a:r>
            <a:r>
              <a:rPr lang="en-US" altLang="en-US" sz="2800" dirty="0" smtClean="0">
                <a:solidFill>
                  <a:srgbClr val="1F497D">
                    <a:lumMod val="50000"/>
                  </a:srgbClr>
                </a:solidFill>
                <a:latin typeface="Courier New" panose="02070309020205020404" pitchFamily="49" charset="0"/>
              </a:rPr>
              <a:t> program that </a:t>
            </a:r>
            <a:r>
              <a:rPr lang="en-US" altLang="en-US" sz="2800" dirty="0">
                <a:solidFill>
                  <a:srgbClr val="1F497D">
                    <a:lumMod val="50000"/>
                  </a:srgbClr>
                </a:solidFill>
                <a:latin typeface="Courier New" panose="02070309020205020404" pitchFamily="49" charset="0"/>
              </a:rPr>
              <a:t>displays the numbers 1 through 10 and </a:t>
            </a:r>
            <a:r>
              <a:rPr lang="en-US" altLang="en-US" sz="2800" dirty="0" smtClean="0">
                <a:solidFill>
                  <a:srgbClr val="1F497D">
                    <a:lumMod val="50000"/>
                  </a:srgbClr>
                </a:solidFill>
                <a:latin typeface="Courier New" panose="02070309020205020404" pitchFamily="49" charset="0"/>
              </a:rPr>
              <a:t>their </a:t>
            </a:r>
            <a:r>
              <a:rPr lang="en-US" altLang="en-US" sz="2800" dirty="0">
                <a:solidFill>
                  <a:srgbClr val="1F497D">
                    <a:lumMod val="50000"/>
                  </a:srgbClr>
                </a:solidFill>
                <a:latin typeface="Courier New" panose="02070309020205020404" pitchFamily="49" charset="0"/>
              </a:rPr>
              <a:t>squares.</a:t>
            </a:r>
          </a:p>
          <a:p>
            <a:endParaRPr lang="en-US" dirty="0">
              <a:solidFill>
                <a:srgbClr val="008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6288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281969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“for” loop </a:t>
            </a:r>
            <a:r>
              <a:rPr lang="en-US" sz="4000" dirty="0">
                <a:solidFill>
                  <a:srgbClr val="FF0000"/>
                </a:solidFill>
              </a:rPr>
              <a:t>- Example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0999" y="1556296"/>
            <a:ext cx="8382001" cy="4308872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804000"/>
                </a:solidFill>
                <a:latin typeface="Courier New" panose="02070309020205020404" pitchFamily="49" charset="0"/>
              </a:rPr>
              <a:t>#</a:t>
            </a:r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include &lt;</a:t>
            </a:r>
            <a:r>
              <a:rPr lang="en-US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pt-BR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cout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dirty="0">
                <a:solidFill>
                  <a:srgbClr val="808080"/>
                </a:solidFill>
                <a:latin typeface="Courier New" panose="02070309020205020404" pitchFamily="49" charset="0"/>
              </a:rPr>
              <a:t>"Number\t\tNumber Squared\n"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pt-BR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cout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dirty="0">
                <a:solidFill>
                  <a:srgbClr val="808080"/>
                </a:solidFill>
                <a:latin typeface="Courier New" panose="02070309020205020404" pitchFamily="49" charset="0"/>
              </a:rPr>
              <a:t>"-------------------------\n"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pt-BR" b="1" dirty="0" smtClean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lvl="1"/>
            <a:r>
              <a:rPr lang="pt-BR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pt-BR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pt-BR" dirty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num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num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&lt;=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dirty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num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++)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endParaRPr lang="pt-BR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pt-BR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cout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num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dirty="0">
                <a:solidFill>
                  <a:srgbClr val="808080"/>
                </a:solidFill>
                <a:latin typeface="Courier New" panose="02070309020205020404" pitchFamily="49" charset="0"/>
              </a:rPr>
              <a:t>"\t\t"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num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num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endl</a:t>
            </a:r>
            <a:r>
              <a:rPr lang="pt-BR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en-US" sz="20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</a:p>
          <a:p>
            <a:pPr lvl="1"/>
            <a:endParaRPr lang="en-US" sz="2000" dirty="0">
              <a:solidFill>
                <a:prstClr val="black"/>
              </a:solidFill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en-US" dirty="0">
              <a:solidFill>
                <a:prstClr val="black"/>
              </a:solidFill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418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15616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“for” loop </a:t>
            </a:r>
            <a:r>
              <a:rPr lang="en-US" sz="4000" dirty="0">
                <a:solidFill>
                  <a:srgbClr val="FF0000"/>
                </a:solidFill>
              </a:rPr>
              <a:t>- </a:t>
            </a:r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1445612"/>
            <a:ext cx="6243852" cy="4555093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804000"/>
                </a:solidFill>
                <a:latin typeface="Courier New" panose="02070309020205020404" pitchFamily="49" charset="0"/>
              </a:rPr>
              <a:t>#</a:t>
            </a:r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include &lt;</a:t>
            </a:r>
            <a:r>
              <a:rPr lang="en-US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cout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dirty="0">
                <a:solidFill>
                  <a:srgbClr val="808080"/>
                </a:solidFill>
                <a:latin typeface="Courier New" panose="02070309020205020404" pitchFamily="49" charset="0"/>
              </a:rPr>
              <a:t>"Number\t\tNumber Squared\n"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cout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dirty="0">
                <a:solidFill>
                  <a:srgbClr val="808080"/>
                </a:solidFill>
                <a:latin typeface="Courier New" panose="02070309020205020404" pitchFamily="49" charset="0"/>
              </a:rPr>
              <a:t>"-------------------------\n"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endParaRPr lang="pt-BR" b="1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lvl="1"/>
            <a:r>
              <a:rPr lang="pt-BR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pt-BR" dirty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num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num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&lt;=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dirty="0" smtClean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pt-BR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pt-BR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num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++)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endParaRPr lang="pt-B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	cout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num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dirty="0">
                <a:solidFill>
                  <a:srgbClr val="808080"/>
                </a:solidFill>
                <a:latin typeface="Courier New" panose="02070309020205020404" pitchFamily="49" charset="0"/>
              </a:rPr>
              <a:t>"\t\t"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num 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num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pt-BR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pt-BR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pt-BR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pt-B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en-US" sz="2000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</a:p>
          <a:p>
            <a:pPr lvl="1"/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en-US" dirty="0">
              <a:solidFill>
                <a:prstClr val="black"/>
              </a:solidFill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2" name="Notched Right Arrow 11"/>
          <p:cNvSpPr/>
          <p:nvPr/>
        </p:nvSpPr>
        <p:spPr>
          <a:xfrm rot="10800000">
            <a:off x="5637308" y="2866740"/>
            <a:ext cx="606544" cy="300795"/>
          </a:xfrm>
          <a:prstGeom prst="notchedRightArrow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Notched Right Arrow 12"/>
          <p:cNvSpPr/>
          <p:nvPr/>
        </p:nvSpPr>
        <p:spPr>
          <a:xfrm rot="10800000">
            <a:off x="5782652" y="3198057"/>
            <a:ext cx="490413" cy="230520"/>
          </a:xfrm>
          <a:prstGeom prst="notchedRightArrow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Notched Right Arrow 13"/>
          <p:cNvSpPr/>
          <p:nvPr/>
        </p:nvSpPr>
        <p:spPr>
          <a:xfrm rot="10800000">
            <a:off x="5257802" y="3767132"/>
            <a:ext cx="609600" cy="172801"/>
          </a:xfrm>
          <a:prstGeom prst="notchedRightArrow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24602" y="2097092"/>
            <a:ext cx="2819398" cy="1754326"/>
          </a:xfrm>
          <a:prstGeom prst="rect">
            <a:avLst/>
          </a:prstGeom>
          <a:solidFill>
            <a:srgbClr val="FFFF00">
              <a:alpha val="37000"/>
            </a:srgbClr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  <a:p>
            <a:endParaRPr lang="en-US" dirty="0" smtClean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 smtClean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endParaRPr lang="en-US" dirty="0" smtClean="0">
              <a:solidFill>
                <a:prstClr val="black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40652" y="1348687"/>
            <a:ext cx="209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Output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90244" y="2138877"/>
            <a:ext cx="28537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</a:rPr>
              <a:t>Number	       Number Squared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90244" y="2259969"/>
            <a:ext cx="28537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</a:rPr>
              <a:t>-------------------------------------------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90244" y="2394496"/>
            <a:ext cx="28537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</a:rPr>
              <a:t>1		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7423" y="2644256"/>
            <a:ext cx="28537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</a:rPr>
              <a:t>2		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7423" y="2906526"/>
            <a:ext cx="28537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</a:rPr>
              <a:t>3		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4602" y="3167536"/>
            <a:ext cx="28537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</a:rPr>
              <a:t>4		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4602" y="3428578"/>
            <a:ext cx="28537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</a:rPr>
              <a:t>5		25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1828800" y="2893860"/>
            <a:ext cx="685800" cy="766465"/>
          </a:xfrm>
          <a:prstGeom prst="downArrow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Down Arrow 32"/>
          <p:cNvSpPr/>
          <p:nvPr/>
        </p:nvSpPr>
        <p:spPr>
          <a:xfrm>
            <a:off x="3276719" y="2914614"/>
            <a:ext cx="685800" cy="766465"/>
          </a:xfrm>
          <a:prstGeom prst="downArrow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en-US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Left Arrow 33"/>
          <p:cNvSpPr/>
          <p:nvPr/>
        </p:nvSpPr>
        <p:spPr>
          <a:xfrm>
            <a:off x="6034230" y="3954671"/>
            <a:ext cx="1066800" cy="707352"/>
          </a:xfrm>
          <a:prstGeom prst="leftArrow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prstClr val="white"/>
                </a:solidFill>
              </a:rPr>
              <a:t>3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35" name="Down Arrow 34"/>
          <p:cNvSpPr/>
          <p:nvPr/>
        </p:nvSpPr>
        <p:spPr>
          <a:xfrm>
            <a:off x="4506370" y="2953128"/>
            <a:ext cx="685800" cy="766465"/>
          </a:xfrm>
          <a:prstGeom prst="downArrow">
            <a:avLst/>
          </a:prstGeom>
          <a:solidFill>
            <a:srgbClr val="C0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550852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4" grpId="0" animBg="1"/>
      <p:bldP spid="24" grpId="0" animBg="1"/>
      <p:bldP spid="25" grpId="0"/>
      <p:bldP spid="2" grpId="0"/>
      <p:bldP spid="26" grpId="0"/>
      <p:bldP spid="27" grpId="0"/>
      <p:bldP spid="28" grpId="0"/>
      <p:bldP spid="29" grpId="0"/>
      <p:bldP spid="30" grpId="0"/>
      <p:bldP spid="31" grpId="0"/>
      <p:bldP spid="32" grpId="0" animBg="1"/>
      <p:bldP spid="33" grpId="0" animBg="1"/>
      <p:bldP spid="34" grpId="0" animBg="1"/>
      <p:bldP spid="3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449759"/>
            <a:ext cx="525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“for” loop - </a:t>
            </a:r>
            <a:r>
              <a:rPr lang="en-US" sz="4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Examples</a:t>
            </a:r>
            <a:endParaRPr lang="en-US" sz="4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0" y="1302604"/>
            <a:ext cx="8915400" cy="4793396"/>
          </a:xfrm>
          <a:prstGeom prst="rect">
            <a:avLst/>
          </a:prstGeom>
        </p:spPr>
        <p:txBody>
          <a:bodyPr/>
          <a:lstStyle/>
          <a:p>
            <a:pPr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defRPr/>
            </a:pPr>
            <a:r>
              <a:rPr lang="en-US" sz="3200" dirty="0">
                <a:solidFill>
                  <a:prstClr val="black"/>
                </a:solidFill>
              </a:rPr>
              <a:t>Vary the control variable from 100 down to 1 in decrements of 1</a:t>
            </a:r>
            <a:r>
              <a:rPr lang="en-US" sz="3200" dirty="0" smtClean="0">
                <a:solidFill>
                  <a:prstClr val="black"/>
                </a:solidFill>
              </a:rPr>
              <a:t>.</a:t>
            </a:r>
          </a:p>
          <a:p>
            <a:pPr lvl="1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defRPr/>
            </a:pPr>
            <a:r>
              <a:rPr lang="nn-NO" sz="3200" dirty="0">
                <a:solidFill>
                  <a:srgbClr val="0269AF"/>
                </a:solidFill>
              </a:rPr>
              <a:t>for </a:t>
            </a:r>
            <a:r>
              <a:rPr lang="nn-NO" sz="3200" dirty="0">
                <a:solidFill>
                  <a:srgbClr val="000000"/>
                </a:solidFill>
              </a:rPr>
              <a:t>( </a:t>
            </a:r>
            <a:r>
              <a:rPr lang="nn-NO" sz="3200" dirty="0">
                <a:solidFill>
                  <a:srgbClr val="0269AF"/>
                </a:solidFill>
              </a:rPr>
              <a:t>int </a:t>
            </a:r>
            <a:r>
              <a:rPr lang="nn-NO" sz="3200" dirty="0">
                <a:solidFill>
                  <a:srgbClr val="000000"/>
                </a:solidFill>
              </a:rPr>
              <a:t>i = </a:t>
            </a:r>
            <a:r>
              <a:rPr lang="nn-NO" sz="3200" dirty="0">
                <a:solidFill>
                  <a:srgbClr val="80ADD4"/>
                </a:solidFill>
              </a:rPr>
              <a:t>100</a:t>
            </a:r>
            <a:r>
              <a:rPr lang="nn-NO" sz="3200" dirty="0">
                <a:solidFill>
                  <a:srgbClr val="000000"/>
                </a:solidFill>
              </a:rPr>
              <a:t>; i &gt;= </a:t>
            </a:r>
            <a:r>
              <a:rPr lang="nn-NO" sz="3200" dirty="0">
                <a:solidFill>
                  <a:srgbClr val="80ADD4"/>
                </a:solidFill>
              </a:rPr>
              <a:t>1</a:t>
            </a:r>
            <a:r>
              <a:rPr lang="nn-NO" sz="3200" dirty="0">
                <a:solidFill>
                  <a:srgbClr val="000000"/>
                </a:solidFill>
              </a:rPr>
              <a:t>; --i </a:t>
            </a:r>
            <a:r>
              <a:rPr lang="nn-NO" sz="3200" dirty="0" smtClean="0">
                <a:solidFill>
                  <a:srgbClr val="000000"/>
                </a:solidFill>
              </a:rPr>
              <a:t>)</a:t>
            </a:r>
          </a:p>
          <a:p>
            <a:pPr lvl="1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defRPr/>
            </a:pPr>
            <a:endParaRPr lang="en-US" sz="2800" dirty="0" smtClean="0">
              <a:solidFill>
                <a:prstClr val="black"/>
              </a:solidFill>
            </a:endParaRPr>
          </a:p>
          <a:p>
            <a:pPr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defRPr/>
            </a:pPr>
            <a:r>
              <a:rPr lang="en-US" sz="3200" dirty="0" smtClean="0">
                <a:solidFill>
                  <a:prstClr val="black"/>
                </a:solidFill>
              </a:rPr>
              <a:t>Vary </a:t>
            </a:r>
            <a:r>
              <a:rPr lang="en-US" sz="3200" dirty="0">
                <a:solidFill>
                  <a:prstClr val="black"/>
                </a:solidFill>
              </a:rPr>
              <a:t>the control variable from 7 to 77 in steps of 7</a:t>
            </a:r>
            <a:r>
              <a:rPr lang="en-US" sz="3200" dirty="0" smtClean="0">
                <a:solidFill>
                  <a:prstClr val="black"/>
                </a:solidFill>
              </a:rPr>
              <a:t>.</a:t>
            </a:r>
          </a:p>
          <a:p>
            <a:pPr lvl="1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defRPr/>
            </a:pPr>
            <a:r>
              <a:rPr lang="nn-NO" sz="3200" dirty="0">
                <a:solidFill>
                  <a:srgbClr val="0269AF"/>
                </a:solidFill>
              </a:rPr>
              <a:t>for </a:t>
            </a:r>
            <a:r>
              <a:rPr lang="nn-NO" sz="3200" dirty="0">
                <a:solidFill>
                  <a:srgbClr val="000000"/>
                </a:solidFill>
              </a:rPr>
              <a:t>( </a:t>
            </a:r>
            <a:r>
              <a:rPr lang="nn-NO" sz="3200" dirty="0">
                <a:solidFill>
                  <a:srgbClr val="0269AF"/>
                </a:solidFill>
              </a:rPr>
              <a:t>int </a:t>
            </a:r>
            <a:r>
              <a:rPr lang="nn-NO" sz="3200" dirty="0">
                <a:solidFill>
                  <a:srgbClr val="000000"/>
                </a:solidFill>
              </a:rPr>
              <a:t>i = </a:t>
            </a:r>
            <a:r>
              <a:rPr lang="nn-NO" sz="3200" dirty="0">
                <a:solidFill>
                  <a:srgbClr val="80ADD4"/>
                </a:solidFill>
              </a:rPr>
              <a:t>7</a:t>
            </a:r>
            <a:r>
              <a:rPr lang="nn-NO" sz="3200" dirty="0">
                <a:solidFill>
                  <a:srgbClr val="000000"/>
                </a:solidFill>
              </a:rPr>
              <a:t>; i &lt;= </a:t>
            </a:r>
            <a:r>
              <a:rPr lang="nn-NO" sz="3200" dirty="0">
                <a:solidFill>
                  <a:srgbClr val="80ADD4"/>
                </a:solidFill>
              </a:rPr>
              <a:t>77</a:t>
            </a:r>
            <a:r>
              <a:rPr lang="nn-NO" sz="3200" dirty="0">
                <a:solidFill>
                  <a:srgbClr val="000000"/>
                </a:solidFill>
              </a:rPr>
              <a:t>; i += </a:t>
            </a:r>
            <a:r>
              <a:rPr lang="nn-NO" sz="3200" dirty="0">
                <a:solidFill>
                  <a:srgbClr val="80ADD4"/>
                </a:solidFill>
              </a:rPr>
              <a:t>7 </a:t>
            </a:r>
            <a:r>
              <a:rPr lang="nn-NO" sz="3200" dirty="0" smtClean="0">
                <a:solidFill>
                  <a:srgbClr val="000000"/>
                </a:solidFill>
              </a:rPr>
              <a:t>)</a:t>
            </a:r>
          </a:p>
          <a:p>
            <a:pPr lvl="1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defRPr/>
            </a:pPr>
            <a:endParaRPr lang="nn-NO" sz="3200" dirty="0" smtClean="0">
              <a:solidFill>
                <a:srgbClr val="000000"/>
              </a:solidFill>
            </a:endParaRPr>
          </a:p>
          <a:p>
            <a:pPr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defRPr/>
            </a:pPr>
            <a:r>
              <a:rPr lang="en-US" sz="3200" dirty="0">
                <a:solidFill>
                  <a:prstClr val="black"/>
                </a:solidFill>
              </a:rPr>
              <a:t>Vary the control variable from 20 down to 2 in steps of -2</a:t>
            </a:r>
            <a:r>
              <a:rPr lang="en-US" sz="3200" dirty="0" smtClean="0">
                <a:solidFill>
                  <a:prstClr val="black"/>
                </a:solidFill>
              </a:rPr>
              <a:t>.</a:t>
            </a:r>
          </a:p>
          <a:p>
            <a:pPr lvl="1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defRPr/>
            </a:pPr>
            <a:r>
              <a:rPr lang="nn-NO" sz="3200" dirty="0">
                <a:solidFill>
                  <a:srgbClr val="0269AF"/>
                </a:solidFill>
              </a:rPr>
              <a:t>for </a:t>
            </a:r>
            <a:r>
              <a:rPr lang="nn-NO" sz="3200" dirty="0">
                <a:solidFill>
                  <a:srgbClr val="000000"/>
                </a:solidFill>
              </a:rPr>
              <a:t>( </a:t>
            </a:r>
            <a:r>
              <a:rPr lang="nn-NO" sz="3200" dirty="0">
                <a:solidFill>
                  <a:srgbClr val="0269AF"/>
                </a:solidFill>
              </a:rPr>
              <a:t>int </a:t>
            </a:r>
            <a:r>
              <a:rPr lang="nn-NO" sz="3200" dirty="0">
                <a:solidFill>
                  <a:srgbClr val="000000"/>
                </a:solidFill>
              </a:rPr>
              <a:t>i = </a:t>
            </a:r>
            <a:r>
              <a:rPr lang="nn-NO" sz="3200" dirty="0">
                <a:solidFill>
                  <a:srgbClr val="80ADD4"/>
                </a:solidFill>
              </a:rPr>
              <a:t>20</a:t>
            </a:r>
            <a:r>
              <a:rPr lang="nn-NO" sz="3200" dirty="0">
                <a:solidFill>
                  <a:srgbClr val="000000"/>
                </a:solidFill>
              </a:rPr>
              <a:t>; i &gt;= </a:t>
            </a:r>
            <a:r>
              <a:rPr lang="nn-NO" sz="3200" dirty="0">
                <a:solidFill>
                  <a:srgbClr val="80ADD4"/>
                </a:solidFill>
              </a:rPr>
              <a:t>2</a:t>
            </a:r>
            <a:r>
              <a:rPr lang="nn-NO" sz="3200" dirty="0">
                <a:solidFill>
                  <a:srgbClr val="000000"/>
                </a:solidFill>
              </a:rPr>
              <a:t>; i -= </a:t>
            </a:r>
            <a:r>
              <a:rPr lang="nn-NO" sz="3200" dirty="0">
                <a:solidFill>
                  <a:srgbClr val="80ADD4"/>
                </a:solidFill>
              </a:rPr>
              <a:t>2 </a:t>
            </a:r>
            <a:r>
              <a:rPr lang="nn-NO" sz="3200" dirty="0">
                <a:solidFill>
                  <a:srgbClr val="000000"/>
                </a:solidFill>
              </a:rPr>
              <a:t>)</a:t>
            </a:r>
            <a:endParaRPr lang="en-US" sz="3200" kern="0" dirty="0" smtClean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7515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449759"/>
            <a:ext cx="525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“for” loop - Variants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752600"/>
            <a:ext cx="8991600" cy="4343400"/>
          </a:xfrm>
          <a:prstGeom prst="rect">
            <a:avLst/>
          </a:prstGeom>
        </p:spPr>
        <p:txBody>
          <a:bodyPr/>
          <a:lstStyle/>
          <a:p>
            <a:r>
              <a:rPr lang="pt-BR" sz="32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pt-BR" sz="3200" dirty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num 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pt-BR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3200" dirty="0" smtClean="0">
                <a:solidFill>
                  <a:srgbClr val="666666"/>
                </a:solidFill>
                <a:latin typeface="LucidaSansTypewriter--Identity-H"/>
              </a:rPr>
              <a:t> </a:t>
            </a:r>
            <a:r>
              <a:rPr lang="en-US" sz="3200" dirty="0">
                <a:solidFill>
                  <a:srgbClr val="666666"/>
                </a:solidFill>
                <a:latin typeface="LucidaSansTypewriter--Identity-H"/>
              </a:rPr>
              <a:t>// </a:t>
            </a:r>
            <a:r>
              <a:rPr lang="en-US" sz="3200" dirty="0" smtClean="0">
                <a:solidFill>
                  <a:srgbClr val="666666"/>
                </a:solidFill>
                <a:latin typeface="LucidaSansTypewriter--Identity-H"/>
              </a:rPr>
              <a:t>initialization</a:t>
            </a:r>
            <a:endParaRPr lang="pt-BR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	</a:t>
            </a:r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num 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&lt;=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dirty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3200" dirty="0">
                <a:solidFill>
                  <a:srgbClr val="666666"/>
                </a:solidFill>
                <a:latin typeface="LucidaSansTypewriter--Identity-H"/>
              </a:rPr>
              <a:t>// loop continuation condition</a:t>
            </a:r>
            <a:endParaRPr lang="pt-BR" sz="32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	 </a:t>
            </a:r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num</a:t>
            </a:r>
            <a:r>
              <a:rPr lang="pt-BR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++)</a:t>
            </a:r>
          </a:p>
          <a:p>
            <a:r>
              <a:rPr lang="en-US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	</a:t>
            </a:r>
            <a:r>
              <a:rPr lang="en-US" sz="3200" dirty="0">
                <a:solidFill>
                  <a:srgbClr val="666666"/>
                </a:solidFill>
                <a:latin typeface="LucidaSansTypewriter--Identity-H"/>
              </a:rPr>
              <a:t> // loop </a:t>
            </a:r>
            <a:r>
              <a:rPr lang="en-US" sz="3200" dirty="0" smtClean="0">
                <a:solidFill>
                  <a:srgbClr val="666666"/>
                </a:solidFill>
                <a:latin typeface="LucidaSansTypewriter--Identity-H"/>
              </a:rPr>
              <a:t>body</a:t>
            </a:r>
            <a:endParaRPr lang="pt-BR" sz="32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sz="32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19164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370455"/>
            <a:ext cx="525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“for” loop - Variants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157645"/>
            <a:ext cx="8991600" cy="5392578"/>
          </a:xfrm>
          <a:prstGeom prst="rect">
            <a:avLst/>
          </a:prstGeom>
        </p:spPr>
        <p:txBody>
          <a:bodyPr/>
          <a:lstStyle/>
          <a:p>
            <a:r>
              <a:rPr lang="pt-BR" sz="3200" dirty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num;</a:t>
            </a:r>
            <a:endParaRPr lang="pt-BR" sz="3200" b="1" dirty="0" smtClean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r>
              <a:rPr lang="pt-BR" sz="32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num 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pt-BR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3200" dirty="0" smtClean="0">
                <a:solidFill>
                  <a:srgbClr val="666666"/>
                </a:solidFill>
                <a:latin typeface="LucidaSansTypewriter--Identity-H"/>
              </a:rPr>
              <a:t> </a:t>
            </a:r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num 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&lt;=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dirty="0" smtClean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pt-BR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num</a:t>
            </a:r>
            <a:r>
              <a:rPr lang="pt-BR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++)</a:t>
            </a:r>
          </a:p>
          <a:p>
            <a:r>
              <a:rPr lang="en-US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	</a:t>
            </a:r>
            <a:r>
              <a:rPr lang="en-US" sz="3200" dirty="0">
                <a:solidFill>
                  <a:srgbClr val="666666"/>
                </a:solidFill>
                <a:latin typeface="LucidaSansTypewriter--Identity-H"/>
              </a:rPr>
              <a:t> // loop </a:t>
            </a:r>
            <a:r>
              <a:rPr lang="en-US" sz="3200" dirty="0" smtClean="0">
                <a:solidFill>
                  <a:srgbClr val="666666"/>
                </a:solidFill>
                <a:latin typeface="LucidaSansTypewriter--Identity-H"/>
              </a:rPr>
              <a:t>body</a:t>
            </a:r>
            <a:endParaRPr lang="pt-BR" sz="32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</a:p>
          <a:p>
            <a:endParaRPr lang="en-US" sz="32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pt-BR" sz="3200" dirty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num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 =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pt-BR" sz="3200" b="1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r>
              <a:rPr lang="pt-BR" sz="32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(;</a:t>
            </a:r>
            <a:r>
              <a:rPr lang="en-US" sz="3200" dirty="0" smtClean="0">
                <a:solidFill>
                  <a:srgbClr val="666666"/>
                </a:solidFill>
                <a:latin typeface="LucidaSansTypewriter--Identity-H"/>
              </a:rPr>
              <a:t> 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num 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&lt;=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dirty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num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++)</a:t>
            </a:r>
          </a:p>
          <a:p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	</a:t>
            </a:r>
            <a:r>
              <a:rPr lang="en-US" sz="3200" dirty="0">
                <a:solidFill>
                  <a:srgbClr val="666666"/>
                </a:solidFill>
                <a:latin typeface="LucidaSansTypewriter--Identity-H"/>
              </a:rPr>
              <a:t> // loop body</a:t>
            </a:r>
            <a:endParaRPr lang="pt-BR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</a:p>
          <a:p>
            <a:endParaRPr lang="en-US" sz="32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0" y="3810000"/>
            <a:ext cx="9144000" cy="322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3700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370455"/>
            <a:ext cx="525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“for” loop - Variants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600199"/>
            <a:ext cx="8153400" cy="3429001"/>
          </a:xfrm>
          <a:prstGeom prst="rect">
            <a:avLst/>
          </a:prstGeom>
        </p:spPr>
        <p:txBody>
          <a:bodyPr/>
          <a:lstStyle/>
          <a:p>
            <a:r>
              <a:rPr lang="pt-BR" sz="3200" dirty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num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 =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pt-BR" sz="3200" b="1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r>
              <a:rPr lang="pt-BR" sz="32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(;</a:t>
            </a:r>
            <a:r>
              <a:rPr lang="en-US" sz="3200" dirty="0">
                <a:solidFill>
                  <a:srgbClr val="666666"/>
                </a:solidFill>
                <a:latin typeface="LucidaSansTypewriter--Identity-H"/>
              </a:rPr>
              <a:t> 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num 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&lt;=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dirty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pt-BR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;)</a:t>
            </a:r>
            <a:endParaRPr lang="pt-BR" sz="32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	</a:t>
            </a:r>
            <a:r>
              <a:rPr lang="en-US" sz="3200" dirty="0">
                <a:solidFill>
                  <a:srgbClr val="666666"/>
                </a:solidFill>
                <a:latin typeface="LucidaSansTypewriter--Identity-H"/>
              </a:rPr>
              <a:t> // loop </a:t>
            </a:r>
            <a:r>
              <a:rPr lang="en-US" sz="3200" dirty="0" smtClean="0">
                <a:solidFill>
                  <a:srgbClr val="666666"/>
                </a:solidFill>
                <a:latin typeface="LucidaSansTypewriter--Identity-H"/>
              </a:rPr>
              <a:t>body</a:t>
            </a:r>
          </a:p>
          <a:p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num</a:t>
            </a:r>
            <a:r>
              <a:rPr lang="pt-BR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++;</a:t>
            </a:r>
            <a:endParaRPr lang="pt-BR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</a:p>
          <a:p>
            <a:endParaRPr lang="en-US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566779"/>
            <a:ext cx="2621280" cy="1310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00600" y="2966584"/>
            <a:ext cx="43217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b="1" dirty="0">
                <a:solidFill>
                  <a:prstClr val="black"/>
                </a:solidFill>
              </a:rPr>
              <a:t>The update is performed </a:t>
            </a:r>
            <a:r>
              <a:rPr lang="en-US" sz="2800" b="1" dirty="0" smtClean="0">
                <a:solidFill>
                  <a:prstClr val="black"/>
                </a:solidFill>
              </a:rPr>
              <a:t>AFTER</a:t>
            </a:r>
          </a:p>
          <a:p>
            <a:pPr algn="ctr">
              <a:spcBef>
                <a:spcPct val="0"/>
              </a:spcBef>
            </a:pPr>
            <a:r>
              <a:rPr lang="en-US" sz="2800" b="1" dirty="0" smtClean="0">
                <a:solidFill>
                  <a:prstClr val="black"/>
                </a:solidFill>
              </a:rPr>
              <a:t>the </a:t>
            </a:r>
            <a:r>
              <a:rPr lang="en-US" sz="2800" b="1" dirty="0">
                <a:solidFill>
                  <a:prstClr val="black"/>
                </a:solidFill>
              </a:rPr>
              <a:t>body of the loop</a:t>
            </a:r>
            <a:endParaRPr lang="en-AU" sz="28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0943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2394898"/>
            <a:ext cx="2095500" cy="2095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370455"/>
            <a:ext cx="525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“for” loop - Variants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600199"/>
            <a:ext cx="8153400" cy="3429001"/>
          </a:xfrm>
          <a:prstGeom prst="rect">
            <a:avLst/>
          </a:prstGeom>
        </p:spPr>
        <p:txBody>
          <a:bodyPr/>
          <a:lstStyle/>
          <a:p>
            <a:r>
              <a:rPr lang="pt-BR" sz="3200" dirty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num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 =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pt-BR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pt-BR" sz="3200" b="1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r>
              <a:rPr lang="pt-BR" sz="32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pt-BR" sz="32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(;;)</a:t>
            </a:r>
            <a:endParaRPr lang="pt-BR" sz="32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	</a:t>
            </a:r>
            <a:r>
              <a:rPr lang="en-US" sz="3200" dirty="0">
                <a:solidFill>
                  <a:srgbClr val="666666"/>
                </a:solidFill>
                <a:latin typeface="LucidaSansTypewriter--Identity-H"/>
              </a:rPr>
              <a:t> // loop </a:t>
            </a:r>
            <a:r>
              <a:rPr lang="en-US" sz="3200" dirty="0" smtClean="0">
                <a:solidFill>
                  <a:srgbClr val="666666"/>
                </a:solidFill>
                <a:latin typeface="LucidaSansTypewriter--Identity-H"/>
              </a:rPr>
              <a:t>body</a:t>
            </a:r>
          </a:p>
          <a:p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num</a:t>
            </a:r>
            <a:r>
              <a:rPr lang="pt-BR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++;</a:t>
            </a:r>
            <a:endParaRPr lang="pt-BR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</a:p>
          <a:p>
            <a:endParaRPr lang="en-US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3505200" y="1587303"/>
            <a:ext cx="2362200" cy="1169560"/>
          </a:xfrm>
          <a:prstGeom prst="wedgeRoundRectCallout">
            <a:avLst>
              <a:gd name="adj1" fmla="val -107247"/>
              <a:gd name="adj2" fmla="val 14522"/>
              <a:gd name="adj3" fmla="val 16667"/>
            </a:avLst>
          </a:prstGeom>
          <a:solidFill>
            <a:srgbClr val="FFC0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this Correct or Incorrect?</a:t>
            </a:r>
            <a:endParaRPr lang="en-US" sz="24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10200" y="4081839"/>
            <a:ext cx="24384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85900" y="4876799"/>
            <a:ext cx="6172200" cy="1192189"/>
          </a:xfrm>
          <a:prstGeom prst="rect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prstClr val="black"/>
                </a:solidFill>
              </a:rPr>
              <a:t>This is syntax wise correct but without any condition it becomes an </a:t>
            </a:r>
            <a:r>
              <a:rPr lang="en-US" sz="2400" b="1" dirty="0" smtClean="0">
                <a:solidFill>
                  <a:prstClr val="black"/>
                </a:solidFill>
              </a:rPr>
              <a:t>INFINITE</a:t>
            </a:r>
            <a:r>
              <a:rPr lang="en-US" sz="2400" dirty="0" smtClean="0">
                <a:solidFill>
                  <a:prstClr val="black"/>
                </a:solidFill>
              </a:rPr>
              <a:t> loop</a:t>
            </a:r>
            <a:endParaRPr lang="en-US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0662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600199"/>
            <a:ext cx="8153400" cy="3429001"/>
          </a:xfrm>
          <a:prstGeom prst="rect">
            <a:avLst/>
          </a:prstGeom>
        </p:spPr>
        <p:txBody>
          <a:bodyPr/>
          <a:lstStyle/>
          <a:p>
            <a:r>
              <a:rPr lang="pt-BR" sz="28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pt-BR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pt-BR" sz="2800" dirty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pt-BR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num </a:t>
            </a:r>
            <a:r>
              <a:rPr lang="pt-BR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pt-BR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2800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pt-BR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800" dirty="0">
                <a:solidFill>
                  <a:srgbClr val="666666"/>
                </a:solidFill>
                <a:latin typeface="LucidaSansTypewriter--Identity-H"/>
              </a:rPr>
              <a:t> </a:t>
            </a:r>
            <a:r>
              <a:rPr lang="pt-BR" sz="2800" dirty="0">
                <a:solidFill>
                  <a:srgbClr val="000000"/>
                </a:solidFill>
                <a:latin typeface="Courier New" panose="02070309020205020404" pitchFamily="49" charset="0"/>
              </a:rPr>
              <a:t>num </a:t>
            </a:r>
            <a:r>
              <a:rPr lang="pt-BR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&lt;=</a:t>
            </a:r>
            <a:r>
              <a:rPr lang="pt-BR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pt-BR" sz="2800" dirty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pt-BR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pt-BR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num</a:t>
            </a:r>
            <a:r>
              <a:rPr lang="pt-BR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++);</a:t>
            </a:r>
            <a:endParaRPr lang="en-US" sz="28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370455"/>
            <a:ext cx="525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“for” loop - Variants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3886200" y="3385116"/>
            <a:ext cx="3657600" cy="1588658"/>
          </a:xfrm>
          <a:prstGeom prst="wedgeRoundRectCallout">
            <a:avLst>
              <a:gd name="adj1" fmla="val 46237"/>
              <a:gd name="adj2" fmla="val -133736"/>
              <a:gd name="adj3" fmla="val 16667"/>
            </a:avLst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semicolon here represents that the body of for loop is empty and is a logical error</a:t>
            </a:r>
            <a:endParaRPr lang="en-US" sz="24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513223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ular Callout 7"/>
          <p:cNvSpPr/>
          <p:nvPr/>
        </p:nvSpPr>
        <p:spPr>
          <a:xfrm>
            <a:off x="5334000" y="3810000"/>
            <a:ext cx="3657600" cy="1588658"/>
          </a:xfrm>
          <a:prstGeom prst="wedgeRoundRectCallout">
            <a:avLst>
              <a:gd name="adj1" fmla="val -117196"/>
              <a:gd name="adj2" fmla="val -132017"/>
              <a:gd name="adj3" fmla="val 16667"/>
            </a:avLst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Using multiple variables in a for loop is allowed</a:t>
            </a:r>
            <a:endParaRPr lang="en-US" sz="24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600199"/>
            <a:ext cx="8153400" cy="3429001"/>
          </a:xfrm>
          <a:prstGeom prst="rect">
            <a:avLst/>
          </a:prstGeom>
        </p:spPr>
        <p:txBody>
          <a:bodyPr/>
          <a:lstStyle/>
          <a:p>
            <a:r>
              <a:rPr lang="nn-NO" sz="2800" dirty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nn-NO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i</a:t>
            </a:r>
            <a:r>
              <a:rPr lang="nn-NO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nn-NO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j</a:t>
            </a:r>
            <a:r>
              <a:rPr lang="nn-NO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nn-NO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nn-NO" sz="28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nn-NO" sz="28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nn-NO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nn-NO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nn-NO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i </a:t>
            </a:r>
            <a:r>
              <a:rPr lang="nn-NO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nn-NO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nn-NO" sz="2800" dirty="0" smtClean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nn-NO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nn-NO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j </a:t>
            </a:r>
            <a:r>
              <a:rPr lang="nn-NO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nn-NO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nn-NO" sz="2800" dirty="0" smtClean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nn-NO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nn-NO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nn-NO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+</a:t>
            </a:r>
            <a:r>
              <a:rPr lang="nn-NO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j</a:t>
            </a:r>
            <a:r>
              <a:rPr lang="nn-NO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&lt;</a:t>
            </a:r>
            <a:r>
              <a:rPr lang="nn-NO" sz="2800" dirty="0" smtClean="0">
                <a:solidFill>
                  <a:srgbClr val="FF8000"/>
                </a:solidFill>
                <a:latin typeface="Courier New" panose="02070309020205020404" pitchFamily="49" charset="0"/>
              </a:rPr>
              <a:t>20</a:t>
            </a:r>
            <a:r>
              <a:rPr lang="nn-NO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nn-NO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nn-NO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++,</a:t>
            </a:r>
            <a:r>
              <a:rPr lang="nn-NO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j</a:t>
            </a:r>
            <a:r>
              <a:rPr lang="nn-NO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++)</a:t>
            </a:r>
            <a:r>
              <a:rPr lang="nn-NO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nn-NO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nn-NO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nn-NO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cout </a:t>
            </a:r>
            <a:r>
              <a:rPr lang="nn-NO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nn-NO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nn-NO" sz="2800" dirty="0">
                <a:solidFill>
                  <a:srgbClr val="808080"/>
                </a:solidFill>
                <a:latin typeface="Courier New" panose="02070309020205020404" pitchFamily="49" charset="0"/>
              </a:rPr>
              <a:t>"i + j = "</a:t>
            </a:r>
            <a:r>
              <a:rPr lang="nn-NO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nn-NO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nn-NO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nn-NO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nn-NO" sz="2800" dirty="0">
                <a:solidFill>
                  <a:srgbClr val="000000"/>
                </a:solidFill>
                <a:latin typeface="Courier New" panose="02070309020205020404" pitchFamily="49" charset="0"/>
              </a:rPr>
              <a:t>i </a:t>
            </a:r>
            <a:r>
              <a:rPr lang="nn-NO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+</a:t>
            </a:r>
            <a:r>
              <a:rPr lang="nn-NO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j</a:t>
            </a:r>
            <a:r>
              <a:rPr lang="nn-NO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nn-NO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nn-NO" sz="28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nn-NO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nn-NO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nn-NO" sz="2800" dirty="0">
                <a:solidFill>
                  <a:srgbClr val="808080"/>
                </a:solidFill>
                <a:latin typeface="Courier New" panose="02070309020205020404" pitchFamily="49" charset="0"/>
              </a:rPr>
              <a:t>"\n"</a:t>
            </a:r>
            <a:r>
              <a:rPr lang="nn-NO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nn-NO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nn-NO" sz="28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nn-NO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nn-NO" sz="2800" dirty="0">
              <a:solidFill>
                <a:prstClr val="black"/>
              </a:solidFill>
            </a:endParaRPr>
          </a:p>
          <a:p>
            <a:endParaRPr lang="en-US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370455"/>
            <a:ext cx="525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“for” loop - Variants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2932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295400"/>
            <a:ext cx="8153400" cy="381000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2800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row 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row 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row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++)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8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latin typeface="Courier New" panose="02070309020205020404" pitchFamily="49" charset="0"/>
              </a:rPr>
              <a:t>//begin outer loop </a:t>
            </a:r>
            <a:endParaRPr lang="en-US" sz="2800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sz="28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2800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800" smtClean="0">
                <a:solidFill>
                  <a:srgbClr val="8000FF"/>
                </a:solidFill>
                <a:latin typeface="Courier New" panose="02070309020205020404" pitchFamily="49" charset="0"/>
              </a:rPr>
              <a:t> </a:t>
            </a:r>
            <a:r>
              <a:rPr lang="en-US" sz="2800" smtClean="0">
                <a:solidFill>
                  <a:srgbClr val="000000"/>
                </a:solidFill>
                <a:latin typeface="Courier New" panose="02070309020205020404" pitchFamily="49" charset="0"/>
              </a:rPr>
              <a:t>col 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col 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FF8000"/>
                </a:solidFill>
                <a:latin typeface="Courier New" panose="02070309020205020404" pitchFamily="49" charset="0"/>
              </a:rPr>
              <a:t>20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col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++)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8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latin typeface="Courier New" panose="02070309020205020404" pitchFamily="49" charset="0"/>
              </a:rPr>
              <a:t>//begin inner loop </a:t>
            </a:r>
            <a:endParaRPr lang="en-US" sz="2800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sz="2800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	// </a:t>
            </a:r>
            <a:r>
              <a:rPr lang="en-US" sz="2800" dirty="0">
                <a:solidFill>
                  <a:srgbClr val="008000"/>
                </a:solidFill>
                <a:latin typeface="Courier New" panose="02070309020205020404" pitchFamily="49" charset="0"/>
              </a:rPr>
              <a:t>some statements </a:t>
            </a:r>
            <a:endParaRPr lang="en-US" sz="2800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latin typeface="Courier New" panose="02070309020205020404" pitchFamily="49" charset="0"/>
              </a:rPr>
              <a:t>//end inner loop </a:t>
            </a:r>
            <a:endParaRPr lang="en-US" sz="2800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latin typeface="Courier New" panose="02070309020205020404" pitchFamily="49" charset="0"/>
              </a:rPr>
              <a:t>//end outer loop</a:t>
            </a:r>
            <a:endParaRPr lang="en-US" sz="2800" dirty="0">
              <a:solidFill>
                <a:prstClr val="black"/>
              </a:solidFill>
            </a:endParaRPr>
          </a:p>
          <a:p>
            <a:endParaRPr lang="en-US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19200" y="319325"/>
            <a:ext cx="670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Nested “for” loop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3760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246797" y="1676400"/>
            <a:ext cx="4296770" cy="1828800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</a:pPr>
            <a:r>
              <a:rPr kumimoji="1" lang="en-US" altLang="en-US" b="1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The </a:t>
            </a:r>
            <a:r>
              <a:rPr kumimoji="1" lang="en-US" altLang="en-US" b="1" dirty="0">
                <a:solidFill>
                  <a:srgbClr val="0070C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while</a:t>
            </a:r>
            <a:r>
              <a:rPr kumimoji="1" lang="en-US" altLang="en-US" b="1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 Loop</a:t>
            </a:r>
          </a:p>
          <a:p>
            <a:pPr marL="2857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  <a:buFontTx/>
              <a:buChar char="•"/>
            </a:pPr>
            <a:r>
              <a:rPr kumimoji="1" lang="en-US" altLang="en-US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A pre-test loop.  </a:t>
            </a:r>
          </a:p>
          <a:p>
            <a:pPr marL="2857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  <a:buFontTx/>
              <a:buChar char="•"/>
            </a:pPr>
            <a:r>
              <a:rPr kumimoji="1" lang="en-US" altLang="en-US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Use when you do not want the loop to iterate if the condition is false from the beginning. </a:t>
            </a:r>
            <a:endParaRPr lang="en-US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0" y="409763"/>
            <a:ext cx="670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4000" dirty="0" smtClean="0">
                <a:solidFill>
                  <a:srgbClr val="FF0000"/>
                </a:solidFill>
              </a:rPr>
              <a:t>Deciding </a:t>
            </a:r>
            <a:r>
              <a:rPr lang="en-US" altLang="en-US" sz="4000" dirty="0">
                <a:solidFill>
                  <a:srgbClr val="FF0000"/>
                </a:solidFill>
              </a:rPr>
              <a:t>Which Loop to Use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Rectangle 1027"/>
          <p:cNvSpPr txBox="1">
            <a:spLocks noChangeArrowheads="1"/>
          </p:cNvSpPr>
          <p:nvPr/>
        </p:nvSpPr>
        <p:spPr>
          <a:xfrm>
            <a:off x="4724400" y="1676400"/>
            <a:ext cx="4267200" cy="1828800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</a:pPr>
            <a:r>
              <a:rPr kumimoji="1" lang="en-US" altLang="en-US" b="1" dirty="0" smtClean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The </a:t>
            </a:r>
            <a:r>
              <a:rPr kumimoji="1" lang="en-US" altLang="en-US" b="1" dirty="0">
                <a:solidFill>
                  <a:srgbClr val="0070C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do-while</a:t>
            </a:r>
            <a:r>
              <a:rPr kumimoji="1" lang="en-US" altLang="en-US" b="1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 Loop</a:t>
            </a:r>
          </a:p>
          <a:p>
            <a:pPr marL="2857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  <a:buFontTx/>
              <a:buChar char="•"/>
            </a:pPr>
            <a:r>
              <a:rPr kumimoji="1" lang="en-US" altLang="en-US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A post-test loop.</a:t>
            </a:r>
          </a:p>
          <a:p>
            <a:pPr marL="2857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  <a:buFontTx/>
              <a:buChar char="•"/>
            </a:pPr>
            <a:r>
              <a:rPr kumimoji="1" lang="en-US" altLang="en-US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Use if you always want the loop to iterate at least once.</a:t>
            </a:r>
          </a:p>
          <a:p>
            <a:endParaRPr lang="en-US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  <p:sp>
        <p:nvSpPr>
          <p:cNvPr id="9" name="Rectangle 1027"/>
          <p:cNvSpPr txBox="1">
            <a:spLocks noChangeArrowheads="1"/>
          </p:cNvSpPr>
          <p:nvPr/>
        </p:nvSpPr>
        <p:spPr>
          <a:xfrm>
            <a:off x="1509215" y="3886200"/>
            <a:ext cx="6553200" cy="2359780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</a:pPr>
            <a:r>
              <a:rPr kumimoji="1" lang="en-US" altLang="en-US" b="1" dirty="0" smtClean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The </a:t>
            </a:r>
            <a:r>
              <a:rPr kumimoji="1" lang="en-US" altLang="en-US" b="1" dirty="0">
                <a:solidFill>
                  <a:srgbClr val="0070C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for</a:t>
            </a:r>
            <a:r>
              <a:rPr kumimoji="1" lang="en-US" altLang="en-US" b="1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 </a:t>
            </a:r>
            <a:r>
              <a:rPr kumimoji="1" lang="en-US" altLang="en-US" b="1" dirty="0" smtClean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Loop</a:t>
            </a:r>
            <a:endParaRPr kumimoji="1" lang="en-US" altLang="en-US" b="1" dirty="0">
              <a:solidFill>
                <a:srgbClr val="000000"/>
              </a:solidFill>
              <a:latin typeface="Segoe UI Symbol" panose="020B0502040204020203" pitchFamily="34" charset="0"/>
              <a:ea typeface="Segoe UI Symbol" panose="020B0502040204020203" pitchFamily="34" charset="0"/>
            </a:endParaRPr>
          </a:p>
          <a:p>
            <a:pPr marL="2857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  <a:buFont typeface="Arial" panose="020B0604020202020204" pitchFamily="34" charset="0"/>
              <a:buChar char="•"/>
            </a:pPr>
            <a:r>
              <a:rPr kumimoji="1" lang="en-US" altLang="en-US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A pre-test loop.</a:t>
            </a:r>
          </a:p>
          <a:p>
            <a:pPr marL="2857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  <a:buFont typeface="Arial" panose="020B0604020202020204" pitchFamily="34" charset="0"/>
              <a:buChar char="•"/>
            </a:pPr>
            <a:r>
              <a:rPr kumimoji="1" lang="en-US" altLang="en-US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Automatically executes an update expression at the end of each iteration.</a:t>
            </a:r>
          </a:p>
          <a:p>
            <a:pPr marL="2857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  <a:buFont typeface="Arial" panose="020B0604020202020204" pitchFamily="34" charset="0"/>
              <a:buChar char="•"/>
            </a:pPr>
            <a:r>
              <a:rPr kumimoji="1" lang="en-US" altLang="en-US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Ideal for situations where a counter variable is needed.</a:t>
            </a:r>
          </a:p>
          <a:p>
            <a:pPr marL="2857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93939"/>
              </a:buClr>
              <a:buFont typeface="Arial" panose="020B0604020202020204" pitchFamily="34" charset="0"/>
              <a:buChar char="•"/>
            </a:pPr>
            <a:r>
              <a:rPr kumimoji="1" lang="en-US" altLang="en-US" dirty="0">
                <a:solidFill>
                  <a:srgbClr val="00000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Used when the exact number of required iterations is known.</a:t>
            </a:r>
          </a:p>
          <a:p>
            <a:endParaRPr lang="en-US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 smtClean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endParaRPr lang="en-US" sz="3200" b="1" dirty="0">
              <a:solidFill>
                <a:srgbClr val="000080"/>
              </a:solidFill>
              <a:latin typeface="Courier New" panose="02070309020205020404" pitchFamily="49" charset="0"/>
            </a:endParaRPr>
          </a:p>
          <a:p>
            <a:r>
              <a:rPr lang="pt-BR" sz="32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pt-BR" sz="32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sz="3200" dirty="0">
              <a:solidFill>
                <a:prstClr val="black"/>
              </a:solidFill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3200" kern="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5500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Exercise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 program </a:t>
            </a:r>
            <a:r>
              <a:rPr lang="en-US" dirty="0" smtClean="0"/>
              <a:t>which </a:t>
            </a:r>
            <a:r>
              <a:rPr lang="en-US" dirty="0"/>
              <a:t>prints ten asterisks (*) in </a:t>
            </a:r>
            <a:r>
              <a:rPr lang="en-US" dirty="0" smtClean="0"/>
              <a:t>line (**********) first using </a:t>
            </a:r>
            <a:r>
              <a:rPr lang="en-US" b="1" i="1" dirty="0" smtClean="0">
                <a:solidFill>
                  <a:srgbClr val="C00000"/>
                </a:solidFill>
              </a:rPr>
              <a:t>while</a:t>
            </a:r>
            <a:r>
              <a:rPr lang="en-US" dirty="0" smtClean="0"/>
              <a:t> loop and then using a </a:t>
            </a:r>
            <a:r>
              <a:rPr lang="en-US" b="1" i="1" dirty="0" smtClean="0">
                <a:solidFill>
                  <a:srgbClr val="C00000"/>
                </a:solidFill>
              </a:rPr>
              <a:t>for</a:t>
            </a:r>
            <a:r>
              <a:rPr lang="en-US" dirty="0" smtClean="0"/>
              <a:t> loop.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9644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Exercise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 program which r</a:t>
            </a:r>
            <a:r>
              <a:rPr lang="en-US" dirty="0" smtClean="0"/>
              <a:t>epeatedly prints </a:t>
            </a:r>
            <a:r>
              <a:rPr lang="en-US" dirty="0"/>
              <a:t>the value of the variable </a:t>
            </a:r>
            <a:r>
              <a:rPr lang="en-US" dirty="0" err="1"/>
              <a:t>xValue</a:t>
            </a:r>
            <a:r>
              <a:rPr lang="en-US" dirty="0"/>
              <a:t>, decreasing it by 0.5 each time, as long as </a:t>
            </a:r>
            <a:r>
              <a:rPr lang="en-US" dirty="0" err="1"/>
              <a:t>xValue</a:t>
            </a:r>
            <a:r>
              <a:rPr lang="en-US" dirty="0"/>
              <a:t> remains </a:t>
            </a:r>
            <a:r>
              <a:rPr lang="en-US" dirty="0" smtClean="0"/>
              <a:t>positive.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0522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Exercise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Write a program to Drive </a:t>
            </a:r>
            <a:r>
              <a:rPr lang="en-US" dirty="0"/>
              <a:t>the user crazy by insisting they re-enter a particular input no matter what they enter. </a:t>
            </a:r>
            <a:r>
              <a:rPr lang="en-US" i="1" dirty="0"/>
              <a:t>Be creative...</a:t>
            </a:r>
          </a:p>
        </p:txBody>
      </p:sp>
    </p:spTree>
    <p:extLst>
      <p:ext uri="{BB962C8B-B14F-4D97-AF65-F5344CB8AC3E}">
        <p14:creationId xmlns:p14="http://schemas.microsoft.com/office/powerpoint/2010/main" val="29600103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598" y="156949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Assignment 2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67491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0997" y="894579"/>
            <a:ext cx="8382001" cy="400110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prstClr val="black"/>
                </a:solidFill>
              </a:rPr>
              <a:t>Write an </a:t>
            </a:r>
            <a:r>
              <a:rPr lang="en-US" sz="2000" dirty="0" err="1" smtClean="0">
                <a:solidFill>
                  <a:prstClr val="black"/>
                </a:solidFill>
              </a:rPr>
              <a:t>algo</a:t>
            </a:r>
            <a:r>
              <a:rPr lang="en-US" sz="2000" dirty="0" smtClean="0">
                <a:solidFill>
                  <a:prstClr val="black"/>
                </a:solidFill>
              </a:rPr>
              <a:t> using for loop for the steps shown in the video below.</a:t>
            </a:r>
            <a:endParaRPr lang="en-US" sz="2000" dirty="0">
              <a:solidFill>
                <a:prstClr val="black"/>
              </a:solidFill>
            </a:endParaRPr>
          </a:p>
        </p:txBody>
      </p:sp>
      <p:pic>
        <p:nvPicPr>
          <p:cNvPr id="9" name="for loop demonstration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54605" y="1396267"/>
            <a:ext cx="8434786" cy="474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4250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12121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524000"/>
            <a:ext cx="8229600" cy="4525963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endParaRPr lang="en-US" dirty="0"/>
          </a:p>
          <a:p>
            <a:pPr algn="ctr">
              <a:buFont typeface="Wingdings" pitchFamily="2" charset="2"/>
              <a:buNone/>
            </a:pPr>
            <a:endParaRPr lang="en-US" dirty="0"/>
          </a:p>
          <a:p>
            <a:pPr algn="ctr">
              <a:buFont typeface="Wingdings" pitchFamily="2" charset="2"/>
              <a:buNone/>
            </a:pPr>
            <a:endParaRPr lang="en-US" dirty="0"/>
          </a:p>
          <a:p>
            <a:pPr algn="ctr">
              <a:buFont typeface="Wingdings" pitchFamily="2" charset="2"/>
              <a:buNone/>
            </a:pPr>
            <a:r>
              <a:rPr lang="en-US" dirty="0" smtClean="0"/>
              <a:t> </a:t>
            </a:r>
            <a:r>
              <a:rPr lang="en-US" dirty="0"/>
              <a:t>Thank You</a:t>
            </a:r>
          </a:p>
        </p:txBody>
      </p:sp>
      <p:pic>
        <p:nvPicPr>
          <p:cNvPr id="8294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38600" y="1295400"/>
            <a:ext cx="1219200" cy="1219200"/>
          </a:xfrm>
          <a:prstGeom prst="rect">
            <a:avLst/>
          </a:prstGeom>
          <a:noFill/>
          <a:ln w="38100">
            <a:solidFill>
              <a:srgbClr val="800000"/>
            </a:solidFill>
            <a:miter lim="800000"/>
            <a:headEnd/>
            <a:tailEnd/>
          </a:ln>
        </p:spPr>
      </p:pic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609600" y="4495800"/>
            <a:ext cx="7943850" cy="1649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30000"/>
              </a:spcBef>
            </a:pPr>
            <a:r>
              <a:rPr lang="en-US" sz="2200" b="1" dirty="0">
                <a:latin typeface="Arial" pitchFamily="34" charset="0"/>
              </a:rPr>
              <a:t>The illiterate of the 21st century will not be those who cannot read </a:t>
            </a:r>
            <a:r>
              <a:rPr lang="en-US" sz="2200" b="1">
                <a:latin typeface="Arial" pitchFamily="34" charset="0"/>
              </a:rPr>
              <a:t>and </a:t>
            </a:r>
            <a:r>
              <a:rPr lang="en-US" sz="2200" b="1" smtClean="0">
                <a:latin typeface="Arial" pitchFamily="34" charset="0"/>
              </a:rPr>
              <a:t>write, </a:t>
            </a:r>
            <a:endParaRPr lang="en-US" sz="2200" b="1" dirty="0">
              <a:latin typeface="Arial" pitchFamily="34" charset="0"/>
            </a:endParaRPr>
          </a:p>
          <a:p>
            <a:pPr algn="ctr">
              <a:spcBef>
                <a:spcPct val="30000"/>
              </a:spcBef>
            </a:pPr>
            <a:r>
              <a:rPr lang="en-US" sz="2200" b="1" dirty="0">
                <a:latin typeface="Arial" pitchFamily="34" charset="0"/>
              </a:rPr>
              <a:t>but those who </a:t>
            </a:r>
            <a:r>
              <a:rPr lang="en-US" sz="2200" b="1">
                <a:latin typeface="Arial" pitchFamily="34" charset="0"/>
              </a:rPr>
              <a:t>cannot </a:t>
            </a:r>
            <a:r>
              <a:rPr lang="en-US" sz="2200" b="1" smtClean="0">
                <a:latin typeface="Arial" pitchFamily="34" charset="0"/>
              </a:rPr>
              <a:t>learn, unlearn, </a:t>
            </a:r>
            <a:r>
              <a:rPr lang="en-US" sz="2200" b="1" dirty="0">
                <a:latin typeface="Arial" pitchFamily="34" charset="0"/>
              </a:rPr>
              <a:t>and relearn.</a:t>
            </a:r>
          </a:p>
          <a:p>
            <a:pPr algn="ctr">
              <a:spcBef>
                <a:spcPct val="30000"/>
              </a:spcBef>
            </a:pPr>
            <a:r>
              <a:rPr lang="en-US" sz="2200" b="1" dirty="0">
                <a:latin typeface="Arial" pitchFamily="34" charset="0"/>
              </a:rPr>
              <a:t>						</a:t>
            </a:r>
            <a:r>
              <a:rPr lang="en-US" sz="2200" b="1" i="1" dirty="0">
                <a:latin typeface="Arial" pitchFamily="34" charset="0"/>
              </a:rPr>
              <a:t>--Unknown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23201</TotalTime>
  <Words>1015</Words>
  <Application>Microsoft Office PowerPoint</Application>
  <PresentationFormat>On-screen Show (4:3)</PresentationFormat>
  <Paragraphs>303</Paragraphs>
  <Slides>27</Slides>
  <Notes>26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AGaramond-Semibold--Identity-H</vt:lpstr>
      <vt:lpstr>Agency FB</vt:lpstr>
      <vt:lpstr>Arial</vt:lpstr>
      <vt:lpstr>Calibri</vt:lpstr>
      <vt:lpstr>Courier New</vt:lpstr>
      <vt:lpstr>LucidaSansTypewriter--Identity-H</vt:lpstr>
      <vt:lpstr>Segoe UI Symbol</vt:lpstr>
      <vt:lpstr>Wingdings</vt:lpstr>
      <vt:lpstr>Office Theme</vt:lpstr>
      <vt:lpstr>CS-111 Fundamentals of Computer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Quratulain</dc:creator>
  <cp:lastModifiedBy>Muhammad Zohaib Awan</cp:lastModifiedBy>
  <cp:revision>1443</cp:revision>
  <dcterms:created xsi:type="dcterms:W3CDTF">2006-08-16T00:00:00Z</dcterms:created>
  <dcterms:modified xsi:type="dcterms:W3CDTF">2018-11-06T08:28:21Z</dcterms:modified>
</cp:coreProperties>
</file>