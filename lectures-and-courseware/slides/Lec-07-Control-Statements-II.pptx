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7" r:id="rId2"/>
    <p:sldMasterId id="2147483710" r:id="rId3"/>
  </p:sldMasterIdLst>
  <p:notesMasterIdLst>
    <p:notesMasterId r:id="rId77"/>
  </p:notesMasterIdLst>
  <p:sldIdLst>
    <p:sldId id="884" r:id="rId4"/>
    <p:sldId id="822" r:id="rId5"/>
    <p:sldId id="627" r:id="rId6"/>
    <p:sldId id="893" r:id="rId7"/>
    <p:sldId id="894" r:id="rId8"/>
    <p:sldId id="895" r:id="rId9"/>
    <p:sldId id="896" r:id="rId10"/>
    <p:sldId id="897" r:id="rId11"/>
    <p:sldId id="898" r:id="rId12"/>
    <p:sldId id="899" r:id="rId13"/>
    <p:sldId id="900" r:id="rId14"/>
    <p:sldId id="901" r:id="rId15"/>
    <p:sldId id="902" r:id="rId16"/>
    <p:sldId id="903" r:id="rId17"/>
    <p:sldId id="904" r:id="rId18"/>
    <p:sldId id="818" r:id="rId19"/>
    <p:sldId id="819" r:id="rId20"/>
    <p:sldId id="823" r:id="rId21"/>
    <p:sldId id="665" r:id="rId22"/>
    <p:sldId id="718" r:id="rId23"/>
    <p:sldId id="861" r:id="rId24"/>
    <p:sldId id="862" r:id="rId25"/>
    <p:sldId id="863" r:id="rId26"/>
    <p:sldId id="864" r:id="rId27"/>
    <p:sldId id="865" r:id="rId28"/>
    <p:sldId id="828" r:id="rId29"/>
    <p:sldId id="866" r:id="rId30"/>
    <p:sldId id="829" r:id="rId31"/>
    <p:sldId id="867" r:id="rId32"/>
    <p:sldId id="868" r:id="rId33"/>
    <p:sldId id="869" r:id="rId34"/>
    <p:sldId id="870" r:id="rId35"/>
    <p:sldId id="871" r:id="rId36"/>
    <p:sldId id="872" r:id="rId37"/>
    <p:sldId id="873" r:id="rId38"/>
    <p:sldId id="885" r:id="rId39"/>
    <p:sldId id="886" r:id="rId40"/>
    <p:sldId id="887" r:id="rId41"/>
    <p:sldId id="888" r:id="rId42"/>
    <p:sldId id="833" r:id="rId43"/>
    <p:sldId id="835" r:id="rId44"/>
    <p:sldId id="836" r:id="rId45"/>
    <p:sldId id="837" r:id="rId46"/>
    <p:sldId id="838" r:id="rId47"/>
    <p:sldId id="839" r:id="rId48"/>
    <p:sldId id="840" r:id="rId49"/>
    <p:sldId id="841" r:id="rId50"/>
    <p:sldId id="842" r:id="rId51"/>
    <p:sldId id="843" r:id="rId52"/>
    <p:sldId id="844" r:id="rId53"/>
    <p:sldId id="874" r:id="rId54"/>
    <p:sldId id="875" r:id="rId55"/>
    <p:sldId id="845" r:id="rId56"/>
    <p:sldId id="876" r:id="rId57"/>
    <p:sldId id="879" r:id="rId58"/>
    <p:sldId id="880" r:id="rId59"/>
    <p:sldId id="877" r:id="rId60"/>
    <p:sldId id="882" r:id="rId61"/>
    <p:sldId id="890" r:id="rId62"/>
    <p:sldId id="878" r:id="rId63"/>
    <p:sldId id="892" r:id="rId64"/>
    <p:sldId id="891" r:id="rId65"/>
    <p:sldId id="851" r:id="rId66"/>
    <p:sldId id="852" r:id="rId67"/>
    <p:sldId id="853" r:id="rId68"/>
    <p:sldId id="854" r:id="rId69"/>
    <p:sldId id="855" r:id="rId70"/>
    <p:sldId id="856" r:id="rId71"/>
    <p:sldId id="857" r:id="rId72"/>
    <p:sldId id="858" r:id="rId73"/>
    <p:sldId id="859" r:id="rId74"/>
    <p:sldId id="860" r:id="rId75"/>
    <p:sldId id="731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1A00"/>
    <a:srgbClr val="FFFF00"/>
    <a:srgbClr val="E14F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4" autoAdjust="0"/>
    <p:restoredTop sz="94434" autoAdjust="0"/>
  </p:normalViewPr>
  <p:slideViewPr>
    <p:cSldViewPr>
      <p:cViewPr varScale="1">
        <p:scale>
          <a:sx n="74" d="100"/>
          <a:sy n="74" d="100"/>
        </p:scale>
        <p:origin x="10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76" Type="http://schemas.openxmlformats.org/officeDocument/2006/relationships/slide" Target="slides/slide73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viewProps" Target="viewProps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12F8C8-4AB1-4EC7-8A80-DF0BAD6D312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378537-16E5-4CC2-9695-625595435CC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17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D54AAF-9BF3-4853-8FDE-D596CE60BAD0}" type="slidenum">
              <a:rPr lang="en-US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97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648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2048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1663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9140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64591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9728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2801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2357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643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1745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7170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09754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4092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3898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58455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17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7479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18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117746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835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20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09862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5686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1999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7294415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81870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>
                <a:solidFill>
                  <a:prstClr val="black"/>
                </a:solidFill>
              </a:rPr>
              <a:pPr/>
              <a:t>25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32347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7994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7067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779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0577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8939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401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5893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2082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030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5243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378537-16E5-4CC2-9695-625595435CCC}" type="slidenum">
              <a:rPr lang="en-US" smtClean="0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3957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031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EB6FCF-435C-4317-86D2-E76D353F0B2F}" type="slidenum">
              <a:rPr lang="en-US">
                <a:solidFill>
                  <a:prstClr val="black"/>
                </a:solidFill>
              </a:rPr>
              <a:pPr/>
              <a:t>62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194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710" y="4343713"/>
            <a:ext cx="5028580" cy="270505"/>
          </a:xfrm>
        </p:spPr>
        <p:txBody>
          <a:bodyPr>
            <a:normAutofit lnSpcReduction="10000"/>
          </a:bodyPr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3713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E8EB77-1F76-4D93-A3AF-B57CBBC7FB5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85E841-A079-495C-8CCA-9C61DB49E5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26756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5FC70C-F5A9-4CB0-8AC0-EE2843D3720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D444C3-D1E0-410A-B4B8-4FBDC876A5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04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E1F871-16F2-47A0-8BF0-9CCA39FC8DF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62D868-6FCE-4FD9-A1FD-ED546B0CB33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2631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9E44ED-6318-4974-B656-E96A52FFCBB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33D5CA-DFD4-4B35-80ED-0EDDCA22AD5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7981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5BA46-1340-4881-8B69-D6AC315D93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DE0786E-ECEE-44CA-9430-17B91A798A9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2140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9248327-125B-42D3-904F-6F2E679B2B0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AB07D-030D-44F5-9E46-2BDEBD18B9F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6733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FD5C1-75D3-4C71-9819-583BFED47376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E16C5-D16A-457D-9C29-9D16CFACFBD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32801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01D0B-F3E7-4E6D-B86F-A6C1B7FBB594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A6B74F-379B-4899-B0BF-92B55A0062A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8083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57724C-24D6-4B7E-A696-D32759A6C3EA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D3ECD9-6EA3-4EE6-A28B-3C30AC18018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222974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CBC926-39B7-4770-9822-E6CFBA20A3CD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1DE4FC-72B2-4367-8BB6-FB3A32A8278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5189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DE58D9-392E-4DF5-A540-89826493DAA7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C1D85F-419F-4C06-93FA-426DFF8C70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79054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36873-7A1E-49AC-A12F-89FE96498963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D060A0-988F-4E57-B88A-08C90E67455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2291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4944164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4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374485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2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627992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1" y="1575654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3887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1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8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033724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2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0463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FEDF877-9953-4A45-A93A-6CF9DA21F41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9778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2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724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40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96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2946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8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3"/>
            <a:ext cx="457200" cy="441325"/>
          </a:xfrm>
        </p:spPr>
        <p:txBody>
          <a:bodyPr/>
          <a:lstStyle/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3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2565690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5E0A90C-EE50-47D5-84C6-0129908DF5C8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10/22/2018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45743FE7-0461-4BA1-9ABB-10B8182DC3E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13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2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7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D3A7A08B-64B0-470C-87C9-934E2920E55F}" type="datetimeFigureOut">
              <a:rPr lang="en-US" smtClean="0"/>
              <a:pPr/>
              <a:t>10/22/2018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6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EFEDF877-9953-4A45-A93A-6CF9DA21F412}" type="slidenum">
              <a:rPr lang="en-US" smtClean="0">
                <a:solidFill>
                  <a:srgbClr val="EB641B">
                    <a:shade val="75000"/>
                  </a:srgbClr>
                </a:solidFill>
              </a:rPr>
              <a:pPr/>
              <a:t>‹#›</a:t>
            </a:fld>
            <a:endParaRPr lang="en-US">
              <a:solidFill>
                <a:srgbClr val="EB641B">
                  <a:shade val="75000"/>
                </a:srgbClr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13009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gif"/><Relationship Id="rId4" Type="http://schemas.openxmlformats.org/officeDocument/2006/relationships/image" Target="../media/image21.gi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527774"/>
            <a:ext cx="6654627" cy="218958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88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350730"/>
            <a:ext cx="7772400" cy="14700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 smtClean="0">
                <a:solidFill>
                  <a:schemeClr val="bg1"/>
                </a:solidFill>
              </a:rPr>
              <a:t>CS-111</a:t>
            </a:r>
            <a:r>
              <a:rPr lang="en-US" sz="4000" dirty="0">
                <a:solidFill>
                  <a:schemeClr val="bg1"/>
                </a:solidFill>
              </a:rPr>
              <a:t/>
            </a:r>
            <a:br>
              <a:rPr lang="en-US" sz="4000" dirty="0">
                <a:solidFill>
                  <a:schemeClr val="bg1"/>
                </a:solidFill>
              </a:rPr>
            </a:br>
            <a:r>
              <a:rPr lang="en-US" sz="4000" b="1" dirty="0" smtClean="0">
                <a:solidFill>
                  <a:schemeClr val="bg1"/>
                </a:solidFill>
              </a:rPr>
              <a:t>Fundamentals of Computer </a:t>
            </a:r>
            <a:r>
              <a:rPr lang="en-US" sz="4000" b="1" dirty="0">
                <a:solidFill>
                  <a:schemeClr val="bg1"/>
                </a:solidFill>
              </a:rPr>
              <a:t>Programming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69913" y="3746267"/>
            <a:ext cx="6400800" cy="1752600"/>
          </a:xfrm>
        </p:spPr>
        <p:txBody>
          <a:bodyPr/>
          <a:lstStyle/>
          <a:p>
            <a:pPr algn="ctr"/>
            <a:r>
              <a:rPr lang="en-US" dirty="0" smtClean="0">
                <a:solidFill>
                  <a:schemeClr val="bg1"/>
                </a:solidFill>
              </a:rPr>
              <a:t>Lecture 7</a:t>
            </a:r>
          </a:p>
          <a:p>
            <a:pPr algn="ctr"/>
            <a:r>
              <a:rPr lang="en-US" dirty="0" smtClean="0">
                <a:solidFill>
                  <a:schemeClr val="bg1"/>
                </a:solidFill>
              </a:rPr>
              <a:t>Control Statements – II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400"/>
            <a:ext cx="5029200" cy="365125"/>
          </a:xfrm>
        </p:spPr>
        <p:txBody>
          <a:bodyPr/>
          <a:lstStyle/>
          <a:p>
            <a:r>
              <a:rPr lang="en-US" sz="1800" b="1" dirty="0" smtClean="0">
                <a:solidFill>
                  <a:prstClr val="white"/>
                </a:solidFill>
              </a:rPr>
              <a:t>Institute of Geographical Information Systems</a:t>
            </a:r>
            <a:endParaRPr lang="en-US" sz="1800" b="1" dirty="0">
              <a:solidFill>
                <a:prstClr val="white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0" y="5867400"/>
            <a:ext cx="9144000" cy="99060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pic>
        <p:nvPicPr>
          <p:cNvPr id="4098" name="Picture 2" descr="http://www.nust.edu.pk/SiteCollectionImages/logo_SEECS_1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772400" y="5867400"/>
            <a:ext cx="1143000" cy="923925"/>
          </a:xfrm>
          <a:prstGeom prst="rect">
            <a:avLst/>
          </a:prstGeom>
          <a:noFill/>
        </p:spPr>
      </p:pic>
      <p:sp>
        <p:nvSpPr>
          <p:cNvPr id="15" name="Rectangle 14"/>
          <p:cNvSpPr/>
          <p:nvPr/>
        </p:nvSpPr>
        <p:spPr>
          <a:xfrm>
            <a:off x="0" y="5867400"/>
            <a:ext cx="2286000" cy="9906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prstClr val="black"/>
                </a:solidFill>
              </a:rPr>
              <a:t>Course Instructor:</a:t>
            </a:r>
          </a:p>
          <a:p>
            <a:pPr algn="ctr"/>
            <a:r>
              <a:rPr lang="en-US" b="1" dirty="0" smtClean="0">
                <a:solidFill>
                  <a:prstClr val="black"/>
                </a:solidFill>
              </a:rPr>
              <a:t>Qurrat-</a:t>
            </a:r>
            <a:r>
              <a:rPr lang="en-US" b="1" dirty="0" err="1" smtClean="0">
                <a:solidFill>
                  <a:prstClr val="black"/>
                </a:solidFill>
              </a:rPr>
              <a:t>ul</a:t>
            </a:r>
            <a:r>
              <a:rPr lang="en-US" b="1" dirty="0" smtClean="0">
                <a:solidFill>
                  <a:prstClr val="black"/>
                </a:solidFill>
              </a:rPr>
              <a:t>-</a:t>
            </a:r>
            <a:r>
              <a:rPr lang="en-US" b="1" dirty="0" err="1" smtClean="0">
                <a:solidFill>
                  <a:prstClr val="black"/>
                </a:solidFill>
              </a:rPr>
              <a:t>ain</a:t>
            </a:r>
            <a:r>
              <a:rPr lang="en-US" b="1" dirty="0" smtClean="0">
                <a:solidFill>
                  <a:prstClr val="black"/>
                </a:solidFill>
              </a:rPr>
              <a:t> Babar</a:t>
            </a:r>
            <a:endParaRPr lang="en-US" b="1" dirty="0">
              <a:solidFill>
                <a:prstClr val="black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181600" y="6144994"/>
            <a:ext cx="2400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prstClr val="white"/>
                </a:solidFill>
              </a:rPr>
              <a:t>NUST Institute of Civil Engineering (NICE)</a:t>
            </a:r>
            <a:endParaRPr lang="en-US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7483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9" y="1676400"/>
            <a:ext cx="4414234" cy="268833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449759"/>
            <a:ext cx="8458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Agency FB" panose="020B0503020202020204" pitchFamily="34" charset="0"/>
              </a:rPr>
              <a:t>Thought of the Week: Tolerance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Agency FB" panose="020B0503020202020204" pitchFamily="34" charset="0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600" y="2587580"/>
            <a:ext cx="4762500" cy="33813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09333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Road Map for Today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267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Control</a:t>
            </a:r>
            <a:r>
              <a:rPr kumimoji="0" lang="en-US" sz="32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Statements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  <a:latin typeface="+mj-lt"/>
              </a:rPr>
              <a:t>Selection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002060"/>
                </a:solidFill>
              </a:rPr>
              <a:t>if</a:t>
            </a:r>
            <a:r>
              <a:rPr lang="en-US" sz="3200" dirty="0">
                <a:solidFill>
                  <a:srgbClr val="002060"/>
                </a:solidFill>
              </a:rPr>
              <a:t> 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i="1" dirty="0" smtClean="0">
                <a:solidFill>
                  <a:srgbClr val="FF0000"/>
                </a:solidFill>
              </a:rPr>
              <a:t>switch</a:t>
            </a:r>
            <a:endParaRPr lang="en-US" sz="3200" kern="0" dirty="0" smtClean="0">
              <a:solidFill>
                <a:srgbClr val="C00000"/>
              </a:solidFill>
              <a:latin typeface="+mj-lt"/>
            </a:endParaRP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  <a:latin typeface="+mj-lt"/>
              </a:rPr>
              <a:t>Iteration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  <a:latin typeface="+mj-lt"/>
              </a:rPr>
              <a:t>Jump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670995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Multiple Selection – </a:t>
            </a:r>
            <a:r>
              <a:rPr lang="en-US" sz="4400" b="1" i="1" dirty="0">
                <a:solidFill>
                  <a:srgbClr val="002060"/>
                </a:solidFill>
              </a:rPr>
              <a:t>Nested if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152400" y="1360274"/>
            <a:ext cx="89916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u="sng" dirty="0" smtClean="0">
                <a:solidFill>
                  <a:prstClr val="black"/>
                </a:solidFill>
              </a:rPr>
              <a:t>Nesting</a:t>
            </a:r>
            <a:r>
              <a:rPr lang="en-US" sz="3600" dirty="0" smtClean="0">
                <a:solidFill>
                  <a:prstClr val="black"/>
                </a:solidFill>
              </a:rPr>
              <a:t>: One control statement within another</a:t>
            </a:r>
            <a:endParaRPr lang="en-US" sz="3600" dirty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272778" y="2667000"/>
            <a:ext cx="6750844" cy="2819400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pPr>
              <a:buFontTx/>
              <a:buNone/>
            </a:pP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condition2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379114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Multiple Selection – </a:t>
            </a:r>
            <a:r>
              <a:rPr lang="en-US" sz="4400" b="1" i="1" dirty="0">
                <a:solidFill>
                  <a:srgbClr val="002060"/>
                </a:solidFill>
              </a:rPr>
              <a:t>Nested if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57200" y="1396184"/>
            <a:ext cx="4800600" cy="4960441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 </a:t>
            </a:r>
          </a:p>
          <a:p>
            <a:pPr>
              <a:buFontTx/>
              <a:buNone/>
            </a:pP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pPr>
              <a:buFontTx/>
              <a:buNone/>
            </a:pP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statement1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  <a:p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else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if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condition2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	statement;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dirty="0">
                <a:solidFill>
                  <a:srgbClr val="0070C0"/>
                </a:solidFill>
                <a:latin typeface="Courier New" panose="02070309020205020404" pitchFamily="49" charset="0"/>
              </a:rPr>
              <a:t>else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 </a:t>
            </a: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		statement</a:t>
            </a:r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  <a:endParaRPr lang="en-US" altLang="en-US" sz="2800" b="1" dirty="0" smtClean="0">
              <a:solidFill>
                <a:schemeClr val="tx1"/>
              </a:solidFill>
              <a:latin typeface="Courier New" panose="02070309020205020404" pitchFamily="49" charset="0"/>
            </a:endParaRPr>
          </a:p>
          <a:p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} 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085" y="2286000"/>
            <a:ext cx="6856315" cy="328285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Oval 1"/>
          <p:cNvSpPr/>
          <p:nvPr/>
        </p:nvSpPr>
        <p:spPr>
          <a:xfrm>
            <a:off x="2059085" y="2277414"/>
            <a:ext cx="684115" cy="92065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401142" y="3002481"/>
            <a:ext cx="684115" cy="92065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748565" y="3722088"/>
            <a:ext cx="684115" cy="92065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095988" y="4438569"/>
            <a:ext cx="684115" cy="920651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897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559191"/>
            <a:ext cx="5974035" cy="286040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0375" y="3006057"/>
            <a:ext cx="7542799" cy="3143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Multiple Selection – </a:t>
            </a:r>
            <a:r>
              <a:rPr lang="en-US" sz="4400" b="1" i="1" dirty="0" smtClean="0">
                <a:solidFill>
                  <a:srgbClr val="002060"/>
                </a:solidFill>
              </a:rPr>
              <a:t>if-else-if</a:t>
            </a:r>
            <a:endParaRPr lang="en-US" sz="4400" b="1" i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2" name="Curved Down Arrow 11"/>
          <p:cNvSpPr/>
          <p:nvPr/>
        </p:nvSpPr>
        <p:spPr>
          <a:xfrm>
            <a:off x="5638800" y="1736917"/>
            <a:ext cx="1676400" cy="971092"/>
          </a:xfrm>
          <a:prstGeom prst="curvedDownArrow">
            <a:avLst>
              <a:gd name="adj1" fmla="val 19898"/>
              <a:gd name="adj2" fmla="val 75710"/>
              <a:gd name="adj3" fmla="val 39085"/>
            </a:avLst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154085" y="1341979"/>
            <a:ext cx="940619" cy="1208037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95400" y="3422899"/>
            <a:ext cx="1180258" cy="691902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7509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1600200"/>
            <a:ext cx="91440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F79646">
                    <a:lumMod val="75000"/>
                  </a:srgbClr>
                </a:solidFill>
              </a:rPr>
              <a:t>Comparison </a:t>
            </a:r>
          </a:p>
          <a:p>
            <a:pPr algn="ctr"/>
            <a:r>
              <a:rPr lang="en-US" sz="5400" b="1" i="1" dirty="0" smtClean="0">
                <a:solidFill>
                  <a:srgbClr val="002060"/>
                </a:solidFill>
              </a:rPr>
              <a:t>If – else – if  </a:t>
            </a:r>
          </a:p>
          <a:p>
            <a:pPr algn="ctr"/>
            <a:r>
              <a:rPr lang="en-US" sz="5400" b="1" dirty="0" smtClean="0">
                <a:solidFill>
                  <a:srgbClr val="F79646">
                    <a:lumMod val="75000"/>
                  </a:srgbClr>
                </a:solidFill>
              </a:rPr>
              <a:t>vs</a:t>
            </a:r>
            <a:r>
              <a:rPr lang="en-US" sz="5400" b="1" i="1" dirty="0" smtClean="0">
                <a:solidFill>
                  <a:srgbClr val="002060"/>
                </a:solidFill>
              </a:rPr>
              <a:t> </a:t>
            </a:r>
          </a:p>
          <a:p>
            <a:pPr algn="ctr"/>
            <a:r>
              <a:rPr lang="en-US" sz="5400" dirty="0" smtClean="0"/>
              <a:t>series of</a:t>
            </a:r>
            <a:r>
              <a:rPr lang="en-US" sz="5400" b="1" i="1" dirty="0" smtClean="0">
                <a:solidFill>
                  <a:srgbClr val="002060"/>
                </a:solidFill>
              </a:rPr>
              <a:t> if </a:t>
            </a:r>
            <a:r>
              <a:rPr lang="en-US" sz="5400" dirty="0"/>
              <a:t>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7243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79646">
                    <a:lumMod val="75000"/>
                  </a:srgbClr>
                </a:solidFill>
              </a:rPr>
              <a:t>Comparison – </a:t>
            </a:r>
            <a:r>
              <a:rPr lang="en-US" sz="3600" b="1" i="1" dirty="0" smtClean="0">
                <a:solidFill>
                  <a:srgbClr val="002060"/>
                </a:solidFill>
              </a:rPr>
              <a:t>If-else-if </a:t>
            </a:r>
            <a:r>
              <a:rPr lang="en-US" sz="3600" b="1" dirty="0">
                <a:solidFill>
                  <a:srgbClr val="F79646">
                    <a:lumMod val="75000"/>
                  </a:srgbClr>
                </a:solidFill>
              </a:rPr>
              <a:t>vs</a:t>
            </a:r>
            <a:r>
              <a:rPr lang="en-US" sz="3600" b="1" i="1" dirty="0" smtClean="0">
                <a:solidFill>
                  <a:srgbClr val="002060"/>
                </a:solidFill>
              </a:rPr>
              <a:t> </a:t>
            </a:r>
            <a:r>
              <a:rPr lang="en-US" sz="3600" dirty="0" smtClean="0"/>
              <a:t>series of</a:t>
            </a:r>
            <a:r>
              <a:rPr lang="en-US" sz="3600" b="1" i="1" dirty="0" smtClean="0">
                <a:solidFill>
                  <a:srgbClr val="002060"/>
                </a:solidFill>
              </a:rPr>
              <a:t> if </a:t>
            </a:r>
            <a:r>
              <a:rPr lang="en-US" sz="3600" dirty="0"/>
              <a:t>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1386627"/>
            <a:ext cx="4757738" cy="437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56614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rgbClr val="F79646">
                    <a:lumMod val="75000"/>
                  </a:srgbClr>
                </a:solidFill>
              </a:rPr>
              <a:t>Comparison – </a:t>
            </a:r>
            <a:r>
              <a:rPr lang="en-US" sz="3600" b="1" i="1" dirty="0" smtClean="0">
                <a:solidFill>
                  <a:srgbClr val="002060"/>
                </a:solidFill>
              </a:rPr>
              <a:t>If-else-if </a:t>
            </a:r>
            <a:r>
              <a:rPr lang="en-US" sz="3600" b="1" dirty="0">
                <a:solidFill>
                  <a:srgbClr val="F79646">
                    <a:lumMod val="75000"/>
                  </a:srgbClr>
                </a:solidFill>
              </a:rPr>
              <a:t>vs</a:t>
            </a:r>
            <a:r>
              <a:rPr lang="en-US" sz="3600" b="1" i="1" dirty="0" smtClean="0">
                <a:solidFill>
                  <a:srgbClr val="002060"/>
                </a:solidFill>
              </a:rPr>
              <a:t> </a:t>
            </a:r>
            <a:r>
              <a:rPr lang="en-US" sz="3600" dirty="0" smtClean="0"/>
              <a:t>series of</a:t>
            </a:r>
            <a:r>
              <a:rPr lang="en-US" sz="3600" b="1" i="1" dirty="0" smtClean="0">
                <a:solidFill>
                  <a:srgbClr val="002060"/>
                </a:solidFill>
              </a:rPr>
              <a:t> if </a:t>
            </a:r>
            <a:r>
              <a:rPr lang="en-US" sz="3600" dirty="0"/>
              <a:t>statements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0" y="1752600"/>
            <a:ext cx="5181600" cy="3741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9609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Exercise – </a:t>
            </a:r>
            <a:r>
              <a:rPr lang="en-US" sz="4400" b="1" i="1" dirty="0" smtClean="0">
                <a:solidFill>
                  <a:srgbClr val="002060"/>
                </a:solidFill>
              </a:rPr>
              <a:t>Nested if</a:t>
            </a:r>
            <a:endParaRPr lang="en-US" sz="3600" i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64160"/>
            <a:ext cx="8229600" cy="4762004"/>
          </a:xfrm>
        </p:spPr>
        <p:txBody>
          <a:bodyPr>
            <a:normAutofit/>
          </a:bodyPr>
          <a:lstStyle/>
          <a:p>
            <a:r>
              <a:rPr lang="en-US" dirty="0" smtClean="0"/>
              <a:t>Write a program that takes an integer input from user and displays one word to describe the </a:t>
            </a:r>
            <a:r>
              <a:rPr lang="en-US" dirty="0" err="1" smtClean="0"/>
              <a:t>int</a:t>
            </a:r>
            <a:r>
              <a:rPr lang="en-US" dirty="0" smtClean="0"/>
              <a:t> value of number is “Positive”, “Negative” or “Zero”.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9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Exercise – </a:t>
            </a:r>
            <a:r>
              <a:rPr lang="en-US" sz="4400" b="1" i="1" dirty="0" smtClean="0">
                <a:solidFill>
                  <a:srgbClr val="002060"/>
                </a:solidFill>
              </a:rPr>
              <a:t>Nested if</a:t>
            </a:r>
            <a:endParaRPr lang="en-US" sz="3600" i="1" dirty="0">
              <a:solidFill>
                <a:srgbClr val="00206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64160"/>
            <a:ext cx="8229600" cy="4762004"/>
          </a:xfrm>
        </p:spPr>
        <p:txBody>
          <a:bodyPr>
            <a:normAutofit/>
          </a:bodyPr>
          <a:lstStyle/>
          <a:p>
            <a:r>
              <a:rPr lang="en-US" dirty="0" smtClean="0"/>
              <a:t>Air Force has asked you to write a program to label aircrafts as military or civilian. Your program input is plane’s speed and its estimated length. </a:t>
            </a:r>
          </a:p>
          <a:p>
            <a:r>
              <a:rPr lang="en-US" dirty="0" smtClean="0"/>
              <a:t>For planes travelling faster than 1100 km/</a:t>
            </a:r>
            <a:r>
              <a:rPr lang="en-US" dirty="0" err="1" smtClean="0"/>
              <a:t>hr</a:t>
            </a:r>
            <a:r>
              <a:rPr lang="en-US" dirty="0" smtClean="0"/>
              <a:t>, you will label those shorter than 52m as “military” and longer as “civilian”.</a:t>
            </a:r>
          </a:p>
          <a:p>
            <a:r>
              <a:rPr lang="en-US" dirty="0" smtClean="0"/>
              <a:t>For planes travelling less than 1100 km/</a:t>
            </a:r>
            <a:r>
              <a:rPr lang="en-US" dirty="0" err="1" smtClean="0"/>
              <a:t>hr</a:t>
            </a:r>
            <a:r>
              <a:rPr lang="en-US" dirty="0" smtClean="0"/>
              <a:t>, you will issue an “aircraft unknown” statement.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8101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Operator (?:)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364160"/>
            <a:ext cx="8229600" cy="4762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C++ also provides an </a:t>
            </a:r>
            <a:r>
              <a:rPr lang="en-US" b="1" dirty="0" smtClean="0"/>
              <a:t>operator</a:t>
            </a:r>
            <a:r>
              <a:rPr lang="en-US" dirty="0" smtClean="0"/>
              <a:t> to deal with </a:t>
            </a:r>
            <a:r>
              <a:rPr lang="en-US" b="1" i="1" dirty="0" smtClean="0"/>
              <a:t>if…else</a:t>
            </a:r>
            <a:r>
              <a:rPr lang="en-US" dirty="0" smtClean="0"/>
              <a:t> scenarios.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This is called </a:t>
            </a:r>
            <a:r>
              <a:rPr lang="en-US" b="1" dirty="0" smtClean="0">
                <a:solidFill>
                  <a:srgbClr val="C00000"/>
                </a:solidFill>
              </a:rPr>
              <a:t>Conditional Operator (?:)</a:t>
            </a:r>
          </a:p>
          <a:p>
            <a:r>
              <a:rPr lang="en-US" dirty="0" smtClean="0"/>
              <a:t>It takes three arguments</a:t>
            </a:r>
          </a:p>
          <a:p>
            <a:pPr lvl="1"/>
            <a:r>
              <a:rPr lang="en-US" dirty="0" smtClean="0"/>
              <a:t>Ternary Operator</a:t>
            </a:r>
          </a:p>
          <a:p>
            <a:pPr marL="0" indent="0">
              <a:buNone/>
            </a:pPr>
            <a:endParaRPr lang="en-US" b="1" dirty="0" smtClean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dirty="0" smtClean="0"/>
          </a:p>
          <a:p>
            <a:endParaRPr lang="en-US" dirty="0" smtClean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2885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Operator (?:)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0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4873823"/>
          </a:xfrm>
          <a:prstGeom prst="rect">
            <a:avLst/>
          </a:prstGeom>
        </p:spPr>
        <p:txBody>
          <a:bodyPr/>
          <a:lstStyle/>
          <a:p>
            <a:r>
              <a:rPr lang="en-US" sz="3600" dirty="0" smtClean="0">
                <a:solidFill>
                  <a:prstClr val="black"/>
                </a:solidFill>
              </a:rPr>
              <a:t>The syntax of using conditiona</a:t>
            </a:r>
            <a:r>
              <a:rPr lang="en-US" sz="3600" dirty="0">
                <a:solidFill>
                  <a:prstClr val="black"/>
                </a:solidFill>
              </a:rPr>
              <a:t>l</a:t>
            </a:r>
            <a:r>
              <a:rPr lang="en-US" sz="3600" dirty="0" smtClean="0">
                <a:solidFill>
                  <a:prstClr val="black"/>
                </a:solidFill>
              </a:rPr>
              <a:t> operator is:</a:t>
            </a:r>
          </a:p>
          <a:p>
            <a:endParaRPr lang="en-US" sz="3600" dirty="0">
              <a:solidFill>
                <a:prstClr val="black"/>
              </a:solidFill>
            </a:endParaRPr>
          </a:p>
          <a:p>
            <a:endParaRPr lang="en-US" sz="3600" dirty="0" smtClean="0">
              <a:solidFill>
                <a:prstClr val="black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0" y="2133600"/>
            <a:ext cx="9131121" cy="131519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en-US" sz="3200" b="1" dirty="0">
                <a:solidFill>
                  <a:srgbClr val="C00000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3200" b="1" i="1" dirty="0">
                <a:solidFill>
                  <a:srgbClr val="C00000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3200" b="1" dirty="0" smtClean="0">
                <a:solidFill>
                  <a:srgbClr val="C00000"/>
                </a:solidFill>
                <a:latin typeface="Courier New" panose="02070309020205020404" pitchFamily="49" charset="0"/>
              </a:rPr>
              <a:t>)</a:t>
            </a:r>
            <a:r>
              <a:rPr lang="en-US" altLang="en-US" sz="32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?</a:t>
            </a:r>
            <a:r>
              <a:rPr lang="en-US" altLang="en-US" sz="3200" b="1" i="1" dirty="0" smtClean="0">
                <a:solidFill>
                  <a:srgbClr val="00B050"/>
                </a:solidFill>
                <a:latin typeface="Courier New" panose="02070309020205020404" pitchFamily="49" charset="0"/>
              </a:rPr>
              <a:t>expression1</a:t>
            </a:r>
            <a:r>
              <a:rPr lang="en-US" altLang="en-US" sz="32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:</a:t>
            </a:r>
            <a:r>
              <a:rPr lang="en-US" altLang="en-US" sz="3200" b="1" i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expression2</a:t>
            </a:r>
            <a:r>
              <a:rPr lang="en-US" altLang="en-US" sz="32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  <a:endParaRPr lang="en-US" altLang="en-US" sz="32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12" name="Oval Callout 11"/>
          <p:cNvSpPr/>
          <p:nvPr/>
        </p:nvSpPr>
        <p:spPr>
          <a:xfrm>
            <a:off x="314458" y="4103864"/>
            <a:ext cx="2047741" cy="1534935"/>
          </a:xfrm>
          <a:prstGeom prst="wedgeEllipseCallout">
            <a:avLst>
              <a:gd name="adj1" fmla="val 10153"/>
              <a:gd name="adj2" fmla="val -12878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Condition is evaluated</a:t>
            </a:r>
            <a:endParaRPr lang="en-US" sz="2000" dirty="0"/>
          </a:p>
        </p:txBody>
      </p:sp>
      <p:sp>
        <p:nvSpPr>
          <p:cNvPr id="13" name="Oval Callout 12"/>
          <p:cNvSpPr/>
          <p:nvPr/>
        </p:nvSpPr>
        <p:spPr>
          <a:xfrm>
            <a:off x="2971800" y="4363194"/>
            <a:ext cx="2514600" cy="1670639"/>
          </a:xfrm>
          <a:prstGeom prst="wedgeEllipseCallout">
            <a:avLst>
              <a:gd name="adj1" fmla="val 10153"/>
              <a:gd name="adj2" fmla="val -12878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Result is expression1 if condition is </a:t>
            </a:r>
            <a:r>
              <a:rPr lang="en-US" sz="2000" b="1" dirty="0" smtClean="0"/>
              <a:t>true</a:t>
            </a:r>
            <a:endParaRPr lang="en-US" sz="2000" b="1" dirty="0"/>
          </a:p>
        </p:txBody>
      </p:sp>
      <p:sp>
        <p:nvSpPr>
          <p:cNvPr id="14" name="Oval Callout 13"/>
          <p:cNvSpPr/>
          <p:nvPr/>
        </p:nvSpPr>
        <p:spPr>
          <a:xfrm>
            <a:off x="5905500" y="4363193"/>
            <a:ext cx="2514600" cy="1670639"/>
          </a:xfrm>
          <a:prstGeom prst="wedgeEllipseCallout">
            <a:avLst>
              <a:gd name="adj1" fmla="val 10153"/>
              <a:gd name="adj2" fmla="val -128786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Result is expression2 if condition is </a:t>
            </a:r>
            <a:r>
              <a:rPr lang="en-US" sz="2000" b="1" dirty="0" smtClean="0"/>
              <a:t>false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1974520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57200" y="1436805"/>
            <a:ext cx="7308224" cy="3693319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#include &lt;</a:t>
            </a:r>
            <a:r>
              <a:rPr lang="en-US" b="1" dirty="0" err="1">
                <a:solidFill>
                  <a:srgbClr val="804000"/>
                </a:solidFill>
                <a:latin typeface="Courier New" panose="02070309020205020404" pitchFamily="49" charset="0"/>
              </a:rPr>
              <a:t>iostream</a:t>
            </a:r>
            <a:r>
              <a:rPr lang="en-US" b="1" dirty="0">
                <a:solidFill>
                  <a:srgbClr val="804000"/>
                </a:solidFill>
                <a:latin typeface="Courier New" panose="02070309020205020404" pitchFamily="49" charset="0"/>
              </a:rPr>
              <a:t>&gt; </a:t>
            </a:r>
            <a:endParaRPr lang="en-US" b="1" dirty="0" smtClean="0">
              <a:solidFill>
                <a:srgbClr val="804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using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</a:rPr>
              <a:t>namespace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</a:rPr>
              <a:t>std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main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8000"/>
                </a:solidFill>
                <a:latin typeface="Courier New" panose="02070309020205020404" pitchFamily="49" charset="0"/>
              </a:rPr>
              <a:t>// variable declaration</a:t>
            </a:r>
          </a:p>
          <a:p>
            <a:pPr lvl="1"/>
            <a:r>
              <a:rPr lang="en-US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y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10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?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30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40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</a:rPr>
              <a:t>"value of x: "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x 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endl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endParaRPr lang="en-US" b="1" dirty="0" smtClean="0">
              <a:solidFill>
                <a:srgbClr val="0000FF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return</a:t>
            </a:r>
            <a:r>
              <a:rPr lang="en-US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b="1" dirty="0">
              <a:effectLst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43625" y="21593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Conditional Operator (?:)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243625" y="1055169"/>
            <a:ext cx="8534400" cy="4873823"/>
          </a:xfrm>
          <a:prstGeom prst="rect">
            <a:avLst/>
          </a:prstGeom>
        </p:spPr>
        <p:txBody>
          <a:bodyPr/>
          <a:lstStyle/>
          <a:p>
            <a:pPr marL="342900" lvl="0" indent="-34290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60000"/>
              <a:buFont typeface="Wingdings" panose="05000000000000000000" pitchFamily="2" charset="2"/>
              <a:buChar char="n"/>
            </a:pPr>
            <a:endParaRPr lang="en-US" sz="2400" b="1" dirty="0"/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 rot="20844587">
            <a:off x="5334000" y="2022853"/>
            <a:ext cx="3886200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C00000"/>
                </a:solidFill>
              </a:rPr>
              <a:t>Output</a:t>
            </a:r>
            <a:endParaRPr lang="en-US" sz="4400" b="1" dirty="0">
              <a:solidFill>
                <a:srgbClr val="C00000"/>
              </a:solidFill>
            </a:endParaRPr>
          </a:p>
          <a:p>
            <a:pPr algn="ctr"/>
            <a:r>
              <a:rPr lang="en-US" sz="11500" b="1" dirty="0" smtClean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9011" y="2500050"/>
            <a:ext cx="3886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C00000"/>
                </a:solidFill>
              </a:rPr>
              <a:t>value of x: 40</a:t>
            </a:r>
            <a:endParaRPr lang="en-US" sz="11500" b="1" dirty="0" smtClean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667806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C++ Selection Statements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64159"/>
            <a:ext cx="8534400" cy="5184575"/>
          </a:xfrm>
          <a:prstGeom prst="rect">
            <a:avLst/>
          </a:prstGeom>
        </p:spPr>
        <p:txBody>
          <a:bodyPr/>
          <a:lstStyle/>
          <a:p>
            <a:r>
              <a:rPr lang="en-US" sz="3200" dirty="0" smtClean="0"/>
              <a:t>C</a:t>
            </a:r>
            <a:r>
              <a:rPr lang="en-US" sz="3200" dirty="0"/>
              <a:t>++ provides </a:t>
            </a:r>
            <a:r>
              <a:rPr lang="en-US" sz="3200" b="1" dirty="0"/>
              <a:t>two</a:t>
            </a:r>
            <a:r>
              <a:rPr lang="en-US" sz="3200" dirty="0"/>
              <a:t> types of selections statements</a:t>
            </a:r>
            <a:r>
              <a:rPr lang="en-US" sz="3200" dirty="0" smtClean="0"/>
              <a:t>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i="1" dirty="0" smtClean="0">
                <a:solidFill>
                  <a:srgbClr val="002060"/>
                </a:solidFill>
              </a:rPr>
              <a:t>if</a:t>
            </a:r>
            <a:r>
              <a:rPr lang="en-US" sz="3200" dirty="0">
                <a:solidFill>
                  <a:srgbClr val="002060"/>
                </a:solidFill>
              </a:rPr>
              <a:t> 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FF0000"/>
                </a:solidFill>
              </a:rPr>
              <a:t>s</a:t>
            </a:r>
            <a:r>
              <a:rPr lang="en-US" sz="3200" i="1" dirty="0" smtClean="0">
                <a:solidFill>
                  <a:srgbClr val="FF0000"/>
                </a:solidFill>
              </a:rPr>
              <a:t>witch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FF0000"/>
              </a:solidFill>
            </a:endParaRPr>
          </a:p>
          <a:p>
            <a:pPr algn="ctr"/>
            <a:endParaRPr lang="en-US" sz="3200" u="sng" dirty="0" smtClean="0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5349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Recap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pic>
        <p:nvPicPr>
          <p:cNvPr id="1030" name="Picture 6" descr="if-else-if-ladd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900" y="1364159"/>
            <a:ext cx="3848100" cy="4928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495800" y="1981200"/>
            <a:ext cx="4419600" cy="1752600"/>
          </a:xfrm>
          <a:solidFill>
            <a:srgbClr val="FFFF00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C00000"/>
                </a:solidFill>
              </a:rPr>
              <a:t>What kind of selection statement is this flowchart representing?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55590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Recap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02783" y="1281865"/>
            <a:ext cx="7696200" cy="214526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8B"/>
                </a:solidFill>
                <a:effectLst/>
              </a:rPr>
              <a:t>if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( n %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</a:rPr>
              <a:t>2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==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</a:rPr>
              <a:t>0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solidFill>
                  <a:srgbClr val="000000"/>
                </a:solidFill>
              </a:rPr>
              <a:t>   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cout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&lt;&lt; n &lt;&lt;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</a:rPr>
              <a:t>" is even."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solidFill>
                  <a:srgbClr val="00008B"/>
                </a:solidFill>
              </a:rPr>
              <a:t>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8B"/>
                </a:solidFill>
                <a:effectLst/>
              </a:rPr>
              <a:t>lse</a:t>
            </a:r>
            <a:endParaRPr lang="en-US" altLang="en-US" dirty="0" smtClean="0">
              <a:solidFill>
                <a:srgbClr val="000000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dirty="0">
                <a:ln>
                  <a:noFill/>
                </a:ln>
                <a:solidFill>
                  <a:srgbClr val="000000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     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</a:rPr>
              <a:t>cout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 &lt;&lt; n &lt;&lt;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800000"/>
                </a:solidFill>
                <a:effectLst/>
              </a:rPr>
              <a:t>" is odd."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</a:rPr>
              <a:t>;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723900" y="3597654"/>
            <a:ext cx="7696200" cy="1120791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vert="horz" wrap="square" lIns="91440" tIns="45720" rIns="91440" bIns="88872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dirty="0" smtClean="0">
                <a:solidFill>
                  <a:srgbClr val="C00000"/>
                </a:solidFill>
              </a:rPr>
              <a:t>How can we change the above code using conditional operator?</a:t>
            </a:r>
            <a:endParaRPr lang="en-US" altLang="en-US" sz="1800" dirty="0" smtClean="0">
              <a:solidFill>
                <a:srgbClr val="C00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 bwMode="auto">
          <a:xfrm>
            <a:off x="723900" y="4888968"/>
            <a:ext cx="7696200" cy="1120791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88872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dirty="0">
                <a:solidFill>
                  <a:srgbClr val="00008B"/>
                </a:solidFill>
              </a:rPr>
              <a:t>(n % 2 == 0) ? </a:t>
            </a:r>
            <a:r>
              <a:rPr lang="en-US" altLang="en-US" dirty="0" err="1">
                <a:solidFill>
                  <a:srgbClr val="00B050"/>
                </a:solidFill>
              </a:rPr>
              <a:t>cout</a:t>
            </a:r>
            <a:r>
              <a:rPr lang="en-US" altLang="en-US" dirty="0">
                <a:solidFill>
                  <a:srgbClr val="00B050"/>
                </a:solidFill>
              </a:rPr>
              <a:t> &lt;&lt; n &lt;&lt; " is even."</a:t>
            </a:r>
            <a:r>
              <a:rPr lang="en-US" altLang="en-US" dirty="0">
                <a:solidFill>
                  <a:srgbClr val="00008B"/>
                </a:solidFill>
              </a:rPr>
              <a:t> :  </a:t>
            </a:r>
            <a:r>
              <a:rPr lang="en-US" altLang="en-US" dirty="0" err="1">
                <a:solidFill>
                  <a:srgbClr val="FF0000"/>
                </a:solidFill>
              </a:rPr>
              <a:t>cout</a:t>
            </a:r>
            <a:r>
              <a:rPr lang="en-US" altLang="en-US" dirty="0">
                <a:solidFill>
                  <a:srgbClr val="FF0000"/>
                </a:solidFill>
              </a:rPr>
              <a:t> &lt;&lt; n &lt;&lt; " is odd."</a:t>
            </a:r>
            <a:r>
              <a:rPr lang="en-US" altLang="en-US" dirty="0">
                <a:solidFill>
                  <a:srgbClr val="00008B"/>
                </a:solidFill>
              </a:rPr>
              <a:t>; </a:t>
            </a:r>
          </a:p>
        </p:txBody>
      </p:sp>
    </p:spTree>
    <p:extLst>
      <p:ext uri="{BB962C8B-B14F-4D97-AF65-F5344CB8AC3E}">
        <p14:creationId xmlns:p14="http://schemas.microsoft.com/office/powerpoint/2010/main" val="3359722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Recap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>
              <a:solidFill>
                <a:prstClr val="black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smtClean="0"/>
              <a:t>What is better performance wise?</a:t>
            </a:r>
            <a:endParaRPr lang="en-US" dirty="0"/>
          </a:p>
          <a:p>
            <a:pPr lvl="1"/>
            <a:r>
              <a:rPr lang="en-US" i="1" dirty="0" smtClean="0">
                <a:solidFill>
                  <a:schemeClr val="tx2"/>
                </a:solidFill>
              </a:rPr>
              <a:t>Multiple if</a:t>
            </a:r>
          </a:p>
          <a:p>
            <a:pPr lvl="1"/>
            <a:r>
              <a:rPr lang="en-US" i="1" dirty="0" smtClean="0">
                <a:solidFill>
                  <a:schemeClr val="tx2"/>
                </a:solidFill>
              </a:rPr>
              <a:t>if-else (nested)</a:t>
            </a:r>
          </a:p>
          <a:p>
            <a:pPr lvl="1"/>
            <a:r>
              <a:rPr lang="en-US" i="1" dirty="0" smtClean="0">
                <a:solidFill>
                  <a:schemeClr val="tx2"/>
                </a:solidFill>
              </a:rPr>
              <a:t>if-else-if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266051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502693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Switch Statement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7867271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4130899" y="1786285"/>
            <a:ext cx="4800600" cy="3046988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if </a:t>
            </a:r>
            <a:r>
              <a:rPr lang="en-US" sz="2400" dirty="0" smtClean="0">
                <a:solidFill>
                  <a:srgbClr val="C00000"/>
                </a:solidFill>
              </a:rPr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variable </a:t>
            </a:r>
            <a:r>
              <a:rPr lang="en-US" sz="2400" dirty="0" smtClean="0">
                <a:solidFill>
                  <a:srgbClr val="C00000"/>
                </a:solidFill>
              </a:rPr>
              <a:t>== </a:t>
            </a:r>
            <a:r>
              <a:rPr lang="en-US" sz="2400" dirty="0">
                <a:solidFill>
                  <a:srgbClr val="C00000"/>
                </a:solidFill>
              </a:rPr>
              <a:t>constant1) { … }</a:t>
            </a:r>
          </a:p>
          <a:p>
            <a:r>
              <a:rPr lang="en-US" sz="2400" dirty="0">
                <a:solidFill>
                  <a:srgbClr val="C00000"/>
                </a:solidFill>
              </a:rPr>
              <a:t>else {</a:t>
            </a:r>
          </a:p>
          <a:p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   if (</a:t>
            </a:r>
            <a:r>
              <a:rPr lang="en-US" sz="2400" dirty="0" smtClean="0">
                <a:solidFill>
                  <a:srgbClr val="00B050"/>
                </a:solidFill>
              </a:rPr>
              <a:t>variable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== constant2) { … }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    else {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           if (</a:t>
            </a:r>
            <a:r>
              <a:rPr lang="en-US" sz="2400" dirty="0" smtClean="0">
                <a:solidFill>
                  <a:srgbClr val="00B050"/>
                </a:solidFill>
              </a:rPr>
              <a:t>variable</a:t>
            </a:r>
            <a:r>
              <a:rPr lang="en-US" sz="2400" dirty="0" smtClean="0">
                <a:solidFill>
                  <a:srgbClr val="C00000"/>
                </a:solidFill>
              </a:rPr>
              <a:t> </a:t>
            </a:r>
            <a:r>
              <a:rPr lang="en-US" sz="2400" dirty="0">
                <a:solidFill>
                  <a:srgbClr val="C00000"/>
                </a:solidFill>
              </a:rPr>
              <a:t>== constant3) </a:t>
            </a:r>
            <a:r>
              <a:rPr lang="en-US" sz="2400" dirty="0" smtClean="0">
                <a:solidFill>
                  <a:srgbClr val="C00000"/>
                </a:solidFill>
              </a:rPr>
              <a:t>{ }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          else </a:t>
            </a:r>
            <a:r>
              <a:rPr lang="en-US" sz="2400" dirty="0">
                <a:solidFill>
                  <a:srgbClr val="C00000"/>
                </a:solidFill>
              </a:rPr>
              <a:t>{ … }</a:t>
            </a:r>
          </a:p>
          <a:p>
            <a:r>
              <a:rPr lang="en-US" sz="2400" dirty="0">
                <a:solidFill>
                  <a:srgbClr val="C00000"/>
                </a:solidFill>
              </a:rPr>
              <a:t> </a:t>
            </a:r>
            <a:r>
              <a:rPr lang="en-US" sz="2400" dirty="0" smtClean="0">
                <a:solidFill>
                  <a:srgbClr val="C00000"/>
                </a:solidFill>
              </a:rPr>
              <a:t>   }</a:t>
            </a:r>
            <a:endParaRPr lang="en-US" sz="2400" dirty="0">
              <a:solidFill>
                <a:srgbClr val="C00000"/>
              </a:solidFill>
            </a:endParaRPr>
          </a:p>
          <a:p>
            <a:r>
              <a:rPr lang="en-US" sz="2400" dirty="0">
                <a:solidFill>
                  <a:srgbClr val="C00000"/>
                </a:solidFill>
              </a:rPr>
              <a:t>}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3371045" y="2111702"/>
            <a:ext cx="2401910" cy="3997917"/>
            <a:chOff x="3371045" y="2111702"/>
            <a:chExt cx="2401910" cy="3997917"/>
          </a:xfrm>
        </p:grpSpPr>
        <p:sp>
          <p:nvSpPr>
            <p:cNvPr id="12" name="Isosceles Triangle 11"/>
            <p:cNvSpPr/>
            <p:nvPr/>
          </p:nvSpPr>
          <p:spPr>
            <a:xfrm rot="862092">
              <a:off x="4121527" y="2111702"/>
              <a:ext cx="542906" cy="3842994"/>
            </a:xfrm>
            <a:prstGeom prst="triangle">
              <a:avLst>
                <a:gd name="adj" fmla="val 38257"/>
              </a:avLst>
            </a:prstGeom>
            <a:solidFill>
              <a:srgbClr val="FFFF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Isosceles Triangle 10"/>
            <p:cNvSpPr/>
            <p:nvPr/>
          </p:nvSpPr>
          <p:spPr>
            <a:xfrm rot="1077275">
              <a:off x="4769240" y="2844388"/>
              <a:ext cx="325721" cy="3083347"/>
            </a:xfrm>
            <a:prstGeom prst="triangle">
              <a:avLst>
                <a:gd name="adj" fmla="val 38257"/>
              </a:avLst>
            </a:prstGeom>
            <a:solidFill>
              <a:srgbClr val="FFFF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ounded Rectangular Callout 9"/>
            <p:cNvSpPr/>
            <p:nvPr/>
          </p:nvSpPr>
          <p:spPr>
            <a:xfrm>
              <a:off x="3371045" y="5640497"/>
              <a:ext cx="2401910" cy="469122"/>
            </a:xfrm>
            <a:prstGeom prst="wedgeRoundRectCallout">
              <a:avLst>
                <a:gd name="adj1" fmla="val 42549"/>
                <a:gd name="adj2" fmla="val -492561"/>
                <a:gd name="adj3" fmla="val 16667"/>
              </a:avLst>
            </a:prstGeom>
            <a:solidFill>
              <a:srgbClr val="FFFF00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 smtClean="0">
                  <a:solidFill>
                    <a:srgbClr val="C00000"/>
                  </a:solidFill>
                </a:rPr>
                <a:t>Same variable</a:t>
              </a:r>
              <a:endParaRPr lang="en-US" sz="2400" b="1" dirty="0">
                <a:solidFill>
                  <a:srgbClr val="C00000"/>
                </a:solidFill>
              </a:endParaRPr>
            </a:p>
          </p:txBody>
        </p:sp>
      </p:grp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449759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Switch Statement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-3220" y="1800237"/>
            <a:ext cx="4495800" cy="4873823"/>
          </a:xfrm>
          <a:prstGeom prst="rect">
            <a:avLst/>
          </a:prstGeom>
        </p:spPr>
        <p:txBody>
          <a:bodyPr/>
          <a:lstStyle/>
          <a:p>
            <a:pPr marL="342900" lvl="0" indent="-342900">
              <a:spcBef>
                <a:spcPct val="20000"/>
              </a:spcBef>
              <a:buFontTx/>
              <a:buChar char="•"/>
            </a:pPr>
            <a:r>
              <a:rPr lang="en-US" sz="2800" dirty="0"/>
              <a:t>Alternative to (deeply) nested </a:t>
            </a:r>
            <a:r>
              <a:rPr lang="en-US" sz="2800" dirty="0">
                <a:solidFill>
                  <a:srgbClr val="FF0000"/>
                </a:solidFill>
              </a:rPr>
              <a:t>“if … else …”</a:t>
            </a:r>
            <a:r>
              <a:rPr lang="en-US" sz="2800" dirty="0"/>
              <a:t> </a:t>
            </a:r>
          </a:p>
          <a:p>
            <a:pPr marL="342900" lvl="0" indent="-342900">
              <a:spcBef>
                <a:spcPct val="20000"/>
              </a:spcBef>
              <a:buFontTx/>
              <a:buChar char="•"/>
            </a:pPr>
            <a:r>
              <a:rPr lang="en-US" sz="2800" dirty="0" smtClean="0"/>
              <a:t>Applicable </a:t>
            </a:r>
            <a:r>
              <a:rPr lang="en-US" sz="2800" dirty="0"/>
              <a:t>only when all conditions check </a:t>
            </a:r>
            <a:r>
              <a:rPr lang="en-US" sz="2800" dirty="0">
                <a:solidFill>
                  <a:srgbClr val="FF0000"/>
                </a:solidFill>
              </a:rPr>
              <a:t>equality of </a:t>
            </a:r>
            <a:r>
              <a:rPr lang="en-US" sz="2800" dirty="0" smtClean="0">
                <a:solidFill>
                  <a:srgbClr val="FF0000"/>
                </a:solidFill>
              </a:rPr>
              <a:t>single variable with </a:t>
            </a:r>
            <a:r>
              <a:rPr lang="en-US" sz="2800" dirty="0">
                <a:solidFill>
                  <a:srgbClr val="FF0000"/>
                </a:solidFill>
              </a:rPr>
              <a:t>different </a:t>
            </a:r>
            <a:r>
              <a:rPr lang="en-US" sz="2800" dirty="0" smtClean="0">
                <a:solidFill>
                  <a:srgbClr val="FF0000"/>
                </a:solidFill>
              </a:rPr>
              <a:t>constant values</a:t>
            </a:r>
          </a:p>
          <a:p>
            <a:pPr marL="342900" lvl="0" indent="-342900">
              <a:spcBef>
                <a:spcPct val="20000"/>
              </a:spcBef>
              <a:buFontTx/>
              <a:buChar char="•"/>
            </a:pPr>
            <a:endParaRPr lang="en-US" sz="2800" dirty="0">
              <a:solidFill>
                <a:srgbClr val="000000"/>
              </a:solidFill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6055103" y="2104442"/>
            <a:ext cx="2401910" cy="3977783"/>
            <a:chOff x="3371045" y="2131836"/>
            <a:chExt cx="2401910" cy="3977783"/>
          </a:xfrm>
        </p:grpSpPr>
        <p:sp>
          <p:nvSpPr>
            <p:cNvPr id="15" name="Isosceles Triangle 14"/>
            <p:cNvSpPr/>
            <p:nvPr/>
          </p:nvSpPr>
          <p:spPr>
            <a:xfrm rot="20881713">
              <a:off x="4373622" y="2131836"/>
              <a:ext cx="542906" cy="3842994"/>
            </a:xfrm>
            <a:prstGeom prst="triangle">
              <a:avLst>
                <a:gd name="adj" fmla="val 38257"/>
              </a:avLst>
            </a:prstGeom>
            <a:solidFill>
              <a:srgbClr val="FFFF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Isosceles Triangle 15"/>
            <p:cNvSpPr/>
            <p:nvPr/>
          </p:nvSpPr>
          <p:spPr>
            <a:xfrm rot="21225682">
              <a:off x="4136059" y="2898287"/>
              <a:ext cx="325721" cy="3083347"/>
            </a:xfrm>
            <a:prstGeom prst="triangle">
              <a:avLst>
                <a:gd name="adj" fmla="val 38257"/>
              </a:avLst>
            </a:prstGeom>
            <a:solidFill>
              <a:srgbClr val="FFFF00"/>
            </a:solidFill>
            <a:ln w="635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ounded Rectangular Callout 16"/>
            <p:cNvSpPr/>
            <p:nvPr/>
          </p:nvSpPr>
          <p:spPr>
            <a:xfrm>
              <a:off x="3371045" y="5640497"/>
              <a:ext cx="2401910" cy="469122"/>
            </a:xfrm>
            <a:prstGeom prst="wedgeRoundRectCallout">
              <a:avLst>
                <a:gd name="adj1" fmla="val -25548"/>
                <a:gd name="adj2" fmla="val -489816"/>
                <a:gd name="adj3" fmla="val 16667"/>
              </a:avLst>
            </a:prstGeom>
            <a:solidFill>
              <a:srgbClr val="FFFF00"/>
            </a:solidFill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C00000"/>
                  </a:solidFill>
                </a:rPr>
                <a:t>Possible values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700984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Switch Statement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6300" y="1054923"/>
            <a:ext cx="8634749" cy="267765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/>
              <a:t>if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 == </a:t>
            </a:r>
            <a:r>
              <a:rPr lang="en-US" sz="2400" b="1" dirty="0">
                <a:solidFill>
                  <a:srgbClr val="321A00"/>
                </a:solidFill>
              </a:rPr>
              <a:t>0</a:t>
            </a:r>
            <a:r>
              <a:rPr lang="en-US" sz="2400" dirty="0"/>
              <a:t>) { </a:t>
            </a:r>
            <a:r>
              <a:rPr lang="en-US" sz="2400" dirty="0" err="1"/>
              <a:t>cout</a:t>
            </a:r>
            <a:r>
              <a:rPr lang="en-US" sz="2400" dirty="0"/>
              <a:t> &lt;&lt; “</a:t>
            </a:r>
            <a:r>
              <a:rPr lang="en-US" sz="2400" dirty="0">
                <a:solidFill>
                  <a:srgbClr val="0070C0"/>
                </a:solidFill>
              </a:rPr>
              <a:t>Time and tide wait for none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 </a:t>
            </a:r>
            <a:r>
              <a:rPr lang="en-US" sz="2400" dirty="0"/>
              <a:t>&lt;&lt; endl; } </a:t>
            </a:r>
            <a:endParaRPr lang="en-US" sz="2400" dirty="0" smtClean="0"/>
          </a:p>
          <a:p>
            <a:r>
              <a:rPr lang="en-US" sz="2400" dirty="0" smtClean="0"/>
              <a:t>else </a:t>
            </a:r>
            <a:r>
              <a:rPr lang="en-US" sz="2400" dirty="0"/>
              <a:t>{ </a:t>
            </a:r>
            <a:endParaRPr lang="en-US" sz="2400" dirty="0" smtClean="0"/>
          </a:p>
          <a:p>
            <a:pPr lvl="1"/>
            <a:r>
              <a:rPr lang="en-US" sz="2400" dirty="0" smtClean="0"/>
              <a:t>if (</a:t>
            </a:r>
            <a:r>
              <a:rPr lang="en-US" sz="2400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 == </a:t>
            </a:r>
            <a:r>
              <a:rPr lang="en-US" sz="2400" b="1" dirty="0">
                <a:solidFill>
                  <a:srgbClr val="321A00"/>
                </a:solidFill>
              </a:rPr>
              <a:t>1</a:t>
            </a:r>
            <a:r>
              <a:rPr lang="en-US" sz="2400" dirty="0" smtClean="0"/>
              <a:t>) </a:t>
            </a:r>
          </a:p>
          <a:p>
            <a:pPr lvl="1"/>
            <a:r>
              <a:rPr lang="en-US" sz="2400" dirty="0" smtClean="0"/>
              <a:t>	{ </a:t>
            </a:r>
            <a:r>
              <a:rPr lang="en-US" sz="2400" dirty="0" err="1" smtClean="0"/>
              <a:t>cout</a:t>
            </a:r>
            <a:r>
              <a:rPr lang="en-US" sz="2400" dirty="0" smtClean="0"/>
              <a:t> &lt;&lt; “</a:t>
            </a:r>
            <a:r>
              <a:rPr lang="en-US" sz="2400" dirty="0" smtClean="0">
                <a:solidFill>
                  <a:srgbClr val="0070C0"/>
                </a:solidFill>
              </a:rPr>
              <a:t>The pen is mightier than the sword.</a:t>
            </a:r>
            <a:r>
              <a:rPr lang="en-US" sz="2400" dirty="0" smtClean="0"/>
              <a:t>” &lt;&lt; endl; } </a:t>
            </a:r>
          </a:p>
          <a:p>
            <a:pPr lvl="1"/>
            <a:r>
              <a:rPr lang="en-US" sz="2400" dirty="0" smtClean="0"/>
              <a:t>else </a:t>
            </a:r>
          </a:p>
          <a:p>
            <a:pPr lvl="1"/>
            <a:r>
              <a:rPr lang="en-US" sz="2400" dirty="0" smtClean="0"/>
              <a:t>	{ </a:t>
            </a:r>
            <a:r>
              <a:rPr lang="en-US" sz="2400" dirty="0" err="1" smtClean="0"/>
              <a:t>cout</a:t>
            </a:r>
            <a:r>
              <a:rPr lang="en-US" sz="2400" dirty="0" smtClean="0"/>
              <a:t> &lt;&lt; “</a:t>
            </a:r>
            <a:r>
              <a:rPr lang="en-US" sz="2400" dirty="0" smtClean="0">
                <a:solidFill>
                  <a:srgbClr val="0070C0"/>
                </a:solidFill>
              </a:rPr>
              <a:t>Where there is a will, there is a way.</a:t>
            </a:r>
            <a:r>
              <a:rPr lang="en-US" sz="2400" dirty="0" smtClean="0"/>
              <a:t>” &lt;&lt; endl; } </a:t>
            </a:r>
          </a:p>
          <a:p>
            <a:r>
              <a:rPr lang="en-US" sz="2400" dirty="0" smtClean="0"/>
              <a:t>}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6300" y="3886200"/>
            <a:ext cx="8771051" cy="2677656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switch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b="1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) </a:t>
            </a:r>
            <a:r>
              <a:rPr lang="en-US" sz="2400" dirty="0"/>
              <a:t>{ </a:t>
            </a:r>
            <a:endParaRPr lang="en-US" sz="2400" dirty="0" smtClean="0"/>
          </a:p>
          <a:p>
            <a:pPr lvl="1"/>
            <a:r>
              <a:rPr lang="en-US" sz="2400" b="1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321A00"/>
                </a:solidFill>
              </a:rPr>
              <a:t>0</a:t>
            </a:r>
            <a:r>
              <a:rPr lang="en-US" sz="2400" dirty="0"/>
              <a:t>: </a:t>
            </a:r>
            <a:r>
              <a:rPr lang="en-US" sz="2400" dirty="0" err="1"/>
              <a:t>cout</a:t>
            </a:r>
            <a:r>
              <a:rPr lang="en-US" sz="2400" dirty="0"/>
              <a:t> &lt;&lt; “</a:t>
            </a:r>
            <a:r>
              <a:rPr lang="en-US" sz="2400" dirty="0">
                <a:solidFill>
                  <a:srgbClr val="0070C0"/>
                </a:solidFill>
              </a:rPr>
              <a:t>Time and tide wait for none.</a:t>
            </a:r>
            <a:r>
              <a:rPr lang="en-US" sz="2400" dirty="0"/>
              <a:t>” &lt;&lt; endl; </a:t>
            </a:r>
            <a:endParaRPr lang="en-US" sz="2400" dirty="0" smtClean="0"/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      </a:t>
            </a:r>
            <a:r>
              <a:rPr lang="en-US" sz="2400" b="1" dirty="0" smtClean="0">
                <a:solidFill>
                  <a:srgbClr val="C00000"/>
                </a:solidFill>
              </a:rPr>
              <a:t>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b="1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321A00"/>
                </a:solidFill>
              </a:rPr>
              <a:t>1</a:t>
            </a:r>
            <a:r>
              <a:rPr lang="en-US" sz="2400" dirty="0"/>
              <a:t>: </a:t>
            </a:r>
            <a:r>
              <a:rPr lang="en-US" sz="2400" dirty="0" err="1"/>
              <a:t>cout</a:t>
            </a:r>
            <a:r>
              <a:rPr lang="en-US" sz="2400" dirty="0"/>
              <a:t> &lt;&lt; “</a:t>
            </a:r>
            <a:r>
              <a:rPr lang="en-US" sz="2400" dirty="0">
                <a:solidFill>
                  <a:srgbClr val="0070C0"/>
                </a:solidFill>
              </a:rPr>
              <a:t>The pen is mightier than the sword.</a:t>
            </a:r>
            <a:r>
              <a:rPr lang="en-US" sz="2400" dirty="0"/>
              <a:t>” &lt;&lt; endl; </a:t>
            </a:r>
            <a:r>
              <a:rPr lang="en-US" sz="2400" dirty="0" smtClean="0"/>
              <a:t>	   	       </a:t>
            </a:r>
            <a:r>
              <a:rPr lang="en-US" sz="2400" b="1" dirty="0" smtClean="0">
                <a:solidFill>
                  <a:srgbClr val="C00000"/>
                </a:solidFill>
              </a:rPr>
              <a:t>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b="1" dirty="0" smtClean="0">
                <a:solidFill>
                  <a:srgbClr val="C00000"/>
                </a:solidFill>
              </a:rPr>
              <a:t>default</a:t>
            </a:r>
            <a:r>
              <a:rPr lang="en-US" sz="2400" dirty="0"/>
              <a:t>: </a:t>
            </a:r>
            <a:r>
              <a:rPr lang="en-US" sz="2400" dirty="0" err="1"/>
              <a:t>cout</a:t>
            </a:r>
            <a:r>
              <a:rPr lang="en-US" sz="2400" dirty="0"/>
              <a:t> &lt;&lt; </a:t>
            </a:r>
            <a:r>
              <a:rPr lang="en-US" sz="2400" dirty="0" smtClean="0"/>
              <a:t>“</a:t>
            </a:r>
            <a:r>
              <a:rPr lang="en-US" sz="2400" dirty="0" smtClean="0">
                <a:solidFill>
                  <a:srgbClr val="0070C0"/>
                </a:solidFill>
              </a:rPr>
              <a:t>Where there is a will, there is a way.</a:t>
            </a:r>
            <a:r>
              <a:rPr lang="en-US" sz="2400" dirty="0" smtClean="0"/>
              <a:t>” </a:t>
            </a:r>
            <a:r>
              <a:rPr lang="en-US" sz="2400" dirty="0"/>
              <a:t>&lt;&lt; endl; </a:t>
            </a:r>
            <a:endParaRPr lang="en-US" sz="2400" dirty="0" smtClean="0"/>
          </a:p>
          <a:p>
            <a:r>
              <a:rPr lang="en-US" sz="2400" dirty="0" smtClean="0"/>
              <a:t>}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36701" y="4503094"/>
            <a:ext cx="5570650" cy="1200329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switch, case, break, default</a:t>
            </a:r>
          </a:p>
          <a:p>
            <a:pPr algn="ctr"/>
            <a:r>
              <a:rPr lang="en-US" sz="3600" dirty="0" smtClean="0"/>
              <a:t>C++ keywords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661482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Switch Statement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81600" y="1796036"/>
            <a:ext cx="3733800" cy="338556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switch(</a:t>
            </a:r>
            <a:r>
              <a:rPr lang="en-US" sz="2000" b="1" i="1" dirty="0" smtClean="0">
                <a:solidFill>
                  <a:srgbClr val="0000FF"/>
                </a:solidFill>
                <a:latin typeface="Courier New" pitchFamily="49" charset="0"/>
              </a:rPr>
              <a:t>expression</a:t>
            </a: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lvl="0"/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case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value1</a:t>
            </a:r>
            <a:r>
              <a:rPr lang="en-US" sz="2000" b="1" i="1" dirty="0">
                <a:solidFill>
                  <a:srgbClr val="FFFF99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 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statement-list1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case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value2</a:t>
            </a:r>
            <a:r>
              <a:rPr lang="en-US" sz="2000" b="1" i="1" dirty="0">
                <a:solidFill>
                  <a:srgbClr val="FFFF99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 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statement-list2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case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value3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:</a:t>
            </a:r>
            <a:endParaRPr lang="en-US" sz="2000" b="1" dirty="0">
              <a:solidFill>
                <a:srgbClr val="FFFF99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statement-list3</a:t>
            </a:r>
          </a:p>
          <a:p>
            <a:pPr lvl="0"/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case</a:t>
            </a:r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</a:rPr>
              <a:t>...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228600" y="1340405"/>
            <a:ext cx="4343400" cy="4572000"/>
          </a:xfrm>
          <a:prstGeom prst="rect">
            <a:avLst/>
          </a:prstGeom>
          <a:noFill/>
          <a:ln/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75000"/>
              </a:spcBef>
            </a:pPr>
            <a:r>
              <a:rPr lang="en-US" sz="2400" dirty="0" smtClean="0"/>
              <a:t>The </a:t>
            </a:r>
            <a:r>
              <a:rPr lang="en-US" sz="2000" i="1" dirty="0" smtClean="0">
                <a:latin typeface="Courier"/>
              </a:rPr>
              <a:t>switch statement</a:t>
            </a:r>
            <a:r>
              <a:rPr lang="en-US" sz="2000" dirty="0" smtClean="0">
                <a:latin typeface="Courier"/>
              </a:rPr>
              <a:t> </a:t>
            </a:r>
            <a:r>
              <a:rPr lang="en-US" sz="2400" dirty="0" smtClean="0"/>
              <a:t>provides another way to decide which statement to execute next</a:t>
            </a:r>
          </a:p>
          <a:p>
            <a:pPr>
              <a:spcBef>
                <a:spcPct val="75000"/>
              </a:spcBef>
            </a:pPr>
            <a:r>
              <a:rPr lang="en-US" sz="2400" dirty="0" smtClean="0"/>
              <a:t>The </a:t>
            </a:r>
            <a:r>
              <a:rPr lang="en-US" sz="2400" dirty="0" smtClean="0">
                <a:latin typeface="Courier" pitchFamily="49" charset="0"/>
              </a:rPr>
              <a:t>switch</a:t>
            </a:r>
            <a:r>
              <a:rPr lang="en-US" sz="2400" dirty="0" smtClean="0"/>
              <a:t> statement evaluates an expression, then attempts to match the result to one of several possible </a:t>
            </a:r>
            <a:r>
              <a:rPr lang="en-US" sz="2400" dirty="0">
                <a:latin typeface="Courier" pitchFamily="49" charset="0"/>
              </a:rPr>
              <a:t>cases</a:t>
            </a:r>
          </a:p>
          <a:p>
            <a:pPr>
              <a:spcBef>
                <a:spcPct val="75000"/>
              </a:spcBef>
            </a:pPr>
            <a:r>
              <a:rPr lang="en-US" sz="2400" b="1" i="1" dirty="0" smtClean="0">
                <a:solidFill>
                  <a:srgbClr val="C00000"/>
                </a:solidFill>
              </a:rPr>
              <a:t>The match must be an exact match.</a:t>
            </a:r>
          </a:p>
          <a:p>
            <a:pPr>
              <a:spcBef>
                <a:spcPct val="75000"/>
              </a:spcBef>
            </a:pPr>
            <a:endParaRPr lang="en-US" sz="20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886200" y="2807523"/>
            <a:ext cx="1905000" cy="1795671"/>
            <a:chOff x="3886200" y="2807523"/>
            <a:chExt cx="1905000" cy="1795671"/>
          </a:xfrm>
        </p:grpSpPr>
        <p:sp>
          <p:nvSpPr>
            <p:cNvPr id="15" name="Line 5"/>
            <p:cNvSpPr>
              <a:spLocks noChangeShapeType="1"/>
            </p:cNvSpPr>
            <p:nvPr/>
          </p:nvSpPr>
          <p:spPr bwMode="auto">
            <a:xfrm flipV="1">
              <a:off x="3886200" y="2807523"/>
              <a:ext cx="1905000" cy="123107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 flipV="1">
              <a:off x="3886200" y="3397806"/>
              <a:ext cx="1905000" cy="64079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V="1">
              <a:off x="3886200" y="3962400"/>
              <a:ext cx="1905000" cy="7620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>
              <a:off x="3886200" y="4038600"/>
              <a:ext cx="1905000" cy="56459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707020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Switch Statement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181600" y="1796036"/>
            <a:ext cx="3733800" cy="338556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switch(</a:t>
            </a:r>
            <a:r>
              <a:rPr lang="en-US" sz="2000" b="1" i="1" dirty="0" smtClean="0">
                <a:solidFill>
                  <a:srgbClr val="0000FF"/>
                </a:solidFill>
                <a:latin typeface="Courier New" pitchFamily="49" charset="0"/>
              </a:rPr>
              <a:t>expression</a:t>
            </a: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lvl="0"/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case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value1</a:t>
            </a:r>
            <a:r>
              <a:rPr lang="en-US" sz="2000" b="1" i="1" dirty="0">
                <a:solidFill>
                  <a:srgbClr val="FFFF99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 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statement-list1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case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value2</a:t>
            </a:r>
            <a:r>
              <a:rPr lang="en-US" sz="2000" b="1" i="1" dirty="0">
                <a:solidFill>
                  <a:srgbClr val="FFFF99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 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statement-list2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case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value3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:</a:t>
            </a:r>
            <a:endParaRPr lang="en-US" sz="2000" b="1" dirty="0">
              <a:solidFill>
                <a:srgbClr val="FFFF99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statement-list3</a:t>
            </a:r>
          </a:p>
          <a:p>
            <a:pPr lvl="0"/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case</a:t>
            </a:r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</a:rPr>
              <a:t>...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14807" y="2369106"/>
            <a:ext cx="4343400" cy="2698194"/>
          </a:xfrm>
          <a:prstGeom prst="rect">
            <a:avLst/>
          </a:prstGeom>
          <a:noFill/>
          <a:ln/>
        </p:spPr>
        <p:txBody>
          <a:bodyPr lIns="92075" tIns="46038" rIns="92075" bIns="46038"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ct val="75000"/>
              </a:spcBef>
              <a:buNone/>
            </a:pPr>
            <a:r>
              <a:rPr lang="en-US" dirty="0"/>
              <a:t>The </a:t>
            </a:r>
            <a:r>
              <a:rPr lang="en-US" b="1" dirty="0"/>
              <a:t>flow of control </a:t>
            </a:r>
            <a:r>
              <a:rPr lang="en-US" dirty="0"/>
              <a:t>transfers to statement associated with the </a:t>
            </a:r>
            <a:r>
              <a:rPr lang="en-US" dirty="0" smtClean="0"/>
              <a:t>case </a:t>
            </a:r>
            <a:r>
              <a:rPr lang="en-US" dirty="0"/>
              <a:t>value that </a:t>
            </a:r>
            <a:r>
              <a:rPr lang="en-US" dirty="0" smtClean="0"/>
              <a:t>matches.</a:t>
            </a:r>
            <a:endParaRPr lang="en-US" sz="2800" dirty="0"/>
          </a:p>
        </p:txBody>
      </p:sp>
      <p:grpSp>
        <p:nvGrpSpPr>
          <p:cNvPr id="12" name="Group 1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3886200" y="2807523"/>
            <a:ext cx="1905000" cy="1795671"/>
            <a:chOff x="3886200" y="2807523"/>
            <a:chExt cx="1905000" cy="1795671"/>
          </a:xfrm>
        </p:grpSpPr>
        <p:sp>
          <p:nvSpPr>
            <p:cNvPr id="15" name="Line 5"/>
            <p:cNvSpPr>
              <a:spLocks noChangeShapeType="1"/>
            </p:cNvSpPr>
            <p:nvPr/>
          </p:nvSpPr>
          <p:spPr bwMode="auto">
            <a:xfrm flipV="1">
              <a:off x="3886200" y="2807523"/>
              <a:ext cx="1905000" cy="123107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 flipV="1">
              <a:off x="3886200" y="3397806"/>
              <a:ext cx="1905000" cy="64079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7" name="Line 7"/>
            <p:cNvSpPr>
              <a:spLocks noChangeShapeType="1"/>
            </p:cNvSpPr>
            <p:nvPr/>
          </p:nvSpPr>
          <p:spPr bwMode="auto">
            <a:xfrm flipV="1">
              <a:off x="3886200" y="3962400"/>
              <a:ext cx="1905000" cy="7620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  <p:sp>
          <p:nvSpPr>
            <p:cNvPr id="18" name="Line 8"/>
            <p:cNvSpPr>
              <a:spLocks noChangeShapeType="1"/>
            </p:cNvSpPr>
            <p:nvPr/>
          </p:nvSpPr>
          <p:spPr bwMode="auto">
            <a:xfrm>
              <a:off x="3886200" y="4038600"/>
              <a:ext cx="1905000" cy="56459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arrow" w="med" len="med"/>
            </a:ln>
            <a:effectLst/>
          </p:spPr>
          <p:txBody>
            <a:bodyPr wrap="none" anchor="ctr"/>
            <a:lstStyle/>
            <a:p>
              <a:endParaRPr lang="en-US">
                <a:solidFill>
                  <a:srgbClr val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655042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Switch Statement – Syntax 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910634" y="1340405"/>
            <a:ext cx="4191000" cy="5107824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000" b="1" dirty="0" smtClean="0">
                <a:solidFill>
                  <a:srgbClr val="C00000"/>
                </a:solidFill>
                <a:latin typeface="Courier New" pitchFamily="49" charset="0"/>
              </a:rPr>
              <a:t>switch</a:t>
            </a: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(</a:t>
            </a:r>
            <a:r>
              <a:rPr lang="en-US" sz="2000" b="1" i="1" dirty="0" smtClean="0">
                <a:solidFill>
                  <a:srgbClr val="00B050"/>
                </a:solidFill>
                <a:latin typeface="Courier New" pitchFamily="49" charset="0"/>
              </a:rPr>
              <a:t>expression</a:t>
            </a: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lvl="0"/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case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i="1" dirty="0" smtClean="0">
                <a:solidFill>
                  <a:schemeClr val="tx1"/>
                </a:solidFill>
                <a:latin typeface="Courier New" pitchFamily="49" charset="0"/>
              </a:rPr>
              <a:t>value1</a:t>
            </a:r>
            <a:r>
              <a:rPr lang="en-US" sz="2000" b="1" i="1" dirty="0" smtClean="0">
                <a:solidFill>
                  <a:srgbClr val="0000FF"/>
                </a:solidFill>
                <a:latin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: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  </a:t>
            </a:r>
            <a:r>
              <a:rPr lang="en-US" sz="2000" b="1" i="1" dirty="0" smtClean="0">
                <a:solidFill>
                  <a:srgbClr val="0000FF"/>
                </a:solidFill>
                <a:latin typeface="Courier New" pitchFamily="49" charset="0"/>
              </a:rPr>
              <a:t>statement-list1</a:t>
            </a:r>
          </a:p>
          <a:p>
            <a:pPr lvl="0"/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</a:rPr>
              <a:t>	</a:t>
            </a:r>
            <a:r>
              <a:rPr lang="en-US" sz="2000" b="1" i="1" dirty="0" smtClean="0">
                <a:solidFill>
                  <a:srgbClr val="C00000"/>
                </a:solidFill>
                <a:latin typeface="Courier New" pitchFamily="49" charset="0"/>
              </a:rPr>
              <a:t>break;</a:t>
            </a:r>
            <a:endParaRPr lang="en-US" sz="2000" b="1" dirty="0">
              <a:solidFill>
                <a:srgbClr val="C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case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i="1" dirty="0">
                <a:solidFill>
                  <a:schemeClr val="tx1"/>
                </a:solidFill>
                <a:latin typeface="Courier New" pitchFamily="49" charset="0"/>
              </a:rPr>
              <a:t>value2</a:t>
            </a:r>
            <a:r>
              <a:rPr lang="en-US" sz="2000" b="1" i="1" dirty="0">
                <a:solidFill>
                  <a:srgbClr val="FFFF99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  </a:t>
            </a:r>
            <a:r>
              <a:rPr lang="en-US" sz="2000" b="1" i="1" dirty="0" smtClean="0">
                <a:solidFill>
                  <a:srgbClr val="0000FF"/>
                </a:solidFill>
                <a:latin typeface="Courier New" pitchFamily="49" charset="0"/>
              </a:rPr>
              <a:t>statement-list2</a:t>
            </a:r>
          </a:p>
          <a:p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</a:rPr>
              <a:t>	break</a:t>
            </a:r>
            <a:r>
              <a:rPr lang="en-US" sz="2000" b="1" i="1" dirty="0" smtClean="0">
                <a:solidFill>
                  <a:srgbClr val="C00000"/>
                </a:solidFill>
                <a:latin typeface="Courier New" pitchFamily="49" charset="0"/>
              </a:rPr>
              <a:t>;</a:t>
            </a:r>
            <a:endParaRPr lang="en-US" sz="2000" dirty="0">
              <a:solidFill>
                <a:srgbClr val="000000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case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2000" b="1" i="1" dirty="0">
                <a:solidFill>
                  <a:schemeClr val="tx1"/>
                </a:solidFill>
                <a:latin typeface="Courier New" pitchFamily="49" charset="0"/>
              </a:rPr>
              <a:t>value3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:</a:t>
            </a:r>
            <a:endParaRPr lang="en-US" sz="2000" b="1" dirty="0">
              <a:solidFill>
                <a:srgbClr val="FFFF99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   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statement-list3</a:t>
            </a:r>
          </a:p>
          <a:p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</a:rPr>
              <a:t>	break</a:t>
            </a:r>
            <a:r>
              <a:rPr lang="en-US" sz="2000" b="1" i="1" dirty="0" smtClean="0">
                <a:solidFill>
                  <a:srgbClr val="C00000"/>
                </a:solidFill>
                <a:latin typeface="Courier New" pitchFamily="49" charset="0"/>
              </a:rPr>
              <a:t>;</a:t>
            </a:r>
            <a:endParaRPr lang="en-US" sz="2000" b="1" dirty="0">
              <a:solidFill>
                <a:srgbClr val="0000FF"/>
              </a:solidFill>
              <a:latin typeface="Courier New" pitchFamily="49" charset="0"/>
            </a:endParaRPr>
          </a:p>
          <a:p>
            <a:pPr lvl="0"/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C00000"/>
                </a:solidFill>
                <a:latin typeface="Courier New" pitchFamily="49" charset="0"/>
              </a:rPr>
              <a:t>case</a:t>
            </a:r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</a:t>
            </a:r>
            <a:r>
              <a:rPr lang="en-US" sz="2000" b="1" dirty="0" smtClean="0">
                <a:solidFill>
                  <a:srgbClr val="FFFF99"/>
                </a:solidFill>
                <a:latin typeface="Courier New" pitchFamily="49" charset="0"/>
              </a:rPr>
              <a:t> </a:t>
            </a:r>
          </a:p>
          <a:p>
            <a:pPr lvl="0"/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	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</a:rPr>
              <a:t>...</a:t>
            </a:r>
          </a:p>
          <a:p>
            <a:pPr lvl="0"/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</a:rPr>
              <a:t>   </a:t>
            </a:r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</a:rPr>
              <a:t>default</a:t>
            </a:r>
            <a:r>
              <a:rPr lang="en-US" sz="2000" b="1" i="1" dirty="0" smtClean="0">
                <a:solidFill>
                  <a:srgbClr val="C00000"/>
                </a:solidFill>
                <a:latin typeface="Courier New" pitchFamily="49" charset="0"/>
              </a:rPr>
              <a:t>:</a:t>
            </a:r>
            <a:r>
              <a:rPr lang="en-US" sz="2000" b="1" dirty="0" smtClean="0">
                <a:solidFill>
                  <a:srgbClr val="0000FF"/>
                </a:solidFill>
                <a:latin typeface="Courier New" pitchFamily="49" charset="0"/>
              </a:rPr>
              <a:t> </a:t>
            </a:r>
          </a:p>
          <a:p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en-US" sz="2000" b="1" i="1" dirty="0" smtClean="0">
                <a:solidFill>
                  <a:srgbClr val="0000FF"/>
                </a:solidFill>
                <a:latin typeface="Courier New" pitchFamily="49" charset="0"/>
              </a:rPr>
              <a:t>statement-list</a:t>
            </a:r>
            <a:endParaRPr lang="en-US" sz="2000" b="1" i="1" dirty="0">
              <a:solidFill>
                <a:srgbClr val="0000FF"/>
              </a:solidFill>
              <a:latin typeface="Courier New" pitchFamily="49" charset="0"/>
            </a:endParaRPr>
          </a:p>
          <a:p>
            <a:pPr lvl="0"/>
            <a:r>
              <a:rPr lang="en-US" sz="20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20" name="Rectangular Callout 19"/>
          <p:cNvSpPr/>
          <p:nvPr/>
        </p:nvSpPr>
        <p:spPr>
          <a:xfrm>
            <a:off x="6166566" y="1600200"/>
            <a:ext cx="2748834" cy="2611389"/>
          </a:xfrm>
          <a:prstGeom prst="wedgeRectCallout">
            <a:avLst>
              <a:gd name="adj1" fmla="val -110645"/>
              <a:gd name="adj2" fmla="val -46741"/>
            </a:avLst>
          </a:prstGeom>
          <a:solidFill>
            <a:srgbClr val="FFFF00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Acts like a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Can be a single variable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smtClean="0">
                <a:solidFill>
                  <a:srgbClr val="C00000"/>
                </a:solidFill>
              </a:rPr>
              <a:t>If an expression is given here, it must evaluate to  limited possible values</a:t>
            </a:r>
            <a:endParaRPr lang="en-US" dirty="0"/>
          </a:p>
        </p:txBody>
      </p:sp>
      <p:grpSp>
        <p:nvGrpSpPr>
          <p:cNvPr id="21" name="Group 9"/>
          <p:cNvGrpSpPr>
            <a:grpSpLocks/>
          </p:cNvGrpSpPr>
          <p:nvPr/>
        </p:nvGrpSpPr>
        <p:grpSpPr bwMode="auto">
          <a:xfrm>
            <a:off x="229070" y="3152059"/>
            <a:ext cx="2368551" cy="1968500"/>
            <a:chOff x="4275" y="2294"/>
            <a:chExt cx="1492" cy="1240"/>
          </a:xfrm>
        </p:grpSpPr>
        <p:sp>
          <p:nvSpPr>
            <p:cNvPr id="22" name="Text Box 10"/>
            <p:cNvSpPr txBox="1">
              <a:spLocks noChangeArrowheads="1"/>
            </p:cNvSpPr>
            <p:nvPr/>
          </p:nvSpPr>
          <p:spPr bwMode="auto">
            <a:xfrm>
              <a:off x="4275" y="2708"/>
              <a:ext cx="1451" cy="826"/>
            </a:xfrm>
            <a:prstGeom prst="rect">
              <a:avLst/>
            </a:prstGeom>
            <a:solidFill>
              <a:srgbClr val="FFFF00"/>
            </a:solidFill>
            <a:ln w="12700">
              <a:noFill/>
              <a:miter lim="800000"/>
              <a:headEnd type="none" w="sm" len="sm"/>
              <a:tailEnd type="none" w="sm" len="sm"/>
            </a:ln>
            <a:effectLst/>
          </p:spPr>
          <p:txBody>
            <a:bodyPr wrap="none" anchor="ctr">
              <a:spAutoFit/>
            </a:bodyPr>
            <a:lstStyle/>
            <a:p>
              <a:r>
                <a:rPr lang="en-US" sz="2000" b="1" dirty="0">
                  <a:solidFill>
                    <a:srgbClr val="C00000"/>
                  </a:solidFill>
                  <a:latin typeface="Arial Unicode MS" pitchFamily="34" charset="-128"/>
                </a:rPr>
                <a:t>If </a:t>
              </a:r>
              <a:r>
                <a:rPr lang="en-US" sz="2000" b="1" i="1" dirty="0">
                  <a:latin typeface="Courier New" pitchFamily="49" charset="0"/>
                </a:rPr>
                <a:t>expression</a:t>
              </a:r>
              <a:endParaRPr lang="en-US" sz="2000" b="1" dirty="0">
                <a:latin typeface="Courier New" pitchFamily="49" charset="0"/>
              </a:endParaRPr>
            </a:p>
            <a:p>
              <a:r>
                <a:rPr lang="en-US" sz="2000" b="1" dirty="0">
                  <a:solidFill>
                    <a:srgbClr val="C00000"/>
                  </a:solidFill>
                  <a:latin typeface="Arial Unicode MS" pitchFamily="34" charset="-128"/>
                </a:rPr>
                <a:t>matches </a:t>
              </a:r>
              <a:r>
                <a:rPr lang="en-US" sz="2000" b="1" i="1" dirty="0" smtClean="0">
                  <a:latin typeface="Courier New" pitchFamily="49" charset="0"/>
                </a:rPr>
                <a:t>value2</a:t>
              </a:r>
              <a:r>
                <a:rPr lang="en-US" sz="2000" b="1" dirty="0" smtClean="0">
                  <a:solidFill>
                    <a:srgbClr val="C00000"/>
                  </a:solidFill>
                  <a:latin typeface="Arial Unicode MS" pitchFamily="34" charset="-128"/>
                </a:rPr>
                <a:t>,</a:t>
              </a:r>
              <a:endParaRPr lang="en-US" sz="2000" b="1" dirty="0">
                <a:solidFill>
                  <a:srgbClr val="C00000"/>
                </a:solidFill>
                <a:latin typeface="Arial Unicode MS" pitchFamily="34" charset="-128"/>
              </a:endParaRPr>
            </a:p>
            <a:p>
              <a:r>
                <a:rPr lang="en-US" sz="2000" b="1" dirty="0">
                  <a:solidFill>
                    <a:srgbClr val="C00000"/>
                  </a:solidFill>
                  <a:latin typeface="Arial Unicode MS" pitchFamily="34" charset="-128"/>
                </a:rPr>
                <a:t>control jumps</a:t>
              </a:r>
            </a:p>
            <a:p>
              <a:r>
                <a:rPr lang="en-US" sz="2000" b="1" dirty="0">
                  <a:solidFill>
                    <a:srgbClr val="C00000"/>
                  </a:solidFill>
                  <a:latin typeface="Arial Unicode MS" pitchFamily="34" charset="-128"/>
                </a:rPr>
                <a:t>to here</a:t>
              </a:r>
            </a:p>
          </p:txBody>
        </p:sp>
        <p:cxnSp>
          <p:nvCxnSpPr>
            <p:cNvPr id="23" name="AutoShape 11"/>
            <p:cNvCxnSpPr>
              <a:cxnSpLocks noChangeShapeType="1"/>
              <a:stCxn id="22" idx="0"/>
            </p:cNvCxnSpPr>
            <p:nvPr/>
          </p:nvCxnSpPr>
          <p:spPr bwMode="auto">
            <a:xfrm rot="5400000" flipH="1" flipV="1">
              <a:off x="5177" y="2118"/>
              <a:ext cx="413" cy="766"/>
            </a:xfrm>
            <a:prstGeom prst="bentConnector2">
              <a:avLst/>
            </a:prstGeom>
            <a:noFill/>
            <a:ln w="31750">
              <a:solidFill>
                <a:srgbClr val="FF0000"/>
              </a:solidFill>
              <a:miter lim="800000"/>
              <a:headEnd type="none" w="sm" len="sm"/>
              <a:tailEnd type="triangle" w="lg" len="med"/>
            </a:ln>
            <a:effectLst/>
          </p:spPr>
        </p:cxnSp>
      </p:grpSp>
      <p:sp>
        <p:nvSpPr>
          <p:cNvPr id="25" name="TextBox 24"/>
          <p:cNvSpPr txBox="1"/>
          <p:nvPr/>
        </p:nvSpPr>
        <p:spPr>
          <a:xfrm>
            <a:off x="4811868" y="4643505"/>
            <a:ext cx="4141095" cy="954107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C00000"/>
                </a:solidFill>
              </a:rPr>
              <a:t>switch, case, break, default</a:t>
            </a:r>
          </a:p>
          <a:p>
            <a:pPr algn="ctr"/>
            <a:r>
              <a:rPr lang="en-US" sz="2800" dirty="0" smtClean="0"/>
              <a:t>C++ keywords</a:t>
            </a:r>
            <a:endParaRPr lang="en-US" sz="2800" dirty="0"/>
          </a:p>
        </p:txBody>
      </p:sp>
      <p:sp>
        <p:nvSpPr>
          <p:cNvPr id="26" name="Oval Callout 25"/>
          <p:cNvSpPr/>
          <p:nvPr/>
        </p:nvSpPr>
        <p:spPr>
          <a:xfrm>
            <a:off x="123501" y="1249741"/>
            <a:ext cx="2514600" cy="1670639"/>
          </a:xfrm>
          <a:prstGeom prst="wedgeEllipseCallout">
            <a:avLst>
              <a:gd name="adj1" fmla="val 62906"/>
              <a:gd name="adj2" fmla="val 9169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Lets see what this keyword </a:t>
            </a:r>
            <a:r>
              <a:rPr lang="en-US" sz="2000" b="1" i="1" dirty="0" smtClean="0">
                <a:solidFill>
                  <a:srgbClr val="C00000"/>
                </a:solidFill>
              </a:rPr>
              <a:t>break</a:t>
            </a:r>
            <a:r>
              <a:rPr lang="en-US" sz="2000" dirty="0" smtClean="0"/>
              <a:t> does?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3430885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5" grpId="0" animBg="1"/>
      <p:bldP spid="25" grpId="1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F79646">
                    <a:lumMod val="75000"/>
                  </a:srgbClr>
                </a:solidFill>
              </a:rPr>
              <a:t>s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witch Statement - Flowchart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3" name="Rectangle 12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100" y="1054923"/>
            <a:ext cx="5257800" cy="5237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04177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371600"/>
            <a:ext cx="4419600" cy="4876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sz="2400" dirty="0"/>
              <a:t>The </a:t>
            </a:r>
            <a:r>
              <a:rPr lang="en-US" sz="2400" dirty="0">
                <a:latin typeface="Courier" pitchFamily="49" charset="0"/>
              </a:rPr>
              <a:t>break statement </a:t>
            </a:r>
            <a:r>
              <a:rPr lang="en-US" sz="2400" dirty="0"/>
              <a:t>can be used as the last statement in each case's statement list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sz="2400" dirty="0"/>
              <a:t>A </a:t>
            </a:r>
            <a:r>
              <a:rPr lang="en-US" sz="2400" dirty="0">
                <a:latin typeface="Courier" pitchFamily="49" charset="0"/>
              </a:rPr>
              <a:t>break</a:t>
            </a:r>
            <a:r>
              <a:rPr lang="en-US" sz="2400" dirty="0"/>
              <a:t> statement causes control to transfer to the end of the </a:t>
            </a:r>
            <a:r>
              <a:rPr lang="en-US" sz="2400" dirty="0">
                <a:latin typeface="Courier" pitchFamily="49" charset="0"/>
              </a:rPr>
              <a:t>switch</a:t>
            </a:r>
            <a:r>
              <a:rPr lang="en-US" sz="2400" dirty="0"/>
              <a:t> statement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sz="2400" dirty="0"/>
              <a:t>If a </a:t>
            </a:r>
            <a:r>
              <a:rPr lang="en-US" sz="2400" dirty="0">
                <a:latin typeface="Courier" pitchFamily="49" charset="0"/>
              </a:rPr>
              <a:t>break</a:t>
            </a:r>
            <a:r>
              <a:rPr lang="en-US" sz="2400" dirty="0"/>
              <a:t> statement is not used, the flow of control will </a:t>
            </a:r>
            <a:r>
              <a:rPr lang="en-US" sz="2400" b="1" i="1" dirty="0" smtClean="0"/>
              <a:t>fall through </a:t>
            </a:r>
            <a:r>
              <a:rPr lang="en-US" sz="2400" b="1" i="1" dirty="0"/>
              <a:t>into the next case</a:t>
            </a:r>
          </a:p>
          <a:p>
            <a:pPr>
              <a:lnSpc>
                <a:spcPct val="90000"/>
              </a:lnSpc>
              <a:spcBef>
                <a:spcPct val="75000"/>
              </a:spcBef>
              <a:buFont typeface="Times" pitchFamily="18" charset="0"/>
              <a:buNone/>
            </a:pPr>
            <a:endParaRPr lang="en-US" sz="2400" dirty="0"/>
          </a:p>
          <a:p>
            <a:pPr>
              <a:lnSpc>
                <a:spcPct val="90000"/>
              </a:lnSpc>
            </a:pPr>
            <a:endParaRPr lang="en-US" sz="2400" dirty="0"/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5029200" y="1600200"/>
            <a:ext cx="3536950" cy="4054475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wrap="none" anchor="ctr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switch (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expression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){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case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value1</a:t>
            </a:r>
            <a:r>
              <a:rPr lang="en-US" sz="2000" b="1" i="1" dirty="0">
                <a:solidFill>
                  <a:srgbClr val="FFFF99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 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statement-list1</a:t>
            </a:r>
          </a:p>
          <a:p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</a:rPr>
              <a:t>break;</a:t>
            </a:r>
            <a:endParaRPr lang="en-US" sz="2000" b="1" dirty="0">
              <a:solidFill>
                <a:srgbClr val="C00000"/>
              </a:solidFill>
              <a:latin typeface="Courier New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case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value2</a:t>
            </a:r>
            <a:r>
              <a:rPr lang="en-US" sz="2000" b="1" i="1" dirty="0">
                <a:solidFill>
                  <a:srgbClr val="FFFF99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:</a:t>
            </a:r>
          </a:p>
          <a:p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   </a:t>
            </a:r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statement-list2</a:t>
            </a:r>
          </a:p>
          <a:p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</a:rPr>
              <a:t>break;</a:t>
            </a:r>
            <a:endParaRPr lang="en-US" sz="2000" b="1" dirty="0">
              <a:solidFill>
                <a:srgbClr val="C00000"/>
              </a:solidFill>
              <a:latin typeface="Courier New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  case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value3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 :</a:t>
            </a:r>
            <a:endParaRPr lang="en-US" sz="2000" b="1" dirty="0">
              <a:solidFill>
                <a:srgbClr val="FFFF99"/>
              </a:solidFill>
              <a:latin typeface="Courier New" pitchFamily="49" charset="0"/>
            </a:endParaRPr>
          </a:p>
          <a:p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  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statement-list3</a:t>
            </a:r>
          </a:p>
          <a:p>
            <a:r>
              <a:rPr lang="en-US" sz="2000" b="1" i="1" dirty="0">
                <a:solidFill>
                  <a:srgbClr val="0000FF"/>
                </a:solidFill>
                <a:latin typeface="Courier New" pitchFamily="49" charset="0"/>
              </a:rPr>
              <a:t>	</a:t>
            </a:r>
            <a:r>
              <a:rPr lang="en-US" sz="2000" b="1" i="1" dirty="0">
                <a:solidFill>
                  <a:srgbClr val="C00000"/>
                </a:solidFill>
                <a:latin typeface="Courier New" pitchFamily="49" charset="0"/>
              </a:rPr>
              <a:t>break;</a:t>
            </a:r>
            <a:endParaRPr lang="en-US" sz="2000" b="1" dirty="0">
              <a:solidFill>
                <a:srgbClr val="C00000"/>
              </a:solidFill>
              <a:latin typeface="Courier New" pitchFamily="49" charset="0"/>
            </a:endParaRPr>
          </a:p>
          <a:p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 </a:t>
            </a:r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case</a:t>
            </a:r>
            <a:r>
              <a:rPr lang="en-US" sz="2000" b="1" dirty="0">
                <a:solidFill>
                  <a:srgbClr val="FFFF99"/>
                </a:solidFill>
                <a:latin typeface="Courier New" pitchFamily="49" charset="0"/>
              </a:rPr>
              <a:t>  </a:t>
            </a:r>
            <a:r>
              <a:rPr lang="en-US" sz="2000" b="1" dirty="0">
                <a:solidFill>
                  <a:srgbClr val="0000FF"/>
                </a:solidFill>
                <a:latin typeface="Courier New" pitchFamily="49" charset="0"/>
              </a:rPr>
              <a:t>...</a:t>
            </a:r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endParaRPr lang="en-US" sz="2000" b="1" dirty="0">
              <a:solidFill>
                <a:srgbClr val="000000"/>
              </a:solidFill>
              <a:latin typeface="Courier New" pitchFamily="49" charset="0"/>
            </a:endParaRPr>
          </a:p>
          <a:p>
            <a:r>
              <a:rPr lang="en-US" sz="20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724400" y="2667000"/>
            <a:ext cx="12192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arrow" w="med" len="med"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break Statement</a:t>
            </a:r>
            <a:endParaRPr lang="en-US" sz="44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72626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85482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switch Statement with </a:t>
            </a:r>
            <a:r>
              <a:rPr lang="en-US" sz="4000" b="1" dirty="0" smtClean="0">
                <a:solidFill>
                  <a:srgbClr val="0070C0"/>
                </a:solidFill>
              </a:rPr>
              <a:t>break</a:t>
            </a:r>
            <a:endParaRPr lang="en-US" sz="40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38200" y="1253092"/>
            <a:ext cx="7419843" cy="415498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switch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) </a:t>
            </a:r>
          </a:p>
          <a:p>
            <a:r>
              <a:rPr lang="en-US" sz="2400" dirty="0" smtClean="0"/>
              <a:t>{ 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321A00"/>
                </a:solidFill>
              </a:rPr>
              <a:t>0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Time and tide wait for none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     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321A00"/>
                </a:solidFill>
              </a:rPr>
              <a:t>1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The pen is mightier than the sword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	      </a:t>
            </a:r>
            <a:r>
              <a:rPr lang="en-US" sz="2400" dirty="0" smtClean="0">
                <a:solidFill>
                  <a:srgbClr val="C00000"/>
                </a:solidFill>
              </a:rPr>
              <a:t>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default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</a:t>
            </a:r>
            <a:r>
              <a:rPr lang="en-US" sz="2400" dirty="0" smtClean="0"/>
              <a:t>“</a:t>
            </a:r>
            <a:r>
              <a:rPr lang="en-US" sz="2400" dirty="0" smtClean="0">
                <a:solidFill>
                  <a:srgbClr val="0070C0"/>
                </a:solidFill>
              </a:rPr>
              <a:t>Where there is a will, there is a way.</a:t>
            </a:r>
            <a:r>
              <a:rPr lang="en-US" sz="2400" dirty="0" smtClean="0"/>
              <a:t>”; </a:t>
            </a:r>
          </a:p>
          <a:p>
            <a:r>
              <a:rPr lang="en-US" sz="2400" dirty="0" smtClean="0"/>
              <a:t>}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5" name="Notched Right Arrow 14"/>
          <p:cNvSpPr/>
          <p:nvPr/>
        </p:nvSpPr>
        <p:spPr>
          <a:xfrm>
            <a:off x="224050" y="1425287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Notched Right Arrow 15"/>
          <p:cNvSpPr/>
          <p:nvPr/>
        </p:nvSpPr>
        <p:spPr>
          <a:xfrm>
            <a:off x="657896" y="2134223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Notched Right Arrow 16"/>
          <p:cNvSpPr/>
          <p:nvPr/>
        </p:nvSpPr>
        <p:spPr>
          <a:xfrm>
            <a:off x="1524000" y="2521665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Notched Right Arrow 17"/>
          <p:cNvSpPr/>
          <p:nvPr/>
        </p:nvSpPr>
        <p:spPr>
          <a:xfrm>
            <a:off x="1524000" y="2868937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Notched Right Arrow 18"/>
          <p:cNvSpPr/>
          <p:nvPr/>
        </p:nvSpPr>
        <p:spPr>
          <a:xfrm>
            <a:off x="146777" y="5088565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105400" y="1278850"/>
            <a:ext cx="3573351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Suppose x = 0;</a:t>
            </a:r>
          </a:p>
        </p:txBody>
      </p:sp>
    </p:spTree>
    <p:extLst>
      <p:ext uri="{BB962C8B-B14F-4D97-AF65-F5344CB8AC3E}">
        <p14:creationId xmlns:p14="http://schemas.microsoft.com/office/powerpoint/2010/main" val="54986189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85482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switch Statement with </a:t>
            </a:r>
            <a:r>
              <a:rPr lang="en-US" sz="4000" b="1" dirty="0" smtClean="0">
                <a:solidFill>
                  <a:srgbClr val="0070C0"/>
                </a:solidFill>
              </a:rPr>
              <a:t>break</a:t>
            </a:r>
            <a:endParaRPr lang="en-US" sz="40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38200" y="1253092"/>
            <a:ext cx="7419843" cy="415498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switch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) </a:t>
            </a:r>
          </a:p>
          <a:p>
            <a:r>
              <a:rPr lang="en-US" sz="2400" dirty="0" smtClean="0"/>
              <a:t>{ 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321A00"/>
                </a:solidFill>
              </a:rPr>
              <a:t>0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Time and tide wait for none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     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321A00"/>
                </a:solidFill>
              </a:rPr>
              <a:t>1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The pen is mightier than the sword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	      </a:t>
            </a:r>
            <a:r>
              <a:rPr lang="en-US" sz="2400" dirty="0" smtClean="0">
                <a:solidFill>
                  <a:srgbClr val="C00000"/>
                </a:solidFill>
              </a:rPr>
              <a:t>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default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</a:t>
            </a:r>
            <a:r>
              <a:rPr lang="en-US" sz="2400" dirty="0" smtClean="0"/>
              <a:t>“</a:t>
            </a:r>
            <a:r>
              <a:rPr lang="en-US" sz="2400" dirty="0" smtClean="0">
                <a:solidFill>
                  <a:srgbClr val="0070C0"/>
                </a:solidFill>
              </a:rPr>
              <a:t>Where there is a will, there is a way.</a:t>
            </a:r>
            <a:r>
              <a:rPr lang="en-US" sz="2400" dirty="0" smtClean="0"/>
              <a:t>”; </a:t>
            </a:r>
          </a:p>
          <a:p>
            <a:r>
              <a:rPr lang="en-US" sz="2400" dirty="0" smtClean="0"/>
              <a:t>}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5" name="Notched Right Arrow 14"/>
          <p:cNvSpPr/>
          <p:nvPr/>
        </p:nvSpPr>
        <p:spPr>
          <a:xfrm>
            <a:off x="224050" y="1425287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Notched Right Arrow 15"/>
          <p:cNvSpPr/>
          <p:nvPr/>
        </p:nvSpPr>
        <p:spPr>
          <a:xfrm>
            <a:off x="657896" y="2134223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Notched Right Arrow 16"/>
          <p:cNvSpPr/>
          <p:nvPr/>
        </p:nvSpPr>
        <p:spPr>
          <a:xfrm>
            <a:off x="657896" y="3244183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Notched Right Arrow 17"/>
          <p:cNvSpPr/>
          <p:nvPr/>
        </p:nvSpPr>
        <p:spPr>
          <a:xfrm>
            <a:off x="1524000" y="3597506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Notched Right Arrow 18"/>
          <p:cNvSpPr/>
          <p:nvPr/>
        </p:nvSpPr>
        <p:spPr>
          <a:xfrm>
            <a:off x="1524000" y="3987755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Notched Right Arrow 19"/>
          <p:cNvSpPr/>
          <p:nvPr/>
        </p:nvSpPr>
        <p:spPr>
          <a:xfrm>
            <a:off x="220830" y="5084134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105400" y="1278850"/>
            <a:ext cx="3573351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Suppose x = 1;</a:t>
            </a:r>
          </a:p>
        </p:txBody>
      </p:sp>
    </p:spTree>
    <p:extLst>
      <p:ext uri="{BB962C8B-B14F-4D97-AF65-F5344CB8AC3E}">
        <p14:creationId xmlns:p14="http://schemas.microsoft.com/office/powerpoint/2010/main" val="19822790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8548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switch Statement – </a:t>
            </a:r>
            <a:r>
              <a:rPr lang="en-US" sz="4000" b="1" dirty="0" smtClean="0">
                <a:solidFill>
                  <a:srgbClr val="C00000"/>
                </a:solidFill>
              </a:rPr>
              <a:t>without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</a:rPr>
              <a:t>break</a:t>
            </a:r>
            <a:endParaRPr lang="en-US" sz="40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38200" y="1253092"/>
            <a:ext cx="7419843" cy="3416320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switch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) </a:t>
            </a:r>
          </a:p>
          <a:p>
            <a:r>
              <a:rPr lang="en-US" sz="2400" dirty="0" smtClean="0"/>
              <a:t>{ 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321A00"/>
                </a:solidFill>
              </a:rPr>
              <a:t>0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Time and tide wait for none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321A00"/>
                </a:solidFill>
              </a:rPr>
              <a:t>1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The pen is mightier than the sword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default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</a:t>
            </a:r>
            <a:r>
              <a:rPr lang="en-US" sz="2400" dirty="0" smtClean="0"/>
              <a:t>“</a:t>
            </a:r>
            <a:r>
              <a:rPr lang="en-US" sz="2400" dirty="0" smtClean="0">
                <a:solidFill>
                  <a:srgbClr val="0070C0"/>
                </a:solidFill>
              </a:rPr>
              <a:t>Where there is a will, there is a way.</a:t>
            </a:r>
            <a:r>
              <a:rPr lang="en-US" sz="2400" dirty="0" smtClean="0"/>
              <a:t>”; </a:t>
            </a:r>
          </a:p>
          <a:p>
            <a:r>
              <a:rPr lang="en-US" sz="2400" dirty="0" smtClean="0"/>
              <a:t>}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5" name="Notched Right Arrow 14"/>
          <p:cNvSpPr/>
          <p:nvPr/>
        </p:nvSpPr>
        <p:spPr>
          <a:xfrm>
            <a:off x="224050" y="1425287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Notched Right Arrow 15"/>
          <p:cNvSpPr/>
          <p:nvPr/>
        </p:nvSpPr>
        <p:spPr>
          <a:xfrm>
            <a:off x="657896" y="2134223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Notched Right Arrow 16"/>
          <p:cNvSpPr/>
          <p:nvPr/>
        </p:nvSpPr>
        <p:spPr>
          <a:xfrm>
            <a:off x="1524000" y="2562813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Notched Right Arrow 17"/>
          <p:cNvSpPr/>
          <p:nvPr/>
        </p:nvSpPr>
        <p:spPr>
          <a:xfrm>
            <a:off x="1524000" y="3276600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Notched Right Arrow 18"/>
          <p:cNvSpPr/>
          <p:nvPr/>
        </p:nvSpPr>
        <p:spPr>
          <a:xfrm>
            <a:off x="1524000" y="3987755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Notched Right Arrow 19"/>
          <p:cNvSpPr/>
          <p:nvPr/>
        </p:nvSpPr>
        <p:spPr>
          <a:xfrm>
            <a:off x="224050" y="4346419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105400" y="1278850"/>
            <a:ext cx="3573351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Suppose x = 0;</a:t>
            </a:r>
          </a:p>
        </p:txBody>
      </p:sp>
    </p:spTree>
    <p:extLst>
      <p:ext uri="{BB962C8B-B14F-4D97-AF65-F5344CB8AC3E}">
        <p14:creationId xmlns:p14="http://schemas.microsoft.com/office/powerpoint/2010/main" val="19374016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8548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switch Statement – </a:t>
            </a:r>
            <a:r>
              <a:rPr lang="en-US" sz="4000" b="1" dirty="0" smtClean="0">
                <a:solidFill>
                  <a:srgbClr val="C00000"/>
                </a:solidFill>
              </a:rPr>
              <a:t>without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</a:rPr>
              <a:t>break</a:t>
            </a:r>
            <a:endParaRPr lang="en-US" sz="40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38200" y="1253092"/>
            <a:ext cx="7419843" cy="3416320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switch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) </a:t>
            </a:r>
          </a:p>
          <a:p>
            <a:r>
              <a:rPr lang="en-US" sz="2400" dirty="0" smtClean="0"/>
              <a:t>{ 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321A00"/>
                </a:solidFill>
              </a:rPr>
              <a:t>0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Time and tide wait for none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321A00"/>
                </a:solidFill>
              </a:rPr>
              <a:t>1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The pen is mightier than the sword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default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</a:t>
            </a:r>
            <a:r>
              <a:rPr lang="en-US" sz="2400" dirty="0" smtClean="0"/>
              <a:t>“</a:t>
            </a:r>
            <a:r>
              <a:rPr lang="en-US" sz="2400" dirty="0" smtClean="0">
                <a:solidFill>
                  <a:srgbClr val="0070C0"/>
                </a:solidFill>
              </a:rPr>
              <a:t>Where there is a will, there is a way.</a:t>
            </a:r>
            <a:r>
              <a:rPr lang="en-US" sz="2400" dirty="0" smtClean="0"/>
              <a:t>”; </a:t>
            </a:r>
          </a:p>
          <a:p>
            <a:r>
              <a:rPr lang="en-US" sz="2400" dirty="0" smtClean="0"/>
              <a:t>}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5" name="Notched Right Arrow 14"/>
          <p:cNvSpPr/>
          <p:nvPr/>
        </p:nvSpPr>
        <p:spPr>
          <a:xfrm>
            <a:off x="224050" y="1425287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Notched Right Arrow 15"/>
          <p:cNvSpPr/>
          <p:nvPr/>
        </p:nvSpPr>
        <p:spPr>
          <a:xfrm>
            <a:off x="657896" y="2134223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Notched Right Arrow 16"/>
          <p:cNvSpPr/>
          <p:nvPr/>
        </p:nvSpPr>
        <p:spPr>
          <a:xfrm>
            <a:off x="655750" y="2948718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Notched Right Arrow 17"/>
          <p:cNvSpPr/>
          <p:nvPr/>
        </p:nvSpPr>
        <p:spPr>
          <a:xfrm>
            <a:off x="1524000" y="3276600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Notched Right Arrow 18"/>
          <p:cNvSpPr/>
          <p:nvPr/>
        </p:nvSpPr>
        <p:spPr>
          <a:xfrm>
            <a:off x="1574443" y="3994845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Notched Right Arrow 19"/>
          <p:cNvSpPr/>
          <p:nvPr/>
        </p:nvSpPr>
        <p:spPr>
          <a:xfrm>
            <a:off x="224866" y="4335671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105400" y="1278850"/>
            <a:ext cx="3573351" cy="646331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Suppose x = 1;</a:t>
            </a:r>
          </a:p>
        </p:txBody>
      </p:sp>
    </p:spTree>
    <p:extLst>
      <p:ext uri="{BB962C8B-B14F-4D97-AF65-F5344CB8AC3E}">
        <p14:creationId xmlns:p14="http://schemas.microsoft.com/office/powerpoint/2010/main" val="39472166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8548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switch Statement – </a:t>
            </a:r>
            <a:r>
              <a:rPr lang="en-US" sz="4000" b="1" dirty="0" smtClean="0">
                <a:solidFill>
                  <a:srgbClr val="C00000"/>
                </a:solidFill>
              </a:rPr>
              <a:t>without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 </a:t>
            </a:r>
            <a:r>
              <a:rPr lang="en-US" sz="4000" b="1" dirty="0" smtClean="0">
                <a:solidFill>
                  <a:srgbClr val="0070C0"/>
                </a:solidFill>
              </a:rPr>
              <a:t>break</a:t>
            </a:r>
            <a:endParaRPr lang="en-US" sz="40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241425" y="2231826"/>
            <a:ext cx="6661150" cy="3752850"/>
            <a:chOff x="914400" y="2514600"/>
            <a:chExt cx="6661150" cy="3752850"/>
          </a:xfrm>
        </p:grpSpPr>
        <p:grpSp>
          <p:nvGrpSpPr>
            <p:cNvPr id="21" name="Group 20"/>
            <p:cNvGrpSpPr/>
            <p:nvPr/>
          </p:nvGrpSpPr>
          <p:grpSpPr>
            <a:xfrm>
              <a:off x="914400" y="2514600"/>
              <a:ext cx="2905125" cy="3752850"/>
              <a:chOff x="914400" y="2514600"/>
              <a:chExt cx="2905125" cy="3752850"/>
            </a:xfrm>
          </p:grpSpPr>
          <p:sp>
            <p:nvSpPr>
              <p:cNvPr id="22" name="Text Box 5"/>
              <p:cNvSpPr txBox="1">
                <a:spLocks noChangeArrowheads="1"/>
              </p:cNvSpPr>
              <p:nvPr/>
            </p:nvSpPr>
            <p:spPr bwMode="auto">
              <a:xfrm>
                <a:off x="914400" y="2514600"/>
                <a:ext cx="2622550" cy="344487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switch (option){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case 'A':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  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Courier New" pitchFamily="49" charset="0"/>
                  </a:rPr>
                  <a:t>aCount</a:t>
                </a:r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++;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   break;</a:t>
                </a:r>
              </a:p>
              <a:p>
                <a:r>
                  <a:rPr lang="en-US" sz="2000" dirty="0">
                    <a:solidFill>
                      <a:srgbClr val="000000"/>
                    </a:solidFill>
                    <a:latin typeface="Courier New" pitchFamily="49" charset="0"/>
                  </a:rPr>
                  <a:t>   </a:t>
                </a:r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case 'B':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  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Courier New" pitchFamily="49" charset="0"/>
                  </a:rPr>
                  <a:t>bCount</a:t>
                </a:r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++;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   break;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case 'C':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  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Courier New" pitchFamily="49" charset="0"/>
                  </a:rPr>
                  <a:t>cCount</a:t>
                </a:r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++;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   break;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}</a:t>
                </a:r>
              </a:p>
            </p:txBody>
          </p:sp>
          <p:sp>
            <p:nvSpPr>
              <p:cNvPr id="24" name="Freeform 6"/>
              <p:cNvSpPr>
                <a:spLocks/>
              </p:cNvSpPr>
              <p:nvPr/>
            </p:nvSpPr>
            <p:spPr bwMode="auto">
              <a:xfrm>
                <a:off x="1279525" y="3657600"/>
                <a:ext cx="2540000" cy="2609850"/>
              </a:xfrm>
              <a:custGeom>
                <a:avLst/>
                <a:gdLst/>
                <a:ahLst/>
                <a:cxnLst>
                  <a:cxn ang="0">
                    <a:pos x="1018" y="0"/>
                  </a:cxn>
                  <a:cxn ang="0">
                    <a:pos x="1600" y="271"/>
                  </a:cxn>
                  <a:cxn ang="0">
                    <a:pos x="1392" y="1097"/>
                  </a:cxn>
                  <a:cxn ang="0">
                    <a:pos x="0" y="1644"/>
                  </a:cxn>
                </a:cxnLst>
                <a:rect l="0" t="0" r="r" b="b"/>
                <a:pathLst>
                  <a:path w="1600" h="1644">
                    <a:moveTo>
                      <a:pt x="1018" y="0"/>
                    </a:moveTo>
                    <a:lnTo>
                      <a:pt x="1600" y="271"/>
                    </a:lnTo>
                    <a:lnTo>
                      <a:pt x="1392" y="1097"/>
                    </a:lnTo>
                    <a:lnTo>
                      <a:pt x="0" y="1644"/>
                    </a:ln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 type="none" w="med" len="med"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  <p:grpSp>
          <p:nvGrpSpPr>
            <p:cNvPr id="25" name="Group 24"/>
            <p:cNvGrpSpPr/>
            <p:nvPr/>
          </p:nvGrpSpPr>
          <p:grpSpPr>
            <a:xfrm>
              <a:off x="4953000" y="2743200"/>
              <a:ext cx="2622550" cy="2530475"/>
              <a:chOff x="4953000" y="2743200"/>
              <a:chExt cx="2622550" cy="2530475"/>
            </a:xfrm>
          </p:grpSpPr>
          <p:sp>
            <p:nvSpPr>
              <p:cNvPr id="26" name="Text Box 3"/>
              <p:cNvSpPr txBox="1">
                <a:spLocks noChangeArrowheads="1"/>
              </p:cNvSpPr>
              <p:nvPr/>
            </p:nvSpPr>
            <p:spPr bwMode="auto">
              <a:xfrm>
                <a:off x="4953000" y="2743200"/>
                <a:ext cx="2622550" cy="2530475"/>
              </a:xfrm>
              <a:prstGeom prst="rect">
                <a:avLst/>
              </a:prstGeom>
              <a:noFill/>
              <a:ln w="12700">
                <a:noFill/>
                <a:miter lim="800000"/>
                <a:headEnd type="none" w="sm" len="sm"/>
                <a:tailEnd type="none" w="sm" len="sm"/>
              </a:ln>
              <a:effectLst/>
            </p:spPr>
            <p:txBody>
              <a:bodyPr wrap="none" anchor="ctr">
                <a:spAutoFit/>
              </a:bodyPr>
              <a:lstStyle/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switch (option){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case 'A':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  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Courier New" pitchFamily="49" charset="0"/>
                  </a:rPr>
                  <a:t>aCount</a:t>
                </a:r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++;</a:t>
                </a:r>
              </a:p>
              <a:p>
                <a:r>
                  <a:rPr lang="en-US" sz="2000" dirty="0">
                    <a:solidFill>
                      <a:srgbClr val="000000"/>
                    </a:solidFill>
                    <a:latin typeface="Courier New" pitchFamily="49" charset="0"/>
                  </a:rPr>
                  <a:t>   </a:t>
                </a:r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case 'B':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  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Courier New" pitchFamily="49" charset="0"/>
                  </a:rPr>
                  <a:t>bCount</a:t>
                </a:r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++;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case 'C':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      </a:t>
                </a:r>
                <a:r>
                  <a:rPr lang="en-US" sz="2000" b="1" dirty="0" err="1">
                    <a:solidFill>
                      <a:srgbClr val="000000"/>
                    </a:solidFill>
                    <a:latin typeface="Courier New" pitchFamily="49" charset="0"/>
                  </a:rPr>
                  <a:t>cCount</a:t>
                </a:r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++;</a:t>
                </a:r>
              </a:p>
              <a:p>
                <a:r>
                  <a:rPr lang="en-US" sz="2000" b="1" dirty="0">
                    <a:solidFill>
                      <a:srgbClr val="000000"/>
                    </a:solidFill>
                    <a:latin typeface="Courier New" pitchFamily="49" charset="0"/>
                  </a:rPr>
                  <a:t>}</a:t>
                </a:r>
              </a:p>
            </p:txBody>
          </p:sp>
          <p:sp>
            <p:nvSpPr>
              <p:cNvPr id="27" name="Line 7"/>
              <p:cNvSpPr>
                <a:spLocks noChangeShapeType="1"/>
              </p:cNvSpPr>
              <p:nvPr/>
            </p:nvSpPr>
            <p:spPr bwMode="auto">
              <a:xfrm>
                <a:off x="7391400" y="3505200"/>
                <a:ext cx="0" cy="1371600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endParaRPr lang="en-US">
                  <a:solidFill>
                    <a:srgbClr val="000000"/>
                  </a:solidFill>
                </a:endParaRPr>
              </a:p>
            </p:txBody>
          </p:sp>
        </p:grpSp>
      </p:grpSp>
      <p:sp>
        <p:nvSpPr>
          <p:cNvPr id="28" name="Rectangle 4"/>
          <p:cNvSpPr txBox="1">
            <a:spLocks noChangeArrowheads="1"/>
          </p:cNvSpPr>
          <p:nvPr/>
        </p:nvSpPr>
        <p:spPr>
          <a:xfrm>
            <a:off x="304800" y="1392832"/>
            <a:ext cx="8229600" cy="534988"/>
          </a:xfrm>
          <a:prstGeom prst="rect">
            <a:avLst/>
          </a:prstGeom>
          <a:noFill/>
          <a:ln/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dirty="0" smtClean="0"/>
              <a:t>Another Example: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0646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85482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switch Statement - </a:t>
            </a:r>
            <a:r>
              <a:rPr lang="en-US" sz="4000" b="1" dirty="0" smtClean="0">
                <a:solidFill>
                  <a:srgbClr val="0070C0"/>
                </a:solidFill>
              </a:rPr>
              <a:t>default</a:t>
            </a:r>
            <a:endParaRPr lang="en-US" sz="40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38200" y="1253092"/>
            <a:ext cx="7419843" cy="415498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switch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) </a:t>
            </a:r>
          </a:p>
          <a:p>
            <a:r>
              <a:rPr lang="en-US" sz="2400" dirty="0" smtClean="0"/>
              <a:t>{ 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321A00"/>
                </a:solidFill>
              </a:rPr>
              <a:t>0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Time and tide wait for none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     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321A00"/>
                </a:solidFill>
              </a:rPr>
              <a:t>1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The pen is mightier than the sword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	      </a:t>
            </a:r>
            <a:r>
              <a:rPr lang="en-US" sz="2400" dirty="0" smtClean="0">
                <a:solidFill>
                  <a:srgbClr val="C00000"/>
                </a:solidFill>
              </a:rPr>
              <a:t>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default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</a:t>
            </a:r>
            <a:r>
              <a:rPr lang="en-US" sz="2400" dirty="0" smtClean="0"/>
              <a:t>“</a:t>
            </a:r>
            <a:r>
              <a:rPr lang="en-US" sz="2400" dirty="0" smtClean="0">
                <a:solidFill>
                  <a:srgbClr val="0070C0"/>
                </a:solidFill>
              </a:rPr>
              <a:t>Where there is a will, there is a way.</a:t>
            </a:r>
            <a:r>
              <a:rPr lang="en-US" sz="2400" dirty="0" smtClean="0"/>
              <a:t>”; </a:t>
            </a:r>
          </a:p>
          <a:p>
            <a:r>
              <a:rPr lang="en-US" sz="2400" dirty="0" smtClean="0"/>
              <a:t>}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19" name="Notched Right Arrow 18"/>
          <p:cNvSpPr/>
          <p:nvPr/>
        </p:nvSpPr>
        <p:spPr>
          <a:xfrm>
            <a:off x="685800" y="4340411"/>
            <a:ext cx="609600" cy="172801"/>
          </a:xfrm>
          <a:prstGeom prst="notchedRigh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105400" y="1278850"/>
            <a:ext cx="3573351" cy="1200329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What if the value of x = 2?</a:t>
            </a:r>
          </a:p>
        </p:txBody>
      </p:sp>
      <p:sp>
        <p:nvSpPr>
          <p:cNvPr id="21" name="Oval Callout 20"/>
          <p:cNvSpPr/>
          <p:nvPr/>
        </p:nvSpPr>
        <p:spPr>
          <a:xfrm>
            <a:off x="3096299" y="2593684"/>
            <a:ext cx="3581399" cy="1473799"/>
          </a:xfrm>
          <a:prstGeom prst="wedgeEllipseCallout">
            <a:avLst>
              <a:gd name="adj1" fmla="val -70383"/>
              <a:gd name="adj2" fmla="val 75192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i="1" dirty="0" smtClean="0">
                <a:solidFill>
                  <a:srgbClr val="C00000"/>
                </a:solidFill>
              </a:rPr>
              <a:t>Executed last – flow control goes to default if no matching case is found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88045023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1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85482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switch Statement - </a:t>
            </a:r>
            <a:r>
              <a:rPr lang="en-US" sz="4000" b="1" dirty="0" smtClean="0">
                <a:solidFill>
                  <a:srgbClr val="0070C0"/>
                </a:solidFill>
              </a:rPr>
              <a:t>default</a:t>
            </a:r>
            <a:endParaRPr lang="en-US" sz="40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38200" y="1253092"/>
            <a:ext cx="7419843" cy="415498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switch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) </a:t>
            </a:r>
          </a:p>
          <a:p>
            <a:r>
              <a:rPr lang="en-US" sz="2400" dirty="0" smtClean="0"/>
              <a:t>{ 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321A00"/>
                </a:solidFill>
              </a:rPr>
              <a:t>0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Time and tide wait for none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     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321A00"/>
                </a:solidFill>
              </a:rPr>
              <a:t>1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The pen is mightier than the sword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	      </a:t>
            </a:r>
            <a:r>
              <a:rPr lang="en-US" sz="2400" dirty="0" smtClean="0">
                <a:solidFill>
                  <a:srgbClr val="C00000"/>
                </a:solidFill>
              </a:rPr>
              <a:t>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default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</a:t>
            </a:r>
            <a:r>
              <a:rPr lang="en-US" sz="2400" dirty="0" smtClean="0"/>
              <a:t>“</a:t>
            </a:r>
            <a:r>
              <a:rPr lang="en-US" sz="2400" dirty="0" smtClean="0">
                <a:solidFill>
                  <a:srgbClr val="0070C0"/>
                </a:solidFill>
              </a:rPr>
              <a:t>Where there is a will, there is a way.</a:t>
            </a:r>
            <a:r>
              <a:rPr lang="en-US" sz="2400" dirty="0" smtClean="0"/>
              <a:t>”; </a:t>
            </a:r>
          </a:p>
          <a:p>
            <a:r>
              <a:rPr lang="en-US" sz="2400" dirty="0" smtClean="0"/>
              <a:t>}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05400" y="1278850"/>
            <a:ext cx="3573351" cy="1200329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What if the value of x = 2?</a:t>
            </a:r>
          </a:p>
        </p:txBody>
      </p:sp>
      <p:sp>
        <p:nvSpPr>
          <p:cNvPr id="20" name="Oval Callout 19"/>
          <p:cNvSpPr/>
          <p:nvPr/>
        </p:nvSpPr>
        <p:spPr>
          <a:xfrm>
            <a:off x="2819400" y="3479018"/>
            <a:ext cx="3070538" cy="899803"/>
          </a:xfrm>
          <a:prstGeom prst="wedgeEllipseCallout">
            <a:avLst>
              <a:gd name="adj1" fmla="val -63784"/>
              <a:gd name="adj2" fmla="val 5510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b="1" i="1" dirty="0" smtClean="0">
                <a:solidFill>
                  <a:srgbClr val="C00000"/>
                </a:solidFill>
              </a:rPr>
              <a:t>break</a:t>
            </a:r>
            <a:r>
              <a:rPr lang="en-US" sz="2000" dirty="0" smtClean="0"/>
              <a:t> is optional with </a:t>
            </a:r>
            <a:r>
              <a:rPr lang="en-US" sz="2000" b="1" dirty="0" smtClean="0"/>
              <a:t>default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542372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85482"/>
            <a:ext cx="868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switch Statement - </a:t>
            </a:r>
            <a:r>
              <a:rPr lang="en-US" sz="4000" b="1" dirty="0" smtClean="0">
                <a:solidFill>
                  <a:srgbClr val="0070C0"/>
                </a:solidFill>
              </a:rPr>
              <a:t>default</a:t>
            </a:r>
            <a:endParaRPr lang="en-US" sz="4000" b="1" dirty="0">
              <a:solidFill>
                <a:srgbClr val="F79646">
                  <a:lumMod val="75000"/>
                </a:srgbClr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838200" y="1253092"/>
            <a:ext cx="7419843" cy="4154984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switch</a:t>
            </a:r>
            <a:r>
              <a:rPr lang="en-US" sz="2400" dirty="0"/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rgbClr val="00B050"/>
                </a:solidFill>
              </a:rPr>
              <a:t>x</a:t>
            </a:r>
            <a:r>
              <a:rPr lang="en-US" sz="2400" dirty="0" smtClean="0"/>
              <a:t>) </a:t>
            </a:r>
          </a:p>
          <a:p>
            <a:r>
              <a:rPr lang="en-US" sz="2400" dirty="0" smtClean="0"/>
              <a:t>{ </a:t>
            </a:r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 smtClean="0">
                <a:solidFill>
                  <a:srgbClr val="321A00"/>
                </a:solidFill>
              </a:rPr>
              <a:t>0</a:t>
            </a:r>
            <a:r>
              <a:rPr lang="en-US" sz="2400" dirty="0" smtClean="0"/>
              <a:t>:</a:t>
            </a:r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Time and tide wait for none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</a:t>
            </a:r>
          </a:p>
          <a:p>
            <a:pPr lvl="1"/>
            <a:r>
              <a:rPr lang="en-US" sz="2400" dirty="0">
                <a:solidFill>
                  <a:srgbClr val="C00000"/>
                </a:solidFill>
              </a:rPr>
              <a:t>	 </a:t>
            </a:r>
            <a:r>
              <a:rPr lang="en-US" sz="2400" dirty="0" smtClean="0">
                <a:solidFill>
                  <a:srgbClr val="C00000"/>
                </a:solidFill>
              </a:rPr>
              <a:t>     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case</a:t>
            </a:r>
            <a:r>
              <a:rPr lang="en-US" sz="2400" dirty="0" smtClean="0"/>
              <a:t> </a:t>
            </a:r>
            <a:r>
              <a:rPr lang="en-US" sz="2400" b="1" dirty="0">
                <a:solidFill>
                  <a:srgbClr val="321A00"/>
                </a:solidFill>
              </a:rPr>
              <a:t>1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“</a:t>
            </a:r>
            <a:r>
              <a:rPr lang="en-US" sz="2400" dirty="0">
                <a:solidFill>
                  <a:srgbClr val="0070C0"/>
                </a:solidFill>
              </a:rPr>
              <a:t>The pen is mightier than the sword</a:t>
            </a:r>
            <a:r>
              <a:rPr lang="en-US" sz="2400" dirty="0" smtClean="0">
                <a:solidFill>
                  <a:srgbClr val="0070C0"/>
                </a:solidFill>
              </a:rPr>
              <a:t>.</a:t>
            </a:r>
            <a:r>
              <a:rPr lang="en-US" sz="2400" dirty="0" smtClean="0"/>
              <a:t>”; 	      </a:t>
            </a:r>
            <a:r>
              <a:rPr lang="en-US" sz="2400" dirty="0" smtClean="0">
                <a:solidFill>
                  <a:srgbClr val="C00000"/>
                </a:solidFill>
              </a:rPr>
              <a:t>break</a:t>
            </a:r>
            <a:r>
              <a:rPr lang="en-US" sz="2400" dirty="0"/>
              <a:t>; </a:t>
            </a:r>
            <a:endParaRPr lang="en-US" sz="2400" dirty="0" smtClean="0"/>
          </a:p>
          <a:p>
            <a:pPr lvl="1"/>
            <a:r>
              <a:rPr lang="en-US" sz="2400" dirty="0" smtClean="0">
                <a:solidFill>
                  <a:srgbClr val="C00000"/>
                </a:solidFill>
              </a:rPr>
              <a:t>default</a:t>
            </a:r>
            <a:r>
              <a:rPr lang="en-US" sz="2400" dirty="0"/>
              <a:t>: </a:t>
            </a:r>
            <a:endParaRPr lang="en-US" sz="2400" dirty="0" smtClean="0"/>
          </a:p>
          <a:p>
            <a:pPr lvl="1"/>
            <a:r>
              <a:rPr lang="en-US" sz="2400" dirty="0"/>
              <a:t>	 </a:t>
            </a:r>
            <a:r>
              <a:rPr lang="en-US" sz="2400" dirty="0" smtClean="0"/>
              <a:t>      </a:t>
            </a:r>
            <a:r>
              <a:rPr lang="en-US" sz="2400" dirty="0" err="1" smtClean="0"/>
              <a:t>cout</a:t>
            </a:r>
            <a:r>
              <a:rPr lang="en-US" sz="2400" dirty="0" smtClean="0"/>
              <a:t> </a:t>
            </a:r>
            <a:r>
              <a:rPr lang="en-US" sz="2400" dirty="0"/>
              <a:t>&lt;&lt; </a:t>
            </a:r>
            <a:r>
              <a:rPr lang="en-US" sz="2400" dirty="0" smtClean="0"/>
              <a:t>“</a:t>
            </a:r>
            <a:r>
              <a:rPr lang="en-US" sz="2400" dirty="0" smtClean="0">
                <a:solidFill>
                  <a:srgbClr val="0070C0"/>
                </a:solidFill>
              </a:rPr>
              <a:t>Where there is a will, there is a way.</a:t>
            </a:r>
            <a:r>
              <a:rPr lang="en-US" sz="2400" dirty="0" smtClean="0"/>
              <a:t>”; </a:t>
            </a:r>
          </a:p>
          <a:p>
            <a:r>
              <a:rPr lang="en-US" sz="2400" dirty="0" smtClean="0"/>
              <a:t>}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05400" y="1278850"/>
            <a:ext cx="3573351" cy="1200329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600" dirty="0" smtClean="0">
                <a:solidFill>
                  <a:srgbClr val="C00000"/>
                </a:solidFill>
              </a:rPr>
              <a:t>What if the value of x = 2?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26363" y="3330584"/>
            <a:ext cx="6029325" cy="243852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Although the </a:t>
            </a:r>
            <a:r>
              <a:rPr lang="en-US" sz="2800" b="1" i="1" dirty="0">
                <a:solidFill>
                  <a:schemeClr val="bg1"/>
                </a:solidFill>
              </a:rPr>
              <a:t>case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>
                <a:solidFill>
                  <a:schemeClr val="tx1"/>
                </a:solidFill>
              </a:rPr>
              <a:t>clauses and the </a:t>
            </a:r>
            <a:r>
              <a:rPr lang="en-US" sz="2800" b="1" i="1" dirty="0">
                <a:solidFill>
                  <a:schemeClr val="bg1"/>
                </a:solidFill>
              </a:rPr>
              <a:t>default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b="1" dirty="0" smtClean="0">
                <a:solidFill>
                  <a:schemeClr val="tx1"/>
                </a:solidFill>
              </a:rPr>
              <a:t>clause </a:t>
            </a:r>
            <a:r>
              <a:rPr lang="en-US" sz="2800" b="1" dirty="0">
                <a:solidFill>
                  <a:schemeClr val="tx1"/>
                </a:solidFill>
              </a:rPr>
              <a:t>in a </a:t>
            </a:r>
            <a:r>
              <a:rPr lang="en-US" sz="2800" b="1" dirty="0" smtClean="0">
                <a:solidFill>
                  <a:schemeClr val="tx1"/>
                </a:solidFill>
              </a:rPr>
              <a:t>switch statement </a:t>
            </a:r>
            <a:r>
              <a:rPr lang="en-US" sz="2800" b="1" i="1" dirty="0" smtClean="0">
                <a:solidFill>
                  <a:schemeClr val="bg1"/>
                </a:solidFill>
              </a:rPr>
              <a:t>can </a:t>
            </a:r>
            <a:r>
              <a:rPr lang="en-US" sz="2800" b="1" i="1" dirty="0">
                <a:solidFill>
                  <a:schemeClr val="bg1"/>
                </a:solidFill>
              </a:rPr>
              <a:t>occur in any order</a:t>
            </a:r>
            <a:r>
              <a:rPr lang="en-US" sz="2800" b="1" dirty="0">
                <a:solidFill>
                  <a:schemeClr val="tx1"/>
                </a:solidFill>
              </a:rPr>
              <a:t>, it’s common practice to </a:t>
            </a:r>
            <a:r>
              <a:rPr lang="en-US" sz="2800" b="1" dirty="0" smtClean="0">
                <a:solidFill>
                  <a:schemeClr val="tx1"/>
                </a:solidFill>
              </a:rPr>
              <a:t>place</a:t>
            </a:r>
          </a:p>
          <a:p>
            <a:pPr algn="ctr"/>
            <a:r>
              <a:rPr lang="en-US" sz="2800" b="1" i="1" dirty="0">
                <a:solidFill>
                  <a:schemeClr val="bg1"/>
                </a:solidFill>
              </a:rPr>
              <a:t> the default clause last</a:t>
            </a:r>
            <a:r>
              <a:rPr lang="en-US" sz="2800" b="1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372478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/>
              <a:t>A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switch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/>
              <a:t>statement can have an </a:t>
            </a:r>
            <a:r>
              <a:rPr lang="en-US" b="1" i="1" dirty="0">
                <a:solidFill>
                  <a:srgbClr val="C00000"/>
                </a:solidFill>
              </a:rPr>
              <a:t>optional</a:t>
            </a:r>
            <a:r>
              <a:rPr lang="en-US" dirty="0">
                <a:solidFill>
                  <a:srgbClr val="C00000"/>
                </a:solidFill>
              </a:rPr>
              <a:t> </a:t>
            </a:r>
            <a:r>
              <a:rPr lang="en-US" b="1" i="1" dirty="0">
                <a:solidFill>
                  <a:srgbClr val="0070C0"/>
                </a:solidFill>
                <a:latin typeface="Courier New" pitchFamily="49" charset="0"/>
              </a:rPr>
              <a:t>default case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/>
              <a:t>The default case has no associated value and simply uses the reserved word </a:t>
            </a:r>
            <a:r>
              <a:rPr lang="en-US" b="1" dirty="0">
                <a:solidFill>
                  <a:srgbClr val="0070C0"/>
                </a:solidFill>
                <a:latin typeface="Courier New" pitchFamily="49" charset="0"/>
              </a:rPr>
              <a:t>default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/>
              <a:t>If the default case is present, control will transfer to it </a:t>
            </a:r>
            <a:r>
              <a:rPr lang="en-US" i="1" dirty="0"/>
              <a:t>if no other case value matches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/>
              <a:t>If there is </a:t>
            </a:r>
            <a:r>
              <a:rPr lang="en-US" b="1" i="1" dirty="0"/>
              <a:t>no default case</a:t>
            </a:r>
            <a:r>
              <a:rPr lang="en-US" dirty="0"/>
              <a:t>, and no other value matches, control falls through to the statement after the switch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28600" y="285482"/>
            <a:ext cx="8686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switch 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Statement </a:t>
            </a:r>
            <a:r>
              <a:rPr lang="en-US" sz="4400" b="1" dirty="0" smtClean="0">
                <a:solidFill>
                  <a:srgbClr val="F79646">
                    <a:lumMod val="75000"/>
                  </a:srgbClr>
                </a:solidFill>
              </a:rPr>
              <a:t>– </a:t>
            </a:r>
            <a:r>
              <a:rPr lang="en-US" sz="4000" b="1" dirty="0" smtClean="0">
                <a:solidFill>
                  <a:srgbClr val="0070C0"/>
                </a:solidFill>
              </a:rPr>
              <a:t>default</a:t>
            </a:r>
            <a:endParaRPr lang="en-US" sz="4000" b="1" dirty="0">
              <a:solidFill>
                <a:srgbClr val="0070C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44963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/>
              <a:t>The expression provided in the switch should result in a constant value otherwise it would not be </a:t>
            </a:r>
            <a:r>
              <a:rPr lang="en-US" dirty="0" smtClean="0"/>
              <a:t>valid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8548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Important 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Points 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- 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Switch Case 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Statements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33029"/>
            <a:ext cx="4400550" cy="202796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6225" y="4560993"/>
            <a:ext cx="4343400" cy="1768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1492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524001"/>
            <a:ext cx="8458200" cy="3352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/>
              <a:t>Duplicate case values are not allowed.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default</a:t>
            </a:r>
            <a:r>
              <a:rPr lang="en-US" dirty="0"/>
              <a:t> statement is </a:t>
            </a:r>
            <a:r>
              <a:rPr lang="en-US" dirty="0">
                <a:solidFill>
                  <a:srgbClr val="C00000"/>
                </a:solidFill>
              </a:rPr>
              <a:t>optional</a:t>
            </a:r>
            <a:r>
              <a:rPr lang="en-US" dirty="0"/>
              <a:t>. Even if the switch case statement do not have a default statement, it would run without any problem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8548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Important 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Points 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- 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Switch Case 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Statements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102394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278851"/>
            <a:ext cx="8458200" cy="5271372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break</a:t>
            </a:r>
            <a:r>
              <a:rPr lang="en-US" dirty="0"/>
              <a:t> statement is used inside the switch to terminate a statement sequence. When a break statement is reached, the switch terminates, and the flow of control jumps to the next line following the switch statement.</a:t>
            </a:r>
          </a:p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break</a:t>
            </a:r>
            <a:r>
              <a:rPr lang="en-US" dirty="0"/>
              <a:t> statement is </a:t>
            </a:r>
            <a:r>
              <a:rPr lang="en-US" dirty="0">
                <a:solidFill>
                  <a:srgbClr val="C00000"/>
                </a:solidFill>
              </a:rPr>
              <a:t>optional</a:t>
            </a:r>
            <a:r>
              <a:rPr lang="en-US" dirty="0"/>
              <a:t>. If omitted, execution will continue on into the next case. The flow of control will fall through to subsequent cases until a break is reached.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8548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Important 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Points 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- 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Switch Case 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Statements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4771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8600" y="1600199"/>
            <a:ext cx="8458200" cy="495002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Bef>
                <a:spcPct val="75000"/>
              </a:spcBef>
            </a:pPr>
            <a:r>
              <a:rPr lang="en-US" dirty="0">
                <a:solidFill>
                  <a:srgbClr val="C00000"/>
                </a:solidFill>
              </a:rPr>
              <a:t>Nesting of switch statements </a:t>
            </a:r>
            <a:r>
              <a:rPr lang="en-US" dirty="0"/>
              <a:t>are allowed, which means you can have switch statements inside another switch. </a:t>
            </a:r>
            <a:endParaRPr lang="en-US" dirty="0" smtClean="0"/>
          </a:p>
          <a:p>
            <a:pPr lvl="1">
              <a:lnSpc>
                <a:spcPct val="90000"/>
              </a:lnSpc>
              <a:spcBef>
                <a:spcPct val="75000"/>
              </a:spcBef>
            </a:pPr>
            <a:r>
              <a:rPr lang="en-US" dirty="0" smtClean="0"/>
              <a:t>However </a:t>
            </a:r>
            <a:r>
              <a:rPr lang="en-US" dirty="0"/>
              <a:t>nested switch statements should be avoided as it makes program more complex and less readable.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285482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Important 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Points 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- </a:t>
            </a:r>
            <a:r>
              <a:rPr lang="en-US" sz="4000" b="1" dirty="0">
                <a:solidFill>
                  <a:srgbClr val="F79646">
                    <a:lumMod val="75000"/>
                  </a:srgbClr>
                </a:solidFill>
              </a:rPr>
              <a:t>Switch Case </a:t>
            </a:r>
            <a:r>
              <a:rPr lang="en-US" sz="4000" b="1" dirty="0" smtClean="0">
                <a:solidFill>
                  <a:srgbClr val="F79646">
                    <a:lumMod val="75000"/>
                  </a:srgbClr>
                </a:solidFill>
              </a:rPr>
              <a:t>Statements</a:t>
            </a:r>
            <a:endParaRPr lang="en-US" sz="4000" b="1" dirty="0">
              <a:solidFill>
                <a:srgbClr val="0070C0"/>
              </a:solidFill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9" name="Rectangle 8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25562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algn="ctr" fontAlgn="base">
              <a:spcBef>
                <a:spcPct val="50000"/>
              </a:spcBef>
              <a:spcAft>
                <a:spcPct val="0"/>
              </a:spcAft>
            </a:pPr>
            <a:endParaRPr lang="en-US" sz="1600" b="1" smtClean="0">
              <a:solidFill>
                <a:srgbClr val="000000"/>
              </a:solidFill>
              <a:latin typeface="Helvetica" pitchFamily="34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A63417-AE59-40AD-B7C0-A3CE22D2C5E6}" type="slidenum">
              <a:rPr lang="en-US" smtClean="0">
                <a:solidFill>
                  <a:srgbClr val="000000"/>
                </a:solidFill>
              </a:rPr>
              <a:pPr/>
              <a:t>40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23950"/>
            <a:ext cx="82296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78796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2"/>
          <p:cNvSpPr>
            <a:spLocks noGrp="1"/>
          </p:cNvSpPr>
          <p:nvPr>
            <p:ph type="title"/>
          </p:nvPr>
        </p:nvSpPr>
        <p:spPr>
          <a:xfrm>
            <a:off x="862885" y="239653"/>
            <a:ext cx="7772400" cy="639762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  <a:cs typeface="+mn-cs"/>
              </a:rPr>
              <a:t>Examples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1000" y="872976"/>
            <a:ext cx="8001000" cy="6001643"/>
          </a:xfrm>
          <a:prstGeom prst="rect">
            <a:avLst/>
          </a:prstGeom>
          <a:solidFill>
            <a:schemeClr val="bg1">
              <a:lumMod val="85000"/>
              <a:alpha val="3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8000FF"/>
                </a:solidFill>
                <a:latin typeface="Courier New" panose="02070309020205020404" pitchFamily="49" charset="0"/>
              </a:rPr>
              <a:t>char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grade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"Enter grade"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&gt;&gt;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grade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endParaRPr lang="en-US" sz="16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switch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grade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'A'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"Great job!!"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'B'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"Good job"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'C'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"Satisfactory job"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'D'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"Hmmm ... need to work a little harder"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Courier New" panose="02070309020205020404" pitchFamily="49" charset="0"/>
              </a:rPr>
              <a:t>'F'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"Sorry, you failed the class"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default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"The letter you typed "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grade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1"/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	 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   </a:t>
            </a:r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16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" is not a </a:t>
            </a:r>
            <a:r>
              <a:rPr lang="en-US" sz="16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valid grade</a:t>
            </a:r>
            <a:r>
              <a:rPr lang="en-US" sz="1600" b="1" dirty="0">
                <a:solidFill>
                  <a:srgbClr val="FF0000"/>
                </a:solidFill>
                <a:latin typeface="Courier New" panose="02070309020205020404" pitchFamily="49" charset="0"/>
              </a:rPr>
              <a:t>"</a:t>
            </a:r>
            <a:r>
              <a:rPr lang="en-US" sz="16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sz="16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endParaRPr lang="en-US" sz="1600" b="1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984823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229600" cy="487363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b="1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  <a:cs typeface="+mn-cs"/>
              </a:rPr>
              <a:t>Examples</a:t>
            </a:r>
            <a:r>
              <a:rPr lang="en-US" sz="3200" dirty="0" smtClean="0"/>
              <a:t>:</a:t>
            </a:r>
            <a:endParaRPr lang="en-US" sz="3200" dirty="0"/>
          </a:p>
        </p:txBody>
      </p:sp>
      <p:sp>
        <p:nvSpPr>
          <p:cNvPr id="10243" name="Text Box 4"/>
          <p:cNvSpPr txBox="1">
            <a:spLocks noChangeArrowheads="1"/>
          </p:cNvSpPr>
          <p:nvPr/>
        </p:nvSpPr>
        <p:spPr bwMode="auto">
          <a:xfrm>
            <a:off x="762000" y="569912"/>
            <a:ext cx="8001000" cy="600164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#include &lt;</a:t>
            </a:r>
            <a:r>
              <a:rPr lang="en-US" sz="1600" b="1" dirty="0" err="1">
                <a:solidFill>
                  <a:srgbClr val="000000"/>
                </a:solidFill>
                <a:cs typeface="Arial" charset="0"/>
              </a:rPr>
              <a:t>iostream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&gt;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using namespace std;</a:t>
            </a:r>
          </a:p>
          <a:p>
            <a:pPr eaLnBrk="0" hangingPunct="0"/>
            <a:endParaRPr lang="en-US" sz="1600" b="1" dirty="0">
              <a:solidFill>
                <a:srgbClr val="000000"/>
              </a:solidFill>
              <a:cs typeface="Arial" charset="0"/>
            </a:endParaRPr>
          </a:p>
          <a:p>
            <a:pPr eaLnBrk="0" hangingPunct="0"/>
            <a:r>
              <a:rPr lang="en-US" sz="1600" b="1" dirty="0" err="1">
                <a:solidFill>
                  <a:srgbClr val="000000"/>
                </a:solidFill>
                <a:cs typeface="Arial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main() {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</a:t>
            </a:r>
            <a:endParaRPr lang="en-US" sz="1600" b="1" dirty="0" smtClean="0">
              <a:solidFill>
                <a:srgbClr val="000000"/>
              </a:solidFill>
              <a:cs typeface="Arial" charset="0"/>
            </a:endParaRPr>
          </a:p>
          <a:p>
            <a:pPr eaLnBrk="0" hangingPunct="0"/>
            <a:r>
              <a:rPr lang="en-US" sz="1600" b="1" dirty="0" smtClean="0">
                <a:solidFill>
                  <a:srgbClr val="000000"/>
                </a:solidFill>
                <a:cs typeface="Arial" charset="0"/>
              </a:rPr>
              <a:t>    </a:t>
            </a:r>
            <a:r>
              <a:rPr lang="en-US" sz="1600" b="1" dirty="0" err="1">
                <a:solidFill>
                  <a:srgbClr val="000000"/>
                </a:solidFill>
                <a:cs typeface="Arial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operand1 = 0, operand2 = 0, result=0;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char </a:t>
            </a:r>
            <a:r>
              <a:rPr lang="en-US" sz="1600" b="1" dirty="0" smtClean="0">
                <a:solidFill>
                  <a:srgbClr val="000000"/>
                </a:solidFill>
                <a:cs typeface="Arial" charset="0"/>
              </a:rPr>
              <a:t>op= 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‘ ‘;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</a:t>
            </a:r>
            <a:r>
              <a:rPr lang="en-US" sz="1600" b="1" dirty="0" err="1">
                <a:solidFill>
                  <a:srgbClr val="000000"/>
                </a:solidFill>
                <a:cs typeface="Arial" charset="0"/>
              </a:rPr>
              <a:t>cout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&lt;&lt; “Please enter expression (num </a:t>
            </a:r>
            <a:r>
              <a:rPr lang="en-US" sz="1600" b="1" dirty="0" smtClean="0">
                <a:solidFill>
                  <a:srgbClr val="000000"/>
                </a:solidFill>
                <a:cs typeface="Arial" charset="0"/>
              </a:rPr>
              <a:t>op 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num) ? “;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</a:t>
            </a:r>
            <a:r>
              <a:rPr lang="en-US" sz="1600" b="1" dirty="0" err="1">
                <a:solidFill>
                  <a:srgbClr val="000000"/>
                </a:solidFill>
                <a:cs typeface="Arial" charset="0"/>
              </a:rPr>
              <a:t>cin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&gt;&gt; operand1 &gt;&gt; </a:t>
            </a:r>
            <a:r>
              <a:rPr lang="en-US" sz="1600" b="1" dirty="0" smtClean="0">
                <a:solidFill>
                  <a:srgbClr val="000000"/>
                </a:solidFill>
                <a:cs typeface="Arial" charset="0"/>
              </a:rPr>
              <a:t>op 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&gt;&gt; operand2;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</a:t>
            </a:r>
            <a:endParaRPr lang="en-US" sz="1600" b="1" dirty="0" smtClean="0">
              <a:solidFill>
                <a:srgbClr val="000000"/>
              </a:solidFill>
              <a:cs typeface="Arial" charset="0"/>
            </a:endParaRPr>
          </a:p>
          <a:p>
            <a:pPr eaLnBrk="0" hangingPunct="0"/>
            <a:r>
              <a:rPr lang="en-US" sz="1600" b="1" dirty="0" smtClean="0">
                <a:solidFill>
                  <a:srgbClr val="000000"/>
                </a:solidFill>
                <a:cs typeface="Arial" charset="0"/>
              </a:rPr>
              <a:t>    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switch (</a:t>
            </a:r>
            <a:r>
              <a:rPr lang="en-US" sz="1600" b="1" dirty="0" smtClean="0">
                <a:solidFill>
                  <a:srgbClr val="000000"/>
                </a:solidFill>
                <a:cs typeface="Arial" charset="0"/>
              </a:rPr>
              <a:t>op) 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{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    case ‘+’: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        result = operand1 + operand2;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        break;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    case ‘-’: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        result = operand1 - operand2;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        break;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     </a:t>
            </a:r>
            <a:r>
              <a:rPr lang="en-US" sz="1600" b="1" dirty="0">
                <a:solidFill>
                  <a:srgbClr val="3333CC"/>
                </a:solidFill>
                <a:cs typeface="Arial" charset="0"/>
              </a:rPr>
              <a:t>// other cases left off for room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    default: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        </a:t>
            </a:r>
            <a:r>
              <a:rPr lang="en-US" sz="1600" b="1" dirty="0" err="1">
                <a:solidFill>
                  <a:srgbClr val="000000"/>
                </a:solidFill>
                <a:cs typeface="Arial" charset="0"/>
              </a:rPr>
              <a:t>cout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&lt;&lt; “Did not recognize operator” &lt;&lt; </a:t>
            </a:r>
            <a:r>
              <a:rPr lang="en-US" sz="1600" b="1" dirty="0" err="1">
                <a:solidFill>
                  <a:srgbClr val="000000"/>
                </a:solidFill>
                <a:cs typeface="Arial" charset="0"/>
              </a:rPr>
              <a:t>endl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}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</a:t>
            </a:r>
            <a:r>
              <a:rPr lang="en-US" sz="1600" b="1" dirty="0" err="1">
                <a:solidFill>
                  <a:srgbClr val="000000"/>
                </a:solidFill>
                <a:cs typeface="Arial" charset="0"/>
              </a:rPr>
              <a:t>cout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&lt;&lt; operand1 &lt;&lt; “ “ &lt;&lt; </a:t>
            </a:r>
            <a:r>
              <a:rPr lang="en-US" sz="1600" b="1" dirty="0" smtClean="0">
                <a:solidFill>
                  <a:srgbClr val="000000"/>
                </a:solidFill>
                <a:cs typeface="Arial" charset="0"/>
              </a:rPr>
              <a:t>op&lt;&lt; 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“ “ &lt;&lt;</a:t>
            </a:r>
            <a:r>
              <a:rPr lang="en-US" sz="1600" b="1" dirty="0" smtClean="0">
                <a:solidFill>
                  <a:srgbClr val="000000"/>
                </a:solidFill>
                <a:cs typeface="Arial" charset="0"/>
              </a:rPr>
              <a:t>operand2  &lt;&lt; </a:t>
            </a:r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“ = “ &lt;&lt; result &lt;&lt; endl;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    return 0;</a:t>
            </a:r>
          </a:p>
          <a:p>
            <a:pPr eaLnBrk="0" hangingPunct="0"/>
            <a:r>
              <a:rPr lang="en-US" sz="1600" b="1" dirty="0">
                <a:solidFill>
                  <a:srgbClr val="000000"/>
                </a:solidFill>
                <a:cs typeface="Arial" charset="0"/>
              </a:rPr>
              <a:t>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25021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563562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  <a:cs typeface="+mn-cs"/>
              </a:rPr>
              <a:t>Examples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228600" y="990600"/>
            <a:ext cx="4267200" cy="4876800"/>
          </a:xfrm>
          <a:ln>
            <a:solidFill>
              <a:srgbClr val="00B0F0"/>
            </a:solidFill>
          </a:ln>
        </p:spPr>
        <p:txBody>
          <a:bodyPr>
            <a:normAutofit fontScale="92500" lnSpcReduction="20000"/>
          </a:bodyPr>
          <a:lstStyle/>
          <a:p>
            <a:pPr>
              <a:buFont typeface="Wingdings 2" pitchFamily="18" charset="2"/>
              <a:buNone/>
            </a:pPr>
            <a:endParaRPr lang="en-US" dirty="0" smtClean="0"/>
          </a:p>
          <a:p>
            <a:pPr>
              <a:buFont typeface="Wingdings 2" pitchFamily="18" charset="2"/>
              <a:buNone/>
            </a:pPr>
            <a:r>
              <a:rPr lang="en-US" sz="2200" b="1" dirty="0" err="1">
                <a:solidFill>
                  <a:srgbClr val="000000"/>
                </a:solidFill>
                <a:latin typeface="Perpetua" pitchFamily="18" charset="0"/>
              </a:rPr>
              <a:t>int</a:t>
            </a: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x, y;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 err="1">
                <a:solidFill>
                  <a:srgbClr val="000000"/>
                </a:solidFill>
                <a:latin typeface="Perpetua" pitchFamily="18" charset="0"/>
              </a:rPr>
              <a:t>cin</a:t>
            </a: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&gt;&gt;x&gt;&gt;y;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switch (x&gt;y) {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  case </a:t>
            </a:r>
            <a:r>
              <a:rPr lang="en-US" sz="2200" b="1" dirty="0">
                <a:solidFill>
                  <a:srgbClr val="FF0000"/>
                </a:solidFill>
                <a:latin typeface="Perpetua" pitchFamily="18" charset="0"/>
              </a:rPr>
              <a:t>0</a:t>
            </a: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: 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          </a:t>
            </a:r>
            <a:r>
              <a:rPr lang="en-US" sz="2200" b="1" dirty="0" err="1">
                <a:solidFill>
                  <a:srgbClr val="000000"/>
                </a:solidFill>
                <a:latin typeface="Perpetua" pitchFamily="18" charset="0"/>
              </a:rPr>
              <a:t>cout</a:t>
            </a: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&lt;&lt;“x is </a:t>
            </a:r>
            <a:r>
              <a:rPr lang="en-US" sz="2200" b="1" dirty="0" smtClean="0">
                <a:solidFill>
                  <a:srgbClr val="000000"/>
                </a:solidFill>
                <a:latin typeface="Perpetua" pitchFamily="18" charset="0"/>
              </a:rPr>
              <a:t>no </a:t>
            </a: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greater than y”;   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           break;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  case </a:t>
            </a:r>
            <a:r>
              <a:rPr lang="en-US" sz="2200" b="1" dirty="0">
                <a:solidFill>
                  <a:srgbClr val="FF0000"/>
                </a:solidFill>
                <a:latin typeface="Perpetua" pitchFamily="18" charset="0"/>
              </a:rPr>
              <a:t>1</a:t>
            </a: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: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           </a:t>
            </a:r>
            <a:r>
              <a:rPr lang="en-US" sz="2200" b="1" dirty="0" err="1">
                <a:solidFill>
                  <a:srgbClr val="000000"/>
                </a:solidFill>
                <a:latin typeface="Perpetua" pitchFamily="18" charset="0"/>
              </a:rPr>
              <a:t>cout</a:t>
            </a: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&lt;&lt;“ x is greater than y”;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           break;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   default:</a:t>
            </a:r>
          </a:p>
          <a:p>
            <a:pPr>
              <a:buFont typeface="Wingdings 2" pitchFamily="18" charset="2"/>
              <a:buNone/>
            </a:pPr>
            <a:r>
              <a:rPr lang="en-US" sz="2200" b="1" dirty="0">
                <a:solidFill>
                  <a:srgbClr val="000000"/>
                </a:solidFill>
                <a:latin typeface="Perpetua" pitchFamily="18" charset="0"/>
              </a:rPr>
              <a:t>}</a:t>
            </a:r>
          </a:p>
          <a:p>
            <a:pPr>
              <a:buFont typeface="Wingdings 2" pitchFamily="18" charset="2"/>
              <a:buNone/>
            </a:pPr>
            <a:r>
              <a:rPr lang="en-US" dirty="0" smtClean="0"/>
              <a:t>          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648200" y="990600"/>
            <a:ext cx="4343400" cy="5029200"/>
          </a:xfrm>
          <a:prstGeom prst="rect">
            <a:avLst/>
          </a:prstGeom>
          <a:noFill/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/>
          <a:lstStyle/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endParaRPr lang="en-US" sz="2600" dirty="0">
              <a:solidFill>
                <a:srgbClr val="000000"/>
              </a:solidFill>
              <a:latin typeface="Perpetua" pitchFamily="18" charset="0"/>
            </a:endParaRP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 err="1">
                <a:solidFill>
                  <a:srgbClr val="000000"/>
                </a:solidFill>
                <a:latin typeface="Perpetua" pitchFamily="18" charset="0"/>
              </a:rPr>
              <a:t>int</a:t>
            </a: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 x, y;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 err="1">
                <a:solidFill>
                  <a:srgbClr val="000000"/>
                </a:solidFill>
                <a:latin typeface="Perpetua" pitchFamily="18" charset="0"/>
              </a:rPr>
              <a:t>cin</a:t>
            </a: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&gt;&gt;x&gt;&gt;y;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 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switch (x&gt;y) {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   case </a:t>
            </a:r>
            <a:r>
              <a:rPr lang="en-US" sz="2000" b="1" dirty="0">
                <a:solidFill>
                  <a:srgbClr val="FF0000"/>
                </a:solidFill>
                <a:latin typeface="Perpetua" pitchFamily="18" charset="0"/>
              </a:rPr>
              <a:t>false</a:t>
            </a: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: 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           </a:t>
            </a:r>
            <a:r>
              <a:rPr lang="en-US" sz="2000" b="1" dirty="0" err="1">
                <a:solidFill>
                  <a:srgbClr val="000000"/>
                </a:solidFill>
                <a:latin typeface="Perpetua" pitchFamily="18" charset="0"/>
              </a:rPr>
              <a:t>cout</a:t>
            </a: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&lt;&lt;“x is no greater than y”;   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            break;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   case </a:t>
            </a:r>
            <a:r>
              <a:rPr lang="en-US" sz="2000" b="1" dirty="0">
                <a:solidFill>
                  <a:srgbClr val="FF0000"/>
                </a:solidFill>
                <a:latin typeface="Perpetua" pitchFamily="18" charset="0"/>
              </a:rPr>
              <a:t>true</a:t>
            </a: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: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            </a:t>
            </a:r>
            <a:r>
              <a:rPr lang="en-US" sz="2000" b="1" dirty="0" err="1">
                <a:solidFill>
                  <a:srgbClr val="000000"/>
                </a:solidFill>
                <a:latin typeface="Perpetua" pitchFamily="18" charset="0"/>
              </a:rPr>
              <a:t>cout</a:t>
            </a: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&lt;&lt;“ x is greater than y”;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            break;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   default: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000" b="1" dirty="0">
                <a:solidFill>
                  <a:srgbClr val="000000"/>
                </a:solidFill>
                <a:latin typeface="Perpetua" pitchFamily="18" charset="0"/>
              </a:rPr>
              <a:t>}</a:t>
            </a:r>
          </a:p>
          <a:p>
            <a:pPr marL="273050" indent="-273050" eaLnBrk="0" hangingPunct="0">
              <a:spcBef>
                <a:spcPts val="575"/>
              </a:spcBef>
              <a:buClr>
                <a:srgbClr val="0099FF"/>
              </a:buClr>
              <a:buSzPct val="85000"/>
              <a:buFont typeface="Wingdings 2" pitchFamily="18" charset="2"/>
              <a:buNone/>
            </a:pPr>
            <a:r>
              <a:rPr lang="en-US" sz="2600" dirty="0">
                <a:solidFill>
                  <a:srgbClr val="000000"/>
                </a:solidFill>
                <a:latin typeface="Perpetua" pitchFamily="18" charset="0"/>
              </a:rPr>
              <a:t>    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124951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533400"/>
            <a:ext cx="7924800" cy="411163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 smtClean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  <a:cs typeface="+mn-cs"/>
              </a:rPr>
              <a:t>Example</a:t>
            </a:r>
            <a:endParaRPr lang="en-US" sz="3200" dirty="0"/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381000" y="838200"/>
            <a:ext cx="8229600" cy="5715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dirty="0" smtClean="0"/>
              <a:t>….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switch (</a:t>
            </a:r>
            <a:r>
              <a:rPr lang="en-US" sz="1800" dirty="0" err="1" smtClean="0"/>
              <a:t>flight_class</a:t>
            </a:r>
            <a:r>
              <a:rPr lang="en-US" sz="1800" dirty="0" smtClean="0"/>
              <a:t>)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{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  case 3: ticket=300;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		break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  case 2: ticket=500;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		break;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  case 1: ticket=1000;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		break;</a:t>
            </a:r>
          </a:p>
          <a:p>
            <a:pPr>
              <a:buNone/>
            </a:pPr>
            <a:r>
              <a:rPr lang="en-US" sz="1800" dirty="0" smtClean="0"/>
              <a:t>  Default: </a:t>
            </a:r>
            <a:r>
              <a:rPr lang="en-US" sz="1800" dirty="0" err="1" smtClean="0"/>
              <a:t>cout</a:t>
            </a:r>
            <a:r>
              <a:rPr lang="en-US" sz="1800" dirty="0" smtClean="0"/>
              <a:t>&lt;&lt;“unknown class!”;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 }</a:t>
            </a:r>
          </a:p>
          <a:p>
            <a:pPr eaLnBrk="1" hangingPunct="1">
              <a:buFontTx/>
              <a:buNone/>
            </a:pPr>
            <a:r>
              <a:rPr lang="en-US" sz="1800" dirty="0" smtClean="0"/>
              <a:t>  </a:t>
            </a:r>
            <a:r>
              <a:rPr lang="en-US" sz="1800" dirty="0" err="1" smtClean="0"/>
              <a:t>cout</a:t>
            </a:r>
            <a:r>
              <a:rPr lang="en-US" sz="1800" dirty="0" smtClean="0"/>
              <a:t>&lt;&lt;“you need to pay: ”&lt;&lt;“\n”&lt;&lt;ticket &lt;&lt;“ dollars, thank you!”;</a:t>
            </a:r>
          </a:p>
          <a:p>
            <a:pPr eaLnBrk="1" hangingPunct="1">
              <a:buFontTx/>
              <a:buNone/>
            </a:pPr>
            <a:endParaRPr lang="en-US" sz="1800" dirty="0" smtClean="0"/>
          </a:p>
          <a:p>
            <a:pPr eaLnBrk="1" hangingPunct="1">
              <a:buFontTx/>
              <a:buNone/>
            </a:pPr>
            <a:endParaRPr lang="en-US" sz="1800" dirty="0" smtClean="0"/>
          </a:p>
          <a:p>
            <a:pPr eaLnBrk="1" hangingPunct="1">
              <a:buFontTx/>
              <a:buNone/>
            </a:pPr>
            <a:r>
              <a:rPr lang="en-US" sz="1800" dirty="0" smtClean="0"/>
              <a:t>What the third class passenger will need to pay?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500258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Autofit/>
          </a:bodyPr>
          <a:lstStyle/>
          <a:p>
            <a:r>
              <a:rPr lang="en-US" b="1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  <a:cs typeface="+mn-cs"/>
              </a:rPr>
              <a:t>Exercise</a:t>
            </a:r>
          </a:p>
        </p:txBody>
      </p:sp>
      <p:sp>
        <p:nvSpPr>
          <p:cNvPr id="13315" name="TextBox 2"/>
          <p:cNvSpPr txBox="1">
            <a:spLocks noChangeArrowheads="1"/>
          </p:cNvSpPr>
          <p:nvPr/>
        </p:nvSpPr>
        <p:spPr bwMode="auto">
          <a:xfrm>
            <a:off x="990600" y="1219200"/>
            <a:ext cx="71628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</a:rPr>
              <a:t>Convert the following segment of code to switch statement:</a:t>
            </a:r>
          </a:p>
          <a:p>
            <a:endParaRPr lang="en-US" sz="2400" dirty="0">
              <a:solidFill>
                <a:srgbClr val="000000"/>
              </a:solidFill>
            </a:endParaRPr>
          </a:p>
          <a:p>
            <a:pPr lvl="2"/>
            <a:r>
              <a:rPr lang="en-US" sz="2400" b="1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j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n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endParaRPr lang="en-US" sz="2400" b="1" dirty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j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2400" b="1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n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8000"/>
                </a:solidFill>
                <a:latin typeface="Courier New" panose="02070309020205020404" pitchFamily="49" charset="0"/>
              </a:rPr>
              <a:t>6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j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2400" b="1" dirty="0">
                <a:solidFill>
                  <a:srgbClr val="FF8000"/>
                </a:solidFill>
                <a:latin typeface="Courier New" panose="02070309020205020404" pitchFamily="49" charset="0"/>
              </a:rPr>
              <a:t>8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n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8000"/>
                </a:solidFill>
                <a:latin typeface="Courier New" panose="02070309020205020404" pitchFamily="49" charset="0"/>
              </a:rPr>
              <a:t>9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FF"/>
                </a:solidFill>
                <a:latin typeface="Courier New" panose="02070309020205020404" pitchFamily="49" charset="0"/>
              </a:rPr>
              <a:t>if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j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==</a:t>
            </a:r>
            <a:r>
              <a:rPr lang="en-US" sz="2400" b="1" dirty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n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8000"/>
                </a:solidFill>
                <a:latin typeface="Courier New" panose="02070309020205020404" pitchFamily="49" charset="0"/>
              </a:rPr>
              <a:t>8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b="1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lvl="2"/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else</a:t>
            </a:r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lvl="2"/>
            <a:r>
              <a:rPr lang="en-US" sz="2400" b="1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n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b="1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b="1" dirty="0"/>
          </a:p>
          <a:p>
            <a:endParaRPr lang="en-US" sz="2000" dirty="0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784379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  <a:cs typeface="+mn-cs"/>
              </a:rPr>
              <a:t>Exercise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99186"/>
            <a:ext cx="5613400" cy="521854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819400"/>
            <a:ext cx="2711704" cy="1295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400" y="2234625"/>
            <a:ext cx="152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Output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8" name="Rectangle 7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513414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715962"/>
          </a:xfrm>
        </p:spPr>
        <p:txBody>
          <a:bodyPr/>
          <a:lstStyle/>
          <a:p>
            <a:r>
              <a:rPr lang="en-US" sz="4000" b="1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  <a:cs typeface="+mn-cs"/>
              </a:rPr>
              <a:t>Exercise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990600"/>
            <a:ext cx="5901267" cy="57147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48399" y="2234625"/>
            <a:ext cx="17780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rgbClr val="00B050"/>
                </a:solidFill>
              </a:rPr>
              <a:t>Output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420534" y="1970670"/>
            <a:ext cx="289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c</a:t>
            </a:r>
            <a:r>
              <a:rPr lang="en-US" sz="2400" dirty="0" smtClean="0">
                <a:solidFill>
                  <a:srgbClr val="FF0000"/>
                </a:solidFill>
              </a:rPr>
              <a:t>har grade = ‘B’;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7" name="Left Arrow 6"/>
          <p:cNvSpPr/>
          <p:nvPr/>
        </p:nvSpPr>
        <p:spPr bwMode="auto">
          <a:xfrm>
            <a:off x="2125134" y="1992917"/>
            <a:ext cx="1295400" cy="356175"/>
          </a:xfrm>
          <a:prstGeom prst="lef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Helvetica" pitchFamily="34" charset="0"/>
              <a:cs typeface="Times New Roman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135" y="2992108"/>
            <a:ext cx="2523065" cy="107131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70282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867"/>
            <a:ext cx="7772400" cy="6858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  <a:cs typeface="+mn-cs"/>
              </a:rPr>
              <a:t>Nested switch statements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7157CA-6F31-448F-9280-6BF93CADDD39}" type="slidenum">
              <a:rPr lang="en-US" smtClean="0"/>
              <a:pPr/>
              <a:t>48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  <p:sp>
        <p:nvSpPr>
          <p:cNvPr id="4" name="Rectangle 3"/>
          <p:cNvSpPr/>
          <p:nvPr/>
        </p:nvSpPr>
        <p:spPr>
          <a:xfrm>
            <a:off x="1748844" y="846667"/>
            <a:ext cx="5181600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</a:rPr>
              <a:t>switch </a:t>
            </a:r>
            <a:r>
              <a:rPr lang="en-US" sz="2400" dirty="0" smtClean="0">
                <a:solidFill>
                  <a:srgbClr val="0000FF"/>
                </a:solidFill>
              </a:rPr>
              <a:t>(expression </a:t>
            </a:r>
            <a:r>
              <a:rPr lang="en-US" sz="2400" dirty="0">
                <a:solidFill>
                  <a:srgbClr val="0000FF"/>
                </a:solidFill>
              </a:rPr>
              <a:t>) </a:t>
            </a:r>
            <a:r>
              <a:rPr lang="en-US" sz="2400" dirty="0" smtClean="0">
                <a:solidFill>
                  <a:srgbClr val="0000FF"/>
                </a:solidFill>
              </a:rPr>
              <a:t> {</a:t>
            </a:r>
            <a:endParaRPr lang="en-US" sz="2400" dirty="0">
              <a:solidFill>
                <a:srgbClr val="0000FF"/>
              </a:solidFill>
            </a:endParaRP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</a:rPr>
              <a:t>	case value1: </a:t>
            </a:r>
            <a:endParaRPr lang="en-US" sz="2400" dirty="0" smtClean="0">
              <a:solidFill>
                <a:srgbClr val="0000FF"/>
              </a:solidFill>
            </a:endParaRP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</a:rPr>
              <a:t>	</a:t>
            </a:r>
            <a:r>
              <a:rPr lang="en-US" sz="2400" dirty="0" smtClean="0">
                <a:solidFill>
                  <a:srgbClr val="0000FF"/>
                </a:solidFill>
              </a:rPr>
              <a:t>	    </a:t>
            </a:r>
            <a:r>
              <a:rPr lang="en-US" sz="2400" dirty="0" smtClean="0">
                <a:solidFill>
                  <a:srgbClr val="00B050"/>
                </a:solidFill>
              </a:rPr>
              <a:t>switch (expression)  {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B050"/>
                </a:solidFill>
              </a:rPr>
              <a:t>	</a:t>
            </a:r>
            <a:r>
              <a:rPr lang="en-US" sz="2400" dirty="0" smtClean="0">
                <a:solidFill>
                  <a:srgbClr val="00B050"/>
                </a:solidFill>
              </a:rPr>
              <a:t>		case x: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B050"/>
                </a:solidFill>
              </a:rPr>
              <a:t>	</a:t>
            </a:r>
            <a:r>
              <a:rPr lang="en-US" sz="2400" dirty="0" smtClean="0">
                <a:solidFill>
                  <a:srgbClr val="00B050"/>
                </a:solidFill>
              </a:rPr>
              <a:t>		   </a:t>
            </a:r>
            <a:r>
              <a:rPr lang="en-US" sz="2400" dirty="0">
                <a:solidFill>
                  <a:srgbClr val="00B050"/>
                </a:solidFill>
              </a:rPr>
              <a:t>statements;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B050"/>
                </a:solidFill>
              </a:rPr>
              <a:t>		   </a:t>
            </a:r>
            <a:r>
              <a:rPr lang="en-US" sz="2400" dirty="0" smtClean="0">
                <a:solidFill>
                  <a:srgbClr val="00B050"/>
                </a:solidFill>
              </a:rPr>
              <a:t>            break;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B050"/>
                </a:solidFill>
              </a:rPr>
              <a:t>	</a:t>
            </a:r>
            <a:r>
              <a:rPr lang="en-US" sz="2400" dirty="0" smtClean="0">
                <a:solidFill>
                  <a:srgbClr val="00B050"/>
                </a:solidFill>
              </a:rPr>
              <a:t>	    }</a:t>
            </a:r>
            <a:endParaRPr lang="en-US" sz="2400" dirty="0">
              <a:solidFill>
                <a:srgbClr val="00B050"/>
              </a:solidFill>
            </a:endParaRP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</a:rPr>
              <a:t>		    </a:t>
            </a:r>
            <a:r>
              <a:rPr lang="en-US" sz="2400" dirty="0" smtClean="0">
                <a:solidFill>
                  <a:srgbClr val="0000FF"/>
                </a:solidFill>
              </a:rPr>
              <a:t>break</a:t>
            </a:r>
            <a:r>
              <a:rPr lang="en-US" sz="2400" dirty="0">
                <a:solidFill>
                  <a:srgbClr val="0000FF"/>
                </a:solidFill>
              </a:rPr>
              <a:t>;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</a:rPr>
              <a:t>	case value2: 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</a:rPr>
              <a:t>		    </a:t>
            </a:r>
            <a:r>
              <a:rPr lang="en-US" sz="2400" dirty="0" smtClean="0">
                <a:solidFill>
                  <a:srgbClr val="0000FF"/>
                </a:solidFill>
              </a:rPr>
              <a:t>statements; break</a:t>
            </a:r>
            <a:r>
              <a:rPr lang="en-US" sz="2400" dirty="0">
                <a:solidFill>
                  <a:srgbClr val="0000FF"/>
                </a:solidFill>
              </a:rPr>
              <a:t>;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</a:rPr>
              <a:t>	default: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</a:rPr>
              <a:t>		     statements;</a:t>
            </a:r>
          </a:p>
          <a:p>
            <a:pPr marL="742950" lvl="1" indent="-285750">
              <a:spcBef>
                <a:spcPct val="20000"/>
              </a:spcBef>
            </a:pPr>
            <a:r>
              <a:rPr lang="en-US" sz="2400" dirty="0">
                <a:solidFill>
                  <a:srgbClr val="0000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21775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3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63976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F79646">
                    <a:lumMod val="75000"/>
                  </a:srgbClr>
                </a:solidFill>
                <a:latin typeface="+mn-lt"/>
                <a:ea typeface="+mn-ea"/>
                <a:cs typeface="+mn-cs"/>
              </a:rPr>
              <a:t>Exercise:  Output?</a:t>
            </a:r>
          </a:p>
        </p:txBody>
      </p:sp>
      <p:sp>
        <p:nvSpPr>
          <p:cNvPr id="14339" name="Content Placeholder 4"/>
          <p:cNvSpPr>
            <a:spLocks noGrp="1"/>
          </p:cNvSpPr>
          <p:nvPr>
            <p:ph sz="quarter" idx="1"/>
          </p:nvPr>
        </p:nvSpPr>
        <p:spPr>
          <a:xfrm>
            <a:off x="825321" y="1042115"/>
            <a:ext cx="7772400" cy="5867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 err="1" smtClean="0">
                <a:solidFill>
                  <a:srgbClr val="8000FF"/>
                </a:solidFill>
                <a:latin typeface="Courier New" panose="02070309020205020404" pitchFamily="49" charset="0"/>
              </a:rPr>
              <a:t>int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y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FF8000"/>
                </a:solidFill>
                <a:latin typeface="Courier New" panose="02070309020205020404" pitchFamily="49" charset="0"/>
              </a:rPr>
              <a:t>2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,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z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=</a:t>
            </a:r>
            <a:r>
              <a:rPr lang="en-US" sz="2400" dirty="0">
                <a:solidFill>
                  <a:srgbClr val="FF8000"/>
                </a:solidFill>
                <a:latin typeface="Courier New" panose="02070309020205020404" pitchFamily="49" charset="0"/>
              </a:rPr>
              <a:t>3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endParaRPr lang="en-US" sz="20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switch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(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x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&gt;</a:t>
            </a:r>
            <a:r>
              <a:rPr lang="en-US" sz="24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)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{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8000"/>
                </a:solidFill>
                <a:latin typeface="Courier New" panose="02070309020205020404" pitchFamily="49" charset="0"/>
              </a:rPr>
              <a:t>1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switch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y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&lt;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endParaRPr lang="en-US" sz="1800" dirty="0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1257300" lvl="3" indent="0"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case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: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urier New" panose="02070309020205020404" pitchFamily="49" charset="0"/>
              </a:rPr>
              <a:t>cout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&lt;&lt;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"?"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break;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endParaRPr lang="en-US" sz="1800" dirty="0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1257300" lvl="3" indent="0"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case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: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urier New" panose="02070309020205020404" pitchFamily="49" charset="0"/>
              </a:rPr>
              <a:t>cout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&lt;&lt;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"%"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break;</a:t>
            </a:r>
            <a:r>
              <a:rPr lang="en-US" sz="14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endParaRPr lang="en-US" sz="1400" dirty="0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}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</a:p>
          <a:p>
            <a:pPr marL="800100" lvl="2" indent="0">
              <a:buNone/>
            </a:pPr>
            <a:r>
              <a:rPr lang="en-US" sz="18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break</a:t>
            </a:r>
            <a:r>
              <a:rPr lang="en-US" sz="18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8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case</a:t>
            </a: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r>
              <a:rPr lang="en-US" sz="2400" dirty="0">
                <a:solidFill>
                  <a:srgbClr val="FF8000"/>
                </a:solidFill>
                <a:latin typeface="Courier New" panose="02070309020205020404" pitchFamily="49" charset="0"/>
              </a:rPr>
              <a:t>0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800100" lvl="2" indent="0"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switch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z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==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3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)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{</a:t>
            </a:r>
            <a:endParaRPr lang="en-US" sz="1800" dirty="0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1257300" lvl="3" indent="0"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case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0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: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urier New" panose="02070309020205020404" pitchFamily="49" charset="0"/>
              </a:rPr>
              <a:t>cout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&lt;&lt;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"+"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break;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endParaRPr lang="en-US" sz="1800" dirty="0" smtClean="0">
              <a:solidFill>
                <a:srgbClr val="FF0000"/>
              </a:solidFill>
              <a:latin typeface="Courier New" panose="02070309020205020404" pitchFamily="49" charset="0"/>
            </a:endParaRPr>
          </a:p>
          <a:p>
            <a:pPr marL="1257300" lvl="3" indent="0"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case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1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: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urier New" panose="02070309020205020404" pitchFamily="49" charset="0"/>
              </a:rPr>
              <a:t>cout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&lt;&lt;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"#"</a:t>
            </a:r>
            <a:r>
              <a:rPr lang="en-US" sz="1800" b="1" dirty="0">
                <a:solidFill>
                  <a:srgbClr val="FF0000"/>
                </a:solidFill>
                <a:latin typeface="Courier New" panose="02070309020205020404" pitchFamily="49" charset="0"/>
              </a:rPr>
              <a:t>;</a:t>
            </a:r>
            <a:r>
              <a:rPr lang="en-US" sz="1800" dirty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break;</a:t>
            </a:r>
            <a:r>
              <a:rPr lang="en-US" sz="1800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 </a:t>
            </a:r>
          </a:p>
          <a:p>
            <a:pPr marL="800100" lvl="2" indent="0">
              <a:buNone/>
            </a:pPr>
            <a:r>
              <a:rPr lang="en-US" sz="1800" b="1" dirty="0" smtClean="0">
                <a:solidFill>
                  <a:srgbClr val="FF0000"/>
                </a:solidFill>
                <a:latin typeface="Courier New" panose="02070309020205020404" pitchFamily="49" charset="0"/>
              </a:rPr>
              <a:t>}</a:t>
            </a:r>
            <a:r>
              <a:rPr lang="en-US" sz="18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  <a:p>
            <a:pPr marL="400050" lvl="1" indent="0">
              <a:buNone/>
            </a:pPr>
            <a:r>
              <a:rPr lang="en-US" sz="2400" b="1" dirty="0" smtClean="0">
                <a:solidFill>
                  <a:srgbClr val="0000FF"/>
                </a:solidFill>
                <a:latin typeface="Courier New" panose="02070309020205020404" pitchFamily="49" charset="0"/>
              </a:rPr>
              <a:t>default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:</a:t>
            </a:r>
            <a:r>
              <a:rPr lang="en-US" sz="24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24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400050" lvl="1" indent="0">
              <a:buNone/>
            </a:pPr>
            <a:r>
              <a:rPr lang="en-US" sz="24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	</a:t>
            </a:r>
            <a:r>
              <a:rPr lang="en-US" sz="2400" dirty="0" err="1" smtClean="0">
                <a:solidFill>
                  <a:srgbClr val="000000"/>
                </a:solidFill>
                <a:latin typeface="Courier New" panose="02070309020205020404" pitchFamily="49" charset="0"/>
              </a:rPr>
              <a:t>cout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&lt;&lt;</a:t>
            </a:r>
            <a:r>
              <a:rPr lang="en-US" sz="2400" dirty="0">
                <a:solidFill>
                  <a:srgbClr val="808080"/>
                </a:solidFill>
                <a:latin typeface="Courier New" panose="02070309020205020404" pitchFamily="49" charset="0"/>
              </a:rPr>
              <a:t>"&amp;"</a:t>
            </a:r>
            <a:r>
              <a:rPr lang="en-US" sz="2400" b="1" dirty="0">
                <a:solidFill>
                  <a:srgbClr val="000080"/>
                </a:solidFill>
                <a:latin typeface="Courier New" panose="02070309020205020404" pitchFamily="49" charset="0"/>
              </a:rPr>
              <a:t>;</a:t>
            </a:r>
            <a:r>
              <a:rPr lang="en-US" sz="1600" dirty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  <a:endParaRPr lang="en-US" sz="1600" dirty="0" smtClean="0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rgbClr val="000080"/>
                </a:solidFill>
                <a:latin typeface="Courier New" panose="02070309020205020404" pitchFamily="49" charset="0"/>
              </a:rPr>
              <a:t>}</a:t>
            </a:r>
            <a:r>
              <a:rPr lang="en-US" sz="2000" dirty="0" smtClean="0">
                <a:solidFill>
                  <a:srgbClr val="000000"/>
                </a:solidFill>
                <a:latin typeface="Courier New" panose="02070309020205020404" pitchFamily="49" charset="0"/>
              </a:rPr>
              <a:t> 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90588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99" y="2414586"/>
            <a:ext cx="3376613" cy="3376613"/>
          </a:xfrm>
          <a:prstGeom prst="rect">
            <a:avLst/>
          </a:prstGeom>
        </p:spPr>
      </p:pic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Questions??</a:t>
            </a:r>
          </a:p>
        </p:txBody>
      </p:sp>
      <p:sp>
        <p:nvSpPr>
          <p:cNvPr id="14340" name="AutoShape 4"/>
          <p:cNvSpPr>
            <a:spLocks noChangeArrowheads="1"/>
          </p:cNvSpPr>
          <p:nvPr/>
        </p:nvSpPr>
        <p:spPr bwMode="auto">
          <a:xfrm>
            <a:off x="4800600" y="1981200"/>
            <a:ext cx="3581400" cy="919401"/>
          </a:xfrm>
          <a:prstGeom prst="wedgeRoundRectCallout">
            <a:avLst>
              <a:gd name="adj1" fmla="val -56547"/>
              <a:gd name="adj2" fmla="val 118562"/>
              <a:gd name="adj3" fmla="val 16667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</a:rPr>
              <a:t>To switch or not to switch, that’s the question….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533134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>
                <a:solidFill>
                  <a:schemeClr val="accent6">
                    <a:lumMod val="75000"/>
                  </a:schemeClr>
                </a:solidFill>
                <a:latin typeface="+mj-lt"/>
              </a:rPr>
              <a:t>Road Map for Today</a:t>
            </a:r>
            <a:endParaRPr lang="en-US" sz="4400" b="1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2672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SzTx/>
              <a:buFontTx/>
              <a:buChar char="•"/>
              <a:defRPr/>
            </a:pPr>
            <a:r>
              <a:rPr kumimoji="0" lang="en-US" sz="320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Control</a:t>
            </a:r>
            <a:r>
              <a:rPr kumimoji="0" lang="en-US" sz="3200" i="0" u="none" strike="noStrike" kern="0" cap="none" spc="0" normalizeH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+mn-cs"/>
              </a:rPr>
              <a:t> Statements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  <a:latin typeface="+mj-lt"/>
              </a:rPr>
              <a:t>Selection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002060"/>
                </a:solidFill>
              </a:rPr>
              <a:t>if</a:t>
            </a:r>
            <a:r>
              <a:rPr lang="en-US" sz="3200" dirty="0">
                <a:solidFill>
                  <a:srgbClr val="002060"/>
                </a:solidFill>
              </a:rPr>
              <a:t> 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3200" i="1" dirty="0">
                <a:solidFill>
                  <a:srgbClr val="002060"/>
                </a:solidFill>
              </a:rPr>
              <a:t>switch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i="1" dirty="0" smtClean="0">
                <a:solidFill>
                  <a:srgbClr val="FF0000"/>
                </a:solidFill>
              </a:rPr>
              <a:t>Iteration</a:t>
            </a:r>
          </a:p>
          <a:p>
            <a:pPr marL="1371600" lvl="2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sz="3200" i="1" dirty="0">
                <a:solidFill>
                  <a:srgbClr val="002060"/>
                </a:solidFill>
              </a:rPr>
              <a:t>while</a:t>
            </a:r>
          </a:p>
          <a:p>
            <a:pPr marL="1371600" lvl="2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sz="3200" i="1" dirty="0">
                <a:solidFill>
                  <a:srgbClr val="002060"/>
                </a:solidFill>
              </a:rPr>
              <a:t>do…while</a:t>
            </a:r>
          </a:p>
          <a:p>
            <a:pPr marL="1371600" lvl="2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Arial" panose="020B0604020202020204" pitchFamily="34" charset="0"/>
              <a:buChar char="•"/>
              <a:defRPr/>
            </a:pPr>
            <a:r>
              <a:rPr lang="en-US" sz="3200" i="1" dirty="0">
                <a:solidFill>
                  <a:srgbClr val="002060"/>
                </a:solidFill>
              </a:rPr>
              <a:t>for</a:t>
            </a:r>
          </a:p>
          <a:p>
            <a:pPr marL="914400" lvl="1" indent="-457200" fontAlgn="base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70C0"/>
              </a:buClr>
              <a:buFont typeface="Wingdings" panose="05000000000000000000" pitchFamily="2" charset="2"/>
              <a:buChar char="§"/>
              <a:defRPr/>
            </a:pPr>
            <a:r>
              <a:rPr lang="en-US" sz="3200" kern="0" dirty="0" smtClean="0">
                <a:solidFill>
                  <a:srgbClr val="C00000"/>
                </a:solidFill>
                <a:latin typeface="+mj-lt"/>
              </a:rPr>
              <a:t>Jump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2" name="Left Arrow 1"/>
          <p:cNvSpPr/>
          <p:nvPr/>
        </p:nvSpPr>
        <p:spPr>
          <a:xfrm>
            <a:off x="2971800" y="3505200"/>
            <a:ext cx="1905000" cy="685800"/>
          </a:xfrm>
          <a:prstGeom prst="leftArrow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064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2502693"/>
            <a:ext cx="9144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C++ Iteration/Repetition Statements</a:t>
            </a:r>
            <a:endParaRPr lang="en-US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5060912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752600" y="403722"/>
            <a:ext cx="5867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Repetition Statements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457200" y="1272086"/>
            <a:ext cx="8458200" cy="5278138"/>
          </a:xfrm>
        </p:spPr>
        <p:txBody>
          <a:bodyPr>
            <a:normAutofit fontScale="92500" lnSpcReduction="20000"/>
          </a:bodyPr>
          <a:lstStyle/>
          <a:p>
            <a:r>
              <a:rPr lang="en-US" sz="3500" dirty="0"/>
              <a:t>A repetition statement specifies that a program should repeat an action while some </a:t>
            </a:r>
            <a:r>
              <a:rPr lang="en-US" sz="3500" dirty="0" smtClean="0"/>
              <a:t>condition remains </a:t>
            </a:r>
            <a:r>
              <a:rPr lang="en-US" sz="3500" dirty="0"/>
              <a:t>true</a:t>
            </a:r>
            <a:r>
              <a:rPr lang="en-US" sz="3500" dirty="0" smtClean="0"/>
              <a:t>.</a:t>
            </a:r>
          </a:p>
          <a:p>
            <a:r>
              <a:rPr lang="en-US" sz="3500" dirty="0" smtClean="0"/>
              <a:t>C</a:t>
            </a:r>
            <a:r>
              <a:rPr lang="en-US" sz="3500" dirty="0"/>
              <a:t>++ provides </a:t>
            </a:r>
            <a:r>
              <a:rPr lang="en-US" sz="3500" dirty="0">
                <a:solidFill>
                  <a:srgbClr val="FF0000"/>
                </a:solidFill>
              </a:rPr>
              <a:t>three</a:t>
            </a:r>
            <a:r>
              <a:rPr lang="en-US" sz="3500" dirty="0"/>
              <a:t> types of repetition statements (also called </a:t>
            </a:r>
            <a:r>
              <a:rPr lang="en-US" sz="3500" b="1" i="1" dirty="0">
                <a:solidFill>
                  <a:schemeClr val="accent6">
                    <a:lumMod val="50000"/>
                  </a:schemeClr>
                </a:solidFill>
              </a:rPr>
              <a:t>looping statements </a:t>
            </a:r>
            <a:r>
              <a:rPr lang="en-US" sz="3500" dirty="0"/>
              <a:t>or </a:t>
            </a:r>
            <a:r>
              <a:rPr lang="en-US" sz="3500" b="1" i="1" dirty="0">
                <a:solidFill>
                  <a:schemeClr val="accent6">
                    <a:lumMod val="50000"/>
                  </a:schemeClr>
                </a:solidFill>
              </a:rPr>
              <a:t>loops</a:t>
            </a:r>
            <a:r>
              <a:rPr lang="en-US" sz="3500" b="1" i="1" dirty="0" smtClean="0"/>
              <a:t> </a:t>
            </a:r>
            <a:r>
              <a:rPr lang="en-US" sz="3500" i="1" dirty="0" smtClean="0"/>
              <a:t>or</a:t>
            </a:r>
            <a:r>
              <a:rPr lang="en-US" sz="3500" b="1" i="1" dirty="0" smtClean="0"/>
              <a:t> </a:t>
            </a:r>
            <a:r>
              <a:rPr lang="en-US" sz="3500" b="1" i="1" dirty="0" smtClean="0">
                <a:solidFill>
                  <a:schemeClr val="accent6">
                    <a:lumMod val="50000"/>
                  </a:schemeClr>
                </a:solidFill>
              </a:rPr>
              <a:t>iterations</a:t>
            </a:r>
            <a:r>
              <a:rPr lang="en-US" sz="3500" dirty="0" smtClean="0"/>
              <a:t>) </a:t>
            </a:r>
          </a:p>
          <a:p>
            <a:pPr lvl="1"/>
            <a:r>
              <a:rPr lang="en-US" sz="3100" dirty="0" smtClean="0">
                <a:solidFill>
                  <a:srgbClr val="002060"/>
                </a:solidFill>
              </a:rPr>
              <a:t>for performing statements </a:t>
            </a:r>
            <a:r>
              <a:rPr lang="en-US" sz="3100" dirty="0">
                <a:solidFill>
                  <a:srgbClr val="002060"/>
                </a:solidFill>
              </a:rPr>
              <a:t>repeatedly </a:t>
            </a:r>
            <a:endParaRPr lang="en-US" sz="3100" dirty="0" smtClean="0">
              <a:solidFill>
                <a:srgbClr val="002060"/>
              </a:solidFill>
            </a:endParaRPr>
          </a:p>
          <a:p>
            <a:pPr lvl="1"/>
            <a:r>
              <a:rPr lang="en-US" sz="3100" dirty="0" smtClean="0">
                <a:solidFill>
                  <a:srgbClr val="002060"/>
                </a:solidFill>
              </a:rPr>
              <a:t>while </a:t>
            </a:r>
            <a:r>
              <a:rPr lang="en-US" sz="3100" dirty="0">
                <a:solidFill>
                  <a:srgbClr val="002060"/>
                </a:solidFill>
              </a:rPr>
              <a:t>a condition </a:t>
            </a:r>
            <a:r>
              <a:rPr lang="en-US" sz="3100" dirty="0" smtClean="0">
                <a:solidFill>
                  <a:srgbClr val="002060"/>
                </a:solidFill>
              </a:rPr>
              <a:t>remains true</a:t>
            </a:r>
            <a:endParaRPr lang="en-US" sz="3100" kern="0" dirty="0" smtClean="0">
              <a:solidFill>
                <a:srgbClr val="002060"/>
              </a:solidFill>
              <a:latin typeface="Times New Roman"/>
            </a:endParaRPr>
          </a:p>
          <a:p>
            <a:pPr lvl="2" fontAlgn="base">
              <a:spcAft>
                <a:spcPct val="0"/>
              </a:spcAft>
            </a:pPr>
            <a:r>
              <a:rPr lang="en-US" sz="3500" i="1" kern="0" dirty="0" smtClean="0">
                <a:solidFill>
                  <a:srgbClr val="C00000"/>
                </a:solidFill>
                <a:latin typeface="Times New Roman"/>
              </a:rPr>
              <a:t>while</a:t>
            </a:r>
          </a:p>
          <a:p>
            <a:pPr lvl="2" fontAlgn="base">
              <a:spcAft>
                <a:spcPct val="0"/>
              </a:spcAft>
              <a:buFontTx/>
              <a:buChar char="•"/>
            </a:pPr>
            <a:r>
              <a:rPr lang="en-US" sz="3500" i="1" kern="0" dirty="0" smtClean="0">
                <a:solidFill>
                  <a:srgbClr val="C00000"/>
                </a:solidFill>
                <a:latin typeface="Times New Roman"/>
              </a:rPr>
              <a:t>do…while</a:t>
            </a:r>
          </a:p>
          <a:p>
            <a:pPr lvl="2" fontAlgn="base">
              <a:spcAft>
                <a:spcPct val="0"/>
              </a:spcAft>
              <a:buFontTx/>
              <a:buChar char="•"/>
            </a:pPr>
            <a:r>
              <a:rPr lang="en-US" sz="3500" i="1" kern="0" dirty="0" smtClean="0">
                <a:solidFill>
                  <a:srgbClr val="C00000"/>
                </a:solidFill>
                <a:latin typeface="Times New Roman"/>
              </a:rPr>
              <a:t> for</a:t>
            </a:r>
            <a:endParaRPr lang="en-US" sz="3500" i="1" kern="0" dirty="0">
              <a:solidFill>
                <a:srgbClr val="C00000"/>
              </a:solidFill>
              <a:latin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173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828800" y="449759"/>
            <a:ext cx="5257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Loop</a:t>
            </a:r>
            <a:endParaRPr lang="en-US" sz="40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4419600"/>
          </a:xfrm>
          <a:prstGeom prst="rect">
            <a:avLst/>
          </a:prstGeom>
        </p:spPr>
        <p:txBody>
          <a:bodyPr/>
          <a:lstStyle/>
          <a:p>
            <a:r>
              <a:rPr lang="en-US" altLang="en-US" sz="3200" dirty="0"/>
              <a:t>A loop is part of a program that repeats</a:t>
            </a:r>
            <a:r>
              <a:rPr lang="en-US" altLang="en-US" sz="3200" dirty="0" smtClean="0"/>
              <a:t>.</a:t>
            </a:r>
          </a:p>
          <a:p>
            <a:endParaRPr lang="en-US" altLang="en-US" sz="3200" dirty="0"/>
          </a:p>
          <a:p>
            <a:pPr>
              <a:buFontTx/>
              <a:buNone/>
            </a:pPr>
            <a:r>
              <a:rPr lang="en-US" altLang="en-US" sz="3200" dirty="0"/>
              <a:t/>
            </a:r>
            <a:br>
              <a:rPr lang="en-US" altLang="en-US" sz="3200" dirty="0"/>
            </a:br>
            <a:endParaRPr lang="en-US" sz="3200" kern="0" dirty="0" smtClean="0">
              <a:latin typeface="+mj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800" y="3377884"/>
            <a:ext cx="1643100" cy="16431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870" y="3276600"/>
            <a:ext cx="2325845" cy="17443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5214" y="3327242"/>
            <a:ext cx="2942866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9443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3302368"/>
            <a:ext cx="2000250" cy="2000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4800" b="1" i="1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en-US" sz="48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statement</a:t>
            </a:r>
            <a:endParaRPr lang="en-US" sz="48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810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dirty="0"/>
              <a:t>A repetition statement specifies that a program should repeat an action </a:t>
            </a:r>
            <a:r>
              <a:rPr lang="en-US" b="1" dirty="0"/>
              <a:t>while</a:t>
            </a:r>
            <a:r>
              <a:rPr lang="en-US" dirty="0"/>
              <a:t> some condition remains true</a:t>
            </a:r>
            <a:r>
              <a:rPr lang="en-US" dirty="0" smtClean="0"/>
              <a:t>.</a:t>
            </a:r>
          </a:p>
          <a:p>
            <a:endParaRPr lang="en-US" sz="1200" dirty="0" smtClean="0"/>
          </a:p>
          <a:p>
            <a:pPr marL="400050" lvl="1" indent="0" algn="ctr">
              <a:buNone/>
            </a:pPr>
            <a:r>
              <a:rPr lang="en-US" i="1" dirty="0" smtClean="0"/>
              <a:t>           </a:t>
            </a:r>
            <a:r>
              <a:rPr lang="en-US" i="1" dirty="0" err="1" smtClean="0"/>
              <a:t>Umbridge</a:t>
            </a:r>
            <a:r>
              <a:rPr lang="en-US" i="1" dirty="0"/>
              <a:t>: Write ‘I must not tell lies’.</a:t>
            </a:r>
          </a:p>
          <a:p>
            <a:pPr marL="400050" lvl="1" indent="0" algn="ctr">
              <a:buNone/>
            </a:pPr>
            <a:r>
              <a:rPr lang="en-US" i="1" dirty="0" smtClean="0"/>
              <a:t>         Harry</a:t>
            </a:r>
            <a:r>
              <a:rPr lang="en-US" i="1" dirty="0"/>
              <a:t>: How many times?</a:t>
            </a:r>
          </a:p>
          <a:p>
            <a:pPr marL="400050" lvl="1" indent="0" algn="ctr">
              <a:buNone/>
            </a:pPr>
            <a:r>
              <a:rPr lang="en-US" i="1" dirty="0" smtClean="0">
                <a:solidFill>
                  <a:srgbClr val="C00000"/>
                </a:solidFill>
              </a:rPr>
              <a:t>        </a:t>
            </a:r>
            <a:r>
              <a:rPr lang="en-US" i="1" dirty="0" err="1" smtClean="0">
                <a:solidFill>
                  <a:srgbClr val="C00000"/>
                </a:solidFill>
              </a:rPr>
              <a:t>Umbridge</a:t>
            </a:r>
            <a:r>
              <a:rPr lang="en-US" i="1" dirty="0">
                <a:solidFill>
                  <a:srgbClr val="C00000"/>
                </a:solidFill>
              </a:rPr>
              <a:t>: Till the message sinks in.</a:t>
            </a:r>
          </a:p>
        </p:txBody>
      </p:sp>
    </p:spTree>
    <p:extLst>
      <p:ext uri="{BB962C8B-B14F-4D97-AF65-F5344CB8AC3E}">
        <p14:creationId xmlns:p14="http://schemas.microsoft.com/office/powerpoint/2010/main" val="13930732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2000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390874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4800" b="1" i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statement</a:t>
            </a: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381000" y="1364159"/>
            <a:ext cx="8534400" cy="4525963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800" i="1" dirty="0" smtClean="0">
                <a:solidFill>
                  <a:srgbClr val="0269AF"/>
                </a:solidFill>
                <a:latin typeface="AGaramond-Italic--Identity-H"/>
              </a:rPr>
              <a:t>While </a:t>
            </a:r>
            <a:r>
              <a:rPr lang="en-US" sz="2800" i="1" dirty="0">
                <a:solidFill>
                  <a:srgbClr val="0269AF"/>
                </a:solidFill>
                <a:latin typeface="AGaramond-Italic--Identity-H"/>
              </a:rPr>
              <a:t>there are more items on my shopping list</a:t>
            </a:r>
          </a:p>
          <a:p>
            <a:pPr marL="0" indent="0" algn="ctr">
              <a:buNone/>
            </a:pPr>
            <a:r>
              <a:rPr lang="en-US" sz="2800" i="1" dirty="0">
                <a:solidFill>
                  <a:srgbClr val="0269AF"/>
                </a:solidFill>
                <a:latin typeface="AGaramond-Italic--Identity-H"/>
              </a:rPr>
              <a:t>      Purchase next item and cross it off my </a:t>
            </a:r>
            <a:r>
              <a:rPr lang="en-US" sz="2800" i="1" dirty="0" smtClean="0">
                <a:solidFill>
                  <a:srgbClr val="0269AF"/>
                </a:solidFill>
                <a:latin typeface="AGaramond-Italic--Identity-H"/>
              </a:rPr>
              <a:t>list</a:t>
            </a:r>
          </a:p>
          <a:p>
            <a:pPr marL="0" indent="0" algn="ctr">
              <a:buNone/>
            </a:pPr>
            <a:endParaRPr lang="en-US" sz="2800" dirty="0"/>
          </a:p>
          <a:p>
            <a:r>
              <a:rPr lang="en-US" sz="2800" dirty="0" smtClean="0"/>
              <a:t>The </a:t>
            </a:r>
            <a:r>
              <a:rPr lang="en-US" sz="2800" dirty="0"/>
              <a:t>condition, “there are </a:t>
            </a:r>
            <a:r>
              <a:rPr lang="en-US" sz="2800" dirty="0" smtClean="0"/>
              <a:t>more items </a:t>
            </a:r>
            <a:r>
              <a:rPr lang="en-US" sz="2800" dirty="0"/>
              <a:t>on my shopping list” is either true or false. </a:t>
            </a:r>
            <a:endParaRPr lang="en-US" sz="2800" dirty="0" smtClean="0"/>
          </a:p>
          <a:p>
            <a:pPr lvl="1"/>
            <a:r>
              <a:rPr lang="en-US" sz="2400" i="1" dirty="0" smtClean="0"/>
              <a:t>If </a:t>
            </a:r>
            <a:r>
              <a:rPr lang="en-US" sz="2400" i="1" dirty="0"/>
              <a:t>it’s true, then the action, “</a:t>
            </a:r>
            <a:r>
              <a:rPr lang="en-US" sz="2400" i="1" dirty="0" smtClean="0"/>
              <a:t>Purchase next </a:t>
            </a:r>
            <a:r>
              <a:rPr lang="en-US" sz="2400" i="1" dirty="0"/>
              <a:t>item and cross it off my list” is performed. </a:t>
            </a:r>
            <a:endParaRPr lang="en-US" sz="2400" i="1" dirty="0" smtClean="0"/>
          </a:p>
          <a:p>
            <a:pPr lvl="1"/>
            <a:r>
              <a:rPr lang="en-US" sz="2400" i="1" dirty="0" smtClean="0"/>
              <a:t>This </a:t>
            </a:r>
            <a:r>
              <a:rPr lang="en-US" sz="2400" i="1" dirty="0"/>
              <a:t>action will be performed </a:t>
            </a:r>
            <a:r>
              <a:rPr lang="en-US" sz="2400" i="1" dirty="0" smtClean="0"/>
              <a:t>repeatedly while </a:t>
            </a:r>
            <a:r>
              <a:rPr lang="en-US" sz="2400" i="1" dirty="0"/>
              <a:t>the condition remains true</a:t>
            </a:r>
            <a:r>
              <a:rPr lang="en-US" sz="2400" i="1" dirty="0" smtClean="0"/>
              <a:t>.</a:t>
            </a:r>
          </a:p>
          <a:p>
            <a:r>
              <a:rPr lang="en-US" sz="2800" dirty="0"/>
              <a:t>Eventually, the condition will become false</a:t>
            </a:r>
          </a:p>
        </p:txBody>
      </p:sp>
    </p:spTree>
    <p:extLst>
      <p:ext uri="{BB962C8B-B14F-4D97-AF65-F5344CB8AC3E}">
        <p14:creationId xmlns:p14="http://schemas.microsoft.com/office/powerpoint/2010/main" val="156640861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04800" y="1395211"/>
            <a:ext cx="8534400" cy="4419600"/>
          </a:xfrm>
          <a:prstGeom prst="rect">
            <a:avLst/>
          </a:prstGeom>
        </p:spPr>
        <p:txBody>
          <a:bodyPr/>
          <a:lstStyle/>
          <a:p>
            <a:r>
              <a:rPr lang="en-US" altLang="en-US" sz="3200" dirty="0" smtClean="0"/>
              <a:t>A </a:t>
            </a:r>
            <a:r>
              <a:rPr lang="en-US" altLang="en-US" sz="3200" dirty="0">
                <a:solidFill>
                  <a:srgbClr val="FF0000"/>
                </a:solidFill>
              </a:rPr>
              <a:t>while</a:t>
            </a:r>
            <a:r>
              <a:rPr lang="en-US" altLang="en-US" sz="3200" dirty="0"/>
              <a:t> loop is a </a:t>
            </a:r>
            <a:r>
              <a:rPr lang="en-US" altLang="en-US" sz="3200" b="1" dirty="0"/>
              <a:t>“pre test” </a:t>
            </a:r>
            <a:r>
              <a:rPr lang="en-US" altLang="en-US" sz="3200" dirty="0"/>
              <a:t>loop - the </a:t>
            </a:r>
            <a:r>
              <a:rPr lang="en-US" altLang="en-US" sz="3200" dirty="0" smtClean="0"/>
              <a:t>condition is </a:t>
            </a:r>
            <a:r>
              <a:rPr lang="en-US" altLang="en-US" sz="3200" dirty="0"/>
              <a:t>tested before the </a:t>
            </a:r>
            <a:r>
              <a:rPr lang="en-US" altLang="en-US" sz="3200" dirty="0" smtClean="0"/>
              <a:t>loop </a:t>
            </a:r>
            <a:r>
              <a:rPr lang="en-US" altLang="en-US" sz="3200" dirty="0"/>
              <a:t>b</a:t>
            </a:r>
            <a:r>
              <a:rPr lang="en-US" altLang="en-US" sz="3200" dirty="0" smtClean="0"/>
              <a:t>ody </a:t>
            </a:r>
            <a:r>
              <a:rPr lang="en-US" altLang="en-US" sz="3200" dirty="0"/>
              <a:t>is executed</a:t>
            </a:r>
          </a:p>
          <a:p>
            <a:pPr>
              <a:buFontTx/>
              <a:buNone/>
            </a:pPr>
            <a:r>
              <a:rPr lang="en-US" altLang="en-US" sz="3200" dirty="0"/>
              <a:t/>
            </a:r>
            <a:br>
              <a:rPr lang="en-US" altLang="en-US" sz="3200" dirty="0"/>
            </a:br>
            <a:endParaRPr lang="en-US" sz="3200" kern="0" dirty="0" smtClean="0">
              <a:latin typeface="+mj-lt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0" y="449759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The </a:t>
            </a:r>
            <a:r>
              <a:rPr lang="en-US" sz="4800" b="1" i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while</a:t>
            </a:r>
            <a:r>
              <a:rPr lang="en-US" sz="48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800" dirty="0" smtClean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statement</a:t>
            </a:r>
            <a:endParaRPr lang="en-US" sz="48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0" y="6550223"/>
            <a:ext cx="1676400" cy="307777"/>
          </a:xfrm>
          <a:prstGeom prst="rect">
            <a:avLst/>
          </a:prstGeom>
          <a:solidFill>
            <a:schemeClr val="bg1"/>
          </a:solidFill>
          <a:ln w="28575"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endParaRPr lang="en-US" sz="1400" b="1" dirty="0"/>
          </a:p>
        </p:txBody>
      </p:sp>
      <p:sp>
        <p:nvSpPr>
          <p:cNvPr id="8" name="Rounded Rectangle 7"/>
          <p:cNvSpPr/>
          <p:nvPr/>
        </p:nvSpPr>
        <p:spPr>
          <a:xfrm>
            <a:off x="1711817" y="2695977"/>
            <a:ext cx="4343400" cy="1418823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>
                <a:solidFill>
                  <a:schemeClr val="tx1"/>
                </a:solidFill>
                <a:latin typeface="Courier New" panose="02070309020205020404" pitchFamily="49" charset="0"/>
              </a:rPr>
              <a:t>statement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  <a:endParaRPr lang="en-US" altLang="en-US" sz="2800" b="1" dirty="0">
              <a:solidFill>
                <a:schemeClr val="tx1"/>
              </a:solidFill>
              <a:latin typeface="Courier New" panose="02070309020205020404" pitchFamily="49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711817" y="4495800"/>
            <a:ext cx="4343400" cy="1694647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FontTx/>
              <a:buNone/>
            </a:pPr>
            <a:r>
              <a:rPr lang="en-US" altLang="en-US" sz="2800" b="1" dirty="0" smtClean="0">
                <a:solidFill>
                  <a:srgbClr val="0070C0"/>
                </a:solidFill>
                <a:latin typeface="Courier New" panose="02070309020205020404" pitchFamily="49" charset="0"/>
              </a:rPr>
              <a:t>while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(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condition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) </a:t>
            </a:r>
          </a:p>
          <a:p>
            <a:pPr>
              <a:buFontTx/>
              <a:buNone/>
            </a:pP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{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	</a:t>
            </a:r>
            <a:r>
              <a:rPr lang="en-US" altLang="en-US" sz="2800" b="1" i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statement(s)</a:t>
            </a:r>
            <a:r>
              <a:rPr lang="en-US" altLang="en-US" sz="2800" b="1" dirty="0" smtClean="0">
                <a:solidFill>
                  <a:schemeClr val="tx1"/>
                </a:solidFill>
                <a:latin typeface="Courier New" panose="02070309020205020404" pitchFamily="49" charset="0"/>
              </a:rPr>
              <a:t>;</a:t>
            </a:r>
          </a:p>
          <a:p>
            <a:r>
              <a:rPr lang="en-US" altLang="en-US" sz="2800" b="1" dirty="0">
                <a:solidFill>
                  <a:schemeClr val="tx1"/>
                </a:solidFill>
                <a:latin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8054096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449759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+mj-lt"/>
              </a:rPr>
              <a:t>The </a:t>
            </a:r>
            <a:r>
              <a:rPr lang="en-US" sz="4400" b="1" i="1" dirty="0">
                <a:solidFill>
                  <a:srgbClr val="FF0000"/>
                </a:solidFill>
                <a:latin typeface="+mj-lt"/>
              </a:rPr>
              <a:t>while</a:t>
            </a:r>
            <a:r>
              <a:rPr lang="en-US" sz="4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4400" dirty="0" smtClean="0">
                <a:solidFill>
                  <a:srgbClr val="FF0000"/>
                </a:solidFill>
                <a:latin typeface="+mj-lt"/>
              </a:rPr>
              <a:t>statement - Example</a:t>
            </a:r>
            <a:endParaRPr lang="en-US" sz="4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71341" y="1930341"/>
            <a:ext cx="7467600" cy="2994339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3308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Local variable declaration: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while loop execution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“Value of a: "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endl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++;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 bwMode="auto">
          <a:xfrm>
            <a:off x="6477000" y="2005341"/>
            <a:ext cx="2438400" cy="28443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  <a:extLst/>
        </p:spPr>
        <p:txBody>
          <a:bodyPr vert="horz" wrap="square" lIns="91440" tIns="45720" rIns="91440" bIns="88872" numCol="1" rtlCol="0" anchor="ctr" anchorCtr="0" compatLnSpc="1">
            <a:prstTxWarp prst="textNoShape">
              <a:avLst/>
            </a:prstTxWarp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dirty="0" smtClean="0">
                <a:solidFill>
                  <a:srgbClr val="00008B"/>
                </a:solidFill>
              </a:rPr>
              <a:t>Output:</a:t>
            </a:r>
            <a:endParaRPr lang="en-US" altLang="en-US" sz="2800" dirty="0">
              <a:solidFill>
                <a:srgbClr val="00008B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800" dirty="0" smtClean="0">
                <a:solidFill>
                  <a:srgbClr val="321A00"/>
                </a:solidFill>
              </a:rPr>
              <a:t>Value of a: 10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321A00"/>
                </a:solidFill>
              </a:rPr>
              <a:t>Value of a: </a:t>
            </a:r>
            <a:r>
              <a:rPr lang="en-US" altLang="en-US" sz="2800" dirty="0" smtClean="0">
                <a:solidFill>
                  <a:srgbClr val="321A00"/>
                </a:solidFill>
              </a:rPr>
              <a:t>11</a:t>
            </a:r>
            <a:endParaRPr lang="en-US" altLang="en-US" sz="2800" dirty="0">
              <a:solidFill>
                <a:srgbClr val="321A00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321A00"/>
                </a:solidFill>
              </a:rPr>
              <a:t>Value of a: </a:t>
            </a:r>
            <a:r>
              <a:rPr lang="en-US" altLang="en-US" sz="2800" dirty="0" smtClean="0">
                <a:solidFill>
                  <a:srgbClr val="321A00"/>
                </a:solidFill>
              </a:rPr>
              <a:t>12</a:t>
            </a:r>
            <a:endParaRPr lang="en-US" altLang="en-US" sz="2800" dirty="0">
              <a:solidFill>
                <a:srgbClr val="321A00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321A00"/>
                </a:solidFill>
              </a:rPr>
              <a:t>Value of a: </a:t>
            </a:r>
            <a:r>
              <a:rPr lang="en-US" altLang="en-US" sz="2800" dirty="0" smtClean="0">
                <a:solidFill>
                  <a:srgbClr val="321A00"/>
                </a:solidFill>
              </a:rPr>
              <a:t>13</a:t>
            </a:r>
            <a:endParaRPr lang="en-US" altLang="en-US" sz="2800" dirty="0">
              <a:solidFill>
                <a:srgbClr val="321A00"/>
              </a:solidFill>
            </a:endParaRP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 dirty="0">
                <a:solidFill>
                  <a:srgbClr val="321A00"/>
                </a:solidFill>
              </a:rPr>
              <a:t>Value of a: </a:t>
            </a:r>
            <a:r>
              <a:rPr lang="en-US" altLang="en-US" sz="2800" dirty="0" smtClean="0">
                <a:solidFill>
                  <a:srgbClr val="321A00"/>
                </a:solidFill>
              </a:rPr>
              <a:t>14</a:t>
            </a:r>
            <a:endParaRPr lang="en-US" altLang="en-US" sz="2800" dirty="0">
              <a:solidFill>
                <a:srgbClr val="321A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5233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449759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+mj-lt"/>
              </a:rPr>
              <a:t>The </a:t>
            </a:r>
            <a:r>
              <a:rPr lang="en-US" sz="4400" b="1" i="1" dirty="0">
                <a:solidFill>
                  <a:srgbClr val="FF0000"/>
                </a:solidFill>
                <a:latin typeface="+mj-lt"/>
              </a:rPr>
              <a:t>while</a:t>
            </a:r>
            <a:r>
              <a:rPr lang="en-US" sz="4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4400" dirty="0" smtClean="0">
                <a:solidFill>
                  <a:srgbClr val="FF0000"/>
                </a:solidFill>
                <a:latin typeface="+mj-lt"/>
              </a:rPr>
              <a:t>statement - Example</a:t>
            </a:r>
            <a:endParaRPr lang="en-US" sz="4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9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914400" y="2201507"/>
            <a:ext cx="7467600" cy="2378786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133308" rIns="0" bIns="88872" numCol="1" anchor="ctr" anchorCtr="0" compatLnSpc="1">
            <a:prstTxWarp prst="textNoShape">
              <a:avLst/>
            </a:prstTxWarp>
            <a:spAutoFit/>
          </a:bodyPr>
          <a:lstStyle/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Local variable declaration: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88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while loop execution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400050" lvl="1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product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2000" b="1" dirty="0" smtClean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rgbClr val="31313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2000" b="1" dirty="0">
                <a:solidFill>
                  <a:srgbClr val="31313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product *= 3; </a:t>
            </a:r>
          </a:p>
          <a:p>
            <a:pPr marL="800100" lvl="2" indent="0" eaLnBrk="0" fontAlgn="base" hangingPunct="0">
              <a:spcBef>
                <a:spcPct val="0"/>
              </a:spcBef>
              <a:spcAft>
                <a:spcPct val="0"/>
              </a:spcAft>
              <a:buFontTx/>
              <a:buNone/>
            </a:pPr>
            <a:endParaRPr kumimoji="0" lang="en-US" altLang="en-US" sz="2000" b="1" i="0" u="none" strike="noStrike" cap="none" normalizeH="0" baseline="0" dirty="0" smtClean="0">
              <a:ln>
                <a:noFill/>
              </a:ln>
              <a:solidFill>
                <a:srgbClr val="31313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81949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Flowchart Representation of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FF0000"/>
                </a:solidFill>
              </a:rPr>
              <a:t>“while”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  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AA1D6-45B6-42A0-9A96-551CCA5B504B}" type="slidenum">
              <a:rPr lang="en-US" smtClean="0"/>
              <a:pPr/>
              <a:t>60</a:t>
            </a:fld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3348990" y="2160270"/>
            <a:ext cx="1725930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 of program before iteration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Flowchart: Decision 8"/>
          <p:cNvSpPr/>
          <p:nvPr/>
        </p:nvSpPr>
        <p:spPr>
          <a:xfrm>
            <a:off x="2788920" y="3040380"/>
            <a:ext cx="2857500" cy="868680"/>
          </a:xfrm>
          <a:prstGeom prst="flowChartDecision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500" dirty="0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26130" y="3166111"/>
            <a:ext cx="1863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Logical expression</a:t>
            </a:r>
          </a:p>
          <a:p>
            <a:pPr algn="ctr"/>
            <a:r>
              <a:rPr lang="en-US" dirty="0"/>
              <a:t>(loop condition)</a:t>
            </a:r>
            <a:endParaRPr lang="en-IN" dirty="0"/>
          </a:p>
        </p:txBody>
      </p:sp>
      <p:sp>
        <p:nvSpPr>
          <p:cNvPr id="11" name="Rectangle 10"/>
          <p:cNvSpPr/>
          <p:nvPr/>
        </p:nvSpPr>
        <p:spPr>
          <a:xfrm>
            <a:off x="3108960" y="4331970"/>
            <a:ext cx="2228850" cy="72009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chemeClr val="tx1"/>
                </a:solidFill>
              </a:rPr>
              <a:t>Loop Body</a:t>
            </a:r>
            <a:endParaRPr lang="en-IN" sz="2100" dirty="0">
              <a:solidFill>
                <a:schemeClr val="tx1"/>
              </a:solidFill>
            </a:endParaRPr>
          </a:p>
        </p:txBody>
      </p:sp>
      <p:cxnSp>
        <p:nvCxnSpPr>
          <p:cNvPr id="14" name="Shape 13"/>
          <p:cNvCxnSpPr>
            <a:stCxn id="9" idx="3"/>
          </p:cNvCxnSpPr>
          <p:nvPr/>
        </p:nvCxnSpPr>
        <p:spPr>
          <a:xfrm>
            <a:off x="5646420" y="3474720"/>
            <a:ext cx="1423035" cy="857250"/>
          </a:xfrm>
          <a:prstGeom prst="bentConnector2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>
            <a:stCxn id="11" idx="1"/>
            <a:endCxn id="9" idx="1"/>
          </p:cNvCxnSpPr>
          <p:nvPr/>
        </p:nvCxnSpPr>
        <p:spPr>
          <a:xfrm rot="10800000">
            <a:off x="2788920" y="3474720"/>
            <a:ext cx="320040" cy="1217295"/>
          </a:xfrm>
          <a:prstGeom prst="bentConnector3">
            <a:avLst>
              <a:gd name="adj1" fmla="val 153571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9" idx="2"/>
            <a:endCxn id="11" idx="0"/>
          </p:cNvCxnSpPr>
          <p:nvPr/>
        </p:nvCxnSpPr>
        <p:spPr>
          <a:xfrm>
            <a:off x="4217670" y="3909060"/>
            <a:ext cx="5715" cy="42291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8" idx="2"/>
            <a:endCxn id="9" idx="0"/>
          </p:cNvCxnSpPr>
          <p:nvPr/>
        </p:nvCxnSpPr>
        <p:spPr>
          <a:xfrm>
            <a:off x="4211955" y="2800350"/>
            <a:ext cx="5715" cy="24003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06490" y="4343400"/>
            <a:ext cx="1725930" cy="6400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Part of program after  iteration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20740" y="3200400"/>
            <a:ext cx="7086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FALSE</a:t>
            </a:r>
            <a:endParaRPr lang="en-IN" sz="15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217670" y="3943350"/>
            <a:ext cx="7086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dirty="0"/>
              <a:t>TRUE</a:t>
            </a:r>
            <a:endParaRPr lang="en-IN" sz="1500" b="1" dirty="0"/>
          </a:p>
        </p:txBody>
      </p:sp>
      <p:sp>
        <p:nvSpPr>
          <p:cNvPr id="24" name="Oval 23"/>
          <p:cNvSpPr/>
          <p:nvPr/>
        </p:nvSpPr>
        <p:spPr>
          <a:xfrm>
            <a:off x="4137660" y="2137410"/>
            <a:ext cx="148590" cy="14859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350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27" name="Rectangle 26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52380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0144 0.13148 0.003 0.2632 0.00131 0.33982 C -0.00039 0.41644 0.01875 0.43843 -0.01002 0.45996 C -0.0388 0.48148 -0.14036 0.50648 -0.17122 0.46875 C -0.20208 0.43102 -0.21783 0.27778 -0.19492 0.23333 C -0.172 0.18889 -0.06875 0.19514 -0.03372 0.20208 C 0.00131 0.20903 0.00834 0.23218 0.01498 0.27546 C 0.02162 0.31875 0.03789 0.42546 0.00625 0.46204 C -0.02539 0.49861 -0.14049 0.53565 -0.175 0.49537 C -0.2095 0.45509 -0.23203 0.26991 -0.20117 0.21991 C -0.17031 0.16991 -0.02851 0.15278 0.01003 0.19537 C 0.04857 0.23796 0.06094 0.42107 0.03008 0.47546 C -0.00078 0.52986 -0.13255 0.55857 -0.175 0.52222 C -0.21744 0.48588 -0.25807 0.3081 -0.225 0.25764 C -0.19192 0.20718 -0.0651 0.22755 0.02383 0.21991 C 0.11276 0.21227 0.25834 0.15926 0.30873 0.21111 C 0.35912 0.26296 0.32331 0.47778 0.32631 0.53102 " pathEditMode="relative" ptsTypes="aaaaaaaaaaaaaaaaA">
                                      <p:cBhvr>
                                        <p:cTn id="10" dur="5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xit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4" grpId="2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449759"/>
            <a:ext cx="8534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rgbClr val="FF0000"/>
                </a:solidFill>
                <a:latin typeface="+mj-lt"/>
              </a:rPr>
              <a:t>The </a:t>
            </a:r>
            <a:r>
              <a:rPr lang="en-US" sz="4400" b="1" i="1" dirty="0">
                <a:solidFill>
                  <a:srgbClr val="FF0000"/>
                </a:solidFill>
                <a:latin typeface="+mj-lt"/>
              </a:rPr>
              <a:t>while</a:t>
            </a:r>
            <a:r>
              <a:rPr lang="en-US" sz="4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4400" dirty="0" smtClean="0">
                <a:solidFill>
                  <a:srgbClr val="FF0000"/>
                </a:solidFill>
                <a:latin typeface="+mj-lt"/>
              </a:rPr>
              <a:t>statement – Example</a:t>
            </a:r>
            <a:endParaRPr lang="en-US" sz="4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4" name="Rectangle 1027"/>
          <p:cNvSpPr txBox="1">
            <a:spLocks noChangeArrowheads="1"/>
          </p:cNvSpPr>
          <p:nvPr/>
        </p:nvSpPr>
        <p:spPr>
          <a:xfrm>
            <a:off x="381000" y="1676400"/>
            <a:ext cx="8534400" cy="3429000"/>
          </a:xfrm>
          <a:prstGeom prst="rect">
            <a:avLst/>
          </a:prstGeom>
        </p:spPr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32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6" name="Rectangle 5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Calculate the sum of first 10 natural numbers.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41444"/>
            <a:ext cx="5975527" cy="27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281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2103967" y="85692"/>
            <a:ext cx="55245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8308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638800"/>
          </a:xfrm>
          <a:noFill/>
          <a:ln>
            <a:solidFill>
              <a:schemeClr val="tx1"/>
            </a:solidFill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solidFill>
                <a:srgbClr val="000000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rgbClr val="0000FF"/>
                </a:solidFill>
              </a:rPr>
              <a:t>Read in numbers, add them</a:t>
            </a:r>
            <a:r>
              <a:rPr lang="en-US" sz="2000" b="1" dirty="0">
                <a:solidFill>
                  <a:srgbClr val="0000FF"/>
                </a:solidFill>
              </a:rPr>
              <a:t>, and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rgbClr val="0000FF"/>
                </a:solidFill>
              </a:rPr>
              <a:t>print </a:t>
            </a:r>
            <a:r>
              <a:rPr lang="en-US" sz="2000" b="1" dirty="0">
                <a:solidFill>
                  <a:srgbClr val="0000FF"/>
                </a:solidFill>
              </a:rPr>
              <a:t>their</a:t>
            </a:r>
            <a:r>
              <a:rPr lang="en-AU" sz="2000" b="1" dirty="0">
                <a:solidFill>
                  <a:srgbClr val="0000FF"/>
                </a:solidFill>
              </a:rPr>
              <a:t> sum and average</a:t>
            </a:r>
          </a:p>
          <a:p>
            <a:pPr>
              <a:spcBef>
                <a:spcPct val="0"/>
              </a:spcBef>
              <a:buFontTx/>
              <a:buNone/>
            </a:pPr>
            <a:endParaRPr lang="en-AU" sz="2000" b="1" dirty="0">
              <a:solidFill>
                <a:srgbClr val="0000FF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2000" b="1" dirty="0">
              <a:solidFill>
                <a:srgbClr val="0000FF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set sum to 0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set count to 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input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endParaRPr lang="en-US" sz="1600" b="1" dirty="0">
              <a:latin typeface="Arial" pitchFamily="34" charset="0"/>
            </a:endParaRP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while  (count &lt;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r>
              <a:rPr lang="en-US" sz="1600" b="1" dirty="0">
                <a:latin typeface="Arial" pitchFamily="34" charset="0"/>
              </a:rPr>
              <a:t>)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{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input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to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1 to count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}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"Sum was"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"Mean was" sum/count </a:t>
            </a:r>
          </a:p>
          <a:p>
            <a:pPr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latin typeface="Arial" pitchFamily="34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4997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867400"/>
          </a:xfrm>
          <a:noFill/>
          <a:ln>
            <a:solidFill>
              <a:schemeClr val="tx1"/>
            </a:solidFill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AU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solidFill>
                  <a:schemeClr val="folHlink"/>
                </a:solidFill>
              </a:rPr>
              <a:t>Read in numbers, add them</a:t>
            </a:r>
            <a:r>
              <a:rPr lang="en-US" sz="2000" b="1">
                <a:solidFill>
                  <a:schemeClr val="folHlink"/>
                </a:solidFill>
              </a:rPr>
              <a:t>, and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>
                <a:solidFill>
                  <a:schemeClr val="folHlink"/>
                </a:solidFill>
              </a:rPr>
              <a:t>print </a:t>
            </a:r>
            <a:r>
              <a:rPr lang="en-US" sz="2000" b="1">
                <a:solidFill>
                  <a:schemeClr val="folHlink"/>
                </a:solidFill>
              </a:rPr>
              <a:t>their</a:t>
            </a:r>
            <a:r>
              <a:rPr lang="en-AU" sz="2000" b="1">
                <a:solidFill>
                  <a:schemeClr val="folHlink"/>
                </a:solidFill>
              </a:rPr>
              <a:t> sum and average</a:t>
            </a:r>
            <a:endParaRPr lang="en-AU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set sum to 0 </a:t>
            </a:r>
          </a:p>
          <a:p>
            <a:pPr>
              <a:buFontTx/>
              <a:buNone/>
            </a:pPr>
            <a:r>
              <a:rPr lang="en-US" sz="1600" b="1">
                <a:latin typeface="Arial" pitchFamily="34" charset="0"/>
              </a:rPr>
              <a:t>set count to 0</a:t>
            </a: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input totalNumbers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>
                <a:latin typeface="Arial" pitchFamily="34" charset="0"/>
              </a:rPr>
              <a:t>while  (count &lt; totalNumbers)</a:t>
            </a:r>
          </a:p>
          <a:p>
            <a:pPr>
              <a:buFontTx/>
              <a:buNone/>
            </a:pPr>
            <a:r>
              <a:rPr lang="en-US" sz="1600" b="1">
                <a:latin typeface="Arial" pitchFamily="34" charset="0"/>
              </a:rPr>
              <a:t>{</a:t>
            </a: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  input nextNum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  add nextNum to sum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  </a:t>
            </a:r>
            <a:r>
              <a:rPr lang="en-US" sz="1600" b="1">
                <a:latin typeface="Arial" pitchFamily="34" charset="0"/>
              </a:rPr>
              <a:t>add 1 to count</a:t>
            </a: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>
                <a:latin typeface="Arial" pitchFamily="34" charset="0"/>
              </a:rPr>
              <a:t>} </a:t>
            </a:r>
            <a:endParaRPr lang="en-US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output "Sum was" sum </a:t>
            </a:r>
          </a:p>
          <a:p>
            <a:pPr>
              <a:buFontTx/>
              <a:buNone/>
            </a:pPr>
            <a:r>
              <a:rPr lang="en-US" sz="1600" b="1">
                <a:solidFill>
                  <a:schemeClr val="folHlink"/>
                </a:solidFill>
                <a:latin typeface="Arial" pitchFamily="34" charset="0"/>
              </a:rPr>
              <a:t>output "Mean was" sum/count </a:t>
            </a:r>
          </a:p>
          <a:p>
            <a:pPr>
              <a:buFontTx/>
              <a:buNone/>
            </a:pPr>
            <a:endParaRPr lang="en-US" sz="1600" b="1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>
              <a:solidFill>
                <a:schemeClr val="folHlink"/>
              </a:solidFill>
              <a:latin typeface="Arial" pitchFamily="34" charset="0"/>
              <a:sym typeface="Symbol" pitchFamily="18" charset="2"/>
            </a:endParaRPr>
          </a:p>
        </p:txBody>
      </p:sp>
      <p:sp>
        <p:nvSpPr>
          <p:cNvPr id="107524" name="AutoShape 4"/>
          <p:cNvSpPr>
            <a:spLocks noChangeArrowheads="1"/>
          </p:cNvSpPr>
          <p:nvPr/>
        </p:nvSpPr>
        <p:spPr bwMode="auto">
          <a:xfrm>
            <a:off x="4191000" y="1905000"/>
            <a:ext cx="2286000" cy="914400"/>
          </a:xfrm>
          <a:prstGeom prst="wedgeRectCallout">
            <a:avLst>
              <a:gd name="adj1" fmla="val -153264"/>
              <a:gd name="adj2" fmla="val 27083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82880" anchor="ctr"/>
          <a:lstStyle/>
          <a:p>
            <a:pPr algn="ctr">
              <a:spcBef>
                <a:spcPct val="0"/>
              </a:spcBef>
            </a:pPr>
            <a:r>
              <a:rPr lang="en-AU" sz="3200">
                <a:solidFill>
                  <a:srgbClr val="FFFFFF"/>
                </a:solidFill>
              </a:rPr>
              <a:t>Initialize</a:t>
            </a:r>
            <a:endParaRPr lang="en-AU" b="1">
              <a:solidFill>
                <a:srgbClr val="FFFFFF"/>
              </a:solidFill>
              <a:latin typeface="Courier New" pitchFamily="49" charset="0"/>
            </a:endParaRPr>
          </a:p>
        </p:txBody>
      </p:sp>
      <p:sp>
        <p:nvSpPr>
          <p:cNvPr id="107525" name="AutoShape 5"/>
          <p:cNvSpPr>
            <a:spLocks noChangeArrowheads="1"/>
          </p:cNvSpPr>
          <p:nvPr/>
        </p:nvSpPr>
        <p:spPr bwMode="auto">
          <a:xfrm>
            <a:off x="5486400" y="3352800"/>
            <a:ext cx="3124200" cy="914400"/>
          </a:xfrm>
          <a:prstGeom prst="wedgeRectCallout">
            <a:avLst>
              <a:gd name="adj1" fmla="val -116870"/>
              <a:gd name="adj2" fmla="val -37500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82880" anchor="ctr"/>
          <a:lstStyle/>
          <a:p>
            <a:pPr algn="ctr">
              <a:spcBef>
                <a:spcPct val="0"/>
              </a:spcBef>
            </a:pPr>
            <a:r>
              <a:rPr lang="en-AU" sz="3200">
                <a:solidFill>
                  <a:srgbClr val="FFFFFF"/>
                </a:solidFill>
              </a:rPr>
              <a:t>Check condition</a:t>
            </a:r>
            <a:endParaRPr lang="en-AU" b="1">
              <a:solidFill>
                <a:srgbClr val="FFFFFF"/>
              </a:solidFill>
              <a:latin typeface="Courier New" pitchFamily="49" charset="0"/>
            </a:endParaRPr>
          </a:p>
        </p:txBody>
      </p:sp>
      <p:sp>
        <p:nvSpPr>
          <p:cNvPr id="107526" name="AutoShape 6"/>
          <p:cNvSpPr>
            <a:spLocks noChangeArrowheads="1"/>
          </p:cNvSpPr>
          <p:nvPr/>
        </p:nvSpPr>
        <p:spPr bwMode="auto">
          <a:xfrm>
            <a:off x="5410200" y="4800600"/>
            <a:ext cx="2286000" cy="914400"/>
          </a:xfrm>
          <a:prstGeom prst="wedgeRectCallout">
            <a:avLst>
              <a:gd name="adj1" fmla="val -195833"/>
              <a:gd name="adj2" fmla="val -63542"/>
            </a:avLst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182880" anchor="ctr"/>
          <a:lstStyle/>
          <a:p>
            <a:pPr algn="ctr">
              <a:spcBef>
                <a:spcPct val="0"/>
              </a:spcBef>
            </a:pPr>
            <a:r>
              <a:rPr lang="en-AU" sz="3200">
                <a:solidFill>
                  <a:srgbClr val="FFFFFF"/>
                </a:solidFill>
              </a:rPr>
              <a:t>Update</a:t>
            </a:r>
            <a:endParaRPr lang="en-AU" b="1">
              <a:solidFill>
                <a:srgbClr val="FFFFFF"/>
              </a:solidFill>
              <a:latin typeface="Courier New" pitchFamily="49" charset="0"/>
            </a:endParaRPr>
          </a:p>
        </p:txBody>
      </p:sp>
      <p:sp>
        <p:nvSpPr>
          <p:cNvPr id="107528" name="Text Box 8"/>
          <p:cNvSpPr txBox="1">
            <a:spLocks noChangeArrowheads="1"/>
          </p:cNvSpPr>
          <p:nvPr/>
        </p:nvSpPr>
        <p:spPr bwMode="auto">
          <a:xfrm>
            <a:off x="4114800" y="914400"/>
            <a:ext cx="4419600" cy="588963"/>
          </a:xfrm>
          <a:prstGeom prst="rect">
            <a:avLst/>
          </a:prstGeom>
          <a:solidFill>
            <a:srgbClr val="99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3200" b="1">
                <a:solidFill>
                  <a:srgbClr val="FFFF00"/>
                </a:solidFill>
              </a:rPr>
              <a:t>Iteration Control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103967" y="85692"/>
            <a:ext cx="55245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4632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4" grpId="0" animBg="1" autoUpdateAnimBg="0"/>
      <p:bldP spid="107525" grpId="0" animBg="1" autoUpdateAnimBg="0"/>
      <p:bldP spid="107526" grpId="0" animBg="1" autoUpdateAnimBg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ChangeArrowheads="1"/>
          </p:cNvSpPr>
          <p:nvPr/>
        </p:nvSpPr>
        <p:spPr bwMode="auto">
          <a:xfrm>
            <a:off x="4038600" y="228600"/>
            <a:ext cx="48768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}</a:t>
            </a: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867400"/>
          </a:xfrm>
          <a:noFill/>
          <a:ln>
            <a:solidFill>
              <a:schemeClr val="tx1"/>
            </a:solidFill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solidFill>
                <a:srgbClr val="000000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chemeClr val="folHlink"/>
                </a:solidFill>
              </a:rPr>
              <a:t>Read in numbers, add them</a:t>
            </a:r>
            <a:r>
              <a:rPr lang="en-US" sz="2000" b="1" dirty="0">
                <a:solidFill>
                  <a:schemeClr val="folHlink"/>
                </a:solidFill>
              </a:rPr>
              <a:t>, and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chemeClr val="folHlink"/>
                </a:solidFill>
              </a:rPr>
              <a:t>print </a:t>
            </a:r>
            <a:r>
              <a:rPr lang="en-US" sz="2000" b="1" dirty="0">
                <a:solidFill>
                  <a:schemeClr val="folHlink"/>
                </a:solidFill>
              </a:rPr>
              <a:t>their</a:t>
            </a:r>
            <a:r>
              <a:rPr lang="en-AU" sz="2000" b="1" dirty="0">
                <a:solidFill>
                  <a:schemeClr val="folHlink"/>
                </a:solidFill>
              </a:rPr>
              <a:t> sum and average</a:t>
            </a:r>
            <a:endParaRPr lang="en-AU" sz="1600" b="1" dirty="0">
              <a:solidFill>
                <a:schemeClr val="folHlink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solidFill>
                <a:srgbClr val="0000FF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set sum to 0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set count to 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input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endParaRPr lang="en-US" sz="1600" b="1" dirty="0">
              <a:latin typeface="Arial" pitchFamily="34" charset="0"/>
            </a:endParaRP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while  (count &lt;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r>
              <a:rPr lang="en-US" sz="1600" b="1" dirty="0">
                <a:latin typeface="Arial" pitchFamily="34" charset="0"/>
              </a:rPr>
              <a:t>)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{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input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to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1 to count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}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"Sum was"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"Mean was" sum/count </a:t>
            </a:r>
          </a:p>
          <a:p>
            <a:pPr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09034" y="68759"/>
            <a:ext cx="3589867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0873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ChangeArrowheads="1"/>
          </p:cNvSpPr>
          <p:nvPr/>
        </p:nvSpPr>
        <p:spPr bwMode="auto">
          <a:xfrm>
            <a:off x="4038600" y="228600"/>
            <a:ext cx="48768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= sum +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//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54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52400" y="838200"/>
            <a:ext cx="3886200" cy="5867400"/>
          </a:xfrm>
          <a:noFill/>
          <a:ln>
            <a:solidFill>
              <a:schemeClr val="tx1"/>
            </a:solidFill>
          </a:ln>
        </p:spPr>
        <p:txBody>
          <a:bodyPr lIns="182880"/>
          <a:lstStyle/>
          <a:p>
            <a:pPr>
              <a:spcBef>
                <a:spcPct val="0"/>
              </a:spcBef>
              <a:buFontTx/>
              <a:buNone/>
            </a:pPr>
            <a:endParaRPr lang="en-US" sz="2000" b="1" dirty="0">
              <a:solidFill>
                <a:schemeClr val="folHlink"/>
              </a:solidFill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chemeClr val="accent2"/>
                </a:solidFill>
              </a:rPr>
              <a:t>Read in numbers, add them,</a:t>
            </a:r>
            <a:r>
              <a:rPr lang="en-US" sz="2000" b="1" dirty="0">
                <a:solidFill>
                  <a:schemeClr val="accent2"/>
                </a:solidFill>
              </a:rPr>
              <a:t> </a:t>
            </a:r>
            <a:r>
              <a:rPr lang="en-AU" sz="2000" b="1" dirty="0">
                <a:solidFill>
                  <a:schemeClr val="accent2"/>
                </a:solidFill>
              </a:rPr>
              <a:t>an</a:t>
            </a:r>
            <a:r>
              <a:rPr lang="en-US" sz="2000" b="1" dirty="0">
                <a:solidFill>
                  <a:schemeClr val="accent2"/>
                </a:solidFill>
              </a:rPr>
              <a:t>d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sz="2000" b="1" dirty="0">
                <a:solidFill>
                  <a:schemeClr val="accent2"/>
                </a:solidFill>
              </a:rPr>
              <a:t> print </a:t>
            </a:r>
            <a:r>
              <a:rPr lang="en-US" sz="2000" b="1" dirty="0">
                <a:solidFill>
                  <a:schemeClr val="accent2"/>
                </a:solidFill>
              </a:rPr>
              <a:t>their</a:t>
            </a:r>
            <a:r>
              <a:rPr lang="en-AU" sz="2000" b="1" dirty="0">
                <a:solidFill>
                  <a:schemeClr val="accent2"/>
                </a:solidFill>
              </a:rPr>
              <a:t> sum and average</a:t>
            </a:r>
            <a:endParaRPr lang="en-AU" sz="1600" b="1" dirty="0">
              <a:solidFill>
                <a:schemeClr val="accent2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 dirty="0">
              <a:solidFill>
                <a:schemeClr val="accent2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solidFill>
                <a:srgbClr val="0000FF"/>
              </a:solidFill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set sum to 0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set count to 0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sz="1600" b="1" dirty="0">
                <a:latin typeface="Arial" pitchFamily="34" charset="0"/>
              </a:rPr>
              <a:t>input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endParaRPr lang="en-US" sz="1600" b="1" dirty="0">
              <a:latin typeface="Arial" pitchFamily="34" charset="0"/>
            </a:endParaRP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while  (count &lt; </a:t>
            </a:r>
            <a:r>
              <a:rPr lang="en-US" sz="1600" b="1" dirty="0" err="1">
                <a:latin typeface="Arial" pitchFamily="34" charset="0"/>
              </a:rPr>
              <a:t>totalNumbers</a:t>
            </a:r>
            <a:r>
              <a:rPr lang="en-US" sz="1600" b="1" dirty="0">
                <a:latin typeface="Arial" pitchFamily="34" charset="0"/>
              </a:rPr>
              <a:t>)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{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input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</a:t>
            </a:r>
            <a:r>
              <a:rPr lang="en-US" sz="1600" b="1" dirty="0" err="1">
                <a:latin typeface="Arial" pitchFamily="34" charset="0"/>
              </a:rPr>
              <a:t>nextNum</a:t>
            </a:r>
            <a:r>
              <a:rPr lang="en-US" sz="1600" b="1" dirty="0">
                <a:latin typeface="Arial" pitchFamily="34" charset="0"/>
              </a:rPr>
              <a:t> to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  add 1 to count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}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 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"Sum was" sum </a:t>
            </a:r>
          </a:p>
          <a:p>
            <a:pPr>
              <a:buFontTx/>
              <a:buNone/>
            </a:pPr>
            <a:r>
              <a:rPr lang="en-US" sz="1600" b="1" dirty="0">
                <a:latin typeface="Arial" pitchFamily="34" charset="0"/>
              </a:rPr>
              <a:t>output "Mean was" sum/count </a:t>
            </a:r>
          </a:p>
          <a:p>
            <a:pPr>
              <a:buFontTx/>
              <a:buNone/>
            </a:pPr>
            <a:endParaRPr lang="en-US" sz="1600" b="1" dirty="0">
              <a:latin typeface="Arial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en-AU" sz="1600" b="1" dirty="0">
              <a:latin typeface="Arial" pitchFamily="34" charset="0"/>
              <a:sym typeface="Symbol" pitchFamily="18" charset="2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152400" y="123280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239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682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graphicFrame>
        <p:nvGraphicFramePr>
          <p:cNvPr id="200152" name="Group 472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0155" name="Text Box 475"/>
          <p:cNvSpPr txBox="1">
            <a:spLocks noChangeArrowheads="1"/>
          </p:cNvSpPr>
          <p:nvPr/>
        </p:nvSpPr>
        <p:spPr bwMode="auto">
          <a:xfrm>
            <a:off x="5410200" y="56388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AU">
              <a:solidFill>
                <a:srgbClr val="000000"/>
              </a:solidFill>
            </a:endParaRP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5139267" y="76200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5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1732" name="Group 4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      3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257800" y="76200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7807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756" name="Group 4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3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       4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2793" name="Text Box 41"/>
          <p:cNvSpPr txBox="1">
            <a:spLocks noChangeArrowheads="1"/>
          </p:cNvSpPr>
          <p:nvPr/>
        </p:nvSpPr>
        <p:spPr bwMode="auto">
          <a:xfrm>
            <a:off x="5410200" y="53340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AU">
              <a:solidFill>
                <a:srgbClr val="000000"/>
              </a:solidFill>
            </a:endParaRPr>
          </a:p>
        </p:txBody>
      </p:sp>
      <p:sp>
        <p:nvSpPr>
          <p:cNvPr id="202794" name="Text Box 42"/>
          <p:cNvSpPr txBox="1">
            <a:spLocks noChangeArrowheads="1"/>
          </p:cNvSpPr>
          <p:nvPr/>
        </p:nvSpPr>
        <p:spPr bwMode="auto">
          <a:xfrm>
            <a:off x="8153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4.0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2795" name="Text Box 43"/>
          <p:cNvSpPr txBox="1">
            <a:spLocks noChangeArrowheads="1"/>
          </p:cNvSpPr>
          <p:nvPr/>
        </p:nvSpPr>
        <p:spPr bwMode="auto">
          <a:xfrm>
            <a:off x="6248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FF"/>
                </a:solidFill>
              </a:rPr>
              <a:t>    1</a:t>
            </a:r>
            <a:endParaRPr lang="en-AU">
              <a:solidFill>
                <a:srgbClr val="0000FF"/>
              </a:solidFill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5105400" y="224879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995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794" grpId="0" autoUpdateAnimBg="0"/>
      <p:bldP spid="202795" grpId="0" autoUpdateAnimBg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6852" name="Group 4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3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 4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-1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6889" name="Text Box 41"/>
          <p:cNvSpPr txBox="1">
            <a:spLocks noChangeArrowheads="1"/>
          </p:cNvSpPr>
          <p:nvPr/>
        </p:nvSpPr>
        <p:spPr bwMode="auto">
          <a:xfrm>
            <a:off x="5410200" y="53340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AU">
              <a:solidFill>
                <a:srgbClr val="000000"/>
              </a:solidFill>
            </a:endParaRPr>
          </a:p>
        </p:txBody>
      </p:sp>
      <p:sp>
        <p:nvSpPr>
          <p:cNvPr id="206890" name="Text Box 42"/>
          <p:cNvSpPr txBox="1">
            <a:spLocks noChangeArrowheads="1"/>
          </p:cNvSpPr>
          <p:nvPr/>
        </p:nvSpPr>
        <p:spPr bwMode="auto">
          <a:xfrm>
            <a:off x="8153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</a:t>
            </a:r>
            <a:r>
              <a:rPr lang="en-US" sz="2800">
                <a:solidFill>
                  <a:srgbClr val="000000"/>
                </a:solidFill>
              </a:rPr>
              <a:t>4.0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6891" name="Text Box 43"/>
          <p:cNvSpPr txBox="1">
            <a:spLocks noChangeArrowheads="1"/>
          </p:cNvSpPr>
          <p:nvPr/>
        </p:nvSpPr>
        <p:spPr bwMode="auto">
          <a:xfrm>
            <a:off x="6248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 1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6892" name="Text Box 44"/>
          <p:cNvSpPr txBox="1">
            <a:spLocks noChangeArrowheads="1"/>
          </p:cNvSpPr>
          <p:nvPr/>
        </p:nvSpPr>
        <p:spPr bwMode="auto">
          <a:xfrm>
            <a:off x="8153400" y="38100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3.0</a:t>
            </a:r>
            <a:endParaRPr lang="en-AU">
              <a:solidFill>
                <a:srgbClr val="33CC33"/>
              </a:solidFill>
            </a:endParaRPr>
          </a:p>
        </p:txBody>
      </p:sp>
      <p:sp>
        <p:nvSpPr>
          <p:cNvPr id="206893" name="Text Box 45"/>
          <p:cNvSpPr txBox="1">
            <a:spLocks noChangeArrowheads="1"/>
          </p:cNvSpPr>
          <p:nvPr/>
        </p:nvSpPr>
        <p:spPr bwMode="auto">
          <a:xfrm>
            <a:off x="6248400" y="38100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</a:t>
            </a:r>
            <a:r>
              <a:rPr lang="en-US" sz="2800">
                <a:solidFill>
                  <a:srgbClr val="0000FF"/>
                </a:solidFill>
              </a:rPr>
              <a:t> 2</a:t>
            </a:r>
            <a:endParaRPr lang="en-AU">
              <a:solidFill>
                <a:srgbClr val="0000FF"/>
              </a:solidFill>
            </a:endParaRP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" name="Text Box 3"/>
          <p:cNvSpPr txBox="1">
            <a:spLocks noChangeArrowheads="1"/>
          </p:cNvSpPr>
          <p:nvPr/>
        </p:nvSpPr>
        <p:spPr bwMode="auto">
          <a:xfrm>
            <a:off x="5105400" y="134392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402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92" grpId="0" autoUpdateAnimBg="0"/>
      <p:bldP spid="206893" grpId="0" autoUpdateAnimBg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876" name="Group 4"/>
          <p:cNvGraphicFramePr>
            <a:graphicFrameLocks noGrp="1"/>
          </p:cNvGraphicFramePr>
          <p:nvPr/>
        </p:nvGraphicFramePr>
        <p:xfrm>
          <a:off x="5029200" y="1066800"/>
          <a:ext cx="3962400" cy="3810000"/>
        </p:xfrm>
        <a:graphic>
          <a:graphicData uri="http://schemas.openxmlformats.org/drawingml/2006/table">
            <a:tbl>
              <a:tblPr/>
              <a:tblGrid>
                <a:gridCol w="1143000"/>
                <a:gridCol w="838200"/>
                <a:gridCol w="1143000"/>
                <a:gridCol w="838200"/>
              </a:tblGrid>
              <a:tr h="8032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totalNumbers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count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nextNum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sum</a:t>
                      </a:r>
                      <a:endParaRPr kumimoji="0" lang="en-AU" sz="1800" b="1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9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????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0.0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3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 4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  -1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    </a:t>
                      </a: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990000"/>
                          </a:solidFill>
                          <a:effectLst/>
                          <a:latin typeface="Times New Roman" pitchFamily="18" charset="0"/>
                        </a:rPr>
                        <a:t>6.2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990000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</a:rPr>
                        <a:t> </a:t>
                      </a:r>
                      <a:endParaRPr kumimoji="0" lang="en-AU" sz="2800" b="0" i="0" u="none" strike="noStrike" cap="none" normalizeH="0" baseline="0" smtClean="0">
                        <a:ln>
                          <a:noFill/>
                        </a:ln>
                        <a:solidFill>
                          <a:srgbClr val="33CC33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07913" name="Text Box 41"/>
          <p:cNvSpPr txBox="1">
            <a:spLocks noChangeArrowheads="1"/>
          </p:cNvSpPr>
          <p:nvPr/>
        </p:nvSpPr>
        <p:spPr bwMode="auto">
          <a:xfrm>
            <a:off x="5410200" y="5334000"/>
            <a:ext cx="8382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4" name="Text Box 42"/>
          <p:cNvSpPr txBox="1">
            <a:spLocks noChangeArrowheads="1"/>
          </p:cNvSpPr>
          <p:nvPr/>
        </p:nvSpPr>
        <p:spPr bwMode="auto">
          <a:xfrm>
            <a:off x="8153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</a:t>
            </a:r>
            <a:r>
              <a:rPr lang="en-US" sz="2800">
                <a:solidFill>
                  <a:srgbClr val="000000"/>
                </a:solidFill>
              </a:rPr>
              <a:t>4.0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5" name="Text Box 43"/>
          <p:cNvSpPr txBox="1">
            <a:spLocks noChangeArrowheads="1"/>
          </p:cNvSpPr>
          <p:nvPr/>
        </p:nvSpPr>
        <p:spPr bwMode="auto">
          <a:xfrm>
            <a:off x="6248400" y="3290888"/>
            <a:ext cx="7620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 1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6" name="Text Box 44"/>
          <p:cNvSpPr txBox="1">
            <a:spLocks noChangeArrowheads="1"/>
          </p:cNvSpPr>
          <p:nvPr/>
        </p:nvSpPr>
        <p:spPr bwMode="auto">
          <a:xfrm>
            <a:off x="8153400" y="38100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</a:t>
            </a:r>
            <a:r>
              <a:rPr lang="en-US" sz="2800">
                <a:solidFill>
                  <a:srgbClr val="000000"/>
                </a:solidFill>
              </a:rPr>
              <a:t>3.0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7" name="Text Box 45"/>
          <p:cNvSpPr txBox="1">
            <a:spLocks noChangeArrowheads="1"/>
          </p:cNvSpPr>
          <p:nvPr/>
        </p:nvSpPr>
        <p:spPr bwMode="auto">
          <a:xfrm>
            <a:off x="6248400" y="38100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</a:t>
            </a:r>
            <a:r>
              <a:rPr lang="en-US" sz="2800">
                <a:solidFill>
                  <a:srgbClr val="0000FF"/>
                </a:solidFill>
              </a:rPr>
              <a:t> </a:t>
            </a:r>
            <a:r>
              <a:rPr lang="en-US" sz="2800">
                <a:solidFill>
                  <a:srgbClr val="000000"/>
                </a:solidFill>
              </a:rPr>
              <a:t>2</a:t>
            </a:r>
            <a:endParaRPr lang="en-AU">
              <a:solidFill>
                <a:srgbClr val="000000"/>
              </a:solidFill>
            </a:endParaRPr>
          </a:p>
        </p:txBody>
      </p:sp>
      <p:sp>
        <p:nvSpPr>
          <p:cNvPr id="207918" name="Text Box 46"/>
          <p:cNvSpPr txBox="1">
            <a:spLocks noChangeArrowheads="1"/>
          </p:cNvSpPr>
          <p:nvPr/>
        </p:nvSpPr>
        <p:spPr bwMode="auto">
          <a:xfrm>
            <a:off x="6248400" y="43434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000000"/>
                </a:solidFill>
              </a:rPr>
              <a:t>   </a:t>
            </a:r>
            <a:r>
              <a:rPr lang="en-US" sz="2800">
                <a:solidFill>
                  <a:srgbClr val="0000FF"/>
                </a:solidFill>
              </a:rPr>
              <a:t> 3</a:t>
            </a:r>
            <a:endParaRPr lang="en-AU">
              <a:solidFill>
                <a:srgbClr val="0000FF"/>
              </a:solidFill>
            </a:endParaRPr>
          </a:p>
        </p:txBody>
      </p:sp>
      <p:sp>
        <p:nvSpPr>
          <p:cNvPr id="207919" name="Text Box 47"/>
          <p:cNvSpPr txBox="1">
            <a:spLocks noChangeArrowheads="1"/>
          </p:cNvSpPr>
          <p:nvPr/>
        </p:nvSpPr>
        <p:spPr bwMode="auto">
          <a:xfrm>
            <a:off x="8153400" y="4343400"/>
            <a:ext cx="762000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800">
                <a:solidFill>
                  <a:srgbClr val="33CC33"/>
                </a:solidFill>
              </a:rPr>
              <a:t> 9.2</a:t>
            </a:r>
            <a:endParaRPr lang="en-AU">
              <a:solidFill>
                <a:srgbClr val="33CC33"/>
              </a:solidFill>
            </a:endParaRPr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0" y="76200"/>
            <a:ext cx="4800600" cy="6477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#include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iostream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&gt;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/**********************************\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Read in numbers and add them up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Print out the sum and the average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\**********************************/</a:t>
            </a:r>
          </a:p>
          <a:p>
            <a:pPr marL="342900" indent="-342900"/>
            <a:r>
              <a:rPr lang="en-US" sz="1600" b="1" dirty="0" err="1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main()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float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, sum = 0.0;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int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count = 0,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total numbers to be summed/averaged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while (count &lt;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totalNumbers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)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{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&lt;&lt; "Enter next number = 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	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&gt;&gt;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sum +=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nextNum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 count++;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}</a:t>
            </a:r>
          </a:p>
          <a:p>
            <a:pPr marL="342900" indent="-342900"/>
            <a:endParaRPr lang="en-US" sz="1600" b="1" dirty="0" smtClean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&lt;&lt;"Sum = "&lt;&lt; sum 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sz="1600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&lt;&lt;"Mean = "&lt;&lt;sum/count&lt;&lt;"\n";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  return 0;</a:t>
            </a:r>
          </a:p>
          <a:p>
            <a:pPr marL="342900" indent="-342900"/>
            <a:r>
              <a:rPr lang="en-US" sz="1600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US" sz="1600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>
              <a:spcBef>
                <a:spcPct val="0"/>
              </a:spcBef>
            </a:pPr>
            <a:endParaRPr lang="en-AU" sz="1600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2" name="Text Box 3"/>
          <p:cNvSpPr txBox="1">
            <a:spLocks noChangeArrowheads="1"/>
          </p:cNvSpPr>
          <p:nvPr/>
        </p:nvSpPr>
        <p:spPr bwMode="auto">
          <a:xfrm>
            <a:off x="5105400" y="162966"/>
            <a:ext cx="38862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4400" dirty="0" smtClean="0">
                <a:solidFill>
                  <a:schemeClr val="accent6">
                    <a:lumMod val="75000"/>
                  </a:schemeClr>
                </a:solidFill>
              </a:rPr>
              <a:t>Example</a:t>
            </a:r>
            <a:endParaRPr lang="en-US" sz="44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60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918" grpId="0" autoUpdateAnimBg="0"/>
      <p:bldP spid="207919" grpId="0" autoUpdateAnimBg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9144000" cy="114300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Common Mistakes in </a:t>
            </a:r>
            <a:r>
              <a:rPr lang="en-US" sz="3600" b="1" dirty="0" smtClean="0">
                <a:solidFill>
                  <a:srgbClr val="FF0000"/>
                </a:solidFill>
                <a:latin typeface="Courier New" pitchFamily="49" charset="0"/>
              </a:rPr>
              <a:t>while – “</a:t>
            </a:r>
            <a:r>
              <a:rPr lang="en-US" sz="3600" i="1" dirty="0">
                <a:solidFill>
                  <a:srgbClr val="FF0000"/>
                </a:solidFill>
              </a:rPr>
              <a:t>one </a:t>
            </a:r>
            <a:r>
              <a:rPr lang="en-US" sz="3600" i="1" dirty="0" smtClean="0">
                <a:solidFill>
                  <a:srgbClr val="FF0000"/>
                </a:solidFill>
              </a:rPr>
              <a:t>liners</a:t>
            </a:r>
            <a:r>
              <a:rPr lang="en-US" sz="3600" b="1" dirty="0" smtClean="0">
                <a:solidFill>
                  <a:srgbClr val="FF0000"/>
                </a:solidFill>
                <a:latin typeface="Courier New" pitchFamily="49" charset="0"/>
              </a:rPr>
              <a:t>”</a:t>
            </a:r>
            <a:endParaRPr lang="en-US" sz="3600" i="1" dirty="0">
              <a:solidFill>
                <a:srgbClr val="FF0000"/>
              </a:solidFill>
            </a:endParaRP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762000" y="1676400"/>
            <a:ext cx="7924800" cy="1524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/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while (num &lt; minimum)</a:t>
            </a:r>
          </a:p>
          <a:p>
            <a:pPr marL="342900" indent="-342900"/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&lt;&lt; “Enter a number”;</a:t>
            </a:r>
          </a:p>
          <a:p>
            <a:pPr marL="342900" indent="-342900"/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&gt;&gt; num</a:t>
            </a:r>
            <a:endParaRPr lang="en-US" b="1" dirty="0">
              <a:solidFill>
                <a:srgbClr val="000000"/>
              </a:solidFill>
              <a:latin typeface="Courier New" pitchFamily="49" charset="0"/>
            </a:endParaRPr>
          </a:p>
          <a:p>
            <a:pPr marL="342900" indent="-342900"/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</a:t>
            </a:r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Number must be greater 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than” &lt;&lt; </a:t>
            </a:r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minimum);</a:t>
            </a:r>
          </a:p>
          <a:p>
            <a:pPr marL="342900" indent="-342900"/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</a:t>
            </a:r>
            <a:r>
              <a:rPr lang="en-AU" b="1" dirty="0">
                <a:solidFill>
                  <a:srgbClr val="000000"/>
                </a:solidFill>
                <a:latin typeface="Courier New" pitchFamily="49" charset="0"/>
              </a:rPr>
              <a:t>Please try again.\n”);</a:t>
            </a:r>
          </a:p>
        </p:txBody>
      </p:sp>
      <p:sp>
        <p:nvSpPr>
          <p:cNvPr id="108552" name="AutoShape 8"/>
          <p:cNvSpPr>
            <a:spLocks noChangeArrowheads="1"/>
          </p:cNvSpPr>
          <p:nvPr/>
        </p:nvSpPr>
        <p:spPr bwMode="auto">
          <a:xfrm>
            <a:off x="4305300" y="3505200"/>
            <a:ext cx="533400" cy="533400"/>
          </a:xfrm>
          <a:prstGeom prst="upDownArrow">
            <a:avLst>
              <a:gd name="adj1" fmla="val 50000"/>
              <a:gd name="adj2" fmla="val 20000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609600" y="4343400"/>
            <a:ext cx="79248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while (num &lt; minimum)</a:t>
            </a:r>
          </a:p>
          <a:p>
            <a:pPr marL="342900" indent="-342900"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&lt;&lt; “Enter a number”;</a:t>
            </a:r>
          </a:p>
          <a:p>
            <a:pPr marL="342900" indent="-342900"/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&gt;&gt; num</a:t>
            </a:r>
          </a:p>
          <a:p>
            <a:pPr marL="342900" indent="-342900"/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(“Number must be greater than” &lt;&lt; minimum);</a:t>
            </a:r>
          </a:p>
          <a:p>
            <a:pPr marL="342900" indent="-342900"/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(“Please try again.\n”);</a:t>
            </a:r>
          </a:p>
          <a:p>
            <a:pPr marL="342900" indent="-342900">
              <a:spcBef>
                <a:spcPct val="0"/>
              </a:spcBef>
            </a:pP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AU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11" name="Rectangle 10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  <p:pic>
        <p:nvPicPr>
          <p:cNvPr id="1026" name="Picture 2" descr="Image result for tick mark gi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4372811"/>
            <a:ext cx="758825" cy="703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613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7" grpId="0" animBg="1" autoUpdateAnimBg="0"/>
      <p:bldP spid="108552" grpId="0" animBg="1"/>
      <p:bldP spid="8" grpId="0" animBg="1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762000" y="2286000"/>
            <a:ext cx="7924800" cy="1981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182880"/>
          <a:lstStyle/>
          <a:p>
            <a:pPr marL="342900" indent="-342900"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while (num &lt; minimum);</a:t>
            </a:r>
          </a:p>
          <a:p>
            <a:pPr marL="342900" indent="-342900">
              <a:spcBef>
                <a:spcPct val="0"/>
              </a:spcBef>
            </a:pPr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{</a:t>
            </a:r>
          </a:p>
          <a:p>
            <a:pPr marL="342900" indent="-342900"/>
            <a:r>
              <a:rPr lang="en-US" b="1" dirty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&lt;&lt; “Enter a number”;</a:t>
            </a:r>
          </a:p>
          <a:p>
            <a:pPr marL="342900" indent="-342900"/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US" b="1" dirty="0" err="1" smtClean="0">
                <a:solidFill>
                  <a:srgbClr val="000000"/>
                </a:solidFill>
                <a:latin typeface="Courier New" pitchFamily="49" charset="0"/>
              </a:rPr>
              <a:t>cin</a:t>
            </a:r>
            <a:r>
              <a:rPr lang="en-US" b="1" dirty="0" smtClean="0">
                <a:solidFill>
                  <a:srgbClr val="000000"/>
                </a:solidFill>
                <a:latin typeface="Courier New" pitchFamily="49" charset="0"/>
              </a:rPr>
              <a:t> &gt;&gt; num</a:t>
            </a:r>
          </a:p>
          <a:p>
            <a:pPr marL="342900" indent="-342900"/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(“Number must be greater than” &lt;&lt; minimum);</a:t>
            </a:r>
          </a:p>
          <a:p>
            <a:pPr marL="342900" indent="-342900"/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  </a:t>
            </a:r>
            <a:r>
              <a:rPr lang="en-AU" b="1" dirty="0" err="1" smtClean="0">
                <a:solidFill>
                  <a:srgbClr val="000000"/>
                </a:solidFill>
                <a:latin typeface="Courier New" pitchFamily="49" charset="0"/>
              </a:rPr>
              <a:t>cout</a:t>
            </a: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(“Please try again.\n”);</a:t>
            </a:r>
          </a:p>
          <a:p>
            <a:pPr marL="342900" indent="-342900">
              <a:spcBef>
                <a:spcPct val="0"/>
              </a:spcBef>
            </a:pPr>
            <a:r>
              <a:rPr lang="en-AU" b="1" dirty="0" smtClean="0">
                <a:solidFill>
                  <a:srgbClr val="000000"/>
                </a:solidFill>
                <a:latin typeface="Courier New" pitchFamily="49" charset="0"/>
              </a:rPr>
              <a:t>}</a:t>
            </a:r>
            <a:endParaRPr lang="en-AU" b="1" dirty="0">
              <a:solidFill>
                <a:srgbClr val="000000"/>
              </a:solidFill>
              <a:latin typeface="Courier New" pitchFamily="49" charset="0"/>
            </a:endParaRPr>
          </a:p>
        </p:txBody>
      </p:sp>
      <p:sp>
        <p:nvSpPr>
          <p:cNvPr id="109575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762000"/>
          </a:xfrm>
          <a:noFill/>
          <a:ln/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Common Mistakes in </a:t>
            </a:r>
            <a:r>
              <a:rPr lang="en-US" sz="3600" b="1" dirty="0" smtClean="0">
                <a:solidFill>
                  <a:srgbClr val="FF0000"/>
                </a:solidFill>
                <a:latin typeface="Courier New" pitchFamily="49" charset="0"/>
              </a:rPr>
              <a:t>while-</a:t>
            </a:r>
            <a:r>
              <a:rPr lang="en-US" sz="3600" dirty="0" smtClean="0">
                <a:solidFill>
                  <a:srgbClr val="FF0000"/>
                </a:solidFill>
              </a:rPr>
              <a:t>extra semicolon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109578" name="AutoShape 10"/>
          <p:cNvSpPr>
            <a:spLocks noChangeArrowheads="1"/>
          </p:cNvSpPr>
          <p:nvPr/>
        </p:nvSpPr>
        <p:spPr bwMode="auto">
          <a:xfrm>
            <a:off x="4343400" y="4724400"/>
            <a:ext cx="4114800" cy="1371600"/>
          </a:xfrm>
          <a:prstGeom prst="wedgeRectCallout">
            <a:avLst>
              <a:gd name="adj1" fmla="val -59282"/>
              <a:gd name="adj2" fmla="val -208001"/>
            </a:avLst>
          </a:prstGeom>
          <a:ln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sz="2800" dirty="0">
                <a:solidFill>
                  <a:srgbClr val="FFFFFF"/>
                </a:solidFill>
                <a:latin typeface="Arial" pitchFamily="34" charset="0"/>
              </a:rPr>
              <a:t>Marks the end of the while-block -- usual cause of </a:t>
            </a:r>
            <a:r>
              <a:rPr lang="en-US" sz="2800" b="1" i="1" dirty="0">
                <a:solidFill>
                  <a:srgbClr val="FFFFFF"/>
                </a:solidFill>
                <a:latin typeface="Arial" pitchFamily="34" charset="0"/>
              </a:rPr>
              <a:t>infinite loops</a:t>
            </a:r>
            <a:endParaRPr lang="en-AU" sz="2800" b="1" i="1" dirty="0">
              <a:solidFill>
                <a:srgbClr val="00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00A7E2"/>
          </a:solidFill>
          <a:ln>
            <a:solidFill>
              <a:srgbClr val="009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/>
          <p:cNvGrpSpPr/>
          <p:nvPr/>
        </p:nvGrpSpPr>
        <p:grpSpPr>
          <a:xfrm>
            <a:off x="0" y="6550223"/>
            <a:ext cx="9144000" cy="307777"/>
            <a:chOff x="0" y="6550223"/>
            <a:chExt cx="9144000" cy="307777"/>
          </a:xfrm>
        </p:grpSpPr>
        <p:sp>
          <p:nvSpPr>
            <p:cNvPr id="7" name="Rectangle 6"/>
            <p:cNvSpPr/>
            <p:nvPr/>
          </p:nvSpPr>
          <p:spPr>
            <a:xfrm>
              <a:off x="0" y="6553200"/>
              <a:ext cx="9144000" cy="304800"/>
            </a:xfrm>
            <a:prstGeom prst="rect">
              <a:avLst/>
            </a:prstGeom>
            <a:solidFill>
              <a:srgbClr val="00A7E2"/>
            </a:solidFill>
            <a:ln>
              <a:solidFill>
                <a:srgbClr val="0091C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0" y="6550223"/>
              <a:ext cx="1676400" cy="307777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FFC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18048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78" grpId="0" animBg="1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ank-you-very-much--thumb10035738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05000" y="990600"/>
            <a:ext cx="525780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1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ivic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18325</TotalTime>
  <Words>3198</Words>
  <Application>Microsoft Office PowerPoint</Application>
  <PresentationFormat>On-screen Show (4:3)</PresentationFormat>
  <Paragraphs>944</Paragraphs>
  <Slides>73</Slides>
  <Notes>37</Notes>
  <HiddenSlides>2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73</vt:i4>
      </vt:variant>
    </vt:vector>
  </HeadingPairs>
  <TitlesOfParts>
    <vt:vector size="91" baseType="lpstr">
      <vt:lpstr>Arial Unicode MS</vt:lpstr>
      <vt:lpstr>AGaramond-Italic--Identity-H</vt:lpstr>
      <vt:lpstr>Agency FB</vt:lpstr>
      <vt:lpstr>Arial</vt:lpstr>
      <vt:lpstr>Calibri</vt:lpstr>
      <vt:lpstr>Cambria</vt:lpstr>
      <vt:lpstr>Courier</vt:lpstr>
      <vt:lpstr>Courier New</vt:lpstr>
      <vt:lpstr>Helvetica</vt:lpstr>
      <vt:lpstr>Perpetua</vt:lpstr>
      <vt:lpstr>Symbol</vt:lpstr>
      <vt:lpstr>Times</vt:lpstr>
      <vt:lpstr>Times New Roman</vt:lpstr>
      <vt:lpstr>Wingdings</vt:lpstr>
      <vt:lpstr>Wingdings 2</vt:lpstr>
      <vt:lpstr>Office Theme</vt:lpstr>
      <vt:lpstr>1_Office Theme</vt:lpstr>
      <vt:lpstr>Civic</vt:lpstr>
      <vt:lpstr>CS-111 Fundamentals of Computer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Examples</vt:lpstr>
      <vt:lpstr>Examples:</vt:lpstr>
      <vt:lpstr>Examples</vt:lpstr>
      <vt:lpstr>Example</vt:lpstr>
      <vt:lpstr>Exercise</vt:lpstr>
      <vt:lpstr>Exercise</vt:lpstr>
      <vt:lpstr>Exercise</vt:lpstr>
      <vt:lpstr>Nested switch statements</vt:lpstr>
      <vt:lpstr>Exercise:  Output?</vt:lpstr>
      <vt:lpstr>Questions??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Flowchart Representation of “while”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Mistakes in while – “one liners”</vt:lpstr>
      <vt:lpstr>Common Mistakes in while-extra semicolon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Quratulain</dc:creator>
  <cp:lastModifiedBy>Muhammad Zohaib Awan</cp:lastModifiedBy>
  <cp:revision>1707</cp:revision>
  <dcterms:created xsi:type="dcterms:W3CDTF">2006-08-16T00:00:00Z</dcterms:created>
  <dcterms:modified xsi:type="dcterms:W3CDTF">2018-10-22T05:35:42Z</dcterms:modified>
</cp:coreProperties>
</file>