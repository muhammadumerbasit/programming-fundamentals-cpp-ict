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7"/>
  </p:notesMasterIdLst>
  <p:sldIdLst>
    <p:sldId id="257" r:id="rId2"/>
    <p:sldId id="824" r:id="rId3"/>
    <p:sldId id="845" r:id="rId4"/>
    <p:sldId id="846" r:id="rId5"/>
    <p:sldId id="847" r:id="rId6"/>
    <p:sldId id="848" r:id="rId7"/>
    <p:sldId id="773" r:id="rId8"/>
    <p:sldId id="797" r:id="rId9"/>
    <p:sldId id="799" r:id="rId10"/>
    <p:sldId id="800" r:id="rId11"/>
    <p:sldId id="801" r:id="rId12"/>
    <p:sldId id="802" r:id="rId13"/>
    <p:sldId id="803" r:id="rId14"/>
    <p:sldId id="774" r:id="rId15"/>
    <p:sldId id="805" r:id="rId16"/>
    <p:sldId id="806" r:id="rId17"/>
    <p:sldId id="810" r:id="rId18"/>
    <p:sldId id="804" r:id="rId19"/>
    <p:sldId id="807" r:id="rId20"/>
    <p:sldId id="809" r:id="rId21"/>
    <p:sldId id="816" r:id="rId22"/>
    <p:sldId id="811" r:id="rId23"/>
    <p:sldId id="775" r:id="rId24"/>
    <p:sldId id="808" r:id="rId25"/>
    <p:sldId id="812" r:id="rId26"/>
    <p:sldId id="813" r:id="rId27"/>
    <p:sldId id="817" r:id="rId28"/>
    <p:sldId id="780" r:id="rId29"/>
    <p:sldId id="814" r:id="rId30"/>
    <p:sldId id="818" r:id="rId31"/>
    <p:sldId id="815" r:id="rId32"/>
    <p:sldId id="820" r:id="rId33"/>
    <p:sldId id="821" r:id="rId34"/>
    <p:sldId id="823" r:id="rId35"/>
    <p:sldId id="325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2E84"/>
    <a:srgbClr val="AD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34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8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41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6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821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77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6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32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73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13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6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82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24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56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4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85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050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985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41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696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15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504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22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313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38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651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9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389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864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14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135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536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835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315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13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9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527774"/>
            <a:ext cx="6654627" cy="21895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71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5073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9913" y="3746267"/>
            <a:ext cx="6400800" cy="1752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Lecture 09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Functions – 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81600" y="6144994"/>
            <a:ext cx="24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752600"/>
            <a:ext cx="5410200" cy="43611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" y="152723"/>
            <a:ext cx="845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</a:rPr>
              <a:t>Honesty &amp; Integrity</a:t>
            </a:r>
            <a:endParaRPr lang="en-US" sz="5400" b="1" dirty="0">
              <a:solidFill>
                <a:schemeClr val="accent6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1026" name="Picture 2" descr="Image result for honesty and integr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28776"/>
            <a:ext cx="3733800" cy="550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8723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Road Map for Today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267200"/>
          </a:xfrm>
          <a:prstGeom prst="rect">
            <a:avLst/>
          </a:prstGeom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 smtClean="0">
                <a:solidFill>
                  <a:prstClr val="black"/>
                </a:solidFill>
              </a:rPr>
              <a:t>Functions</a:t>
            </a: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8458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 Exercise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 program </a:t>
            </a:r>
            <a:r>
              <a:rPr lang="en-US" dirty="0" smtClean="0"/>
              <a:t>which </a:t>
            </a:r>
            <a:r>
              <a:rPr lang="en-US" dirty="0"/>
              <a:t>prints ten asterisks (*) in </a:t>
            </a:r>
            <a:r>
              <a:rPr lang="en-US" dirty="0" smtClean="0"/>
              <a:t>line (**********) first using </a:t>
            </a:r>
            <a:r>
              <a:rPr lang="en-US" b="1" i="1" dirty="0" smtClean="0">
                <a:solidFill>
                  <a:srgbClr val="C00000"/>
                </a:solidFill>
              </a:rPr>
              <a:t>while</a:t>
            </a:r>
            <a:r>
              <a:rPr lang="en-US" dirty="0" smtClean="0"/>
              <a:t> loop and then using a </a:t>
            </a:r>
            <a:r>
              <a:rPr lang="en-US" b="1" i="1" dirty="0" smtClean="0">
                <a:solidFill>
                  <a:srgbClr val="C00000"/>
                </a:solidFill>
              </a:rPr>
              <a:t>for</a:t>
            </a:r>
            <a:r>
              <a:rPr lang="en-US" dirty="0" smtClean="0"/>
              <a:t> loop.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644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Exercise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 program which r</a:t>
            </a:r>
            <a:r>
              <a:rPr lang="en-US" dirty="0" smtClean="0"/>
              <a:t>epeatedly prints </a:t>
            </a:r>
            <a:r>
              <a:rPr lang="en-US" dirty="0"/>
              <a:t>the value of the variable </a:t>
            </a:r>
            <a:r>
              <a:rPr lang="en-US" dirty="0" err="1"/>
              <a:t>xValue</a:t>
            </a:r>
            <a:r>
              <a:rPr lang="en-US" dirty="0"/>
              <a:t>, decreasing it by 0.5 each time, as long as </a:t>
            </a:r>
            <a:r>
              <a:rPr lang="en-US" dirty="0" err="1"/>
              <a:t>xValue</a:t>
            </a:r>
            <a:r>
              <a:rPr lang="en-US" dirty="0"/>
              <a:t> remains </a:t>
            </a:r>
            <a:r>
              <a:rPr lang="en-US" dirty="0" smtClean="0"/>
              <a:t>positive.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0522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Exercise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Write a program to Drive </a:t>
            </a:r>
            <a:r>
              <a:rPr lang="en-US" dirty="0"/>
              <a:t>the user crazy by insisting they re-enter a particular input no matter what they enter. </a:t>
            </a:r>
            <a:r>
              <a:rPr lang="en-US" i="1" dirty="0"/>
              <a:t>Be creative...</a:t>
            </a:r>
          </a:p>
        </p:txBody>
      </p:sp>
    </p:spTree>
    <p:extLst>
      <p:ext uri="{BB962C8B-B14F-4D97-AF65-F5344CB8AC3E}">
        <p14:creationId xmlns:p14="http://schemas.microsoft.com/office/powerpoint/2010/main" val="29600103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 Quick Recap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76200" y="1676400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/>
              <a:t>Various constructs to help us write useful </a:t>
            </a:r>
            <a:r>
              <a:rPr lang="en-US" sz="3200" dirty="0" smtClean="0"/>
              <a:t>programs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Variables &amp; </a:t>
            </a:r>
            <a:r>
              <a:rPr lang="en-US" sz="3200" dirty="0"/>
              <a:t>Input/output statements </a:t>
            </a:r>
            <a:endParaRPr lang="en-US" sz="32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Arithmetic &amp; Assignment statements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Sequential </a:t>
            </a:r>
            <a:r>
              <a:rPr lang="en-US" sz="3200" dirty="0"/>
              <a:t>and conditional statements </a:t>
            </a:r>
            <a:endParaRPr lang="en-US" sz="32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Iteration/looping constructs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kern="0" dirty="0"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kern="0" dirty="0" smtClean="0">
              <a:latin typeface="+mj-lt"/>
            </a:endParaRPr>
          </a:p>
          <a:p>
            <a:pPr lvl="1" algn="ctr"/>
            <a:r>
              <a:rPr lang="en-US" sz="3200" b="1" dirty="0">
                <a:solidFill>
                  <a:srgbClr val="FF0000"/>
                </a:solidFill>
              </a:rPr>
              <a:t>All encapsulated within “main( )”</a:t>
            </a:r>
            <a:endParaRPr lang="en-US" sz="3200" b="1" kern="0" dirty="0" smtClean="0">
              <a:solidFill>
                <a:srgbClr val="FF0000"/>
              </a:solidFill>
              <a:latin typeface="+mj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757506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Overview </a:t>
            </a:r>
            <a:r>
              <a:rPr lang="en-US" sz="4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of This Lecture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76200" y="1302604"/>
            <a:ext cx="9067800" cy="4793396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Break away from the monopoly of </a:t>
            </a:r>
            <a:r>
              <a:rPr lang="en-US" sz="3200" dirty="0">
                <a:solidFill>
                  <a:srgbClr val="FF0000"/>
                </a:solidFill>
              </a:rPr>
              <a:t>“main()” </a:t>
            </a:r>
            <a:endParaRPr lang="en-US" sz="3200" dirty="0" smtClean="0">
              <a:solidFill>
                <a:srgbClr val="FF0000"/>
              </a:solidFill>
            </a:endParaRPr>
          </a:p>
          <a:p>
            <a:pPr lvl="2"/>
            <a:r>
              <a:rPr lang="en-US" sz="3200" dirty="0" smtClean="0"/>
              <a:t>Have </a:t>
            </a:r>
            <a:r>
              <a:rPr lang="en-US" sz="3200" dirty="0"/>
              <a:t>other sub-units of a program that can </a:t>
            </a:r>
            <a:r>
              <a:rPr lang="en-US" sz="3200" b="1" dirty="0"/>
              <a:t>compute </a:t>
            </a:r>
            <a:endParaRPr lang="en-US" sz="3200" b="1" dirty="0" smtClean="0"/>
          </a:p>
          <a:p>
            <a:pPr lvl="2"/>
            <a:r>
              <a:rPr lang="en-US" sz="3200" dirty="0" smtClean="0"/>
              <a:t>Reduce </a:t>
            </a:r>
            <a:r>
              <a:rPr lang="en-US" sz="3200" dirty="0"/>
              <a:t>the burden of programming </a:t>
            </a:r>
            <a:r>
              <a:rPr lang="en-US" sz="3200" dirty="0" smtClean="0"/>
              <a:t>each and everything </a:t>
            </a:r>
            <a:r>
              <a:rPr lang="en-US" sz="3200" dirty="0"/>
              <a:t>in </a:t>
            </a:r>
            <a:r>
              <a:rPr lang="en-US" sz="3200" dirty="0">
                <a:solidFill>
                  <a:srgbClr val="FF0000"/>
                </a:solidFill>
              </a:rPr>
              <a:t>“main()” </a:t>
            </a:r>
            <a:endParaRPr lang="en-US" sz="3200" dirty="0" smtClean="0">
              <a:solidFill>
                <a:srgbClr val="FF0000"/>
              </a:solidFill>
            </a:endParaRPr>
          </a:p>
          <a:p>
            <a:pPr lvl="2"/>
            <a:endParaRPr lang="en-US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smtClean="0"/>
              <a:t>A complex problem is often easier to solve by dividing it into several smaller parts, each of which can be solved by itself. </a:t>
            </a:r>
            <a:endParaRPr lang="en-US" sz="3200" kern="0" dirty="0" smtClean="0">
              <a:latin typeface="+mj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943100" y="3116758"/>
            <a:ext cx="5524500" cy="76944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Hello Dear </a:t>
            </a:r>
            <a:r>
              <a:rPr lang="en-US" sz="4400" dirty="0" smtClean="0">
                <a:solidFill>
                  <a:srgbClr val="C00000"/>
                </a:solidFill>
              </a:rPr>
              <a:t>Functions!!!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0" y="5181600"/>
            <a:ext cx="510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(divide and conquer)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486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Introduction to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Functions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76200" y="1317486"/>
            <a:ext cx="8839200" cy="4778514"/>
          </a:xfrm>
          <a:prstGeom prst="rect">
            <a:avLst/>
          </a:prstGeom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sz="3200" kern="0" dirty="0"/>
              <a:t>Functions are the building blocks of C++ programs.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 function is a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named block of code that performs some </a:t>
            </a:r>
            <a:r>
              <a:rPr kumimoji="0" lang="en-US" sz="3200" b="1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ACTION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071495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Introduction to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Functions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76200" y="1447800"/>
            <a:ext cx="8839200" cy="4648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3200" kern="0" baseline="0" dirty="0" smtClean="0">
                <a:latin typeface="+mj-lt"/>
              </a:rPr>
              <a:t>The</a:t>
            </a:r>
            <a:r>
              <a:rPr lang="en-US" sz="3200" kern="0" dirty="0" smtClean="0">
                <a:latin typeface="+mj-lt"/>
              </a:rPr>
              <a:t> statements written in a function are executed when it is </a:t>
            </a:r>
            <a:r>
              <a:rPr lang="en-US" sz="3200" u="sng" kern="0" dirty="0" smtClean="0">
                <a:latin typeface="+mj-lt"/>
              </a:rPr>
              <a:t>called</a:t>
            </a:r>
            <a:r>
              <a:rPr lang="en-US" sz="3200" kern="0" dirty="0" smtClean="0">
                <a:latin typeface="+mj-lt"/>
              </a:rPr>
              <a:t> by its name.</a:t>
            </a:r>
          </a:p>
          <a:p>
            <a:pPr marL="800100" lvl="1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sz="3200" kern="0" dirty="0" smtClean="0">
                <a:latin typeface="+mj-lt"/>
              </a:rPr>
              <a:t>Each function has a </a:t>
            </a:r>
            <a:r>
              <a:rPr lang="en-US" sz="3200" b="1" kern="0" dirty="0" smtClean="0">
                <a:latin typeface="+mj-lt"/>
              </a:rPr>
              <a:t>UNIQUE NAME.</a:t>
            </a:r>
          </a:p>
          <a:p>
            <a:pPr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/>
            </a:pPr>
            <a:endParaRPr kumimoji="0" lang="en-US" sz="32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sz="3200" kern="0" noProof="0" dirty="0" smtClean="0">
                <a:latin typeface="+mj-lt"/>
              </a:rPr>
              <a:t>One function can be called </a:t>
            </a:r>
            <a:r>
              <a:rPr lang="en-US" sz="3200" b="1" kern="0" noProof="0" dirty="0" smtClean="0">
                <a:latin typeface="+mj-lt"/>
              </a:rPr>
              <a:t>MULTIPLE TIMES</a:t>
            </a:r>
            <a:r>
              <a:rPr lang="en-US" sz="3200" kern="0" noProof="0" dirty="0" smtClean="0">
                <a:latin typeface="+mj-lt"/>
              </a:rPr>
              <a:t> in a single program.</a:t>
            </a:r>
            <a:endParaRPr kumimoji="0" lang="en-US" sz="32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319202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Advantages of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Functions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76200" y="1447800"/>
            <a:ext cx="8839200" cy="4648200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3200" dirty="0" smtClean="0"/>
              <a:t>Easier </a:t>
            </a:r>
            <a:r>
              <a:rPr lang="en-US" altLang="en-US" sz="3200" dirty="0"/>
              <a:t>to  </a:t>
            </a:r>
            <a:r>
              <a:rPr lang="en-US" altLang="en-US" sz="3200" dirty="0" smtClean="0"/>
              <a:t>Understand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3200" dirty="0" smtClean="0"/>
              <a:t>Easier to Modify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3200" dirty="0"/>
              <a:t>Easier to </a:t>
            </a:r>
            <a:r>
              <a:rPr lang="en-US" altLang="en-US" sz="3200" dirty="0" smtClean="0"/>
              <a:t>Maintain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3200" dirty="0" smtClean="0"/>
              <a:t>Provide Program Reusability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3200" dirty="0" smtClean="0"/>
              <a:t>Separate </a:t>
            </a:r>
            <a:r>
              <a:rPr lang="en-US" altLang="en-US" sz="3200" dirty="0"/>
              <a:t>the </a:t>
            </a:r>
            <a:r>
              <a:rPr lang="en-US" altLang="en-US" sz="3200" dirty="0" smtClean="0"/>
              <a:t>Concept </a:t>
            </a:r>
            <a:r>
              <a:rPr lang="en-US" altLang="en-US" sz="3200" dirty="0"/>
              <a:t>(</a:t>
            </a:r>
            <a:r>
              <a:rPr lang="en-US" altLang="en-US" sz="3200" u="sng" dirty="0"/>
              <a:t>what is done</a:t>
            </a:r>
            <a:r>
              <a:rPr lang="en-US" altLang="en-US" sz="3200" dirty="0"/>
              <a:t>) from the </a:t>
            </a:r>
            <a:r>
              <a:rPr lang="en-US" altLang="en-US" sz="3200" dirty="0" smtClean="0"/>
              <a:t>Implementation </a:t>
            </a:r>
            <a:r>
              <a:rPr lang="en-US" altLang="en-US" sz="3200" dirty="0"/>
              <a:t>(</a:t>
            </a:r>
            <a:r>
              <a:rPr lang="en-US" altLang="en-US" sz="3200" u="sng" dirty="0"/>
              <a:t>how it is done</a:t>
            </a:r>
            <a:r>
              <a:rPr lang="en-US" altLang="en-US" sz="3200" dirty="0" smtClean="0"/>
              <a:t>)</a:t>
            </a:r>
            <a:endParaRPr lang="en-US" altLang="en-US" sz="3200" dirty="0"/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alt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694008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Advantages of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Functions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76200" y="1447800"/>
            <a:ext cx="8839200" cy="4648200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3200" dirty="0" smtClean="0"/>
              <a:t>Easier </a:t>
            </a:r>
            <a:r>
              <a:rPr lang="en-US" altLang="en-US" sz="3200" dirty="0"/>
              <a:t>to  </a:t>
            </a:r>
            <a:r>
              <a:rPr lang="en-US" altLang="en-US" sz="3200" dirty="0" smtClean="0"/>
              <a:t>Understand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3200" dirty="0" smtClean="0"/>
              <a:t>Easier to Modify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3200" dirty="0"/>
              <a:t>Easier to </a:t>
            </a:r>
            <a:r>
              <a:rPr lang="en-US" altLang="en-US" sz="3200" dirty="0" smtClean="0"/>
              <a:t>Maintain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3200" dirty="0" smtClean="0"/>
              <a:t>Provide Program Reusability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3200" dirty="0" smtClean="0"/>
              <a:t>Separate </a:t>
            </a:r>
            <a:r>
              <a:rPr lang="en-US" altLang="en-US" sz="3200" dirty="0"/>
              <a:t>the </a:t>
            </a:r>
            <a:r>
              <a:rPr lang="en-US" altLang="en-US" sz="3200" dirty="0" smtClean="0"/>
              <a:t>Concept </a:t>
            </a:r>
            <a:r>
              <a:rPr lang="en-US" altLang="en-US" sz="3200" dirty="0"/>
              <a:t>(</a:t>
            </a:r>
            <a:r>
              <a:rPr lang="en-US" altLang="en-US" sz="3200" u="sng" dirty="0"/>
              <a:t>what is done</a:t>
            </a:r>
            <a:r>
              <a:rPr lang="en-US" altLang="en-US" sz="3200" dirty="0"/>
              <a:t>) from the </a:t>
            </a:r>
            <a:r>
              <a:rPr lang="en-US" altLang="en-US" sz="3200" dirty="0" smtClean="0"/>
              <a:t>Implementation </a:t>
            </a:r>
            <a:r>
              <a:rPr lang="en-US" altLang="en-US" sz="3200" dirty="0"/>
              <a:t>(</a:t>
            </a:r>
            <a:r>
              <a:rPr lang="en-US" altLang="en-US" sz="3200" u="sng" dirty="0"/>
              <a:t>how it is done</a:t>
            </a:r>
            <a:r>
              <a:rPr lang="en-US" altLang="en-US" sz="3200" dirty="0" smtClean="0"/>
              <a:t>)</a:t>
            </a:r>
            <a:endParaRPr lang="en-US" altLang="en-US" sz="3200" dirty="0"/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alt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1282690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C++ Functions</a:t>
            </a:r>
            <a:endParaRPr lang="en-US" sz="6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854793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Function</a:t>
            </a:r>
            <a:r>
              <a:rPr lang="en-US" sz="3600" dirty="0" smtClean="0">
                <a:solidFill>
                  <a:srgbClr val="FF0000"/>
                </a:solidFill>
              </a:rPr>
              <a:t> – </a:t>
            </a:r>
            <a:r>
              <a:rPr lang="en-US" sz="36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syntax </a:t>
            </a:r>
            <a:endParaRPr lang="en-US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Function Prototypes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Function Definitions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</a:rPr>
              <a:t>Function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674135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641" y="3006691"/>
            <a:ext cx="1964512" cy="117870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289" y="3030630"/>
            <a:ext cx="1735307" cy="11547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64728" y="4117796"/>
            <a:ext cx="8534400" cy="1326531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None/>
            </a:pPr>
            <a:endParaRPr lang="en-US" altLang="en-US" sz="2400" b="1" dirty="0" smtClean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Return-type Function-name</a:t>
            </a:r>
            <a:r>
              <a:rPr lang="en-US" altLang="en-US" sz="24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(parameter-list); </a:t>
            </a:r>
          </a:p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236" y="367991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unction</a:t>
            </a:r>
            <a:r>
              <a:rPr lang="en-US" sz="3600" dirty="0" smtClean="0">
                <a:solidFill>
                  <a:srgbClr val="FF0000"/>
                </a:solidFill>
              </a:rPr>
              <a:t> Prototypes</a:t>
            </a:r>
            <a:endParaRPr lang="en-US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64728" y="1315962"/>
            <a:ext cx="8979272" cy="4780038"/>
          </a:xfrm>
          <a:prstGeom prst="rect">
            <a:avLst/>
          </a:prstGeom>
        </p:spPr>
        <p:txBody>
          <a:bodyPr/>
          <a:lstStyle/>
          <a:p>
            <a:r>
              <a:rPr lang="en-US" sz="3200" dirty="0"/>
              <a:t>A </a:t>
            </a:r>
            <a:r>
              <a:rPr lang="en-US" sz="3200" b="1" dirty="0"/>
              <a:t>function prototype</a:t>
            </a:r>
            <a:r>
              <a:rPr lang="en-US" sz="3200" dirty="0"/>
              <a:t> </a:t>
            </a:r>
            <a:r>
              <a:rPr lang="en-US" sz="3200" dirty="0" smtClean="0"/>
              <a:t>is </a:t>
            </a:r>
            <a:r>
              <a:rPr lang="en-US" sz="3200" dirty="0"/>
              <a:t>a declaration </a:t>
            </a:r>
            <a:r>
              <a:rPr lang="en-US" sz="3200" dirty="0" smtClean="0"/>
              <a:t>of a</a:t>
            </a:r>
            <a:r>
              <a:rPr lang="en-US" sz="3200" dirty="0"/>
              <a:t> function that specifies the </a:t>
            </a:r>
            <a:r>
              <a:rPr lang="en-US" sz="3200" b="1" i="1" dirty="0">
                <a:solidFill>
                  <a:srgbClr val="C00000"/>
                </a:solidFill>
              </a:rPr>
              <a:t>function's </a:t>
            </a:r>
            <a:r>
              <a:rPr lang="en-US" sz="3200" b="1" i="1" dirty="0" smtClean="0">
                <a:solidFill>
                  <a:srgbClr val="C00000"/>
                </a:solidFill>
              </a:rPr>
              <a:t>name </a:t>
            </a:r>
            <a:r>
              <a:rPr lang="en-US" sz="3200" dirty="0" smtClean="0"/>
              <a:t>and</a:t>
            </a:r>
            <a:r>
              <a:rPr lang="en-US" sz="3200" dirty="0"/>
              <a:t> </a:t>
            </a:r>
            <a:r>
              <a:rPr lang="en-US" sz="3200" b="1" i="1" dirty="0">
                <a:solidFill>
                  <a:srgbClr val="C00000"/>
                </a:solidFill>
              </a:rPr>
              <a:t>type </a:t>
            </a:r>
            <a:r>
              <a:rPr lang="en-US" sz="3200" b="1" i="1" dirty="0" smtClean="0">
                <a:solidFill>
                  <a:srgbClr val="C00000"/>
                </a:solidFill>
              </a:rPr>
              <a:t>signature </a:t>
            </a:r>
            <a:r>
              <a:rPr lang="en-US" sz="3200" dirty="0"/>
              <a:t>but omits the function body.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6643073" y="4618267"/>
            <a:ext cx="1752600" cy="1764268"/>
            <a:chOff x="6858000" y="2592547"/>
            <a:chExt cx="1752600" cy="2095686"/>
          </a:xfrm>
        </p:grpSpPr>
        <p:sp>
          <p:nvSpPr>
            <p:cNvPr id="10" name="Oval 9"/>
            <p:cNvSpPr/>
            <p:nvPr/>
          </p:nvSpPr>
          <p:spPr>
            <a:xfrm>
              <a:off x="7946343" y="2592547"/>
              <a:ext cx="304800" cy="4572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ounded Rectangular Callout 10"/>
            <p:cNvSpPr/>
            <p:nvPr/>
          </p:nvSpPr>
          <p:spPr>
            <a:xfrm>
              <a:off x="6858000" y="4010228"/>
              <a:ext cx="1752600" cy="678005"/>
            </a:xfrm>
            <a:prstGeom prst="wedgeRoundRectCallout">
              <a:avLst>
                <a:gd name="adj1" fmla="val 20085"/>
                <a:gd name="adj2" fmla="val -183541"/>
                <a:gd name="adj3" fmla="val 16667"/>
              </a:avLst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C00000"/>
                  </a:solidFill>
                </a:rPr>
                <a:t>Note the semicolon here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048000" y="5058384"/>
            <a:ext cx="2209800" cy="1480627"/>
            <a:chOff x="2971800" y="4759573"/>
            <a:chExt cx="2209800" cy="1480627"/>
          </a:xfrm>
        </p:grpSpPr>
        <p:sp>
          <p:nvSpPr>
            <p:cNvPr id="16" name="Isosceles Triangle 15"/>
            <p:cNvSpPr/>
            <p:nvPr/>
          </p:nvSpPr>
          <p:spPr>
            <a:xfrm>
              <a:off x="3657600" y="4759573"/>
              <a:ext cx="533400" cy="761054"/>
            </a:xfrm>
            <a:prstGeom prst="triangl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Callout 12"/>
            <p:cNvSpPr/>
            <p:nvPr/>
          </p:nvSpPr>
          <p:spPr>
            <a:xfrm>
              <a:off x="2971800" y="5447156"/>
              <a:ext cx="2209800" cy="793044"/>
            </a:xfrm>
            <a:prstGeom prst="wedgeEllipseCallout">
              <a:avLst>
                <a:gd name="adj1" fmla="val 53471"/>
                <a:gd name="adj2" fmla="val -129555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Function signature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505" y="2864800"/>
            <a:ext cx="1964512" cy="117870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153" y="2888739"/>
            <a:ext cx="1735307" cy="115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128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1152" y="3449060"/>
            <a:ext cx="8534400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None/>
            </a:pPr>
            <a:r>
              <a:rPr lang="en-US" alt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Return-type Function-name</a:t>
            </a:r>
            <a:r>
              <a:rPr lang="en-US" altLang="en-US" sz="24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(parameter-list) </a:t>
            </a:r>
          </a:p>
          <a:p>
            <a:pPr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  <a:endParaRPr lang="en-US" altLang="en-US" sz="2400" dirty="0" smtClean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400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statement(s);</a:t>
            </a:r>
          </a:p>
          <a:p>
            <a:pPr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unction</a:t>
            </a:r>
            <a:r>
              <a:rPr lang="en-US" sz="3600" dirty="0" smtClean="0">
                <a:solidFill>
                  <a:srgbClr val="FF0000"/>
                </a:solidFill>
              </a:rPr>
              <a:t> Definitions</a:t>
            </a:r>
            <a:endParaRPr lang="en-US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/>
              <a:t>A </a:t>
            </a:r>
            <a:r>
              <a:rPr lang="en-US" sz="3200" dirty="0" smtClean="0"/>
              <a:t>set of statements that explains what a function does is called </a:t>
            </a:r>
            <a:r>
              <a:rPr lang="en-US" sz="3200" b="1" dirty="0" smtClean="0"/>
              <a:t>Function Definition.</a:t>
            </a:r>
            <a:endParaRPr lang="en-US" sz="3200" kern="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4" name="Oval Callout 13"/>
          <p:cNvSpPr/>
          <p:nvPr/>
        </p:nvSpPr>
        <p:spPr>
          <a:xfrm>
            <a:off x="5212876" y="4553960"/>
            <a:ext cx="3657600" cy="838200"/>
          </a:xfrm>
          <a:prstGeom prst="wedgeEllipseCallout">
            <a:avLst>
              <a:gd name="adj1" fmla="val -20666"/>
              <a:gd name="adj2" fmla="val -113349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Here we can have 0, 1 or many parameters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0013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unction</a:t>
            </a:r>
            <a:r>
              <a:rPr lang="en-US" sz="3600" dirty="0" smtClean="0">
                <a:solidFill>
                  <a:srgbClr val="FF0000"/>
                </a:solidFill>
              </a:rPr>
              <a:t> Definitions</a:t>
            </a:r>
            <a:endParaRPr lang="en-US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In an program, a function definition can be</a:t>
            </a:r>
            <a:r>
              <a:rPr lang="en-US" sz="3200" b="1" dirty="0"/>
              <a:t> </a:t>
            </a:r>
            <a:r>
              <a:rPr lang="en-US" sz="3200" dirty="0" smtClean="0"/>
              <a:t>written at: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Before main() function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After main() function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In a separate file</a:t>
            </a:r>
          </a:p>
          <a:p>
            <a:endParaRPr lang="en-US" sz="3200" kern="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6656795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913530" y="3089411"/>
            <a:ext cx="4862584" cy="882767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None/>
            </a:pPr>
            <a:r>
              <a:rPr lang="en-US" altLang="en-US" sz="2400" b="1" dirty="0" err="1" smtClean="0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 Sum</a:t>
            </a:r>
            <a:r>
              <a:rPr lang="en-US" altLang="en-US" sz="24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a , </a:t>
            </a:r>
            <a:r>
              <a:rPr lang="en-US" altLang="en-US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b);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449759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unction</a:t>
            </a:r>
            <a:r>
              <a:rPr lang="en-US" sz="4000" dirty="0" smtClean="0">
                <a:solidFill>
                  <a:srgbClr val="FF0000"/>
                </a:solidFill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Prototype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-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/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tabLst/>
              <a:defRPr/>
            </a:pPr>
            <a:endParaRPr lang="en-US" sz="3200" kern="0" dirty="0" smtClean="0">
              <a:latin typeface="+mj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4" name="Oval Callout 13"/>
          <p:cNvSpPr/>
          <p:nvPr/>
        </p:nvSpPr>
        <p:spPr>
          <a:xfrm>
            <a:off x="438434" y="1692818"/>
            <a:ext cx="1447800" cy="825266"/>
          </a:xfrm>
          <a:prstGeom prst="wedgeEllipseCallout">
            <a:avLst>
              <a:gd name="adj1" fmla="val 73518"/>
              <a:gd name="adj2" fmla="val 151184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Return-type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Oval Callout 8"/>
          <p:cNvSpPr/>
          <p:nvPr/>
        </p:nvSpPr>
        <p:spPr>
          <a:xfrm>
            <a:off x="2649087" y="1676400"/>
            <a:ext cx="1447800" cy="825266"/>
          </a:xfrm>
          <a:prstGeom prst="wedgeEllipseCallout">
            <a:avLst>
              <a:gd name="adj1" fmla="val -16976"/>
              <a:gd name="adj2" fmla="val 154491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Function-name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Oval Callout 9"/>
          <p:cNvSpPr/>
          <p:nvPr/>
        </p:nvSpPr>
        <p:spPr>
          <a:xfrm>
            <a:off x="4923430" y="1975979"/>
            <a:ext cx="1852684" cy="825266"/>
          </a:xfrm>
          <a:prstGeom prst="wedgeEllipseCallout">
            <a:avLst>
              <a:gd name="adj1" fmla="val -65052"/>
              <a:gd name="adj2" fmla="val 119763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Parameter-list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019800" y="3338345"/>
            <a:ext cx="304800" cy="38489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917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  <p:bldP spid="10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7116" y="2349266"/>
            <a:ext cx="8534400" cy="283233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None/>
            </a:pPr>
            <a:r>
              <a:rPr lang="en-US" altLang="en-US" sz="2400" b="1" dirty="0" err="1" smtClean="0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 Sum</a:t>
            </a:r>
            <a:r>
              <a:rPr lang="en-US" altLang="en-US" sz="24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a , </a:t>
            </a:r>
            <a:r>
              <a:rPr lang="en-US" altLang="en-US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b) </a:t>
            </a:r>
          </a:p>
          <a:p>
            <a:pPr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  <a:endParaRPr lang="en-US" altLang="en-US" sz="2400" dirty="0" smtClean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400" i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sum;</a:t>
            </a:r>
          </a:p>
          <a:p>
            <a:pPr>
              <a:buFontTx/>
              <a:buNone/>
            </a:pPr>
            <a:r>
              <a:rPr lang="en-US" altLang="en-US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400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sum = a + b;</a:t>
            </a:r>
          </a:p>
          <a:p>
            <a:pPr>
              <a:buFontTx/>
              <a:buNone/>
            </a:pPr>
            <a:r>
              <a:rPr lang="en-US" altLang="en-US" sz="2400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return sum;</a:t>
            </a:r>
          </a:p>
          <a:p>
            <a:pPr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449759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unction</a:t>
            </a:r>
            <a:r>
              <a:rPr lang="en-US" sz="4000" dirty="0" smtClean="0">
                <a:solidFill>
                  <a:srgbClr val="FF0000"/>
                </a:solidFill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Definition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-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/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tabLst/>
              <a:defRPr/>
            </a:pPr>
            <a:endParaRPr lang="en-US" sz="3200" kern="0" dirty="0" smtClean="0">
              <a:latin typeface="+mj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4" name="Oval Callout 13"/>
          <p:cNvSpPr/>
          <p:nvPr/>
        </p:nvSpPr>
        <p:spPr>
          <a:xfrm>
            <a:off x="114300" y="1035167"/>
            <a:ext cx="1447800" cy="825266"/>
          </a:xfrm>
          <a:prstGeom prst="wedgeEllipseCallout">
            <a:avLst>
              <a:gd name="adj1" fmla="val 1877"/>
              <a:gd name="adj2" fmla="val 134646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Return-type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Oval Callout 8"/>
          <p:cNvSpPr/>
          <p:nvPr/>
        </p:nvSpPr>
        <p:spPr>
          <a:xfrm>
            <a:off x="2057400" y="1157645"/>
            <a:ext cx="1447800" cy="825266"/>
          </a:xfrm>
          <a:prstGeom prst="wedgeEllipseCallout">
            <a:avLst>
              <a:gd name="adj1" fmla="val -74478"/>
              <a:gd name="adj2" fmla="val 111494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Function-name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Oval Callout 9"/>
          <p:cNvSpPr/>
          <p:nvPr/>
        </p:nvSpPr>
        <p:spPr>
          <a:xfrm>
            <a:off x="3924300" y="1157645"/>
            <a:ext cx="1790700" cy="825266"/>
          </a:xfrm>
          <a:prstGeom prst="wedgeEllipseCallout">
            <a:avLst>
              <a:gd name="adj1" fmla="val -58453"/>
              <a:gd name="adj2" fmla="val 114802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Parameter-list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048000" y="2492427"/>
            <a:ext cx="3048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4876800" y="3359060"/>
            <a:ext cx="3352800" cy="1289140"/>
          </a:xfrm>
          <a:prstGeom prst="wedgeRoundRectCallout">
            <a:avLst>
              <a:gd name="adj1" fmla="val -96952"/>
              <a:gd name="adj2" fmla="val -88890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Multiple parameters should be separated by commas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1153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  <p:bldP spid="10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6106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A statement that activates a function is known as a </a:t>
            </a:r>
            <a:r>
              <a:rPr lang="en-US" sz="3200" b="1" dirty="0" smtClean="0"/>
              <a:t>Function Call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One function calls another by using function signature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Monotype Sorts" pitchFamily="2" charset="2"/>
              <a:buNone/>
            </a:pPr>
            <a:endParaRPr lang="en-US" sz="3200" dirty="0" smtClean="0"/>
          </a:p>
          <a:p>
            <a:pPr>
              <a:buFont typeface="Monotype Sorts" pitchFamily="2" charset="2"/>
              <a:buNone/>
            </a:pP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unction</a:t>
            </a:r>
            <a:r>
              <a:rPr lang="en-US" sz="3600" dirty="0" smtClean="0">
                <a:solidFill>
                  <a:srgbClr val="FF0000"/>
                </a:solidFill>
              </a:rPr>
              <a:t> Call</a:t>
            </a:r>
            <a:endParaRPr lang="en-US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7106529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44606" y="1643713"/>
            <a:ext cx="4953000" cy="4419600"/>
          </a:xfrm>
          <a:prstGeom prst="rect">
            <a:avLst/>
          </a:prstGeo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3200" dirty="0" smtClean="0"/>
              <a:t>The following steps take place when a function is called: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The control moves to the function that is called.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All statements in function body are executed.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Control returns back to calling function.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unction</a:t>
            </a:r>
            <a:r>
              <a:rPr lang="en-US" sz="3600" dirty="0" smtClean="0">
                <a:solidFill>
                  <a:srgbClr val="FF0000"/>
                </a:solidFill>
              </a:rPr>
              <a:t> Call</a:t>
            </a:r>
            <a:endParaRPr lang="en-US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606" y="2159415"/>
            <a:ext cx="3733800" cy="356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3290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unction</a:t>
            </a:r>
            <a:r>
              <a:rPr lang="en-US" sz="3600" dirty="0" smtClean="0">
                <a:solidFill>
                  <a:srgbClr val="FF0000"/>
                </a:solidFill>
              </a:rPr>
              <a:t> Call – Syntax </a:t>
            </a:r>
            <a:endParaRPr lang="en-US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1295400" y="2368601"/>
            <a:ext cx="6248400" cy="1326531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None/>
            </a:pPr>
            <a:endParaRPr lang="en-US" altLang="en-US" sz="2400" b="1" dirty="0" smtClean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Function-name</a:t>
            </a:r>
            <a:r>
              <a:rPr lang="en-US" altLang="en-US" sz="24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(parameter-list); 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221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0500" y="385971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C++ Functions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371600"/>
            <a:ext cx="8534400" cy="4724400"/>
          </a:xfrm>
          <a:prstGeom prst="rect">
            <a:avLst/>
          </a:prstGeom>
        </p:spPr>
        <p:txBody>
          <a:bodyPr/>
          <a:lstStyle/>
          <a:p>
            <a:r>
              <a:rPr lang="en-US" altLang="en-US" sz="3200" dirty="0"/>
              <a:t>C++ allows the use of both </a:t>
            </a:r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internal</a:t>
            </a:r>
            <a:r>
              <a:rPr lang="en-US" altLang="en-US" sz="3200" dirty="0"/>
              <a:t> </a:t>
            </a:r>
            <a:r>
              <a:rPr lang="en-US" altLang="en-US" sz="3200" dirty="0" smtClean="0"/>
              <a:t>and </a:t>
            </a:r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</a:t>
            </a:r>
            <a:r>
              <a:rPr lang="en-US" altLang="en-US" sz="3200" dirty="0"/>
              <a:t> functions.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 smtClean="0">
                <a:solidFill>
                  <a:srgbClr val="0070C0"/>
                </a:solidFill>
              </a:rPr>
              <a:t>Internal Functions </a:t>
            </a:r>
            <a:r>
              <a:rPr lang="en-US" altLang="en-US" sz="3200" dirty="0" smtClean="0"/>
              <a:t>– User defined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rgbClr val="0070C0"/>
                </a:solidFill>
              </a:rPr>
              <a:t>External functions </a:t>
            </a:r>
            <a:r>
              <a:rPr lang="en-US" altLang="en-US" sz="3200" dirty="0"/>
              <a:t>– </a:t>
            </a:r>
            <a:r>
              <a:rPr lang="en-US" altLang="en-US" sz="3200" dirty="0" smtClean="0"/>
              <a:t>Pre-defined (</a:t>
            </a:r>
            <a:r>
              <a:rPr lang="en-US" altLang="en-US" sz="3200" dirty="0"/>
              <a:t>e.g., </a:t>
            </a:r>
            <a:r>
              <a:rPr lang="en-US" altLang="en-US" sz="3200" b="1" dirty="0">
                <a:latin typeface="Courier New" panose="02070309020205020404" pitchFamily="49" charset="0"/>
              </a:rPr>
              <a:t>abs</a:t>
            </a:r>
            <a:r>
              <a:rPr lang="en-US" altLang="en-US" sz="3200" dirty="0"/>
              <a:t>,</a:t>
            </a:r>
            <a:r>
              <a:rPr lang="en-US" altLang="en-US" sz="3200" b="1" dirty="0"/>
              <a:t> </a:t>
            </a:r>
            <a:r>
              <a:rPr lang="en-US" altLang="en-US" sz="3200" b="1" dirty="0">
                <a:latin typeface="Courier New" panose="02070309020205020404" pitchFamily="49" charset="0"/>
              </a:rPr>
              <a:t>ceil</a:t>
            </a:r>
            <a:r>
              <a:rPr lang="en-US" altLang="en-US" sz="3200" dirty="0"/>
              <a:t>,</a:t>
            </a:r>
            <a:r>
              <a:rPr lang="en-US" altLang="en-US" sz="3200" b="1" dirty="0"/>
              <a:t> </a:t>
            </a:r>
            <a:r>
              <a:rPr lang="en-US" altLang="en-US" sz="3200" b="1" dirty="0">
                <a:latin typeface="Courier New" panose="02070309020205020404" pitchFamily="49" charset="0"/>
              </a:rPr>
              <a:t>rand</a:t>
            </a:r>
            <a:r>
              <a:rPr lang="en-US" altLang="en-US" sz="3200" dirty="0"/>
              <a:t>, </a:t>
            </a:r>
            <a:r>
              <a:rPr lang="en-US" altLang="en-US" sz="3200" b="1" dirty="0" err="1">
                <a:latin typeface="Courier New" panose="02070309020205020404" pitchFamily="49" charset="0"/>
              </a:rPr>
              <a:t>sqrt</a:t>
            </a:r>
            <a:r>
              <a:rPr lang="en-US" altLang="en-US" sz="3200" dirty="0"/>
              <a:t>, etc.) are usually grouped into specialized libraries (e.g., </a:t>
            </a:r>
            <a:r>
              <a:rPr lang="en-US" altLang="en-US" sz="3200" b="1" dirty="0" err="1">
                <a:latin typeface="Courier New" panose="02070309020205020404" pitchFamily="49" charset="0"/>
              </a:rPr>
              <a:t>iostream</a:t>
            </a:r>
            <a:r>
              <a:rPr lang="en-US" altLang="en-US" sz="3200" b="1" dirty="0"/>
              <a:t>, </a:t>
            </a:r>
            <a:r>
              <a:rPr lang="en-US" altLang="en-US" sz="3200" b="1" dirty="0" err="1">
                <a:latin typeface="Courier New" panose="02070309020205020404" pitchFamily="49" charset="0"/>
              </a:rPr>
              <a:t>stdlib</a:t>
            </a:r>
            <a:r>
              <a:rPr lang="en-US" altLang="en-US" sz="3200" dirty="0"/>
              <a:t>,</a:t>
            </a:r>
            <a:r>
              <a:rPr lang="en-US" altLang="en-US" sz="3200" b="1" dirty="0"/>
              <a:t> </a:t>
            </a:r>
            <a:r>
              <a:rPr lang="en-US" altLang="en-US" sz="3200" b="1" dirty="0">
                <a:latin typeface="Courier New" panose="02070309020205020404" pitchFamily="49" charset="0"/>
              </a:rPr>
              <a:t>math</a:t>
            </a:r>
            <a:r>
              <a:rPr lang="en-US" altLang="en-US" sz="3200" dirty="0"/>
              <a:t>, etc.) </a:t>
            </a:r>
          </a:p>
        </p:txBody>
      </p:sp>
    </p:spTree>
    <p:extLst>
      <p:ext uri="{BB962C8B-B14F-4D97-AF65-F5344CB8AC3E}">
        <p14:creationId xmlns:p14="http://schemas.microsoft.com/office/powerpoint/2010/main" val="38595607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0500" y="385971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Internal Functions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C++ programs usually have the following form: </a:t>
            </a:r>
          </a:p>
          <a:p>
            <a:pPr>
              <a:lnSpc>
                <a:spcPct val="90000"/>
              </a:lnSpc>
            </a:pPr>
            <a:endParaRPr lang="en-US" altLang="en-US" sz="3200" dirty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 dirty="0"/>
              <a:t>  </a:t>
            </a:r>
            <a:r>
              <a:rPr lang="en-US" altLang="en-US" sz="3200" dirty="0">
                <a:solidFill>
                  <a:srgbClr val="C00000"/>
                </a:solidFill>
              </a:rPr>
              <a:t>// include statements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 dirty="0">
                <a:solidFill>
                  <a:srgbClr val="C00000"/>
                </a:solidFill>
              </a:rPr>
              <a:t>  // function prototypes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 dirty="0">
                <a:solidFill>
                  <a:srgbClr val="C00000"/>
                </a:solidFill>
              </a:rPr>
              <a:t>  // main() </a:t>
            </a:r>
            <a:r>
              <a:rPr lang="en-US" altLang="en-US" sz="3200" dirty="0" smtClean="0">
                <a:solidFill>
                  <a:srgbClr val="C00000"/>
                </a:solidFill>
              </a:rPr>
              <a:t>function – has the function call</a:t>
            </a:r>
            <a:endParaRPr lang="en-US" altLang="en-US" sz="3200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 dirty="0">
                <a:solidFill>
                  <a:srgbClr val="C00000"/>
                </a:solidFill>
              </a:rPr>
              <a:t>  // function definitions</a:t>
            </a:r>
          </a:p>
        </p:txBody>
      </p:sp>
    </p:spTree>
    <p:extLst>
      <p:ext uri="{BB962C8B-B14F-4D97-AF65-F5344CB8AC3E}">
        <p14:creationId xmlns:p14="http://schemas.microsoft.com/office/powerpoint/2010/main" val="1955745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0500" y="385971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Internal Functions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C++ programs usually have the following form: </a:t>
            </a:r>
          </a:p>
          <a:p>
            <a:pPr>
              <a:lnSpc>
                <a:spcPct val="90000"/>
              </a:lnSpc>
            </a:pPr>
            <a:endParaRPr lang="en-US" altLang="en-US" sz="3200" dirty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 dirty="0"/>
              <a:t>  </a:t>
            </a:r>
            <a:r>
              <a:rPr lang="en-US" altLang="en-US" sz="3200" dirty="0">
                <a:solidFill>
                  <a:srgbClr val="C00000"/>
                </a:solidFill>
              </a:rPr>
              <a:t>// include statements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 dirty="0" smtClean="0">
                <a:solidFill>
                  <a:srgbClr val="C00000"/>
                </a:solidFill>
              </a:rPr>
              <a:t>  // function prototypes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 dirty="0" smtClean="0">
                <a:solidFill>
                  <a:srgbClr val="C00000"/>
                </a:solidFill>
              </a:rPr>
              <a:t>  // main() function – has the function call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 dirty="0" smtClean="0">
                <a:solidFill>
                  <a:srgbClr val="C00000"/>
                </a:solidFill>
              </a:rPr>
              <a:t>  // function definitions</a:t>
            </a:r>
            <a:endParaRPr lang="en-US" altLang="en-US" sz="3200" dirty="0">
              <a:solidFill>
                <a:srgbClr val="C00000"/>
              </a:solidFill>
            </a:endParaRPr>
          </a:p>
        </p:txBody>
      </p:sp>
      <p:sp>
        <p:nvSpPr>
          <p:cNvPr id="9" name="Oval Callout 8"/>
          <p:cNvSpPr/>
          <p:nvPr/>
        </p:nvSpPr>
        <p:spPr>
          <a:xfrm>
            <a:off x="5638800" y="2336140"/>
            <a:ext cx="2895600" cy="990600"/>
          </a:xfrm>
          <a:prstGeom prst="wedgeEllipseCallout">
            <a:avLst>
              <a:gd name="adj1" fmla="val -77221"/>
              <a:gd name="adj2" fmla="val 43713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What if we skip </a:t>
            </a:r>
            <a:r>
              <a:rPr lang="en-US" b="1" dirty="0" smtClean="0">
                <a:solidFill>
                  <a:schemeClr val="tx1"/>
                </a:solidFill>
              </a:rPr>
              <a:t>the prototype </a:t>
            </a:r>
            <a:r>
              <a:rPr lang="en-US" b="1" dirty="0">
                <a:solidFill>
                  <a:schemeClr val="tx1"/>
                </a:solidFill>
              </a:rPr>
              <a:t>here</a:t>
            </a:r>
            <a:r>
              <a:rPr lang="en-US" b="1" dirty="0" smtClean="0">
                <a:solidFill>
                  <a:schemeClr val="tx1"/>
                </a:solidFill>
              </a:rPr>
              <a:t>?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2292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0500" y="385971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Internal Functions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C++ programs usually have the following form: </a:t>
            </a:r>
          </a:p>
          <a:p>
            <a:pPr>
              <a:lnSpc>
                <a:spcPct val="90000"/>
              </a:lnSpc>
            </a:pPr>
            <a:endParaRPr lang="en-US" altLang="en-US" sz="3200" dirty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 dirty="0"/>
              <a:t>  </a:t>
            </a:r>
            <a:r>
              <a:rPr lang="en-US" altLang="en-US" sz="3200" dirty="0">
                <a:solidFill>
                  <a:srgbClr val="C00000"/>
                </a:solidFill>
              </a:rPr>
              <a:t>// include statements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>
                <a:solidFill>
                  <a:srgbClr val="C00000"/>
                </a:solidFill>
              </a:rPr>
              <a:t>  // function </a:t>
            </a:r>
            <a:r>
              <a:rPr lang="en-US" altLang="en-US" sz="3200" dirty="0" smtClean="0">
                <a:solidFill>
                  <a:srgbClr val="C00000"/>
                </a:solidFill>
              </a:rPr>
              <a:t>definitions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 dirty="0" smtClean="0">
                <a:solidFill>
                  <a:srgbClr val="C00000"/>
                </a:solidFill>
              </a:rPr>
              <a:t>  // main() function – has the function call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200" dirty="0" smtClean="0">
                <a:solidFill>
                  <a:srgbClr val="C00000"/>
                </a:solidFill>
              </a:rPr>
              <a:t>  </a:t>
            </a:r>
            <a:endParaRPr lang="en-US" altLang="en-US" sz="3200" dirty="0">
              <a:solidFill>
                <a:srgbClr val="C00000"/>
              </a:solidFill>
            </a:endParaRPr>
          </a:p>
        </p:txBody>
      </p:sp>
      <p:sp>
        <p:nvSpPr>
          <p:cNvPr id="9" name="Oval Callout 8"/>
          <p:cNvSpPr/>
          <p:nvPr/>
        </p:nvSpPr>
        <p:spPr>
          <a:xfrm>
            <a:off x="5638800" y="2336140"/>
            <a:ext cx="3276600" cy="990600"/>
          </a:xfrm>
          <a:prstGeom prst="wedgeEllipseCallout">
            <a:avLst>
              <a:gd name="adj1" fmla="val -71390"/>
              <a:gd name="adj2" fmla="val 42335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Give the function definition before the function is called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03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3083" y="227463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External Functions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060875"/>
            <a:ext cx="6843167" cy="551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747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C++ Function – Example </a:t>
            </a:r>
            <a:r>
              <a:rPr lang="en-US" sz="4000" dirty="0">
                <a:solidFill>
                  <a:srgbClr val="FF0000"/>
                </a:solidFill>
              </a:rPr>
              <a:t>(Cube) 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18363" y="849224"/>
            <a:ext cx="8849437" cy="5632311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Cube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main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yourNumber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14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myNumber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9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"My Number ="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 its cube is"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Cube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myNumber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"Your Number =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yourNumber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 its cube is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Cube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yourNumber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Cube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  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3352800" y="1295400"/>
            <a:ext cx="1905000" cy="685800"/>
          </a:xfrm>
          <a:prstGeom prst="wedgeRoundRectCallout">
            <a:avLst>
              <a:gd name="adj1" fmla="val -81729"/>
              <a:gd name="adj2" fmla="val 30659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prototype</a:t>
            </a:r>
            <a:endParaRPr lang="en-US" b="1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5791200" y="2446179"/>
            <a:ext cx="1219200" cy="1219200"/>
          </a:xfrm>
          <a:prstGeom prst="wedgeRoundRectCallout">
            <a:avLst>
              <a:gd name="adj1" fmla="val -62251"/>
              <a:gd name="adj2" fmla="val 72575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Call</a:t>
            </a:r>
            <a:endParaRPr lang="en-US" b="1" dirty="0"/>
          </a:p>
        </p:txBody>
      </p:sp>
      <p:sp>
        <p:nvSpPr>
          <p:cNvPr id="19" name="Rounded Rectangular Callout 18"/>
          <p:cNvSpPr/>
          <p:nvPr/>
        </p:nvSpPr>
        <p:spPr>
          <a:xfrm>
            <a:off x="7383439" y="2416609"/>
            <a:ext cx="1219200" cy="1219200"/>
          </a:xfrm>
          <a:prstGeom prst="wedgeRoundRectCallout">
            <a:avLst>
              <a:gd name="adj1" fmla="val -131654"/>
              <a:gd name="adj2" fmla="val 115112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Call</a:t>
            </a:r>
            <a:endParaRPr lang="en-US" b="1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3616088" y="5334000"/>
            <a:ext cx="1905000" cy="685800"/>
          </a:xfrm>
          <a:prstGeom prst="wedgeRoundRectCallout">
            <a:avLst>
              <a:gd name="adj1" fmla="val -102506"/>
              <a:gd name="adj2" fmla="val -4297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definition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077103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C++ Function – Example </a:t>
            </a:r>
            <a:r>
              <a:rPr lang="en-US" sz="4000" dirty="0">
                <a:solidFill>
                  <a:srgbClr val="FF0000"/>
                </a:solidFill>
              </a:rPr>
              <a:t>(Cube) 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18363" y="849224"/>
            <a:ext cx="8849437" cy="5909310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Cube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endParaRPr lang="en-US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Cube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   return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/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main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yourNumber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14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myNumber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9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"My Number ="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 its cube is"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Cube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myNumber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"Your Number =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yourNumber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 its cube is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Cube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yourNumber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3352800" y="1295400"/>
            <a:ext cx="1905000" cy="685800"/>
          </a:xfrm>
          <a:prstGeom prst="wedgeRoundRectCallout">
            <a:avLst>
              <a:gd name="adj1" fmla="val -81729"/>
              <a:gd name="adj2" fmla="val 30659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prototype</a:t>
            </a:r>
            <a:endParaRPr lang="en-US" b="1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5715000" y="3764941"/>
            <a:ext cx="1219200" cy="1219200"/>
          </a:xfrm>
          <a:prstGeom prst="wedgeRoundRectCallout">
            <a:avLst>
              <a:gd name="adj1" fmla="val -62251"/>
              <a:gd name="adj2" fmla="val 72575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Call</a:t>
            </a:r>
            <a:endParaRPr lang="en-US" b="1" dirty="0"/>
          </a:p>
        </p:txBody>
      </p:sp>
      <p:sp>
        <p:nvSpPr>
          <p:cNvPr id="19" name="Rounded Rectangular Callout 18"/>
          <p:cNvSpPr/>
          <p:nvPr/>
        </p:nvSpPr>
        <p:spPr>
          <a:xfrm>
            <a:off x="7416990" y="3820965"/>
            <a:ext cx="1219200" cy="1219200"/>
          </a:xfrm>
          <a:prstGeom prst="wedgeRoundRectCallout">
            <a:avLst>
              <a:gd name="adj1" fmla="val -131654"/>
              <a:gd name="adj2" fmla="val 115112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Call</a:t>
            </a:r>
            <a:endParaRPr lang="en-US" b="1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3713613" y="2562280"/>
            <a:ext cx="1183374" cy="685800"/>
          </a:xfrm>
          <a:prstGeom prst="wedgeRoundRectCallout">
            <a:avLst>
              <a:gd name="adj1" fmla="val -144024"/>
              <a:gd name="adj2" fmla="val -6486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definition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222501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C++ Function – Example (Cube)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18363" y="849224"/>
            <a:ext cx="8849437" cy="5632311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Cube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   return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/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main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yourNumber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14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myNumber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9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"My Number ="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 its cube is"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Cube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myNumber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"Your Number =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yourNumber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 its cube is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Cube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yourNumber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5715000" y="3598095"/>
            <a:ext cx="1219200" cy="1219200"/>
          </a:xfrm>
          <a:prstGeom prst="wedgeRoundRectCallout">
            <a:avLst>
              <a:gd name="adj1" fmla="val -62251"/>
              <a:gd name="adj2" fmla="val 72575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Call</a:t>
            </a:r>
            <a:endParaRPr lang="en-US" b="1" dirty="0"/>
          </a:p>
        </p:txBody>
      </p:sp>
      <p:sp>
        <p:nvSpPr>
          <p:cNvPr id="19" name="Rounded Rectangular Callout 18"/>
          <p:cNvSpPr/>
          <p:nvPr/>
        </p:nvSpPr>
        <p:spPr>
          <a:xfrm>
            <a:off x="7543800" y="3580948"/>
            <a:ext cx="1219200" cy="1219200"/>
          </a:xfrm>
          <a:prstGeom prst="wedgeRoundRectCallout">
            <a:avLst>
              <a:gd name="adj1" fmla="val -131654"/>
              <a:gd name="adj2" fmla="val 115112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Call</a:t>
            </a:r>
            <a:endParaRPr lang="en-US" b="1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3713613" y="2562280"/>
            <a:ext cx="1183374" cy="685800"/>
          </a:xfrm>
          <a:prstGeom prst="wedgeRoundRectCallout">
            <a:avLst>
              <a:gd name="adj1" fmla="val -147484"/>
              <a:gd name="adj2" fmla="val -10864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definition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981487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C++ Function – Example (</a:t>
            </a:r>
            <a:r>
              <a:rPr lang="en-US" sz="4000" dirty="0" err="1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AddNumbers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)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95320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3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"The result is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>
              <a:effectLst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3434117" y="3200400"/>
            <a:ext cx="1219200" cy="1219200"/>
          </a:xfrm>
          <a:prstGeom prst="wedgeRoundRectCallout">
            <a:avLst>
              <a:gd name="adj1" fmla="val -62251"/>
              <a:gd name="adj2" fmla="val 72575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Call</a:t>
            </a:r>
            <a:endParaRPr lang="en-US" b="1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5410200" y="1899526"/>
            <a:ext cx="1183374" cy="685800"/>
          </a:xfrm>
          <a:prstGeom prst="wedgeRoundRectCallout">
            <a:avLst>
              <a:gd name="adj1" fmla="val -169396"/>
              <a:gd name="adj2" fmla="val -1511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definition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41273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Exercise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 program which calls a function which prints ten asterisks (*) in line. (**********).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In </a:t>
            </a:r>
            <a:r>
              <a:rPr lang="en-US" dirty="0"/>
              <a:t>this example main function just calls the function named </a:t>
            </a:r>
            <a:r>
              <a:rPr lang="en-US" b="1" dirty="0"/>
              <a:t>asterisks </a:t>
            </a:r>
            <a:r>
              <a:rPr lang="en-US" dirty="0"/>
              <a:t>which just prints the line of ten asterisks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8832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5188" y="419044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Class Work – Solution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21775" y="1414705"/>
            <a:ext cx="8849437" cy="3693319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asterisks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en-US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808080"/>
                </a:solidFill>
                <a:latin typeface="Courier New" panose="02070309020205020404" pitchFamily="49" charset="0"/>
              </a:rPr>
              <a:t>"*"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asterisks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218764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Quiz 04 in next class</a:t>
            </a:r>
            <a:endParaRPr lang="en-US" sz="6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020155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524000"/>
            <a:ext cx="8229600" cy="45259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endParaRPr lang="en-US" dirty="0"/>
          </a:p>
          <a:p>
            <a:pPr algn="ctr">
              <a:buFont typeface="Wingdings" pitchFamily="2" charset="2"/>
              <a:buNone/>
            </a:pPr>
            <a:endParaRPr lang="en-US" dirty="0"/>
          </a:p>
          <a:p>
            <a:pPr algn="ctr">
              <a:buFont typeface="Wingdings" pitchFamily="2" charset="2"/>
              <a:buNone/>
            </a:pPr>
            <a:endParaRPr lang="en-US" dirty="0"/>
          </a:p>
          <a:p>
            <a:pPr algn="ctr">
              <a:buFont typeface="Wingdings" pitchFamily="2" charset="2"/>
              <a:buNone/>
            </a:pPr>
            <a:r>
              <a:rPr lang="en-US" dirty="0" smtClean="0"/>
              <a:t> </a:t>
            </a:r>
            <a:r>
              <a:rPr lang="en-US" dirty="0"/>
              <a:t>Thank You</a:t>
            </a:r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1295400"/>
            <a:ext cx="1219200" cy="1219200"/>
          </a:xfrm>
          <a:prstGeom prst="rect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</p:spPr>
      </p:pic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609600" y="4495800"/>
            <a:ext cx="7943850" cy="1649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sz="2200" b="1" dirty="0">
                <a:latin typeface="Arial" pitchFamily="34" charset="0"/>
              </a:rPr>
              <a:t>The illiterate of the 21st century will not be those who cannot read </a:t>
            </a:r>
            <a:r>
              <a:rPr lang="en-US" sz="2200" b="1">
                <a:latin typeface="Arial" pitchFamily="34" charset="0"/>
              </a:rPr>
              <a:t>and </a:t>
            </a:r>
            <a:r>
              <a:rPr lang="en-US" sz="2200" b="1" smtClean="0">
                <a:latin typeface="Arial" pitchFamily="34" charset="0"/>
              </a:rPr>
              <a:t>write, </a:t>
            </a:r>
            <a:endParaRPr lang="en-US" sz="2200" b="1" dirty="0"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lang="en-US" sz="2200" b="1" dirty="0">
                <a:latin typeface="Arial" pitchFamily="34" charset="0"/>
              </a:rPr>
              <a:t>but those who </a:t>
            </a:r>
            <a:r>
              <a:rPr lang="en-US" sz="2200" b="1">
                <a:latin typeface="Arial" pitchFamily="34" charset="0"/>
              </a:rPr>
              <a:t>cannot </a:t>
            </a:r>
            <a:r>
              <a:rPr lang="en-US" sz="2200" b="1" smtClean="0">
                <a:latin typeface="Arial" pitchFamily="34" charset="0"/>
              </a:rPr>
              <a:t>learn, unlearn, </a:t>
            </a:r>
            <a:r>
              <a:rPr lang="en-US" sz="2200" b="1" dirty="0">
                <a:latin typeface="Arial" pitchFamily="34" charset="0"/>
              </a:rPr>
              <a:t>and relearn.</a:t>
            </a:r>
          </a:p>
          <a:p>
            <a:pPr algn="ctr">
              <a:spcBef>
                <a:spcPct val="30000"/>
              </a:spcBef>
            </a:pPr>
            <a:r>
              <a:rPr lang="en-US" sz="2200" b="1" dirty="0">
                <a:latin typeface="Arial" pitchFamily="34" charset="0"/>
              </a:rPr>
              <a:t>						</a:t>
            </a:r>
            <a:r>
              <a:rPr lang="en-US" sz="2200" b="1" i="1" dirty="0">
                <a:latin typeface="Arial" pitchFamily="34" charset="0"/>
              </a:rPr>
              <a:t>--Unknown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23199</TotalTime>
  <Words>1217</Words>
  <Application>Microsoft Office PowerPoint</Application>
  <PresentationFormat>On-screen Show (4:3)</PresentationFormat>
  <Paragraphs>291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AGaramond-Semibold--Identity-H</vt:lpstr>
      <vt:lpstr>Agency FB</vt:lpstr>
      <vt:lpstr>Arial</vt:lpstr>
      <vt:lpstr>Calibri</vt:lpstr>
      <vt:lpstr>Courier New</vt:lpstr>
      <vt:lpstr>Monotype Sorts</vt:lpstr>
      <vt:lpstr>Wingdings</vt:lpstr>
      <vt:lpstr>Office Theme</vt:lpstr>
      <vt:lpstr>CS-111 Fundamentals of Computer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1443</cp:revision>
  <dcterms:created xsi:type="dcterms:W3CDTF">2006-08-16T00:00:00Z</dcterms:created>
  <dcterms:modified xsi:type="dcterms:W3CDTF">2018-11-06T08:30:36Z</dcterms:modified>
</cp:coreProperties>
</file>