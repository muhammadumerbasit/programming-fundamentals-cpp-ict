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57" r:id="rId2"/>
    <p:sldId id="863" r:id="rId3"/>
    <p:sldId id="862" r:id="rId4"/>
    <p:sldId id="825" r:id="rId5"/>
    <p:sldId id="827" r:id="rId6"/>
    <p:sldId id="826" r:id="rId7"/>
    <p:sldId id="828" r:id="rId8"/>
    <p:sldId id="830" r:id="rId9"/>
    <p:sldId id="829" r:id="rId10"/>
    <p:sldId id="831" r:id="rId11"/>
    <p:sldId id="833" r:id="rId12"/>
    <p:sldId id="840" r:id="rId13"/>
    <p:sldId id="832" r:id="rId14"/>
    <p:sldId id="834" r:id="rId15"/>
    <p:sldId id="835" r:id="rId16"/>
    <p:sldId id="836" r:id="rId17"/>
    <p:sldId id="837" r:id="rId18"/>
    <p:sldId id="838" r:id="rId19"/>
    <p:sldId id="839" r:id="rId20"/>
    <p:sldId id="859" r:id="rId21"/>
    <p:sldId id="844" r:id="rId22"/>
    <p:sldId id="845" r:id="rId23"/>
    <p:sldId id="847" r:id="rId24"/>
    <p:sldId id="823" r:id="rId25"/>
    <p:sldId id="822" r:id="rId26"/>
    <p:sldId id="860" r:id="rId27"/>
    <p:sldId id="861" r:id="rId28"/>
    <p:sldId id="849" r:id="rId29"/>
    <p:sldId id="848" r:id="rId30"/>
    <p:sldId id="850" r:id="rId31"/>
    <p:sldId id="851" r:id="rId32"/>
    <p:sldId id="852" r:id="rId33"/>
    <p:sldId id="853" r:id="rId34"/>
    <p:sldId id="854" r:id="rId35"/>
    <p:sldId id="855" r:id="rId36"/>
    <p:sldId id="856" r:id="rId37"/>
    <p:sldId id="857" r:id="rId38"/>
    <p:sldId id="864" r:id="rId39"/>
    <p:sldId id="32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2E84"/>
    <a:srgbClr val="AD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34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57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18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73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94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97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04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90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20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9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52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50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64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05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39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41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411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639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10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23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791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97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212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318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79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382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451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455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374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60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492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816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984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53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025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11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Functions </a:t>
            </a:r>
            <a:r>
              <a:rPr lang="en-US" smtClean="0">
                <a:solidFill>
                  <a:schemeClr val="bg1"/>
                </a:solidFill>
              </a:rPr>
              <a:t>– II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8813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  <a:latin typeface="Agency FB" panose="020B0503020202020204" pitchFamily="34" charset="0"/>
              </a:rPr>
              <a:t>Persistence needs Preparation &amp; Faith</a:t>
            </a:r>
            <a:endParaRPr lang="en-US" sz="4400" b="1" dirty="0">
              <a:solidFill>
                <a:srgbClr val="F79646">
                  <a:lumMod val="75000"/>
                </a:srgbClr>
              </a:solidFill>
              <a:latin typeface="Agency FB" panose="020B05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47800"/>
            <a:ext cx="6337322" cy="47529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4384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225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Road Map for Today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Recap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Parameters &amp; Arguments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Default </a:t>
            </a:r>
            <a:r>
              <a:rPr lang="en-US" sz="3200" dirty="0"/>
              <a:t>Values for </a:t>
            </a:r>
            <a:r>
              <a:rPr lang="en-US" sz="3200" dirty="0" smtClean="0"/>
              <a:t>Function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Scope Rules</a:t>
            </a:r>
            <a:endParaRPr lang="en-US" sz="3200" kern="0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299795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C++ Function syntax -How many components?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Where to define the functions in C++?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When &amp; why do we use function prototype?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Depending on whether a function is predefined or created by programmer; </a:t>
            </a:r>
            <a:r>
              <a:rPr lang="en-US" sz="3200" dirty="0" smtClean="0"/>
              <a:t>how many types </a:t>
            </a:r>
            <a:r>
              <a:rPr lang="en-US" sz="3200" dirty="0"/>
              <a:t>of </a:t>
            </a:r>
            <a:r>
              <a:rPr lang="en-US" sz="3200" dirty="0" smtClean="0"/>
              <a:t>functions are there?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87071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absolute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abs(a)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absolute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(-</a:t>
            </a:r>
            <a:r>
              <a:rPr lang="en-US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3434117" y="3200400"/>
            <a:ext cx="1903296" cy="1219200"/>
          </a:xfrm>
          <a:prstGeom prst="wedgeRoundRectCallout">
            <a:avLst>
              <a:gd name="adj1" fmla="val -62251"/>
              <a:gd name="adj2" fmla="val 7257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Function Prototype?</a:t>
            </a:r>
            <a:endParaRPr lang="en-US" sz="2400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3657600" y="2276420"/>
            <a:ext cx="1219200" cy="685800"/>
          </a:xfrm>
          <a:prstGeom prst="wedgeRoundRectCallout">
            <a:avLst>
              <a:gd name="adj1" fmla="val -117587"/>
              <a:gd name="adj2" fmla="val -5491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?</a:t>
            </a:r>
            <a:endParaRPr lang="en-US" b="1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5105400" y="1238365"/>
            <a:ext cx="1981200" cy="799876"/>
          </a:xfrm>
          <a:prstGeom prst="wedgeRoundRectCallout">
            <a:avLst>
              <a:gd name="adj1" fmla="val -157831"/>
              <a:gd name="adj2" fmla="val 4592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No. of parameters?</a:t>
            </a:r>
            <a:endParaRPr lang="en-US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5905500" y="4074636"/>
            <a:ext cx="2362200" cy="689928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rgbClr val="C00000"/>
                </a:solidFill>
              </a:rPr>
              <a:t>output?</a:t>
            </a:r>
            <a:endParaRPr 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803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An 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Write a function called </a:t>
            </a:r>
            <a:r>
              <a:rPr lang="en-US" sz="3200" dirty="0" err="1" smtClean="0"/>
              <a:t>DisplayMessage</a:t>
            </a:r>
            <a:r>
              <a:rPr lang="en-US" sz="3200" dirty="0" smtClean="0"/>
              <a:t>() which when called from main() displays the message </a:t>
            </a:r>
            <a:r>
              <a:rPr lang="en-US" sz="3200" dirty="0" smtClean="0"/>
              <a:t>“It’s a beautiful day today!”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Write a function called </a:t>
            </a:r>
            <a:r>
              <a:rPr lang="en-US" sz="3200" dirty="0" smtClean="0"/>
              <a:t>welcome() which takes name of the user as parameter and </a:t>
            </a:r>
            <a:r>
              <a:rPr lang="en-US" sz="3200" dirty="0"/>
              <a:t>when called from main() displays the message </a:t>
            </a:r>
            <a:endParaRPr lang="en-US" sz="3200" dirty="0" smtClean="0"/>
          </a:p>
          <a:p>
            <a:pPr lvl="1"/>
            <a:r>
              <a:rPr lang="en-US" sz="3200" dirty="0" smtClean="0"/>
              <a:t>“Hello [</a:t>
            </a:r>
            <a:r>
              <a:rPr lang="en-US" sz="3200" i="1" u="sng" dirty="0" err="1" smtClean="0"/>
              <a:t>nameOfUser</a:t>
            </a:r>
            <a:r>
              <a:rPr lang="en-US" sz="3200" i="1" u="sng" dirty="0" smtClean="0"/>
              <a:t>]</a:t>
            </a:r>
            <a:r>
              <a:rPr lang="en-US" sz="3200" dirty="0" smtClean="0"/>
              <a:t>!” </a:t>
            </a:r>
            <a:endParaRPr lang="en-US" sz="3200" dirty="0"/>
          </a:p>
          <a:p>
            <a:r>
              <a:rPr lang="en-US" sz="3200" dirty="0" smtClean="0"/>
              <a:t> </a:t>
            </a: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680902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Parameters &amp; Arguments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033550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Classified by Location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413961"/>
              </p:ext>
            </p:extLst>
          </p:nvPr>
        </p:nvGraphicFramePr>
        <p:xfrm>
          <a:off x="457200" y="1896196"/>
          <a:ext cx="8229600" cy="37084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114800"/>
                <a:gridCol w="4114800"/>
              </a:tblGrid>
              <a:tr h="81929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Parameters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Arguments</a:t>
                      </a:r>
                      <a:endParaRPr lang="en-US" sz="3200" dirty="0"/>
                    </a:p>
                  </a:txBody>
                  <a:tcPr/>
                </a:tc>
              </a:tr>
              <a:tr h="2889102">
                <a:tc>
                  <a:txBody>
                    <a:bodyPr/>
                    <a:lstStyle/>
                    <a:p>
                      <a:pPr algn="just"/>
                      <a:r>
                        <a:rPr kumimoji="0" lang="en-US" sz="3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Always appear in </a:t>
                      </a:r>
                    </a:p>
                    <a:p>
                      <a:pPr algn="just"/>
                      <a:r>
                        <a:rPr kumimoji="0" lang="en-US" sz="3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kumimoji="0" lang="en-US" sz="3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99006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function definition</a:t>
                      </a:r>
                      <a:r>
                        <a:rPr kumimoji="0" lang="en-US" sz="3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or </a:t>
                      </a:r>
                      <a:r>
                        <a:rPr kumimoji="0" lang="en-US" sz="3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99006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function prototype</a:t>
                      </a:r>
                      <a:r>
                        <a:rPr kumimoji="0" lang="en-US" sz="3200" b="1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kumimoji="0" lang="en-US" sz="3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Always appear in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kumimoji="0" lang="en-US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9006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function call</a:t>
                      </a:r>
                      <a:r>
                        <a:rPr kumimoji="0" lang="en-US" sz="3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6904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Parameters &amp; Arguments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286360"/>
            <a:ext cx="8849437" cy="507831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</a:t>
            </a:r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&lt;</a:t>
            </a:r>
            <a:r>
              <a:rPr lang="en-US" b="1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cstdlib</a:t>
            </a:r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absolute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abs(a)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absolute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(-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267803" y="4495800"/>
            <a:ext cx="1903296" cy="456978"/>
          </a:xfrm>
          <a:prstGeom prst="wedgeRoundRectCallout">
            <a:avLst>
              <a:gd name="adj1" fmla="val -22813"/>
              <a:gd name="adj2" fmla="val 150891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Argument</a:t>
            </a:r>
            <a:endParaRPr lang="en-US" sz="2400" b="1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3351096" y="1428353"/>
            <a:ext cx="1676400" cy="552338"/>
          </a:xfrm>
          <a:prstGeom prst="wedgeRoundRectCallout">
            <a:avLst>
              <a:gd name="adj1" fmla="val -98867"/>
              <a:gd name="adj2" fmla="val 18599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Parameter</a:t>
            </a:r>
          </a:p>
        </p:txBody>
      </p:sp>
    </p:spTree>
    <p:extLst>
      <p:ext uri="{BB962C8B-B14F-4D97-AF65-F5344CB8AC3E}">
        <p14:creationId xmlns:p14="http://schemas.microsoft.com/office/powerpoint/2010/main" val="22776059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Default Values </a:t>
            </a:r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for </a:t>
            </a:r>
            <a:endParaRPr lang="en-US" sz="6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 </a:t>
            </a:r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Parameters</a:t>
            </a:r>
          </a:p>
          <a:p>
            <a:pPr algn="ctr"/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53052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What do we mean by DEFAULT?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Pre-established/ pre-defined value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Software – default settings</a:t>
            </a:r>
            <a:endParaRPr lang="en-US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Cell phones – factory settings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680" y="3580701"/>
            <a:ext cx="3035500" cy="2033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10" y="3512404"/>
            <a:ext cx="3179902" cy="2102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3321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for Parameters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945796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 </a:t>
            </a:r>
            <a:r>
              <a:rPr lang="en-US" sz="3200" b="1" dirty="0"/>
              <a:t>C++</a:t>
            </a:r>
            <a:r>
              <a:rPr lang="en-US" sz="3200" dirty="0"/>
              <a:t> programming, you can provide </a:t>
            </a:r>
            <a:r>
              <a:rPr lang="en-US" sz="3200" b="1" dirty="0"/>
              <a:t>default values</a:t>
            </a:r>
            <a:r>
              <a:rPr lang="en-US" sz="3200" dirty="0"/>
              <a:t> for function </a:t>
            </a:r>
            <a:r>
              <a:rPr lang="en-US" sz="3200" b="1" dirty="0"/>
              <a:t>parameters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idea behind </a:t>
            </a:r>
            <a:r>
              <a:rPr lang="en-US" sz="3200" b="1" dirty="0"/>
              <a:t>default</a:t>
            </a:r>
            <a:r>
              <a:rPr lang="en-US" sz="3200" dirty="0"/>
              <a:t> argument is simple</a:t>
            </a:r>
            <a:r>
              <a:rPr lang="en-US" sz="3200" dirty="0" smtClean="0"/>
              <a:t>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a function is called by passing argument/s, those arguments are used by the function. </a:t>
            </a:r>
            <a:endParaRPr lang="en-US" sz="32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But </a:t>
            </a:r>
            <a:r>
              <a:rPr lang="en-US" sz="3200" dirty="0"/>
              <a:t>if the argument/s are not passed while </a:t>
            </a:r>
            <a:r>
              <a:rPr lang="en-US" sz="3200" dirty="0" smtClean="0"/>
              <a:t>invoking/calling </a:t>
            </a:r>
            <a:r>
              <a:rPr lang="en-US" sz="3200" dirty="0"/>
              <a:t>a function then, the </a:t>
            </a:r>
            <a:r>
              <a:rPr lang="en-US" sz="3200" b="1" dirty="0"/>
              <a:t>default </a:t>
            </a:r>
            <a:r>
              <a:rPr lang="en-US" sz="3200" b="1" dirty="0" smtClean="0"/>
              <a:t>values </a:t>
            </a:r>
            <a:r>
              <a:rPr lang="en-US" sz="3200" dirty="0" smtClean="0"/>
              <a:t>are </a:t>
            </a:r>
            <a:r>
              <a:rPr lang="en-US" sz="3200" dirty="0"/>
              <a:t>used.</a:t>
            </a: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95006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Example (</a:t>
            </a:r>
            <a:r>
              <a:rPr lang="en-US" sz="4000" dirty="0" err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AddNumbers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362200" y="3657600"/>
            <a:ext cx="1905000" cy="425937"/>
          </a:xfrm>
          <a:prstGeom prst="wedgeRoundRectCallout">
            <a:avLst>
              <a:gd name="adj1" fmla="val -21643"/>
              <a:gd name="adj2" fmla="val 18312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Arguments</a:t>
            </a:r>
            <a:endParaRPr lang="en-US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2362200" y="2652343"/>
            <a:ext cx="1905000" cy="415721"/>
          </a:xfrm>
          <a:prstGeom prst="wedgeRoundRectCallout">
            <a:avLst>
              <a:gd name="adj1" fmla="val -13955"/>
              <a:gd name="adj2" fmla="val -13610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Parameters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22191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Example (</a:t>
            </a:r>
            <a:r>
              <a:rPr lang="en-US" sz="4000" dirty="0" err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AddNumbers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1769660" y="3556100"/>
            <a:ext cx="4953000" cy="609600"/>
          </a:xfrm>
          <a:prstGeom prst="wedgeRoundRectCallout">
            <a:avLst>
              <a:gd name="adj1" fmla="val -30810"/>
              <a:gd name="adj2" fmla="val 135454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What will happen if we miss an argument here?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2362200" y="2648510"/>
            <a:ext cx="5867400" cy="415721"/>
          </a:xfrm>
          <a:prstGeom prst="wedgeRoundRectCallout">
            <a:avLst>
              <a:gd name="adj1" fmla="val -35073"/>
              <a:gd name="adj2" fmla="val -13281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Integers a and b have not been given any values here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516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Example (</a:t>
            </a:r>
            <a:r>
              <a:rPr lang="en-US" sz="4000" dirty="0" err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AddNumbers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)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9" y="1056217"/>
            <a:ext cx="4723761" cy="4317707"/>
          </a:xfrm>
          <a:prstGeom prst="rect">
            <a:avLst/>
          </a:prstGeom>
        </p:spPr>
      </p:pic>
      <p:sp>
        <p:nvSpPr>
          <p:cNvPr id="16" name="Rounded Rectangular Callout 15"/>
          <p:cNvSpPr/>
          <p:nvPr/>
        </p:nvSpPr>
        <p:spPr>
          <a:xfrm>
            <a:off x="2667000" y="2514600"/>
            <a:ext cx="2071050" cy="457201"/>
          </a:xfrm>
          <a:prstGeom prst="wedgeRoundRectCallout">
            <a:avLst>
              <a:gd name="adj1" fmla="val -50374"/>
              <a:gd name="adj2" fmla="val 223922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Gives an error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914" y="4892911"/>
            <a:ext cx="5249281" cy="14485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ounded Rectangular Callout 11"/>
          <p:cNvSpPr/>
          <p:nvPr/>
        </p:nvSpPr>
        <p:spPr>
          <a:xfrm>
            <a:off x="5973169" y="4295413"/>
            <a:ext cx="2071050" cy="457201"/>
          </a:xfrm>
          <a:prstGeom prst="wedgeRoundRectCallout">
            <a:avLst>
              <a:gd name="adj1" fmla="val 21455"/>
              <a:gd name="adj2" fmla="val 217952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Error description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1374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Scenario I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5,3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2332630" y="2667000"/>
            <a:ext cx="5287370" cy="756764"/>
          </a:xfrm>
          <a:prstGeom prst="wedgeRoundRectCallout">
            <a:avLst>
              <a:gd name="adj1" fmla="val -30014"/>
              <a:gd name="adj2" fmla="val -103638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Give some value to variables in function definition</a:t>
            </a:r>
          </a:p>
          <a:p>
            <a:pPr algn="ctr"/>
            <a:r>
              <a:rPr lang="en-US" b="1" dirty="0" smtClean="0"/>
              <a:t> and it will be called as default value of that variable</a:t>
            </a:r>
            <a:endParaRPr lang="en-US" b="1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2133600" y="3875485"/>
            <a:ext cx="3581400" cy="481844"/>
          </a:xfrm>
          <a:prstGeom prst="wedgeRoundRectCallout">
            <a:avLst>
              <a:gd name="adj1" fmla="val -30210"/>
              <a:gd name="adj2" fmla="val 129288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Passing both argument values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57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</a:t>
            </a:r>
            <a:r>
              <a:rPr lang="en-US" sz="4000" dirty="0">
                <a:solidFill>
                  <a:srgbClr val="FF0000"/>
                </a:solidFill>
              </a:rPr>
              <a:t>Scenario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II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133600" y="3553123"/>
            <a:ext cx="2971800" cy="804206"/>
          </a:xfrm>
          <a:prstGeom prst="wedgeRoundRectCallout">
            <a:avLst>
              <a:gd name="adj1" fmla="val -28305"/>
              <a:gd name="adj2" fmla="val 89634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Now what will happen if</a:t>
            </a:r>
          </a:p>
          <a:p>
            <a:pPr algn="ctr"/>
            <a:r>
              <a:rPr lang="en-US" b="1" dirty="0" smtClean="0">
                <a:solidFill>
                  <a:srgbClr val="C00000"/>
                </a:solidFill>
              </a:rPr>
              <a:t> we miss an argument here?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ound Diagonal Corner Rectangle 9"/>
          <p:cNvSpPr/>
          <p:nvPr/>
        </p:nvSpPr>
        <p:spPr>
          <a:xfrm>
            <a:off x="538517" y="2275466"/>
            <a:ext cx="8229600" cy="2301115"/>
          </a:xfrm>
          <a:prstGeom prst="round2DiagRect">
            <a:avLst/>
          </a:prstGeom>
          <a:solidFill>
            <a:srgbClr val="C0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FACT NO </a:t>
            </a:r>
            <a:r>
              <a:rPr lang="en-US" sz="6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sz="40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you miss a parameter, the compiler assumes that the rightmost parameter is missing.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8076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</a:t>
            </a:r>
            <a:r>
              <a:rPr lang="en-US" sz="4000" dirty="0">
                <a:solidFill>
                  <a:srgbClr val="FF0000"/>
                </a:solidFill>
              </a:rPr>
              <a:t>Scenario </a:t>
            </a:r>
            <a:r>
              <a:rPr lang="en-US" sz="4000" dirty="0" smtClean="0">
                <a:solidFill>
                  <a:srgbClr val="FF0000"/>
                </a:solidFill>
              </a:rPr>
              <a:t>III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addition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  <a:endParaRPr lang="en-US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133600" y="3553123"/>
            <a:ext cx="2209800" cy="804206"/>
          </a:xfrm>
          <a:prstGeom prst="wedgeRoundRectCallout">
            <a:avLst>
              <a:gd name="adj1" fmla="val -25185"/>
              <a:gd name="adj2" fmla="val 91331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What if we omit both arguments?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89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</a:t>
            </a:r>
            <a:r>
              <a:rPr lang="en-US" sz="4000" dirty="0">
                <a:solidFill>
                  <a:srgbClr val="FF0000"/>
                </a:solidFill>
              </a:rPr>
              <a:t>Scenario </a:t>
            </a:r>
            <a:r>
              <a:rPr lang="en-US" sz="4000" dirty="0" smtClean="0">
                <a:solidFill>
                  <a:srgbClr val="FF0000"/>
                </a:solidFill>
              </a:rPr>
              <a:t>IV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209800" y="3553123"/>
            <a:ext cx="2209800" cy="804206"/>
          </a:xfrm>
          <a:prstGeom prst="wedgeRoundRectCallout">
            <a:avLst>
              <a:gd name="adj1" fmla="val -25185"/>
              <a:gd name="adj2" fmla="val 91331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Now What?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5334000" y="1497423"/>
            <a:ext cx="2209800" cy="804206"/>
          </a:xfrm>
          <a:prstGeom prst="wedgeRoundRectCallout">
            <a:avLst>
              <a:gd name="adj1" fmla="val -82004"/>
              <a:gd name="adj2" fmla="val 2175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Only one variable has default value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61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</a:t>
            </a:r>
            <a:r>
              <a:rPr lang="en-US" sz="4000" dirty="0">
                <a:solidFill>
                  <a:srgbClr val="FF0000"/>
                </a:solidFill>
              </a:rPr>
              <a:t>Scenario </a:t>
            </a:r>
            <a:r>
              <a:rPr lang="en-US" sz="4000" dirty="0" smtClean="0">
                <a:solidFill>
                  <a:srgbClr val="FF0000"/>
                </a:solidFill>
              </a:rPr>
              <a:t>IV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 = 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209800" y="3553123"/>
            <a:ext cx="2209800" cy="804206"/>
          </a:xfrm>
          <a:prstGeom prst="wedgeRoundRectCallout">
            <a:avLst>
              <a:gd name="adj1" fmla="val -25185"/>
              <a:gd name="adj2" fmla="val 91331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Now What?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5334000" y="1497423"/>
            <a:ext cx="2209800" cy="804206"/>
          </a:xfrm>
          <a:prstGeom prst="wedgeRoundRectCallout">
            <a:avLst>
              <a:gd name="adj1" fmla="val -82004"/>
              <a:gd name="adj2" fmla="val 2175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Only one variable has default value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319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</a:t>
            </a:r>
            <a:r>
              <a:rPr lang="en-US" sz="4000" dirty="0">
                <a:solidFill>
                  <a:srgbClr val="FF0000"/>
                </a:solidFill>
              </a:rPr>
              <a:t>Scenario </a:t>
            </a:r>
            <a:r>
              <a:rPr lang="en-US" sz="4000" dirty="0" smtClean="0">
                <a:solidFill>
                  <a:srgbClr val="FF0000"/>
                </a:solidFill>
              </a:rPr>
              <a:t>V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= 0,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c,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 = 4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5,3,1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</a:rPr>
              <a:t>"The result is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346278" y="3581849"/>
            <a:ext cx="2209800" cy="804206"/>
          </a:xfrm>
          <a:prstGeom prst="wedgeRoundRectCallout">
            <a:avLst>
              <a:gd name="adj1" fmla="val -19009"/>
              <a:gd name="adj2" fmla="val 82846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Now What?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Snip Diagonal Corner Rectangle 9"/>
          <p:cNvSpPr/>
          <p:nvPr/>
        </p:nvSpPr>
        <p:spPr>
          <a:xfrm>
            <a:off x="2743200" y="2348269"/>
            <a:ext cx="6142629" cy="652500"/>
          </a:xfrm>
          <a:prstGeom prst="snip2DiagRect">
            <a:avLst/>
          </a:prstGeom>
          <a:solidFill>
            <a:srgbClr val="0070C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The above function will not compile.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 Diagonal Corner Rectangle 10"/>
          <p:cNvSpPr/>
          <p:nvPr/>
        </p:nvSpPr>
        <p:spPr>
          <a:xfrm>
            <a:off x="382706" y="2360558"/>
            <a:ext cx="8614011" cy="2265977"/>
          </a:xfrm>
          <a:prstGeom prst="round2DiagRect">
            <a:avLst/>
          </a:prstGeom>
          <a:solidFill>
            <a:srgbClr val="C0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FACT NO </a:t>
            </a:r>
            <a:r>
              <a:rPr lang="en-US" sz="7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40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miss a default argument 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between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arguments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nip Diagonal Corner Rectangle 11"/>
          <p:cNvSpPr/>
          <p:nvPr/>
        </p:nvSpPr>
        <p:spPr>
          <a:xfrm>
            <a:off x="301387" y="1085159"/>
            <a:ext cx="8695330" cy="659090"/>
          </a:xfrm>
          <a:prstGeom prst="snip2Diag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 this case, 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800" dirty="0">
                <a:solidFill>
                  <a:schemeClr val="tx1"/>
                </a:solidFill>
              </a:rPr>
              <a:t> should also be assigned a </a:t>
            </a:r>
            <a:r>
              <a:rPr lang="en-US" sz="2800" b="1" dirty="0">
                <a:solidFill>
                  <a:schemeClr val="tx1"/>
                </a:solidFill>
              </a:rPr>
              <a:t>default</a:t>
            </a:r>
            <a:r>
              <a:rPr lang="en-US" sz="2800" dirty="0">
                <a:solidFill>
                  <a:schemeClr val="tx1"/>
                </a:solidFill>
              </a:rPr>
              <a:t> value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4306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Default Values – </a:t>
            </a:r>
            <a:r>
              <a:rPr lang="en-US" sz="4000" dirty="0">
                <a:solidFill>
                  <a:srgbClr val="FF0000"/>
                </a:solidFill>
              </a:rPr>
              <a:t>Scenario </a:t>
            </a:r>
            <a:r>
              <a:rPr lang="en-US" sz="4000" dirty="0" smtClean="0">
                <a:solidFill>
                  <a:srgbClr val="FF0000"/>
                </a:solidFill>
              </a:rPr>
              <a:t>VI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95320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addition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= 0,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c,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5,3,1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"The result is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2346278" y="3581849"/>
            <a:ext cx="2209800" cy="804206"/>
          </a:xfrm>
          <a:prstGeom prst="wedgeRoundRectCallout">
            <a:avLst>
              <a:gd name="adj1" fmla="val -19009"/>
              <a:gd name="adj2" fmla="val 82846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Now What?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Snip Diagonal Corner Rectangle 9"/>
          <p:cNvSpPr/>
          <p:nvPr/>
        </p:nvSpPr>
        <p:spPr>
          <a:xfrm>
            <a:off x="2743200" y="2348269"/>
            <a:ext cx="6142629" cy="652500"/>
          </a:xfrm>
          <a:prstGeom prst="snip2DiagRect">
            <a:avLst/>
          </a:prstGeom>
          <a:solidFill>
            <a:srgbClr val="0070C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The above function will not compile.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 Diagonal Corner Rectangle 10"/>
          <p:cNvSpPr/>
          <p:nvPr/>
        </p:nvSpPr>
        <p:spPr>
          <a:xfrm>
            <a:off x="342332" y="2348269"/>
            <a:ext cx="8614011" cy="2265977"/>
          </a:xfrm>
          <a:prstGeom prst="round2DiagRect">
            <a:avLst/>
          </a:prstGeom>
          <a:solidFill>
            <a:srgbClr val="C0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FACT NO </a:t>
            </a:r>
            <a:r>
              <a:rPr lang="en-US" sz="7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US" sz="40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miss a default argument 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the occurrence of a default argument.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Snip Diagonal Corner Rectangle 11"/>
          <p:cNvSpPr/>
          <p:nvPr/>
        </p:nvSpPr>
        <p:spPr>
          <a:xfrm>
            <a:off x="227462" y="1037030"/>
            <a:ext cx="8849437" cy="659090"/>
          </a:xfrm>
          <a:prstGeom prst="snip2Diag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 this case, </a:t>
            </a:r>
            <a:r>
              <a:rPr lang="en-US" sz="24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</a:t>
            </a:r>
            <a:r>
              <a:rPr lang="en-US" sz="2400" dirty="0">
                <a:solidFill>
                  <a:schemeClr val="tx1"/>
                </a:solidFill>
              </a:rPr>
              <a:t>and</a:t>
            </a:r>
            <a:r>
              <a:rPr lang="en-US" sz="2400" i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</a:t>
            </a:r>
            <a:r>
              <a:rPr lang="en-US" sz="2400" dirty="0">
                <a:solidFill>
                  <a:schemeClr val="tx1"/>
                </a:solidFill>
              </a:rPr>
              <a:t> should also be assigned a </a:t>
            </a:r>
            <a:r>
              <a:rPr lang="en-US" sz="2400" b="1" dirty="0">
                <a:solidFill>
                  <a:schemeClr val="tx1"/>
                </a:solidFill>
              </a:rPr>
              <a:t>default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values.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4878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Single Default Argument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16937"/>
            <a:ext cx="8839200" cy="4945796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you want a </a:t>
            </a:r>
            <a:r>
              <a:rPr lang="en-US" sz="3200" i="1" dirty="0">
                <a:solidFill>
                  <a:srgbClr val="C00000"/>
                </a:solidFill>
              </a:rPr>
              <a:t>single default argument</a:t>
            </a:r>
            <a:r>
              <a:rPr lang="en-US" sz="3200" dirty="0"/>
              <a:t>, make sure the argument is the last one</a:t>
            </a:r>
            <a:r>
              <a:rPr 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2400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addition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sz="2400" b="1" dirty="0" err="1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24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b,</a:t>
            </a:r>
            <a:r>
              <a:rPr lang="en-US" sz="24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c,</a:t>
            </a:r>
            <a:r>
              <a:rPr lang="en-US" sz="24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d = 2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579324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Scope Rules </a:t>
            </a:r>
          </a:p>
          <a:p>
            <a:pPr algn="ctr"/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(Variables)</a:t>
            </a:r>
            <a:endParaRPr lang="en-US" sz="6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020155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8988" y="476830"/>
            <a:ext cx="868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Scope</a:t>
            </a:r>
            <a:endParaRPr lang="en-US" sz="5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1388" y="1547041"/>
            <a:ext cx="8690212" cy="4495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dirty="0" smtClean="0"/>
              <a:t>A scope is a region of a </a:t>
            </a:r>
            <a:r>
              <a:rPr lang="en-US" sz="4400" dirty="0" smtClean="0"/>
              <a:t>program.</a:t>
            </a:r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b="1" dirty="0" smtClean="0"/>
              <a:t>Scope </a:t>
            </a:r>
            <a:r>
              <a:rPr lang="en-US" sz="4400" dirty="0" smtClean="0"/>
              <a:t>defines where </a:t>
            </a:r>
            <a:r>
              <a:rPr lang="en-US" sz="4400" dirty="0"/>
              <a:t>your variables will </a:t>
            </a:r>
            <a:r>
              <a:rPr lang="en-US" sz="4400" dirty="0" smtClean="0"/>
              <a:t>be accessible </a:t>
            </a:r>
          </a:p>
          <a:p>
            <a:pPr marL="0" indent="0" algn="ctr">
              <a:buNone/>
            </a:pPr>
            <a:r>
              <a:rPr lang="en-US" sz="4400" dirty="0" smtClean="0"/>
              <a:t>throughout </a:t>
            </a:r>
            <a:r>
              <a:rPr lang="en-US" sz="4400" dirty="0"/>
              <a:t>your script.</a:t>
            </a:r>
            <a:endParaRPr lang="en-US" sz="4400" dirty="0" smtClean="0"/>
          </a:p>
        </p:txBody>
      </p:sp>
    </p:spTree>
    <p:extLst>
      <p:ext uri="{BB962C8B-B14F-4D97-AF65-F5344CB8AC3E}">
        <p14:creationId xmlns:p14="http://schemas.microsoft.com/office/powerpoint/2010/main" val="3184503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928" y="330436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Scope of Variables</a:t>
            </a:r>
            <a:endParaRPr lang="en-US" sz="4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84328" y="1356746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2125512"/>
            <a:ext cx="8229600" cy="3471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Scope </a:t>
            </a:r>
            <a:r>
              <a:rPr lang="en-US" sz="3600" dirty="0"/>
              <a:t>can be explained by looking at the ways that international laws, national laws, and local laws work together.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973365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84328" y="1356746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76258"/>
            <a:ext cx="7792537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186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31928" y="330436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Scope of Variables</a:t>
            </a:r>
            <a:endParaRPr lang="en-US" sz="4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84328" y="1356746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382382"/>
            <a:ext cx="8229600" cy="4769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Broadly speaking there are </a:t>
            </a:r>
            <a:r>
              <a:rPr lang="en-US" b="1" dirty="0" smtClean="0"/>
              <a:t>three </a:t>
            </a:r>
            <a:r>
              <a:rPr lang="en-US" dirty="0" smtClean="0"/>
              <a:t>places, where variables can be declared −</a:t>
            </a:r>
          </a:p>
          <a:p>
            <a:r>
              <a:rPr lang="en-US" dirty="0" smtClean="0"/>
              <a:t>Inside </a:t>
            </a:r>
            <a:r>
              <a:rPr lang="en-US" dirty="0"/>
              <a:t>a function or a block which </a:t>
            </a:r>
            <a:r>
              <a:rPr lang="en-US" dirty="0" smtClean="0"/>
              <a:t>are </a:t>
            </a:r>
            <a:r>
              <a:rPr lang="en-US" dirty="0"/>
              <a:t>called </a:t>
            </a:r>
            <a:r>
              <a:rPr lang="en-US" b="1" i="1" dirty="0">
                <a:solidFill>
                  <a:srgbClr val="0070C0"/>
                </a:solidFill>
              </a:rPr>
              <a:t>local </a:t>
            </a:r>
            <a:r>
              <a:rPr lang="en-US" b="1" i="1" dirty="0" smtClean="0">
                <a:solidFill>
                  <a:srgbClr val="0070C0"/>
                </a:solidFill>
              </a:rPr>
              <a:t>variables</a:t>
            </a:r>
            <a:r>
              <a:rPr lang="en-US" dirty="0"/>
              <a:t>.</a:t>
            </a:r>
          </a:p>
          <a:p>
            <a:r>
              <a:rPr lang="en-US" dirty="0"/>
              <a:t>In the </a:t>
            </a:r>
            <a:r>
              <a:rPr lang="en-US" dirty="0" smtClean="0"/>
              <a:t>header of function definition </a:t>
            </a:r>
            <a:r>
              <a:rPr lang="en-US" dirty="0" smtClean="0"/>
              <a:t>which are </a:t>
            </a:r>
            <a:r>
              <a:rPr lang="en-US" dirty="0"/>
              <a:t>called </a:t>
            </a:r>
            <a:r>
              <a:rPr lang="en-US" b="1" i="1" dirty="0">
                <a:solidFill>
                  <a:srgbClr val="0070C0"/>
                </a:solidFill>
              </a:rPr>
              <a:t>formal </a:t>
            </a:r>
            <a:r>
              <a:rPr lang="en-US" b="1" i="1" dirty="0" smtClean="0">
                <a:solidFill>
                  <a:srgbClr val="0070C0"/>
                </a:solidFill>
              </a:rPr>
              <a:t>parameters/parameter-list.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Outside of all functions which </a:t>
            </a:r>
            <a:r>
              <a:rPr lang="en-US" dirty="0" smtClean="0"/>
              <a:t>are </a:t>
            </a:r>
            <a:r>
              <a:rPr lang="en-US" dirty="0"/>
              <a:t>called </a:t>
            </a:r>
            <a:r>
              <a:rPr lang="en-US" b="1" i="1" dirty="0">
                <a:solidFill>
                  <a:srgbClr val="0070C0"/>
                </a:solidFill>
              </a:rPr>
              <a:t>global variables.</a:t>
            </a:r>
          </a:p>
        </p:txBody>
      </p:sp>
    </p:spTree>
    <p:extLst>
      <p:ext uri="{BB962C8B-B14F-4D97-AF65-F5344CB8AC3E}">
        <p14:creationId xmlns:p14="http://schemas.microsoft.com/office/powerpoint/2010/main" val="1689961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8988" y="47683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Local Variables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414706"/>
            <a:ext cx="8229600" cy="4711458"/>
          </a:xfrm>
        </p:spPr>
        <p:txBody>
          <a:bodyPr>
            <a:normAutofit/>
          </a:bodyPr>
          <a:lstStyle/>
          <a:p>
            <a:r>
              <a:rPr lang="en-US" dirty="0"/>
              <a:t>Function Scope</a:t>
            </a:r>
          </a:p>
          <a:p>
            <a:r>
              <a:rPr lang="en-US" dirty="0"/>
              <a:t>Block </a:t>
            </a:r>
            <a:r>
              <a:rPr lang="en-US" dirty="0" smtClean="0"/>
              <a:t>Scope</a:t>
            </a:r>
          </a:p>
          <a:p>
            <a:endParaRPr lang="en-US" dirty="0"/>
          </a:p>
          <a:p>
            <a:r>
              <a:rPr lang="en-US" dirty="0" smtClean="0"/>
              <a:t>They </a:t>
            </a:r>
            <a:r>
              <a:rPr lang="en-US" dirty="0" smtClean="0"/>
              <a:t>can be </a:t>
            </a:r>
            <a:r>
              <a:rPr lang="en-US" dirty="0"/>
              <a:t>used only by statements that are </a:t>
            </a:r>
            <a:r>
              <a:rPr lang="en-US" dirty="0" smtClean="0"/>
              <a:t>inside </a:t>
            </a:r>
            <a:r>
              <a:rPr lang="en-US" dirty="0"/>
              <a:t>that function or block of code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Local </a:t>
            </a:r>
            <a:r>
              <a:rPr lang="en-US" dirty="0"/>
              <a:t>variables are not known to functions outside their own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5734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Local Variables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62000" y="1095320"/>
            <a:ext cx="7620000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Local variable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declaration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 c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initialization 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c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048000" y="2627411"/>
            <a:ext cx="1143000" cy="5334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3679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Local Variables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885572"/>
            <a:ext cx="7848600" cy="5355312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someFunction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b, c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// Local variable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declaration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// initialization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c;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&lt;&lt; </a:t>
            </a:r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someFunction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();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&lt;&lt; a &lt;&lt; b;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238500" y="5488778"/>
            <a:ext cx="12192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39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8988" y="47683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Global Variables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414706"/>
            <a:ext cx="8229600" cy="4711458"/>
          </a:xfrm>
        </p:spPr>
        <p:txBody>
          <a:bodyPr>
            <a:normAutofit/>
          </a:bodyPr>
          <a:lstStyle/>
          <a:p>
            <a:r>
              <a:rPr lang="en-US" dirty="0" smtClean="0"/>
              <a:t>Defined usually </a:t>
            </a:r>
            <a:r>
              <a:rPr lang="en-US" dirty="0"/>
              <a:t>on top of the program. </a:t>
            </a:r>
            <a:endParaRPr lang="en-US" dirty="0" smtClean="0"/>
          </a:p>
          <a:p>
            <a:r>
              <a:rPr lang="en-US" dirty="0" smtClean="0"/>
              <a:t>Will hold </a:t>
            </a:r>
            <a:r>
              <a:rPr lang="en-US" dirty="0"/>
              <a:t>their value throughout the life-time of </a:t>
            </a:r>
            <a:r>
              <a:rPr lang="en-US" dirty="0" smtClean="0"/>
              <a:t>a </a:t>
            </a:r>
            <a:r>
              <a:rPr lang="en-US" dirty="0"/>
              <a:t>program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Can be </a:t>
            </a:r>
            <a:r>
              <a:rPr lang="en-US" dirty="0"/>
              <a:t>accessed by any </a:t>
            </a:r>
            <a:r>
              <a:rPr lang="en-US" dirty="0" smtClean="0"/>
              <a:t>function after declaration of global variables.</a:t>
            </a:r>
            <a:r>
              <a:rPr lang="en-US" dirty="0"/>
              <a:t> 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543762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Global Variables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62000" y="941937"/>
            <a:ext cx="7620000" cy="563231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Global variable declaration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g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Local variable declaration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Initialization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1905000" y="1981200"/>
            <a:ext cx="12192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4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Global Variables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941937"/>
            <a:ext cx="7696200" cy="563231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Global variable declaration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&amp; initialization</a:t>
            </a: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g = 10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Local variable declaration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Initialization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2743200" y="1981200"/>
            <a:ext cx="10668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044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Global Variables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941937"/>
            <a:ext cx="6858000" cy="590931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Global variable declaration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Local variable declaration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g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Initialization </a:t>
            </a:r>
            <a:endParaRPr lang="en-US" b="1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2819400" y="1981200"/>
            <a:ext cx="8382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/>
          <p:cNvSpPr/>
          <p:nvPr/>
        </p:nvSpPr>
        <p:spPr>
          <a:xfrm>
            <a:off x="4114799" y="2642109"/>
            <a:ext cx="9144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67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8988" y="47683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Local &amp; Global Variables – Naming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A </a:t>
            </a:r>
            <a:r>
              <a:rPr lang="en-US" dirty="0"/>
              <a:t>program can have same name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for </a:t>
            </a:r>
            <a:r>
              <a:rPr lang="en-US" dirty="0"/>
              <a:t>local and global variables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/>
              <a:t>But</a:t>
            </a:r>
          </a:p>
          <a:p>
            <a:pPr marL="0" indent="0" algn="ctr">
              <a:buNone/>
            </a:pPr>
            <a:r>
              <a:rPr lang="en-US" i="1" dirty="0" smtClean="0">
                <a:solidFill>
                  <a:srgbClr val="C00000"/>
                </a:solidFill>
              </a:rPr>
              <a:t>value </a:t>
            </a:r>
            <a:r>
              <a:rPr lang="en-US" i="1" dirty="0">
                <a:solidFill>
                  <a:srgbClr val="C00000"/>
                </a:solidFill>
              </a:rPr>
              <a:t>of local variable inside a function </a:t>
            </a:r>
            <a:endParaRPr lang="en-US" i="1" dirty="0" smtClean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i="1" dirty="0" smtClean="0">
                <a:solidFill>
                  <a:srgbClr val="C00000"/>
                </a:solidFill>
              </a:rPr>
              <a:t>will </a:t>
            </a:r>
            <a:r>
              <a:rPr lang="en-US" i="1" dirty="0">
                <a:solidFill>
                  <a:srgbClr val="C00000"/>
                </a:solidFill>
              </a:rPr>
              <a:t>take preference.</a:t>
            </a:r>
            <a:endParaRPr lang="en-US" i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740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41304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Local &amp; Global Variables – Naming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68907" y="1461568"/>
            <a:ext cx="6858000" cy="3970318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Global variable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declaration </a:t>
            </a: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Local variable </a:t>
            </a:r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declaration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g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g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2819400" y="2516691"/>
            <a:ext cx="8382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/>
          <p:cNvSpPr/>
          <p:nvPr/>
        </p:nvSpPr>
        <p:spPr>
          <a:xfrm>
            <a:off x="3200400" y="3915608"/>
            <a:ext cx="914400" cy="45482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05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32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Semester Project</a:t>
            </a:r>
            <a:endParaRPr lang="en-US" sz="5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19100" y="1302605"/>
            <a:ext cx="8305800" cy="4687670"/>
          </a:xfrm>
        </p:spPr>
        <p:txBody>
          <a:bodyPr>
            <a:normAutofit/>
          </a:bodyPr>
          <a:lstStyle/>
          <a:p>
            <a:r>
              <a:rPr lang="en-US" dirty="0" smtClean="0"/>
              <a:t>Group Project</a:t>
            </a:r>
          </a:p>
          <a:p>
            <a:r>
              <a:rPr lang="en-US" dirty="0" smtClean="0">
                <a:solidFill>
                  <a:srgbClr val="AD0101"/>
                </a:solidFill>
              </a:rPr>
              <a:t>In the coming lecture, you will submit: </a:t>
            </a:r>
          </a:p>
          <a:p>
            <a:pPr lvl="1"/>
            <a:r>
              <a:rPr lang="en-US" dirty="0" smtClean="0">
                <a:solidFill>
                  <a:srgbClr val="AD0101"/>
                </a:solidFill>
              </a:rPr>
              <a:t>Names of Group </a:t>
            </a:r>
            <a:r>
              <a:rPr lang="en-US" dirty="0" smtClean="0">
                <a:solidFill>
                  <a:srgbClr val="AD0101"/>
                </a:solidFill>
              </a:rPr>
              <a:t>Members</a:t>
            </a:r>
          </a:p>
          <a:p>
            <a:pPr lvl="1"/>
            <a:r>
              <a:rPr lang="en-US" dirty="0" smtClean="0">
                <a:solidFill>
                  <a:srgbClr val="AD0101"/>
                </a:solidFill>
              </a:rPr>
              <a:t>Mark the Team Lead</a:t>
            </a:r>
            <a:endParaRPr lang="en-US" dirty="0" smtClean="0">
              <a:solidFill>
                <a:srgbClr val="AD0101"/>
              </a:solidFill>
            </a:endParaRPr>
          </a:p>
          <a:p>
            <a:pPr lvl="1"/>
            <a:r>
              <a:rPr lang="en-US" dirty="0"/>
              <a:t>Group of </a:t>
            </a:r>
            <a:r>
              <a:rPr lang="en-US" dirty="0" smtClean="0"/>
              <a:t>5 </a:t>
            </a:r>
            <a:r>
              <a:rPr lang="en-US" dirty="0"/>
              <a:t>students </a:t>
            </a:r>
            <a:r>
              <a:rPr lang="en-US" dirty="0" smtClean="0"/>
              <a:t>each</a:t>
            </a:r>
            <a:endParaRPr lang="en-US" dirty="0" smtClean="0">
              <a:solidFill>
                <a:srgbClr val="AD0101"/>
              </a:solidFill>
            </a:endParaRPr>
          </a:p>
          <a:p>
            <a:pPr lvl="1"/>
            <a:endParaRPr lang="en-US" dirty="0"/>
          </a:p>
          <a:p>
            <a:r>
              <a:rPr lang="en-US" dirty="0" smtClean="0"/>
              <a:t>Start thinking about the application you are going to design as your </a:t>
            </a:r>
            <a:r>
              <a:rPr lang="en-US" dirty="0" smtClean="0"/>
              <a:t>semester project.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291411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72687"/>
            <a:ext cx="6096000" cy="60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23901</TotalTime>
  <Words>1756</Words>
  <Application>Microsoft Office PowerPoint</Application>
  <PresentationFormat>On-screen Show (4:3)</PresentationFormat>
  <Paragraphs>467</Paragraphs>
  <Slides>39</Slides>
  <Notes>38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AGaramond-Semibold--Identity-H</vt:lpstr>
      <vt:lpstr>Agency FB</vt:lpstr>
      <vt:lpstr>Arial</vt:lpstr>
      <vt:lpstr>Calibri</vt:lpstr>
      <vt:lpstr>Courier New</vt:lpstr>
      <vt:lpstr>Office Theme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1564</cp:revision>
  <dcterms:created xsi:type="dcterms:W3CDTF">2006-08-16T00:00:00Z</dcterms:created>
  <dcterms:modified xsi:type="dcterms:W3CDTF">2018-11-16T10:58:08Z</dcterms:modified>
</cp:coreProperties>
</file>