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unknown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10" r:id="rId2"/>
  </p:sldMasterIdLst>
  <p:notesMasterIdLst>
    <p:notesMasterId r:id="rId57"/>
  </p:notesMasterIdLst>
  <p:sldIdLst>
    <p:sldId id="884" r:id="rId3"/>
    <p:sldId id="923" r:id="rId4"/>
    <p:sldId id="893" r:id="rId5"/>
    <p:sldId id="894" r:id="rId6"/>
    <p:sldId id="875" r:id="rId7"/>
    <p:sldId id="845" r:id="rId8"/>
    <p:sldId id="876" r:id="rId9"/>
    <p:sldId id="879" r:id="rId10"/>
    <p:sldId id="880" r:id="rId11"/>
    <p:sldId id="877" r:id="rId12"/>
    <p:sldId id="882" r:id="rId13"/>
    <p:sldId id="890" r:id="rId14"/>
    <p:sldId id="878" r:id="rId15"/>
    <p:sldId id="892" r:id="rId16"/>
    <p:sldId id="891" r:id="rId17"/>
    <p:sldId id="851" r:id="rId18"/>
    <p:sldId id="852" r:id="rId19"/>
    <p:sldId id="853" r:id="rId20"/>
    <p:sldId id="854" r:id="rId21"/>
    <p:sldId id="855" r:id="rId22"/>
    <p:sldId id="856" r:id="rId23"/>
    <p:sldId id="857" r:id="rId24"/>
    <p:sldId id="858" r:id="rId25"/>
    <p:sldId id="859" r:id="rId26"/>
    <p:sldId id="860" r:id="rId27"/>
    <p:sldId id="895" r:id="rId28"/>
    <p:sldId id="896" r:id="rId29"/>
    <p:sldId id="897" r:id="rId30"/>
    <p:sldId id="898" r:id="rId31"/>
    <p:sldId id="899" r:id="rId32"/>
    <p:sldId id="900" r:id="rId33"/>
    <p:sldId id="901" r:id="rId34"/>
    <p:sldId id="902" r:id="rId35"/>
    <p:sldId id="903" r:id="rId36"/>
    <p:sldId id="904" r:id="rId37"/>
    <p:sldId id="905" r:id="rId38"/>
    <p:sldId id="906" r:id="rId39"/>
    <p:sldId id="907" r:id="rId40"/>
    <p:sldId id="908" r:id="rId41"/>
    <p:sldId id="909" r:id="rId42"/>
    <p:sldId id="910" r:id="rId43"/>
    <p:sldId id="911" r:id="rId44"/>
    <p:sldId id="912" r:id="rId45"/>
    <p:sldId id="913" r:id="rId46"/>
    <p:sldId id="914" r:id="rId47"/>
    <p:sldId id="915" r:id="rId48"/>
    <p:sldId id="916" r:id="rId49"/>
    <p:sldId id="917" r:id="rId50"/>
    <p:sldId id="918" r:id="rId51"/>
    <p:sldId id="919" r:id="rId52"/>
    <p:sldId id="920" r:id="rId53"/>
    <p:sldId id="921" r:id="rId54"/>
    <p:sldId id="922" r:id="rId55"/>
    <p:sldId id="731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1A00"/>
    <a:srgbClr val="FFFF00"/>
    <a:srgbClr val="E14F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4" autoAdjust="0"/>
    <p:restoredTop sz="94434" autoAdjust="0"/>
  </p:normalViewPr>
  <p:slideViewPr>
    <p:cSldViewPr>
      <p:cViewPr>
        <p:scale>
          <a:sx n="80" d="100"/>
          <a:sy n="80" d="100"/>
        </p:scale>
        <p:origin x="-84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2F8C8-4AB1-4EC7-8A80-DF0BAD6D312F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78537-16E5-4CC2-9695-625595435C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71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D54AAF-9BF3-4853-8FDE-D596CE60BAD0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97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2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636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773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77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577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93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40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5893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2082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030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5243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395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EB6FCF-435C-4317-86D2-E76D353F0B2F}" type="slidenum">
              <a:rPr lang="en-US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710" y="4343713"/>
            <a:ext cx="5028580" cy="270505"/>
          </a:xfrm>
        </p:spPr>
        <p:txBody>
          <a:bodyPr>
            <a:normAutofit lnSpcReduction="10000"/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37135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0300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8285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40826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2631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0933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8366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6083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1017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8579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2811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0452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7880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7536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53720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061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7477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4841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3378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2956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4909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1936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5283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50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9537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51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76800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52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22992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53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796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2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94416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4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74485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2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62799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D3A7A08B-64B0-470C-87C9-934E2920E55F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1" y="1575654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83887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1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8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33724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2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046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778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2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4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24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40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D3A7A08B-64B0-470C-87C9-934E2920E55F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963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294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3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3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256569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2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D3A7A08B-64B0-470C-87C9-934E2920E55F}" type="datetimeFigureOut">
              <a:rPr lang="en-US" smtClean="0"/>
              <a:pPr/>
              <a:t>10/31/2018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6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30098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gif"/><Relationship Id="rId4" Type="http://schemas.openxmlformats.org/officeDocument/2006/relationships/image" Target="../media/image7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4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527774"/>
            <a:ext cx="6654627" cy="218958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88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50730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</a:rPr>
              <a:t>CS-111</a:t>
            </a:r>
            <a:r>
              <a:rPr lang="en-US" sz="4000" dirty="0">
                <a:solidFill>
                  <a:schemeClr val="bg1"/>
                </a:solidFill>
              </a:rPr>
              <a:t/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b="1" dirty="0" smtClean="0">
                <a:solidFill>
                  <a:schemeClr val="bg1"/>
                </a:solidFill>
              </a:rPr>
              <a:t>Fundamentals of Computer </a:t>
            </a:r>
            <a:r>
              <a:rPr lang="en-US" sz="4000" b="1" dirty="0">
                <a:solidFill>
                  <a:schemeClr val="bg1"/>
                </a:solidFill>
              </a:rPr>
              <a:t>Programming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69913" y="3746267"/>
            <a:ext cx="6400800" cy="17526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Lecture 8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Control Statements </a:t>
            </a:r>
            <a:r>
              <a:rPr lang="en-US" smtClean="0">
                <a:solidFill>
                  <a:schemeClr val="bg1"/>
                </a:solidFill>
              </a:rPr>
              <a:t>– III</a:t>
            </a: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 sz="1800" b="1" dirty="0" smtClean="0">
                <a:solidFill>
                  <a:prstClr val="white"/>
                </a:solidFill>
              </a:rPr>
              <a:t>Institute of Geographical Information Systems</a:t>
            </a:r>
            <a:endParaRPr lang="en-US" sz="1800" b="1" dirty="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4098" name="Picture 2" descr="http://www.nust.edu.pk/SiteCollectionImages/logo_SEECS_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72400" y="5867400"/>
            <a:ext cx="1143000" cy="923925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0" y="5867400"/>
            <a:ext cx="2286000" cy="990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prstClr val="black"/>
                </a:solidFill>
              </a:rPr>
              <a:t>Course Instructor:</a:t>
            </a:r>
          </a:p>
          <a:p>
            <a:pPr algn="ctr"/>
            <a:r>
              <a:rPr lang="en-US" b="1" dirty="0" smtClean="0">
                <a:solidFill>
                  <a:prstClr val="black"/>
                </a:solidFill>
              </a:rPr>
              <a:t>Qurrat-</a:t>
            </a:r>
            <a:r>
              <a:rPr lang="en-US" b="1" dirty="0" err="1" smtClean="0">
                <a:solidFill>
                  <a:prstClr val="black"/>
                </a:solidFill>
              </a:rPr>
              <a:t>ul</a:t>
            </a:r>
            <a:r>
              <a:rPr lang="en-US" b="1" dirty="0" smtClean="0">
                <a:solidFill>
                  <a:prstClr val="black"/>
                </a:solidFill>
              </a:rPr>
              <a:t>-</a:t>
            </a:r>
            <a:r>
              <a:rPr lang="en-US" b="1" dirty="0" err="1" smtClean="0">
                <a:solidFill>
                  <a:prstClr val="black"/>
                </a:solidFill>
              </a:rPr>
              <a:t>ain</a:t>
            </a:r>
            <a:r>
              <a:rPr lang="en-US" b="1" dirty="0" smtClean="0">
                <a:solidFill>
                  <a:prstClr val="black"/>
                </a:solidFill>
              </a:rPr>
              <a:t> Babar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81600" y="6144994"/>
            <a:ext cx="240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NUST Institute of Civil Engineering (NICE)</a:t>
            </a:r>
            <a:endParaRPr lang="en-U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7483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368813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Agency FB" panose="020B0503020202020204" pitchFamily="34" charset="0"/>
              </a:rPr>
              <a:t>Attitude is EVERYTHING!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200121"/>
            <a:ext cx="5638800" cy="545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347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Road Map for Today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267200"/>
          </a:xfrm>
          <a:prstGeom prst="rect">
            <a:avLst/>
          </a:prstGeom>
        </p:spPr>
        <p:txBody>
          <a:bodyPr/>
          <a:lstStyle/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r>
              <a:rPr lang="en-US" sz="3200" kern="0" dirty="0" smtClean="0">
                <a:solidFill>
                  <a:prstClr val="black"/>
                </a:solidFill>
              </a:rPr>
              <a:t>Control Statements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n-US" sz="3200" kern="0" dirty="0" smtClean="0">
                <a:solidFill>
                  <a:srgbClr val="C00000"/>
                </a:solidFill>
              </a:rPr>
              <a:t>Selection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i="1" dirty="0">
                <a:solidFill>
                  <a:srgbClr val="002060"/>
                </a:solidFill>
              </a:rPr>
              <a:t>if</a:t>
            </a:r>
            <a:r>
              <a:rPr lang="en-US" sz="3200" dirty="0">
                <a:solidFill>
                  <a:srgbClr val="002060"/>
                </a:solidFill>
              </a:rPr>
              <a:t> 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i="1" dirty="0">
                <a:solidFill>
                  <a:srgbClr val="002060"/>
                </a:solidFill>
              </a:rPr>
              <a:t>switch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n-US" sz="3200" i="1" dirty="0" smtClean="0">
                <a:solidFill>
                  <a:srgbClr val="FF0000"/>
                </a:solidFill>
              </a:rPr>
              <a:t>Iteration</a:t>
            </a:r>
          </a:p>
          <a:p>
            <a:pPr marL="1371600" lvl="2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/>
            </a:pPr>
            <a:r>
              <a:rPr lang="en-US" sz="3200" i="1" dirty="0">
                <a:solidFill>
                  <a:srgbClr val="002060"/>
                </a:solidFill>
              </a:rPr>
              <a:t>while</a:t>
            </a:r>
          </a:p>
          <a:p>
            <a:pPr marL="1371600" lvl="2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/>
            </a:pPr>
            <a:r>
              <a:rPr lang="en-US" sz="3200" i="1" dirty="0">
                <a:solidFill>
                  <a:srgbClr val="002060"/>
                </a:solidFill>
              </a:rPr>
              <a:t>do…while</a:t>
            </a:r>
          </a:p>
          <a:p>
            <a:pPr marL="1371600" lvl="2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/>
            </a:pPr>
            <a:r>
              <a:rPr lang="en-US" sz="3200" i="1" dirty="0">
                <a:solidFill>
                  <a:srgbClr val="002060"/>
                </a:solidFill>
              </a:rPr>
              <a:t>for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n-US" sz="3200" kern="0" dirty="0" smtClean="0">
                <a:solidFill>
                  <a:srgbClr val="C00000"/>
                </a:solidFill>
              </a:rPr>
              <a:t>Jump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3352800" y="3467100"/>
            <a:ext cx="1905000" cy="685800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2221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Recap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64159"/>
            <a:ext cx="8229600" cy="4906963"/>
          </a:xfrm>
        </p:spPr>
        <p:txBody>
          <a:bodyPr/>
          <a:lstStyle/>
          <a:p>
            <a:r>
              <a:rPr lang="en-US" dirty="0" smtClean="0"/>
              <a:t>When is it best to use switch?</a:t>
            </a:r>
            <a:endParaRPr lang="en-US" dirty="0"/>
          </a:p>
          <a:p>
            <a:r>
              <a:rPr lang="en-US" dirty="0" smtClean="0"/>
              <a:t>When </a:t>
            </a:r>
            <a:r>
              <a:rPr lang="en-US" dirty="0"/>
              <a:t>is it best to use </a:t>
            </a:r>
            <a:r>
              <a:rPr lang="en-US" dirty="0" smtClean="0"/>
              <a:t>if-else?</a:t>
            </a:r>
          </a:p>
          <a:p>
            <a:r>
              <a:rPr lang="en-US" dirty="0" smtClean="0"/>
              <a:t>Syntax of switch statement?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9909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502693"/>
            <a:ext cx="914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C++ Iteration/Repetition Statements</a:t>
            </a:r>
            <a:endParaRPr lang="en-US" sz="5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8506091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752600" y="403722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Repetition Statements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3429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272086"/>
            <a:ext cx="8458200" cy="5278138"/>
          </a:xfrm>
        </p:spPr>
        <p:txBody>
          <a:bodyPr>
            <a:normAutofit fontScale="92500" lnSpcReduction="20000"/>
          </a:bodyPr>
          <a:lstStyle/>
          <a:p>
            <a:r>
              <a:rPr lang="en-US" sz="3500" dirty="0"/>
              <a:t>A repetition statement specifies that a program should repeat an action while some </a:t>
            </a:r>
            <a:r>
              <a:rPr lang="en-US" sz="3500" dirty="0" smtClean="0"/>
              <a:t>condition remains </a:t>
            </a:r>
            <a:r>
              <a:rPr lang="en-US" sz="3500" dirty="0"/>
              <a:t>true</a:t>
            </a:r>
            <a:r>
              <a:rPr lang="en-US" sz="3500" dirty="0" smtClean="0"/>
              <a:t>.</a:t>
            </a:r>
          </a:p>
          <a:p>
            <a:r>
              <a:rPr lang="en-US" sz="3500" dirty="0" smtClean="0"/>
              <a:t>C</a:t>
            </a:r>
            <a:r>
              <a:rPr lang="en-US" sz="3500" dirty="0"/>
              <a:t>++ provides </a:t>
            </a:r>
            <a:r>
              <a:rPr lang="en-US" sz="3500" dirty="0">
                <a:solidFill>
                  <a:srgbClr val="FF0000"/>
                </a:solidFill>
              </a:rPr>
              <a:t>three</a:t>
            </a:r>
            <a:r>
              <a:rPr lang="en-US" sz="3500" dirty="0"/>
              <a:t> types of repetition statements (also called </a:t>
            </a:r>
            <a:r>
              <a:rPr lang="en-US" sz="3500" b="1" i="1" dirty="0">
                <a:solidFill>
                  <a:schemeClr val="accent6">
                    <a:lumMod val="50000"/>
                  </a:schemeClr>
                </a:solidFill>
              </a:rPr>
              <a:t>looping statements </a:t>
            </a:r>
            <a:r>
              <a:rPr lang="en-US" sz="3500" dirty="0"/>
              <a:t>or </a:t>
            </a:r>
            <a:r>
              <a:rPr lang="en-US" sz="3500" b="1" i="1" dirty="0">
                <a:solidFill>
                  <a:schemeClr val="accent6">
                    <a:lumMod val="50000"/>
                  </a:schemeClr>
                </a:solidFill>
              </a:rPr>
              <a:t>loops</a:t>
            </a:r>
            <a:r>
              <a:rPr lang="en-US" sz="3500" b="1" i="1" dirty="0" smtClean="0"/>
              <a:t> </a:t>
            </a:r>
            <a:r>
              <a:rPr lang="en-US" sz="3500" i="1" dirty="0" smtClean="0"/>
              <a:t>or</a:t>
            </a:r>
            <a:r>
              <a:rPr lang="en-US" sz="3500" b="1" i="1" dirty="0" smtClean="0"/>
              <a:t> </a:t>
            </a:r>
            <a:r>
              <a:rPr lang="en-US" sz="3500" b="1" i="1" dirty="0" smtClean="0">
                <a:solidFill>
                  <a:schemeClr val="accent6">
                    <a:lumMod val="50000"/>
                  </a:schemeClr>
                </a:solidFill>
              </a:rPr>
              <a:t>iterations</a:t>
            </a:r>
            <a:r>
              <a:rPr lang="en-US" sz="3500" dirty="0" smtClean="0"/>
              <a:t>) </a:t>
            </a:r>
          </a:p>
          <a:p>
            <a:pPr lvl="1"/>
            <a:r>
              <a:rPr lang="en-US" sz="3100" dirty="0" smtClean="0">
                <a:solidFill>
                  <a:srgbClr val="002060"/>
                </a:solidFill>
              </a:rPr>
              <a:t>for performing statements </a:t>
            </a:r>
            <a:r>
              <a:rPr lang="en-US" sz="3100" dirty="0">
                <a:solidFill>
                  <a:srgbClr val="002060"/>
                </a:solidFill>
              </a:rPr>
              <a:t>repeatedly </a:t>
            </a:r>
            <a:endParaRPr lang="en-US" sz="3100" dirty="0" smtClean="0">
              <a:solidFill>
                <a:srgbClr val="002060"/>
              </a:solidFill>
            </a:endParaRPr>
          </a:p>
          <a:p>
            <a:pPr lvl="1"/>
            <a:r>
              <a:rPr lang="en-US" sz="3100" dirty="0" smtClean="0">
                <a:solidFill>
                  <a:srgbClr val="002060"/>
                </a:solidFill>
              </a:rPr>
              <a:t>while </a:t>
            </a:r>
            <a:r>
              <a:rPr lang="en-US" sz="3100" dirty="0">
                <a:solidFill>
                  <a:srgbClr val="002060"/>
                </a:solidFill>
              </a:rPr>
              <a:t>a condition </a:t>
            </a:r>
            <a:r>
              <a:rPr lang="en-US" sz="3100" dirty="0" smtClean="0">
                <a:solidFill>
                  <a:srgbClr val="002060"/>
                </a:solidFill>
              </a:rPr>
              <a:t>remains true</a:t>
            </a:r>
            <a:endParaRPr lang="en-US" sz="3100" kern="0" dirty="0" smtClean="0">
              <a:solidFill>
                <a:srgbClr val="002060"/>
              </a:solidFill>
              <a:latin typeface="Times New Roman"/>
            </a:endParaRPr>
          </a:p>
          <a:p>
            <a:pPr lvl="2" fontAlgn="base">
              <a:spcAft>
                <a:spcPct val="0"/>
              </a:spcAft>
            </a:pPr>
            <a:r>
              <a:rPr lang="en-US" sz="3500" i="1" kern="0" dirty="0" smtClean="0">
                <a:solidFill>
                  <a:srgbClr val="C00000"/>
                </a:solidFill>
                <a:latin typeface="Times New Roman"/>
              </a:rPr>
              <a:t>while</a:t>
            </a:r>
          </a:p>
          <a:p>
            <a:pPr lvl="2" fontAlgn="base">
              <a:spcAft>
                <a:spcPct val="0"/>
              </a:spcAft>
              <a:buFontTx/>
              <a:buChar char="•"/>
            </a:pPr>
            <a:r>
              <a:rPr lang="en-US" sz="3500" i="1" kern="0" dirty="0" smtClean="0">
                <a:solidFill>
                  <a:srgbClr val="C00000"/>
                </a:solidFill>
                <a:latin typeface="Times New Roman"/>
              </a:rPr>
              <a:t>do…while</a:t>
            </a:r>
          </a:p>
          <a:p>
            <a:pPr lvl="2" fontAlgn="base">
              <a:spcAft>
                <a:spcPct val="0"/>
              </a:spcAft>
              <a:buFontTx/>
              <a:buChar char="•"/>
            </a:pPr>
            <a:r>
              <a:rPr lang="en-US" sz="3500" i="1" kern="0" dirty="0" smtClean="0">
                <a:solidFill>
                  <a:srgbClr val="C00000"/>
                </a:solidFill>
                <a:latin typeface="Times New Roman"/>
              </a:rPr>
              <a:t> for</a:t>
            </a:r>
            <a:endParaRPr lang="en-US" sz="3500" i="1" kern="0" dirty="0">
              <a:solidFill>
                <a:srgbClr val="C00000"/>
              </a:solidFill>
              <a:latin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017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Loop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r>
              <a:rPr lang="en-US" altLang="en-US" sz="3200" dirty="0"/>
              <a:t>A loop is part of a program that repeats</a:t>
            </a:r>
            <a:r>
              <a:rPr lang="en-US" altLang="en-US" sz="3200" dirty="0" smtClean="0"/>
              <a:t>.</a:t>
            </a:r>
          </a:p>
          <a:p>
            <a:endParaRPr lang="en-US" altLang="en-US" sz="3200" dirty="0"/>
          </a:p>
          <a:p>
            <a:pPr>
              <a:buFontTx/>
              <a:buNone/>
            </a:pPr>
            <a:r>
              <a:rPr lang="en-US" altLang="en-US" sz="3200" dirty="0"/>
              <a:t/>
            </a:r>
            <a:br>
              <a:rPr lang="en-US" altLang="en-US" sz="3200" dirty="0"/>
            </a:br>
            <a:endParaRPr lang="en-US" sz="3200" kern="0" dirty="0" smtClean="0">
              <a:latin typeface="+mj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3377884"/>
            <a:ext cx="1643100" cy="16431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70" y="3276600"/>
            <a:ext cx="2325845" cy="17443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214" y="3327242"/>
            <a:ext cx="2942866" cy="1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9443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302368"/>
            <a:ext cx="2000250" cy="2000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The </a:t>
            </a:r>
            <a:r>
              <a:rPr lang="en-US" sz="4800" b="1" i="1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while</a:t>
            </a:r>
            <a:r>
              <a:rPr lang="en-US" sz="48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statement</a:t>
            </a:r>
            <a:endParaRPr lang="en-US" sz="48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3429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81000" y="1600200"/>
            <a:ext cx="8534400" cy="4525963"/>
          </a:xfrm>
        </p:spPr>
        <p:txBody>
          <a:bodyPr>
            <a:normAutofit/>
          </a:bodyPr>
          <a:lstStyle/>
          <a:p>
            <a:r>
              <a:rPr lang="en-US" dirty="0"/>
              <a:t>A repetition statement specifies that a program should repeat an action </a:t>
            </a:r>
            <a:r>
              <a:rPr lang="en-US" b="1" dirty="0"/>
              <a:t>while</a:t>
            </a:r>
            <a:r>
              <a:rPr lang="en-US" dirty="0"/>
              <a:t> some condition remains true</a:t>
            </a:r>
            <a:r>
              <a:rPr lang="en-US" dirty="0" smtClean="0"/>
              <a:t>.</a:t>
            </a:r>
          </a:p>
          <a:p>
            <a:endParaRPr lang="en-US" sz="1200" dirty="0" smtClean="0"/>
          </a:p>
          <a:p>
            <a:pPr marL="400050" lvl="1" indent="0" algn="ctr">
              <a:buNone/>
            </a:pPr>
            <a:r>
              <a:rPr lang="en-US" i="1" dirty="0" smtClean="0"/>
              <a:t>           </a:t>
            </a:r>
            <a:r>
              <a:rPr lang="en-US" i="1" dirty="0" err="1" smtClean="0"/>
              <a:t>Umbridge</a:t>
            </a:r>
            <a:r>
              <a:rPr lang="en-US" i="1" dirty="0"/>
              <a:t>: Write ‘I must not tell lies’.</a:t>
            </a:r>
          </a:p>
          <a:p>
            <a:pPr marL="400050" lvl="1" indent="0" algn="ctr">
              <a:buNone/>
            </a:pPr>
            <a:r>
              <a:rPr lang="en-US" i="1" dirty="0" smtClean="0"/>
              <a:t>         Harry</a:t>
            </a:r>
            <a:r>
              <a:rPr lang="en-US" i="1" dirty="0"/>
              <a:t>: How many times?</a:t>
            </a:r>
          </a:p>
          <a:p>
            <a:pPr marL="400050" lvl="1" indent="0" algn="ctr">
              <a:buNone/>
            </a:pPr>
            <a:r>
              <a:rPr lang="en-US" i="1" dirty="0" smtClean="0">
                <a:solidFill>
                  <a:srgbClr val="C00000"/>
                </a:solidFill>
              </a:rPr>
              <a:t>        </a:t>
            </a:r>
            <a:r>
              <a:rPr lang="en-US" i="1" dirty="0" err="1" smtClean="0">
                <a:solidFill>
                  <a:srgbClr val="C00000"/>
                </a:solidFill>
              </a:rPr>
              <a:t>Umbridge</a:t>
            </a:r>
            <a:r>
              <a:rPr lang="en-US" i="1" dirty="0">
                <a:solidFill>
                  <a:srgbClr val="C00000"/>
                </a:solidFill>
              </a:rPr>
              <a:t>: Till the message sinks in.</a:t>
            </a:r>
          </a:p>
        </p:txBody>
      </p:sp>
    </p:spTree>
    <p:extLst>
      <p:ext uri="{BB962C8B-B14F-4D97-AF65-F5344CB8AC3E}">
        <p14:creationId xmlns:p14="http://schemas.microsoft.com/office/powerpoint/2010/main" val="1393073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2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390874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The </a:t>
            </a:r>
            <a:r>
              <a:rPr lang="en-US" sz="4800" b="1" i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while</a:t>
            </a:r>
            <a:r>
              <a:rPr lang="en-US" sz="4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statement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3429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81000" y="1364159"/>
            <a:ext cx="8534400" cy="4525963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800" i="1" dirty="0" smtClean="0">
                <a:solidFill>
                  <a:srgbClr val="0269AF"/>
                </a:solidFill>
                <a:latin typeface="AGaramond-Italic--Identity-H"/>
              </a:rPr>
              <a:t>While </a:t>
            </a:r>
            <a:r>
              <a:rPr lang="en-US" sz="2800" i="1" dirty="0">
                <a:solidFill>
                  <a:srgbClr val="0269AF"/>
                </a:solidFill>
                <a:latin typeface="AGaramond-Italic--Identity-H"/>
              </a:rPr>
              <a:t>there are more items on my shopping list</a:t>
            </a:r>
          </a:p>
          <a:p>
            <a:pPr marL="0" indent="0" algn="ctr">
              <a:buNone/>
            </a:pPr>
            <a:r>
              <a:rPr lang="en-US" sz="2800" i="1" dirty="0">
                <a:solidFill>
                  <a:srgbClr val="0269AF"/>
                </a:solidFill>
                <a:latin typeface="AGaramond-Italic--Identity-H"/>
              </a:rPr>
              <a:t>      Purchase next item and cross it off my </a:t>
            </a:r>
            <a:r>
              <a:rPr lang="en-US" sz="2800" i="1" dirty="0" smtClean="0">
                <a:solidFill>
                  <a:srgbClr val="0269AF"/>
                </a:solidFill>
                <a:latin typeface="AGaramond-Italic--Identity-H"/>
              </a:rPr>
              <a:t>list</a:t>
            </a:r>
          </a:p>
          <a:p>
            <a:pPr marL="0" indent="0" algn="ctr">
              <a:buNone/>
            </a:pPr>
            <a:endParaRPr lang="en-US" sz="2800" dirty="0"/>
          </a:p>
          <a:p>
            <a:r>
              <a:rPr lang="en-US" sz="2800" dirty="0" smtClean="0"/>
              <a:t>The </a:t>
            </a:r>
            <a:r>
              <a:rPr lang="en-US" sz="2800" dirty="0"/>
              <a:t>condition, “there are </a:t>
            </a:r>
            <a:r>
              <a:rPr lang="en-US" sz="2800" dirty="0" smtClean="0"/>
              <a:t>more items </a:t>
            </a:r>
            <a:r>
              <a:rPr lang="en-US" sz="2800" dirty="0"/>
              <a:t>on my shopping list” is either true or false. </a:t>
            </a:r>
            <a:endParaRPr lang="en-US" sz="2800" dirty="0" smtClean="0"/>
          </a:p>
          <a:p>
            <a:pPr lvl="1"/>
            <a:r>
              <a:rPr lang="en-US" sz="2400" i="1" dirty="0" smtClean="0"/>
              <a:t>If </a:t>
            </a:r>
            <a:r>
              <a:rPr lang="en-US" sz="2400" i="1" dirty="0"/>
              <a:t>it’s true, then the action, “</a:t>
            </a:r>
            <a:r>
              <a:rPr lang="en-US" sz="2400" i="1" dirty="0" smtClean="0"/>
              <a:t>Purchase next </a:t>
            </a:r>
            <a:r>
              <a:rPr lang="en-US" sz="2400" i="1" dirty="0"/>
              <a:t>item and cross it off my list” is performed. </a:t>
            </a:r>
            <a:endParaRPr lang="en-US" sz="2400" i="1" dirty="0" smtClean="0"/>
          </a:p>
          <a:p>
            <a:pPr lvl="1"/>
            <a:r>
              <a:rPr lang="en-US" sz="2400" i="1" dirty="0" smtClean="0"/>
              <a:t>This </a:t>
            </a:r>
            <a:r>
              <a:rPr lang="en-US" sz="2400" i="1" dirty="0"/>
              <a:t>action will be performed </a:t>
            </a:r>
            <a:r>
              <a:rPr lang="en-US" sz="2400" i="1" dirty="0" smtClean="0"/>
              <a:t>repeatedly while </a:t>
            </a:r>
            <a:r>
              <a:rPr lang="en-US" sz="2400" i="1" dirty="0"/>
              <a:t>the condition remains true</a:t>
            </a:r>
            <a:r>
              <a:rPr lang="en-US" sz="2400" i="1" dirty="0" smtClean="0"/>
              <a:t>.</a:t>
            </a:r>
          </a:p>
          <a:p>
            <a:r>
              <a:rPr lang="en-US" sz="2800" dirty="0"/>
              <a:t>Eventually, the condition will become false</a:t>
            </a:r>
          </a:p>
        </p:txBody>
      </p:sp>
    </p:spTree>
    <p:extLst>
      <p:ext uri="{BB962C8B-B14F-4D97-AF65-F5344CB8AC3E}">
        <p14:creationId xmlns:p14="http://schemas.microsoft.com/office/powerpoint/2010/main" val="15664086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95211"/>
            <a:ext cx="8534400" cy="4419600"/>
          </a:xfrm>
          <a:prstGeom prst="rect">
            <a:avLst/>
          </a:prstGeom>
        </p:spPr>
        <p:txBody>
          <a:bodyPr/>
          <a:lstStyle/>
          <a:p>
            <a:r>
              <a:rPr lang="en-US" altLang="en-US" sz="3200" dirty="0" smtClean="0"/>
              <a:t>A </a:t>
            </a:r>
            <a:r>
              <a:rPr lang="en-US" altLang="en-US" sz="3200" dirty="0">
                <a:solidFill>
                  <a:srgbClr val="FF0000"/>
                </a:solidFill>
              </a:rPr>
              <a:t>while</a:t>
            </a:r>
            <a:r>
              <a:rPr lang="en-US" altLang="en-US" sz="3200" dirty="0"/>
              <a:t> loop is a </a:t>
            </a:r>
            <a:r>
              <a:rPr lang="en-US" altLang="en-US" sz="3200" b="1" dirty="0"/>
              <a:t>“pre test” </a:t>
            </a:r>
            <a:r>
              <a:rPr lang="en-US" altLang="en-US" sz="3200" dirty="0"/>
              <a:t>loop - the </a:t>
            </a:r>
            <a:r>
              <a:rPr lang="en-US" altLang="en-US" sz="3200" dirty="0" smtClean="0"/>
              <a:t>condition is </a:t>
            </a:r>
            <a:r>
              <a:rPr lang="en-US" altLang="en-US" sz="3200" dirty="0"/>
              <a:t>tested before the </a:t>
            </a:r>
            <a:r>
              <a:rPr lang="en-US" altLang="en-US" sz="3200" dirty="0" smtClean="0"/>
              <a:t>loop </a:t>
            </a:r>
            <a:r>
              <a:rPr lang="en-US" altLang="en-US" sz="3200" dirty="0"/>
              <a:t>b</a:t>
            </a:r>
            <a:r>
              <a:rPr lang="en-US" altLang="en-US" sz="3200" dirty="0" smtClean="0"/>
              <a:t>ody </a:t>
            </a:r>
            <a:r>
              <a:rPr lang="en-US" altLang="en-US" sz="3200" dirty="0"/>
              <a:t>is executed</a:t>
            </a:r>
          </a:p>
          <a:p>
            <a:pPr>
              <a:buFontTx/>
              <a:buNone/>
            </a:pPr>
            <a:r>
              <a:rPr lang="en-US" altLang="en-US" sz="3200" dirty="0"/>
              <a:t/>
            </a:r>
            <a:br>
              <a:rPr lang="en-US" altLang="en-US" sz="3200" dirty="0"/>
            </a:br>
            <a:endParaRPr lang="en-US" sz="3200" kern="0" dirty="0" smtClean="0">
              <a:latin typeface="+mj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The </a:t>
            </a:r>
            <a:r>
              <a:rPr lang="en-US" sz="4800" b="1" i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while</a:t>
            </a:r>
            <a:r>
              <a:rPr lang="en-US" sz="4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statement</a:t>
            </a:r>
            <a:endParaRPr lang="en-US" sz="48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1711817" y="2695977"/>
            <a:ext cx="4343400" cy="1418823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Tx/>
              <a:buNone/>
            </a:pPr>
            <a:r>
              <a:rPr lang="en-US" alt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while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condition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i="1" dirty="0">
                <a:solidFill>
                  <a:schemeClr val="tx1"/>
                </a:solidFill>
                <a:latin typeface="Courier New" panose="02070309020205020404" pitchFamily="49" charset="0"/>
              </a:rPr>
              <a:t>statement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  <a:endParaRPr lang="en-US" altLang="en-US" sz="2800" b="1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711817" y="4495800"/>
            <a:ext cx="4343400" cy="1694647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Tx/>
              <a:buNone/>
            </a:pPr>
            <a:r>
              <a:rPr lang="en-US" alt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while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condition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) </a:t>
            </a:r>
          </a:p>
          <a:p>
            <a:pPr>
              <a:buFontTx/>
              <a:buNone/>
            </a:pP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statement(s)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05409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1000" y="449759"/>
            <a:ext cx="853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+mj-lt"/>
              </a:rPr>
              <a:t>The </a:t>
            </a:r>
            <a:r>
              <a:rPr lang="en-US" sz="4400" b="1" i="1" dirty="0">
                <a:solidFill>
                  <a:srgbClr val="FF0000"/>
                </a:solidFill>
                <a:latin typeface="+mj-lt"/>
              </a:rPr>
              <a:t>while</a:t>
            </a:r>
            <a:r>
              <a:rPr lang="en-US" sz="4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4400" dirty="0" smtClean="0">
                <a:solidFill>
                  <a:srgbClr val="FF0000"/>
                </a:solidFill>
                <a:latin typeface="+mj-lt"/>
              </a:rPr>
              <a:t>statement - Example</a:t>
            </a:r>
            <a:endParaRPr lang="en-US" sz="4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3429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  <p:sp>
        <p:nvSpPr>
          <p:cNvPr id="9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71341" y="1930341"/>
            <a:ext cx="7467600" cy="299433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33308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88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Local variable declaration: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66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88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while loop execution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smtClean="0">
                <a:solidFill>
                  <a:srgbClr val="00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800100" lvl="2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88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“Value of a: "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endl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800100" lvl="2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6477000" y="2005341"/>
            <a:ext cx="2438400" cy="28443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extLst/>
        </p:spPr>
        <p:txBody>
          <a:bodyPr vert="horz" wrap="square" lIns="91440" tIns="45720" rIns="91440" bIns="88872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dirty="0" smtClean="0">
                <a:solidFill>
                  <a:srgbClr val="00008B"/>
                </a:solidFill>
              </a:rPr>
              <a:t>Output:</a:t>
            </a:r>
            <a:endParaRPr lang="en-US" altLang="en-US" sz="2800" dirty="0">
              <a:solidFill>
                <a:srgbClr val="00008B"/>
              </a:solidFill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800" dirty="0" smtClean="0">
                <a:solidFill>
                  <a:srgbClr val="321A00"/>
                </a:solidFill>
              </a:rPr>
              <a:t>Value of a: 10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solidFill>
                  <a:srgbClr val="321A00"/>
                </a:solidFill>
              </a:rPr>
              <a:t>Value of a: </a:t>
            </a:r>
            <a:r>
              <a:rPr lang="en-US" altLang="en-US" sz="2800" dirty="0" smtClean="0">
                <a:solidFill>
                  <a:srgbClr val="321A00"/>
                </a:solidFill>
              </a:rPr>
              <a:t>11</a:t>
            </a:r>
            <a:endParaRPr lang="en-US" altLang="en-US" sz="2800" dirty="0">
              <a:solidFill>
                <a:srgbClr val="321A00"/>
              </a:solidFill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solidFill>
                  <a:srgbClr val="321A00"/>
                </a:solidFill>
              </a:rPr>
              <a:t>Value of a: </a:t>
            </a:r>
            <a:r>
              <a:rPr lang="en-US" altLang="en-US" sz="2800" dirty="0" smtClean="0">
                <a:solidFill>
                  <a:srgbClr val="321A00"/>
                </a:solidFill>
              </a:rPr>
              <a:t>12</a:t>
            </a:r>
            <a:endParaRPr lang="en-US" altLang="en-US" sz="2800" dirty="0">
              <a:solidFill>
                <a:srgbClr val="321A00"/>
              </a:solidFill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solidFill>
                  <a:srgbClr val="321A00"/>
                </a:solidFill>
              </a:rPr>
              <a:t>Value of a: </a:t>
            </a:r>
            <a:r>
              <a:rPr lang="en-US" altLang="en-US" sz="2800" dirty="0" smtClean="0">
                <a:solidFill>
                  <a:srgbClr val="321A00"/>
                </a:solidFill>
              </a:rPr>
              <a:t>13</a:t>
            </a:r>
            <a:endParaRPr lang="en-US" altLang="en-US" sz="2800" dirty="0">
              <a:solidFill>
                <a:srgbClr val="321A00"/>
              </a:solidFill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solidFill>
                  <a:srgbClr val="321A00"/>
                </a:solidFill>
              </a:rPr>
              <a:t>Value of a: </a:t>
            </a:r>
            <a:r>
              <a:rPr lang="en-US" altLang="en-US" sz="2800" dirty="0" smtClean="0">
                <a:solidFill>
                  <a:srgbClr val="321A00"/>
                </a:solidFill>
              </a:rPr>
              <a:t>14</a:t>
            </a:r>
            <a:endParaRPr lang="en-US" altLang="en-US" sz="2800" dirty="0">
              <a:solidFill>
                <a:srgbClr val="321A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5233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1000" y="449759"/>
            <a:ext cx="853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+mj-lt"/>
              </a:rPr>
              <a:t>The </a:t>
            </a:r>
            <a:r>
              <a:rPr lang="en-US" sz="4400" b="1" i="1" dirty="0">
                <a:solidFill>
                  <a:srgbClr val="FF0000"/>
                </a:solidFill>
                <a:latin typeface="+mj-lt"/>
              </a:rPr>
              <a:t>while</a:t>
            </a:r>
            <a:r>
              <a:rPr lang="en-US" sz="4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4400" dirty="0" smtClean="0">
                <a:solidFill>
                  <a:srgbClr val="FF0000"/>
                </a:solidFill>
                <a:latin typeface="+mj-lt"/>
              </a:rPr>
              <a:t>statement - Example</a:t>
            </a:r>
            <a:endParaRPr lang="en-US" sz="4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3429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  <p:sp>
        <p:nvSpPr>
          <p:cNvPr id="9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14400" y="2201507"/>
            <a:ext cx="7467600" cy="237878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33308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88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Local variable declaration: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product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66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88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while loop execution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product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smtClean="0">
                <a:solidFill>
                  <a:srgbClr val="00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800100" lvl="2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000" b="1" dirty="0">
                <a:solidFill>
                  <a:srgbClr val="3131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*= 3; </a:t>
            </a:r>
          </a:p>
          <a:p>
            <a:pPr marL="800100" lvl="2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rgbClr val="31313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8194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Flowchart Representation of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“while”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 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A1D6-45B6-42A0-9A96-551CCA5B504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3348990" y="2160270"/>
            <a:ext cx="1725930" cy="6400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Part of program before iteration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Flowchart: Decision 8"/>
          <p:cNvSpPr/>
          <p:nvPr/>
        </p:nvSpPr>
        <p:spPr>
          <a:xfrm>
            <a:off x="2788920" y="3040380"/>
            <a:ext cx="2857500" cy="868680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26130" y="3166111"/>
            <a:ext cx="1863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Logical expression</a:t>
            </a:r>
          </a:p>
          <a:p>
            <a:pPr algn="ctr"/>
            <a:r>
              <a:rPr lang="en-US" dirty="0"/>
              <a:t>(loop condition)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3108960" y="4331970"/>
            <a:ext cx="2228850" cy="7200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solidFill>
                  <a:schemeClr val="tx1"/>
                </a:solidFill>
              </a:rPr>
              <a:t>Loop Body</a:t>
            </a:r>
            <a:endParaRPr lang="en-IN" sz="2100" dirty="0">
              <a:solidFill>
                <a:schemeClr val="tx1"/>
              </a:solidFill>
            </a:endParaRPr>
          </a:p>
        </p:txBody>
      </p:sp>
      <p:cxnSp>
        <p:nvCxnSpPr>
          <p:cNvPr id="14" name="Shape 13"/>
          <p:cNvCxnSpPr>
            <a:stCxn id="9" idx="3"/>
          </p:cNvCxnSpPr>
          <p:nvPr/>
        </p:nvCxnSpPr>
        <p:spPr>
          <a:xfrm>
            <a:off x="5646420" y="3474720"/>
            <a:ext cx="1423035" cy="857250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11" idx="1"/>
            <a:endCxn id="9" idx="1"/>
          </p:cNvCxnSpPr>
          <p:nvPr/>
        </p:nvCxnSpPr>
        <p:spPr>
          <a:xfrm rot="10800000">
            <a:off x="2788920" y="3474720"/>
            <a:ext cx="320040" cy="1217295"/>
          </a:xfrm>
          <a:prstGeom prst="bentConnector3">
            <a:avLst>
              <a:gd name="adj1" fmla="val 153571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2"/>
            <a:endCxn id="11" idx="0"/>
          </p:cNvCxnSpPr>
          <p:nvPr/>
        </p:nvCxnSpPr>
        <p:spPr>
          <a:xfrm>
            <a:off x="4217670" y="3909060"/>
            <a:ext cx="5715" cy="42291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2"/>
            <a:endCxn id="9" idx="0"/>
          </p:cNvCxnSpPr>
          <p:nvPr/>
        </p:nvCxnSpPr>
        <p:spPr>
          <a:xfrm>
            <a:off x="4211955" y="2800350"/>
            <a:ext cx="5715" cy="24003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06490" y="4343400"/>
            <a:ext cx="1725930" cy="6400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Part of program after  iteration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20740" y="3200400"/>
            <a:ext cx="7086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FALSE</a:t>
            </a:r>
            <a:endParaRPr lang="en-IN" sz="15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217670" y="3943350"/>
            <a:ext cx="7086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TRUE</a:t>
            </a:r>
            <a:endParaRPr lang="en-IN" sz="1500" b="1" dirty="0"/>
          </a:p>
        </p:txBody>
      </p:sp>
      <p:sp>
        <p:nvSpPr>
          <p:cNvPr id="24" name="Oval 23"/>
          <p:cNvSpPr/>
          <p:nvPr/>
        </p:nvSpPr>
        <p:spPr>
          <a:xfrm>
            <a:off x="4137660" y="2137410"/>
            <a:ext cx="148590" cy="14859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27" name="Rectangle 26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5238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144 0.13148 0.003 0.2632 0.00131 0.33982 C -0.00039 0.41644 0.01875 0.43843 -0.01002 0.45996 C -0.0388 0.48148 -0.14036 0.50648 -0.17122 0.46875 C -0.20208 0.43102 -0.21783 0.27778 -0.19492 0.23333 C -0.172 0.18889 -0.06875 0.19514 -0.03372 0.20208 C 0.00131 0.20903 0.00834 0.23218 0.01498 0.27546 C 0.02162 0.31875 0.03789 0.42546 0.00625 0.46204 C -0.02539 0.49861 -0.14049 0.53565 -0.175 0.49537 C -0.2095 0.45509 -0.23203 0.26991 -0.20117 0.21991 C -0.17031 0.16991 -0.02851 0.15278 0.01003 0.19537 C 0.04857 0.23796 0.06094 0.42107 0.03008 0.47546 C -0.00078 0.52986 -0.13255 0.55857 -0.175 0.52222 C -0.21744 0.48588 -0.25807 0.3081 -0.225 0.25764 C -0.19192 0.20718 -0.0651 0.22755 0.02383 0.21991 C 0.11276 0.21227 0.25834 0.15926 0.30873 0.21111 C 0.35912 0.26296 0.32331 0.47778 0.32631 0.53102 " pathEditMode="relative" ptsTypes="aaaaaaaaaaaaaaaaA">
                                      <p:cBhvr>
                                        <p:cTn id="10" dur="5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4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1000" y="449759"/>
            <a:ext cx="853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+mj-lt"/>
              </a:rPr>
              <a:t>The </a:t>
            </a:r>
            <a:r>
              <a:rPr lang="en-US" sz="4400" b="1" i="1" dirty="0">
                <a:solidFill>
                  <a:srgbClr val="FF0000"/>
                </a:solidFill>
                <a:latin typeface="+mj-lt"/>
              </a:rPr>
              <a:t>while</a:t>
            </a:r>
            <a:r>
              <a:rPr lang="en-US" sz="4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4400" dirty="0" smtClean="0">
                <a:solidFill>
                  <a:srgbClr val="FF0000"/>
                </a:solidFill>
                <a:latin typeface="+mj-lt"/>
              </a:rPr>
              <a:t>statement – Example</a:t>
            </a:r>
            <a:endParaRPr lang="en-US" sz="4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3429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Calculate the sum of first 10 natural numbers.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741444"/>
            <a:ext cx="5975527" cy="271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281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Text Box 3"/>
          <p:cNvSpPr txBox="1">
            <a:spLocks noChangeArrowheads="1"/>
          </p:cNvSpPr>
          <p:nvPr/>
        </p:nvSpPr>
        <p:spPr bwMode="auto">
          <a:xfrm>
            <a:off x="2103967" y="85692"/>
            <a:ext cx="55245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83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3886200" cy="5638800"/>
          </a:xfrm>
          <a:noFill/>
          <a:ln>
            <a:solidFill>
              <a:schemeClr val="tx1"/>
            </a:solidFill>
          </a:ln>
        </p:spPr>
        <p:txBody>
          <a:bodyPr lIns="182880"/>
          <a:lstStyle/>
          <a:p>
            <a:pPr>
              <a:spcBef>
                <a:spcPct val="0"/>
              </a:spcBef>
              <a:buFontTx/>
              <a:buNone/>
            </a:pPr>
            <a:endParaRPr lang="en-AU" sz="1600" b="1" dirty="0">
              <a:solidFill>
                <a:srgbClr val="000000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solidFill>
                  <a:srgbClr val="0000FF"/>
                </a:solidFill>
              </a:rPr>
              <a:t>Read in numbers, add them</a:t>
            </a:r>
            <a:r>
              <a:rPr lang="en-US" sz="2000" b="1" dirty="0">
                <a:solidFill>
                  <a:srgbClr val="0000FF"/>
                </a:solidFill>
              </a:rPr>
              <a:t>, and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solidFill>
                  <a:srgbClr val="0000FF"/>
                </a:solidFill>
              </a:rPr>
              <a:t>print </a:t>
            </a:r>
            <a:r>
              <a:rPr lang="en-US" sz="2000" b="1" dirty="0">
                <a:solidFill>
                  <a:srgbClr val="0000FF"/>
                </a:solidFill>
              </a:rPr>
              <a:t>their</a:t>
            </a:r>
            <a:r>
              <a:rPr lang="en-AU" sz="2000" b="1" dirty="0">
                <a:solidFill>
                  <a:srgbClr val="0000FF"/>
                </a:solidFill>
              </a:rPr>
              <a:t> sum and average</a:t>
            </a:r>
          </a:p>
          <a:p>
            <a:pPr>
              <a:spcBef>
                <a:spcPct val="0"/>
              </a:spcBef>
              <a:buFontTx/>
              <a:buNone/>
            </a:pPr>
            <a:endParaRPr lang="en-AU" sz="2000" b="1" dirty="0">
              <a:solidFill>
                <a:srgbClr val="0000FF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AU" sz="2000" b="1" dirty="0">
              <a:solidFill>
                <a:srgbClr val="0000FF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1600" b="1" dirty="0"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b="1" dirty="0">
                <a:latin typeface="Arial" pitchFamily="34" charset="0"/>
              </a:rPr>
              <a:t>set sum to 0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set count to 0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b="1" dirty="0">
                <a:latin typeface="Arial" pitchFamily="34" charset="0"/>
              </a:rPr>
              <a:t>input </a:t>
            </a:r>
            <a:r>
              <a:rPr lang="en-US" sz="1600" b="1" dirty="0" err="1">
                <a:latin typeface="Arial" pitchFamily="34" charset="0"/>
              </a:rPr>
              <a:t>totalNumbers</a:t>
            </a:r>
            <a:endParaRPr lang="en-US" sz="1600" b="1" dirty="0">
              <a:latin typeface="Arial" pitchFamily="34" charset="0"/>
            </a:endParaRP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while  (count &lt; </a:t>
            </a:r>
            <a:r>
              <a:rPr lang="en-US" sz="1600" b="1" dirty="0" err="1">
                <a:latin typeface="Arial" pitchFamily="34" charset="0"/>
              </a:rPr>
              <a:t>totalNumbers</a:t>
            </a:r>
            <a:r>
              <a:rPr lang="en-US" sz="1600" b="1" dirty="0">
                <a:latin typeface="Arial" pitchFamily="34" charset="0"/>
              </a:rPr>
              <a:t>)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{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  input </a:t>
            </a:r>
            <a:r>
              <a:rPr lang="en-US" sz="1600" b="1" dirty="0" err="1">
                <a:latin typeface="Arial" pitchFamily="34" charset="0"/>
              </a:rPr>
              <a:t>nextNum</a:t>
            </a:r>
            <a:r>
              <a:rPr lang="en-US" sz="1600" b="1" dirty="0">
                <a:latin typeface="Arial" pitchFamily="34" charset="0"/>
              </a:rPr>
              <a:t>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  add </a:t>
            </a:r>
            <a:r>
              <a:rPr lang="en-US" sz="1600" b="1" dirty="0" err="1">
                <a:latin typeface="Arial" pitchFamily="34" charset="0"/>
              </a:rPr>
              <a:t>nextNum</a:t>
            </a:r>
            <a:r>
              <a:rPr lang="en-US" sz="1600" b="1" dirty="0">
                <a:latin typeface="Arial" pitchFamily="34" charset="0"/>
              </a:rPr>
              <a:t> to sum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  add 1 to count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}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output "Sum was" sum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output "Mean was" sum/count </a:t>
            </a:r>
          </a:p>
          <a:p>
            <a:pPr>
              <a:buFontTx/>
              <a:buNone/>
            </a:pPr>
            <a:endParaRPr lang="en-US" sz="1600" b="1" dirty="0"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AU" sz="1600" b="1" dirty="0">
              <a:latin typeface="Arial" pitchFamily="34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997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3886200" cy="5867400"/>
          </a:xfrm>
          <a:noFill/>
          <a:ln>
            <a:solidFill>
              <a:schemeClr val="tx1"/>
            </a:solidFill>
          </a:ln>
        </p:spPr>
        <p:txBody>
          <a:bodyPr lIns="182880"/>
          <a:lstStyle/>
          <a:p>
            <a:pPr>
              <a:spcBef>
                <a:spcPct val="0"/>
              </a:spcBef>
              <a:buFontTx/>
              <a:buNone/>
            </a:pPr>
            <a:endParaRPr lang="en-AU" sz="1600" b="1">
              <a:solidFill>
                <a:schemeClr val="folHlink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solidFill>
                  <a:schemeClr val="folHlink"/>
                </a:solidFill>
              </a:rPr>
              <a:t>Read in numbers, add them</a:t>
            </a:r>
            <a:r>
              <a:rPr lang="en-US" sz="2000" b="1">
                <a:solidFill>
                  <a:schemeClr val="folHlink"/>
                </a:solidFill>
              </a:rPr>
              <a:t>, and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solidFill>
                  <a:schemeClr val="folHlink"/>
                </a:solidFill>
              </a:rPr>
              <a:t>print </a:t>
            </a:r>
            <a:r>
              <a:rPr lang="en-US" sz="2000" b="1">
                <a:solidFill>
                  <a:schemeClr val="folHlink"/>
                </a:solidFill>
              </a:rPr>
              <a:t>their</a:t>
            </a:r>
            <a:r>
              <a:rPr lang="en-AU" sz="2000" b="1">
                <a:solidFill>
                  <a:schemeClr val="folHlink"/>
                </a:solidFill>
              </a:rPr>
              <a:t> sum and average</a:t>
            </a:r>
            <a:endParaRPr lang="en-AU" sz="1600" b="1">
              <a:solidFill>
                <a:schemeClr val="folHlink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AU" sz="1600" b="1">
              <a:solidFill>
                <a:schemeClr val="folHlink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1600" b="1">
              <a:solidFill>
                <a:schemeClr val="folHlink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set sum to 0 </a:t>
            </a:r>
          </a:p>
          <a:p>
            <a:pPr>
              <a:buFontTx/>
              <a:buNone/>
            </a:pPr>
            <a:r>
              <a:rPr lang="en-US" sz="1600" b="1">
                <a:latin typeface="Arial" pitchFamily="34" charset="0"/>
              </a:rPr>
              <a:t>set count to 0</a:t>
            </a: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input totalNumbers</a:t>
            </a:r>
          </a:p>
          <a:p>
            <a:pPr>
              <a:buFontTx/>
              <a:buNone/>
            </a:pP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  </a:t>
            </a:r>
          </a:p>
          <a:p>
            <a:pPr>
              <a:buFontTx/>
              <a:buNone/>
            </a:pPr>
            <a:r>
              <a:rPr lang="en-US" sz="1600" b="1">
                <a:latin typeface="Arial" pitchFamily="34" charset="0"/>
              </a:rPr>
              <a:t>while  (count &lt; totalNumbers)</a:t>
            </a:r>
          </a:p>
          <a:p>
            <a:pPr>
              <a:buFontTx/>
              <a:buNone/>
            </a:pPr>
            <a:r>
              <a:rPr lang="en-US" sz="1600" b="1">
                <a:latin typeface="Arial" pitchFamily="34" charset="0"/>
              </a:rPr>
              <a:t>{</a:t>
            </a: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 </a:t>
            </a:r>
          </a:p>
          <a:p>
            <a:pPr>
              <a:buFontTx/>
              <a:buNone/>
            </a:pP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    input nextNum </a:t>
            </a:r>
          </a:p>
          <a:p>
            <a:pPr>
              <a:buFontTx/>
              <a:buNone/>
            </a:pP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    add nextNum to sum </a:t>
            </a:r>
          </a:p>
          <a:p>
            <a:pPr>
              <a:buFontTx/>
              <a:buNone/>
            </a:pP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    </a:t>
            </a:r>
            <a:r>
              <a:rPr lang="en-US" sz="1600" b="1">
                <a:latin typeface="Arial" pitchFamily="34" charset="0"/>
              </a:rPr>
              <a:t>add 1 to count</a:t>
            </a: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 </a:t>
            </a:r>
          </a:p>
          <a:p>
            <a:pPr>
              <a:buFontTx/>
              <a:buNone/>
            </a:pPr>
            <a:r>
              <a:rPr lang="en-US" sz="1600" b="1">
                <a:latin typeface="Arial" pitchFamily="34" charset="0"/>
              </a:rPr>
              <a:t>} </a:t>
            </a:r>
            <a:endParaRPr lang="en-US" sz="1600" b="1">
              <a:solidFill>
                <a:schemeClr val="folHlink"/>
              </a:solidFill>
              <a:latin typeface="Arial" pitchFamily="34" charset="0"/>
            </a:endParaRPr>
          </a:p>
          <a:p>
            <a:pPr>
              <a:buFontTx/>
              <a:buNone/>
            </a:pP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  </a:t>
            </a:r>
          </a:p>
          <a:p>
            <a:pPr>
              <a:buFontTx/>
              <a:buNone/>
            </a:pP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output "Sum was" sum </a:t>
            </a:r>
          </a:p>
          <a:p>
            <a:pPr>
              <a:buFontTx/>
              <a:buNone/>
            </a:pP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output "Mean was" sum/count </a:t>
            </a:r>
          </a:p>
          <a:p>
            <a:pPr>
              <a:buFontTx/>
              <a:buNone/>
            </a:pPr>
            <a:endParaRPr lang="en-US" sz="1600" b="1">
              <a:solidFill>
                <a:schemeClr val="folHlink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AU" sz="1600" b="1">
              <a:solidFill>
                <a:schemeClr val="folHlink"/>
              </a:solidFill>
              <a:latin typeface="Arial" pitchFamily="34" charset="0"/>
              <a:sym typeface="Symbol" pitchFamily="18" charset="2"/>
            </a:endParaRPr>
          </a:p>
        </p:txBody>
      </p:sp>
      <p:sp>
        <p:nvSpPr>
          <p:cNvPr id="107524" name="AutoShape 4"/>
          <p:cNvSpPr>
            <a:spLocks noChangeArrowheads="1"/>
          </p:cNvSpPr>
          <p:nvPr/>
        </p:nvSpPr>
        <p:spPr bwMode="auto">
          <a:xfrm>
            <a:off x="4191000" y="1905000"/>
            <a:ext cx="2286000" cy="914400"/>
          </a:xfrm>
          <a:prstGeom prst="wedgeRectCallout">
            <a:avLst>
              <a:gd name="adj1" fmla="val -153264"/>
              <a:gd name="adj2" fmla="val 27083"/>
            </a:avLst>
          </a:prstGeom>
          <a:solidFill>
            <a:srgbClr val="99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82880" anchor="ctr"/>
          <a:lstStyle/>
          <a:p>
            <a:pPr algn="ctr">
              <a:spcBef>
                <a:spcPct val="0"/>
              </a:spcBef>
            </a:pPr>
            <a:r>
              <a:rPr lang="en-AU" sz="3200">
                <a:solidFill>
                  <a:srgbClr val="FFFFFF"/>
                </a:solidFill>
              </a:rPr>
              <a:t>Initialize</a:t>
            </a:r>
            <a:endParaRPr lang="en-AU" b="1">
              <a:solidFill>
                <a:srgbClr val="FFFFFF"/>
              </a:solidFill>
              <a:latin typeface="Courier New" pitchFamily="49" charset="0"/>
            </a:endParaRPr>
          </a:p>
        </p:txBody>
      </p:sp>
      <p:sp>
        <p:nvSpPr>
          <p:cNvPr id="107525" name="AutoShape 5"/>
          <p:cNvSpPr>
            <a:spLocks noChangeArrowheads="1"/>
          </p:cNvSpPr>
          <p:nvPr/>
        </p:nvSpPr>
        <p:spPr bwMode="auto">
          <a:xfrm>
            <a:off x="5486400" y="3352800"/>
            <a:ext cx="3124200" cy="914400"/>
          </a:xfrm>
          <a:prstGeom prst="wedgeRectCallout">
            <a:avLst>
              <a:gd name="adj1" fmla="val -116870"/>
              <a:gd name="adj2" fmla="val -37500"/>
            </a:avLst>
          </a:prstGeom>
          <a:solidFill>
            <a:srgbClr val="99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82880" anchor="ctr"/>
          <a:lstStyle/>
          <a:p>
            <a:pPr algn="ctr">
              <a:spcBef>
                <a:spcPct val="0"/>
              </a:spcBef>
            </a:pPr>
            <a:r>
              <a:rPr lang="en-AU" sz="3200">
                <a:solidFill>
                  <a:srgbClr val="FFFFFF"/>
                </a:solidFill>
              </a:rPr>
              <a:t>Check condition</a:t>
            </a:r>
            <a:endParaRPr lang="en-AU" b="1">
              <a:solidFill>
                <a:srgbClr val="FFFFFF"/>
              </a:solidFill>
              <a:latin typeface="Courier New" pitchFamily="49" charset="0"/>
            </a:endParaRPr>
          </a:p>
        </p:txBody>
      </p:sp>
      <p:sp>
        <p:nvSpPr>
          <p:cNvPr id="107526" name="AutoShape 6"/>
          <p:cNvSpPr>
            <a:spLocks noChangeArrowheads="1"/>
          </p:cNvSpPr>
          <p:nvPr/>
        </p:nvSpPr>
        <p:spPr bwMode="auto">
          <a:xfrm>
            <a:off x="5410200" y="4800600"/>
            <a:ext cx="2286000" cy="914400"/>
          </a:xfrm>
          <a:prstGeom prst="wedgeRectCallout">
            <a:avLst>
              <a:gd name="adj1" fmla="val -195833"/>
              <a:gd name="adj2" fmla="val -63542"/>
            </a:avLst>
          </a:prstGeom>
          <a:solidFill>
            <a:srgbClr val="99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82880" anchor="ctr"/>
          <a:lstStyle/>
          <a:p>
            <a:pPr algn="ctr">
              <a:spcBef>
                <a:spcPct val="0"/>
              </a:spcBef>
            </a:pPr>
            <a:r>
              <a:rPr lang="en-AU" sz="3200">
                <a:solidFill>
                  <a:srgbClr val="FFFFFF"/>
                </a:solidFill>
              </a:rPr>
              <a:t>Update</a:t>
            </a:r>
            <a:endParaRPr lang="en-AU" b="1">
              <a:solidFill>
                <a:srgbClr val="FFFFFF"/>
              </a:solidFill>
              <a:latin typeface="Courier New" pitchFamily="49" charset="0"/>
            </a:endParaRPr>
          </a:p>
        </p:txBody>
      </p:sp>
      <p:sp>
        <p:nvSpPr>
          <p:cNvPr id="107528" name="Text Box 8"/>
          <p:cNvSpPr txBox="1">
            <a:spLocks noChangeArrowheads="1"/>
          </p:cNvSpPr>
          <p:nvPr/>
        </p:nvSpPr>
        <p:spPr bwMode="auto">
          <a:xfrm>
            <a:off x="4114800" y="914400"/>
            <a:ext cx="4419600" cy="588963"/>
          </a:xfrm>
          <a:prstGeom prst="rect">
            <a:avLst/>
          </a:prstGeom>
          <a:solidFill>
            <a:srgbClr val="99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>
                <a:solidFill>
                  <a:srgbClr val="FFFF00"/>
                </a:solidFill>
              </a:rPr>
              <a:t>Iteration Control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103967" y="85692"/>
            <a:ext cx="55245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63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4" grpId="0" animBg="1" autoUpdateAnimBg="0"/>
      <p:bldP spid="107525" grpId="0" animBg="1" autoUpdateAnimBg="0"/>
      <p:bldP spid="107526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ChangeArrowheads="1"/>
          </p:cNvSpPr>
          <p:nvPr/>
        </p:nvSpPr>
        <p:spPr bwMode="auto">
          <a:xfrm>
            <a:off x="4038600" y="228600"/>
            <a:ext cx="48768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2880"/>
          <a:lstStyle/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#include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iostream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&gt;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/**********************************\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Read in numbers and add them up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Print out the sum and the average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\**********************************/</a:t>
            </a:r>
          </a:p>
          <a:p>
            <a:pPr marL="342900" indent="-342900"/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main()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 return 0;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}</a:t>
            </a:r>
          </a:p>
          <a:p>
            <a:pPr marL="342900" indent="-342900">
              <a:spcBef>
                <a:spcPct val="0"/>
              </a:spcBef>
            </a:pPr>
            <a:endParaRPr lang="en-AU" sz="16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993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3886200" cy="5867400"/>
          </a:xfrm>
          <a:noFill/>
          <a:ln>
            <a:solidFill>
              <a:schemeClr val="tx1"/>
            </a:solidFill>
          </a:ln>
        </p:spPr>
        <p:txBody>
          <a:bodyPr lIns="182880"/>
          <a:lstStyle/>
          <a:p>
            <a:pPr>
              <a:spcBef>
                <a:spcPct val="0"/>
              </a:spcBef>
              <a:buFontTx/>
              <a:buNone/>
            </a:pPr>
            <a:endParaRPr lang="en-AU" sz="1600" b="1" dirty="0">
              <a:solidFill>
                <a:srgbClr val="000000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solidFill>
                  <a:schemeClr val="folHlink"/>
                </a:solidFill>
              </a:rPr>
              <a:t>Read in numbers, add them</a:t>
            </a:r>
            <a:r>
              <a:rPr lang="en-US" sz="2000" b="1" dirty="0">
                <a:solidFill>
                  <a:schemeClr val="folHlink"/>
                </a:solidFill>
              </a:rPr>
              <a:t>, and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solidFill>
                  <a:schemeClr val="folHlink"/>
                </a:solidFill>
              </a:rPr>
              <a:t>print </a:t>
            </a:r>
            <a:r>
              <a:rPr lang="en-US" sz="2000" b="1" dirty="0">
                <a:solidFill>
                  <a:schemeClr val="folHlink"/>
                </a:solidFill>
              </a:rPr>
              <a:t>their</a:t>
            </a:r>
            <a:r>
              <a:rPr lang="en-AU" sz="2000" b="1" dirty="0">
                <a:solidFill>
                  <a:schemeClr val="folHlink"/>
                </a:solidFill>
              </a:rPr>
              <a:t> sum and average</a:t>
            </a:r>
            <a:endParaRPr lang="en-AU" sz="1600" b="1" dirty="0">
              <a:solidFill>
                <a:schemeClr val="folHlink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AU" sz="1600" b="1" dirty="0">
              <a:solidFill>
                <a:srgbClr val="0000FF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1600" b="1" dirty="0"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b="1" dirty="0">
                <a:latin typeface="Arial" pitchFamily="34" charset="0"/>
              </a:rPr>
              <a:t>set sum to 0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set count to 0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b="1" dirty="0">
                <a:latin typeface="Arial" pitchFamily="34" charset="0"/>
              </a:rPr>
              <a:t>input </a:t>
            </a:r>
            <a:r>
              <a:rPr lang="en-US" sz="1600" b="1" dirty="0" err="1">
                <a:latin typeface="Arial" pitchFamily="34" charset="0"/>
              </a:rPr>
              <a:t>totalNumbers</a:t>
            </a:r>
            <a:endParaRPr lang="en-US" sz="1600" b="1" dirty="0">
              <a:latin typeface="Arial" pitchFamily="34" charset="0"/>
            </a:endParaRP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while  (count &lt; </a:t>
            </a:r>
            <a:r>
              <a:rPr lang="en-US" sz="1600" b="1" dirty="0" err="1">
                <a:latin typeface="Arial" pitchFamily="34" charset="0"/>
              </a:rPr>
              <a:t>totalNumbers</a:t>
            </a:r>
            <a:r>
              <a:rPr lang="en-US" sz="1600" b="1" dirty="0">
                <a:latin typeface="Arial" pitchFamily="34" charset="0"/>
              </a:rPr>
              <a:t>)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{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  input </a:t>
            </a:r>
            <a:r>
              <a:rPr lang="en-US" sz="1600" b="1" dirty="0" err="1">
                <a:latin typeface="Arial" pitchFamily="34" charset="0"/>
              </a:rPr>
              <a:t>nextNum</a:t>
            </a:r>
            <a:r>
              <a:rPr lang="en-US" sz="1600" b="1" dirty="0">
                <a:latin typeface="Arial" pitchFamily="34" charset="0"/>
              </a:rPr>
              <a:t>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  add </a:t>
            </a:r>
            <a:r>
              <a:rPr lang="en-US" sz="1600" b="1" dirty="0" err="1">
                <a:latin typeface="Arial" pitchFamily="34" charset="0"/>
              </a:rPr>
              <a:t>nextNum</a:t>
            </a:r>
            <a:r>
              <a:rPr lang="en-US" sz="1600" b="1" dirty="0">
                <a:latin typeface="Arial" pitchFamily="34" charset="0"/>
              </a:rPr>
              <a:t> to sum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  add 1 to count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}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output "Sum was" sum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output "Mean was" sum/count </a:t>
            </a:r>
          </a:p>
          <a:p>
            <a:pPr>
              <a:buFontTx/>
              <a:buNone/>
            </a:pPr>
            <a:endParaRPr lang="en-US" sz="1600" b="1" dirty="0"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AU" sz="1600" b="1" dirty="0">
              <a:latin typeface="Arial" pitchFamily="34" charset="0"/>
              <a:sym typeface="Symbol" pitchFamily="18" charset="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09034" y="68759"/>
            <a:ext cx="3589867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873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4038600" y="228600"/>
            <a:ext cx="48768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2880"/>
          <a:lstStyle/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#include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iostream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&gt;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/**********************************\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Read in numbers and add them up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Print out the sum and the average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\**********************************/</a:t>
            </a:r>
          </a:p>
          <a:p>
            <a:pPr marL="342900" indent="-342900"/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main()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float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, sum = 0.0;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count = 0,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total numbers to be summed/averaged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while (count &lt;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next number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sum = sum +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 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// sum +=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count++;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}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&lt;&lt;"Sum = "&lt;&lt; sum 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&lt;&lt;"Mean = "&lt;&lt;sum/count&lt;&lt;"\n";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return 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}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>
              <a:spcBef>
                <a:spcPct val="0"/>
              </a:spcBef>
            </a:pPr>
            <a:endParaRPr lang="en-AU" sz="16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054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3886200" cy="5867400"/>
          </a:xfrm>
          <a:noFill/>
          <a:ln>
            <a:solidFill>
              <a:schemeClr val="tx1"/>
            </a:solidFill>
          </a:ln>
        </p:spPr>
        <p:txBody>
          <a:bodyPr lIns="182880"/>
          <a:lstStyle/>
          <a:p>
            <a:pPr>
              <a:spcBef>
                <a:spcPct val="0"/>
              </a:spcBef>
              <a:buFontTx/>
              <a:buNone/>
            </a:pPr>
            <a:endParaRPr lang="en-US" sz="2000" b="1" dirty="0">
              <a:solidFill>
                <a:schemeClr val="folHlink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solidFill>
                  <a:schemeClr val="accent2"/>
                </a:solidFill>
              </a:rPr>
              <a:t>Read in numbers, add them,</a:t>
            </a:r>
            <a:r>
              <a:rPr lang="en-US" sz="2000" b="1" dirty="0">
                <a:solidFill>
                  <a:schemeClr val="accent2"/>
                </a:solidFill>
              </a:rPr>
              <a:t> </a:t>
            </a:r>
            <a:r>
              <a:rPr lang="en-AU" sz="2000" b="1" dirty="0">
                <a:solidFill>
                  <a:schemeClr val="accent2"/>
                </a:solidFill>
              </a:rPr>
              <a:t>an</a:t>
            </a:r>
            <a:r>
              <a:rPr lang="en-US" sz="2000" b="1" dirty="0">
                <a:solidFill>
                  <a:schemeClr val="accent2"/>
                </a:solidFill>
              </a:rPr>
              <a:t>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solidFill>
                  <a:schemeClr val="accent2"/>
                </a:solidFill>
              </a:rPr>
              <a:t> print </a:t>
            </a:r>
            <a:r>
              <a:rPr lang="en-US" sz="2000" b="1" dirty="0">
                <a:solidFill>
                  <a:schemeClr val="accent2"/>
                </a:solidFill>
              </a:rPr>
              <a:t>their</a:t>
            </a:r>
            <a:r>
              <a:rPr lang="en-AU" sz="2000" b="1" dirty="0">
                <a:solidFill>
                  <a:schemeClr val="accent2"/>
                </a:solidFill>
              </a:rPr>
              <a:t> sum and average</a:t>
            </a:r>
            <a:endParaRPr lang="en-AU" sz="1600" b="1" dirty="0">
              <a:solidFill>
                <a:schemeClr val="accent2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1600" b="1" dirty="0">
              <a:solidFill>
                <a:schemeClr val="accent2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AU" sz="1600" b="1" dirty="0">
              <a:solidFill>
                <a:srgbClr val="0000FF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1600" b="1" dirty="0"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b="1" dirty="0">
                <a:latin typeface="Arial" pitchFamily="34" charset="0"/>
              </a:rPr>
              <a:t>set sum to 0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set count to 0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b="1" dirty="0">
                <a:latin typeface="Arial" pitchFamily="34" charset="0"/>
              </a:rPr>
              <a:t>input </a:t>
            </a:r>
            <a:r>
              <a:rPr lang="en-US" sz="1600" b="1" dirty="0" err="1">
                <a:latin typeface="Arial" pitchFamily="34" charset="0"/>
              </a:rPr>
              <a:t>totalNumbers</a:t>
            </a:r>
            <a:endParaRPr lang="en-US" sz="1600" b="1" dirty="0">
              <a:latin typeface="Arial" pitchFamily="34" charset="0"/>
            </a:endParaRP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while  (count &lt; </a:t>
            </a:r>
            <a:r>
              <a:rPr lang="en-US" sz="1600" b="1" dirty="0" err="1">
                <a:latin typeface="Arial" pitchFamily="34" charset="0"/>
              </a:rPr>
              <a:t>totalNumbers</a:t>
            </a:r>
            <a:r>
              <a:rPr lang="en-US" sz="1600" b="1" dirty="0">
                <a:latin typeface="Arial" pitchFamily="34" charset="0"/>
              </a:rPr>
              <a:t>)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{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  input </a:t>
            </a:r>
            <a:r>
              <a:rPr lang="en-US" sz="1600" b="1" dirty="0" err="1">
                <a:latin typeface="Arial" pitchFamily="34" charset="0"/>
              </a:rPr>
              <a:t>nextNum</a:t>
            </a:r>
            <a:r>
              <a:rPr lang="en-US" sz="1600" b="1" dirty="0">
                <a:latin typeface="Arial" pitchFamily="34" charset="0"/>
              </a:rPr>
              <a:t>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  add </a:t>
            </a:r>
            <a:r>
              <a:rPr lang="en-US" sz="1600" b="1" dirty="0" err="1">
                <a:latin typeface="Arial" pitchFamily="34" charset="0"/>
              </a:rPr>
              <a:t>nextNum</a:t>
            </a:r>
            <a:r>
              <a:rPr lang="en-US" sz="1600" b="1" dirty="0">
                <a:latin typeface="Arial" pitchFamily="34" charset="0"/>
              </a:rPr>
              <a:t> to sum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  add 1 to count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}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output "Sum was" sum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output "Mean was" sum/count </a:t>
            </a:r>
          </a:p>
          <a:p>
            <a:pPr>
              <a:buFontTx/>
              <a:buNone/>
            </a:pPr>
            <a:endParaRPr lang="en-US" sz="1600" b="1" dirty="0"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AU" sz="1600" b="1" dirty="0">
              <a:latin typeface="Arial" pitchFamily="34" charset="0"/>
              <a:sym typeface="Symbol" pitchFamily="18" charset="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52400" y="123280"/>
            <a:ext cx="3886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23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ChangeArrowheads="1"/>
          </p:cNvSpPr>
          <p:nvPr/>
        </p:nvSpPr>
        <p:spPr bwMode="auto">
          <a:xfrm>
            <a:off x="0" y="76200"/>
            <a:ext cx="48006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2880"/>
          <a:lstStyle/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#include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iostream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&gt;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/**********************************\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Read in numbers and add them up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Print out the sum and the average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\**********************************/</a:t>
            </a:r>
          </a:p>
          <a:p>
            <a:pPr marL="342900" indent="-342900"/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main()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float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, sum = 0.0;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count = 0,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total numbers to be summed/averaged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while (count &lt;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next number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sum +=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count++;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}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&lt;&lt;"Sum = "&lt;&lt; sum 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&lt;&lt;"Mean = "&lt;&lt;sum/count&lt;&lt;"\n";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return 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}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>
              <a:spcBef>
                <a:spcPct val="0"/>
              </a:spcBef>
            </a:pPr>
            <a:endParaRPr lang="en-AU" sz="16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graphicFrame>
        <p:nvGraphicFramePr>
          <p:cNvPr id="200152" name="Group 472"/>
          <p:cNvGraphicFramePr>
            <a:graphicFrameLocks noGrp="1"/>
          </p:cNvGraphicFramePr>
          <p:nvPr/>
        </p:nvGraphicFramePr>
        <p:xfrm>
          <a:off x="5029200" y="1066800"/>
          <a:ext cx="3962400" cy="3810000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1143000"/>
                <a:gridCol w="838200"/>
              </a:tblGrid>
              <a:tr h="8032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totalNumbers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count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nextNum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sum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6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????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    0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????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 0.0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0155" name="Text Box 475"/>
          <p:cNvSpPr txBox="1">
            <a:spLocks noChangeArrowheads="1"/>
          </p:cNvSpPr>
          <p:nvPr/>
        </p:nvSpPr>
        <p:spPr bwMode="auto">
          <a:xfrm>
            <a:off x="5410200" y="5638800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AU">
              <a:solidFill>
                <a:srgbClr val="000000"/>
              </a:solidFill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139267" y="76200"/>
            <a:ext cx="3886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85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1732" name="Group 4"/>
          <p:cNvGraphicFramePr>
            <a:graphicFrameLocks noGrp="1"/>
          </p:cNvGraphicFramePr>
          <p:nvPr/>
        </p:nvGraphicFramePr>
        <p:xfrm>
          <a:off x="5029200" y="1066800"/>
          <a:ext cx="3962400" cy="3810000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1143000"/>
                <a:gridCol w="838200"/>
              </a:tblGrid>
              <a:tr h="8032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totalNumbers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count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nextNum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sum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6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????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0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????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0.0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       3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76200"/>
            <a:ext cx="48006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2880"/>
          <a:lstStyle/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#include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iostream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&gt;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/**********************************\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Read in numbers and add them up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Print out the sum and the average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\**********************************/</a:t>
            </a:r>
          </a:p>
          <a:p>
            <a:pPr marL="342900" indent="-342900"/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main()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float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, sum = 0.0;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count = 0,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total numbers to be summed/averaged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while (count &lt;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next number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sum +=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count++;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}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&lt;&lt;"Sum = "&lt;&lt; sum 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&lt;&lt;"Mean = "&lt;&lt;sum/count&lt;&lt;"\n";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return 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}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>
              <a:spcBef>
                <a:spcPct val="0"/>
              </a:spcBef>
            </a:pPr>
            <a:endParaRPr lang="en-AU" sz="16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257800" y="76200"/>
            <a:ext cx="3886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80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756" name="Group 4"/>
          <p:cNvGraphicFramePr>
            <a:graphicFrameLocks noGrp="1"/>
          </p:cNvGraphicFramePr>
          <p:nvPr/>
        </p:nvGraphicFramePr>
        <p:xfrm>
          <a:off x="5029200" y="1066800"/>
          <a:ext cx="3962400" cy="3810000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1143000"/>
                <a:gridCol w="838200"/>
              </a:tblGrid>
              <a:tr h="8032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totalNumbers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count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nextNum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sum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6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????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0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????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0.0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 3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        4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2793" name="Text Box 41"/>
          <p:cNvSpPr txBox="1">
            <a:spLocks noChangeArrowheads="1"/>
          </p:cNvSpPr>
          <p:nvPr/>
        </p:nvSpPr>
        <p:spPr bwMode="auto">
          <a:xfrm>
            <a:off x="5410200" y="5334000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AU">
              <a:solidFill>
                <a:srgbClr val="000000"/>
              </a:solidFill>
            </a:endParaRPr>
          </a:p>
        </p:txBody>
      </p:sp>
      <p:sp>
        <p:nvSpPr>
          <p:cNvPr id="202794" name="Text Box 42"/>
          <p:cNvSpPr txBox="1">
            <a:spLocks noChangeArrowheads="1"/>
          </p:cNvSpPr>
          <p:nvPr/>
        </p:nvSpPr>
        <p:spPr bwMode="auto">
          <a:xfrm>
            <a:off x="8153400" y="3290888"/>
            <a:ext cx="762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33CC33"/>
                </a:solidFill>
              </a:rPr>
              <a:t> 4.0</a:t>
            </a:r>
            <a:endParaRPr lang="en-AU">
              <a:solidFill>
                <a:srgbClr val="000000"/>
              </a:solidFill>
            </a:endParaRPr>
          </a:p>
        </p:txBody>
      </p:sp>
      <p:sp>
        <p:nvSpPr>
          <p:cNvPr id="202795" name="Text Box 43"/>
          <p:cNvSpPr txBox="1">
            <a:spLocks noChangeArrowheads="1"/>
          </p:cNvSpPr>
          <p:nvPr/>
        </p:nvSpPr>
        <p:spPr bwMode="auto">
          <a:xfrm>
            <a:off x="6248400" y="3290888"/>
            <a:ext cx="762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0000FF"/>
                </a:solidFill>
              </a:rPr>
              <a:t>    1</a:t>
            </a:r>
            <a:endParaRPr lang="en-AU">
              <a:solidFill>
                <a:srgbClr val="0000FF"/>
              </a:solidFill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76200"/>
            <a:ext cx="48006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2880"/>
          <a:lstStyle/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#include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iostream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&gt;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/**********************************\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Read in numbers and add them up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Print out the sum and the average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\**********************************/</a:t>
            </a:r>
          </a:p>
          <a:p>
            <a:pPr marL="342900" indent="-342900"/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main()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float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, sum = 0.0;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count = 0,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total numbers to be summed/averaged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while (count &lt;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next number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sum +=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count++;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}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&lt;&lt;"Sum = "&lt;&lt; sum 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&lt;&lt;"Mean = "&lt;&lt;sum/count&lt;&lt;"\n";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return 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}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>
              <a:spcBef>
                <a:spcPct val="0"/>
              </a:spcBef>
            </a:pPr>
            <a:endParaRPr lang="en-AU" sz="16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5105400" y="224879"/>
            <a:ext cx="3886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95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94" grpId="0" autoUpdateAnimBg="0"/>
      <p:bldP spid="202795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852" name="Group 4"/>
          <p:cNvGraphicFramePr>
            <a:graphicFrameLocks noGrp="1"/>
          </p:cNvGraphicFramePr>
          <p:nvPr/>
        </p:nvGraphicFramePr>
        <p:xfrm>
          <a:off x="5029200" y="1066800"/>
          <a:ext cx="3962400" cy="3810000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1143000"/>
                <a:gridCol w="838200"/>
              </a:tblGrid>
              <a:tr h="8032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totalNumbers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count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nextNum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sum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6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????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0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????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0.0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 3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  4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 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-1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6889" name="Text Box 41"/>
          <p:cNvSpPr txBox="1">
            <a:spLocks noChangeArrowheads="1"/>
          </p:cNvSpPr>
          <p:nvPr/>
        </p:nvSpPr>
        <p:spPr bwMode="auto">
          <a:xfrm>
            <a:off x="5410200" y="5334000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AU">
              <a:solidFill>
                <a:srgbClr val="000000"/>
              </a:solidFill>
            </a:endParaRPr>
          </a:p>
        </p:txBody>
      </p:sp>
      <p:sp>
        <p:nvSpPr>
          <p:cNvPr id="206890" name="Text Box 42"/>
          <p:cNvSpPr txBox="1">
            <a:spLocks noChangeArrowheads="1"/>
          </p:cNvSpPr>
          <p:nvPr/>
        </p:nvSpPr>
        <p:spPr bwMode="auto">
          <a:xfrm>
            <a:off x="8153400" y="3290888"/>
            <a:ext cx="762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33CC33"/>
                </a:solidFill>
              </a:rPr>
              <a:t> </a:t>
            </a:r>
            <a:r>
              <a:rPr lang="en-US" sz="2800">
                <a:solidFill>
                  <a:srgbClr val="000000"/>
                </a:solidFill>
              </a:rPr>
              <a:t>4.0</a:t>
            </a:r>
            <a:endParaRPr lang="en-AU">
              <a:solidFill>
                <a:srgbClr val="000000"/>
              </a:solidFill>
            </a:endParaRPr>
          </a:p>
        </p:txBody>
      </p:sp>
      <p:sp>
        <p:nvSpPr>
          <p:cNvPr id="206891" name="Text Box 43"/>
          <p:cNvSpPr txBox="1">
            <a:spLocks noChangeArrowheads="1"/>
          </p:cNvSpPr>
          <p:nvPr/>
        </p:nvSpPr>
        <p:spPr bwMode="auto">
          <a:xfrm>
            <a:off x="6248400" y="3290888"/>
            <a:ext cx="762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    1</a:t>
            </a:r>
            <a:endParaRPr lang="en-AU">
              <a:solidFill>
                <a:srgbClr val="000000"/>
              </a:solidFill>
            </a:endParaRPr>
          </a:p>
        </p:txBody>
      </p:sp>
      <p:sp>
        <p:nvSpPr>
          <p:cNvPr id="206892" name="Text Box 44"/>
          <p:cNvSpPr txBox="1">
            <a:spLocks noChangeArrowheads="1"/>
          </p:cNvSpPr>
          <p:nvPr/>
        </p:nvSpPr>
        <p:spPr bwMode="auto">
          <a:xfrm>
            <a:off x="8153400" y="3810000"/>
            <a:ext cx="76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33CC33"/>
                </a:solidFill>
              </a:rPr>
              <a:t> 3.0</a:t>
            </a:r>
            <a:endParaRPr lang="en-AU">
              <a:solidFill>
                <a:srgbClr val="33CC33"/>
              </a:solidFill>
            </a:endParaRPr>
          </a:p>
        </p:txBody>
      </p:sp>
      <p:sp>
        <p:nvSpPr>
          <p:cNvPr id="206893" name="Text Box 45"/>
          <p:cNvSpPr txBox="1">
            <a:spLocks noChangeArrowheads="1"/>
          </p:cNvSpPr>
          <p:nvPr/>
        </p:nvSpPr>
        <p:spPr bwMode="auto">
          <a:xfrm>
            <a:off x="6248400" y="3810000"/>
            <a:ext cx="76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   </a:t>
            </a:r>
            <a:r>
              <a:rPr lang="en-US" sz="2800">
                <a:solidFill>
                  <a:srgbClr val="0000FF"/>
                </a:solidFill>
              </a:rPr>
              <a:t> 2</a:t>
            </a:r>
            <a:endParaRPr lang="en-AU">
              <a:solidFill>
                <a:srgbClr val="0000FF"/>
              </a:solidFill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76200"/>
            <a:ext cx="48006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2880"/>
          <a:lstStyle/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#include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iostream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&gt;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/**********************************\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Read in numbers and add them up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Print out the sum and the average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\**********************************/</a:t>
            </a:r>
          </a:p>
          <a:p>
            <a:pPr marL="342900" indent="-342900"/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main()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float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, sum = 0.0;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count = 0,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total numbers to be summed/averaged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while (count &lt;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next number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sum +=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count++;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}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&lt;&lt;"Sum = "&lt;&lt; sum 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&lt;&lt;"Mean = "&lt;&lt;sum/count&lt;&lt;"\n";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return 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}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>
              <a:spcBef>
                <a:spcPct val="0"/>
              </a:spcBef>
            </a:pPr>
            <a:endParaRPr lang="en-AU" sz="16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5105400" y="134392"/>
            <a:ext cx="3886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02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92" grpId="0" autoUpdateAnimBg="0"/>
      <p:bldP spid="20689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876" name="Group 4"/>
          <p:cNvGraphicFramePr>
            <a:graphicFrameLocks noGrp="1"/>
          </p:cNvGraphicFramePr>
          <p:nvPr/>
        </p:nvGraphicFramePr>
        <p:xfrm>
          <a:off x="5029200" y="1066800"/>
          <a:ext cx="3962400" cy="3810000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1143000"/>
                <a:gridCol w="838200"/>
              </a:tblGrid>
              <a:tr h="8032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totalNumbers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count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nextNum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sum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6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????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0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????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0.0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 3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  4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 -1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6.2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7913" name="Text Box 41"/>
          <p:cNvSpPr txBox="1">
            <a:spLocks noChangeArrowheads="1"/>
          </p:cNvSpPr>
          <p:nvPr/>
        </p:nvSpPr>
        <p:spPr bwMode="auto">
          <a:xfrm>
            <a:off x="5410200" y="5334000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AU">
              <a:solidFill>
                <a:srgbClr val="000000"/>
              </a:solidFill>
            </a:endParaRPr>
          </a:p>
        </p:txBody>
      </p:sp>
      <p:sp>
        <p:nvSpPr>
          <p:cNvPr id="207914" name="Text Box 42"/>
          <p:cNvSpPr txBox="1">
            <a:spLocks noChangeArrowheads="1"/>
          </p:cNvSpPr>
          <p:nvPr/>
        </p:nvSpPr>
        <p:spPr bwMode="auto">
          <a:xfrm>
            <a:off x="8153400" y="3290888"/>
            <a:ext cx="762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33CC33"/>
                </a:solidFill>
              </a:rPr>
              <a:t> </a:t>
            </a:r>
            <a:r>
              <a:rPr lang="en-US" sz="2800">
                <a:solidFill>
                  <a:srgbClr val="000000"/>
                </a:solidFill>
              </a:rPr>
              <a:t>4.0</a:t>
            </a:r>
            <a:endParaRPr lang="en-AU">
              <a:solidFill>
                <a:srgbClr val="000000"/>
              </a:solidFill>
            </a:endParaRPr>
          </a:p>
        </p:txBody>
      </p:sp>
      <p:sp>
        <p:nvSpPr>
          <p:cNvPr id="207915" name="Text Box 43"/>
          <p:cNvSpPr txBox="1">
            <a:spLocks noChangeArrowheads="1"/>
          </p:cNvSpPr>
          <p:nvPr/>
        </p:nvSpPr>
        <p:spPr bwMode="auto">
          <a:xfrm>
            <a:off x="6248400" y="3290888"/>
            <a:ext cx="762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    1</a:t>
            </a:r>
            <a:endParaRPr lang="en-AU">
              <a:solidFill>
                <a:srgbClr val="000000"/>
              </a:solidFill>
            </a:endParaRPr>
          </a:p>
        </p:txBody>
      </p:sp>
      <p:sp>
        <p:nvSpPr>
          <p:cNvPr id="207916" name="Text Box 44"/>
          <p:cNvSpPr txBox="1">
            <a:spLocks noChangeArrowheads="1"/>
          </p:cNvSpPr>
          <p:nvPr/>
        </p:nvSpPr>
        <p:spPr bwMode="auto">
          <a:xfrm>
            <a:off x="8153400" y="3810000"/>
            <a:ext cx="76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33CC33"/>
                </a:solidFill>
              </a:rPr>
              <a:t> </a:t>
            </a:r>
            <a:r>
              <a:rPr lang="en-US" sz="2800">
                <a:solidFill>
                  <a:srgbClr val="000000"/>
                </a:solidFill>
              </a:rPr>
              <a:t>3.0</a:t>
            </a:r>
            <a:endParaRPr lang="en-AU">
              <a:solidFill>
                <a:srgbClr val="000000"/>
              </a:solidFill>
            </a:endParaRPr>
          </a:p>
        </p:txBody>
      </p:sp>
      <p:sp>
        <p:nvSpPr>
          <p:cNvPr id="207917" name="Text Box 45"/>
          <p:cNvSpPr txBox="1">
            <a:spLocks noChangeArrowheads="1"/>
          </p:cNvSpPr>
          <p:nvPr/>
        </p:nvSpPr>
        <p:spPr bwMode="auto">
          <a:xfrm>
            <a:off x="6248400" y="3810000"/>
            <a:ext cx="76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   </a:t>
            </a:r>
            <a:r>
              <a:rPr lang="en-US" sz="2800">
                <a:solidFill>
                  <a:srgbClr val="0000FF"/>
                </a:solidFill>
              </a:rPr>
              <a:t> </a:t>
            </a:r>
            <a:r>
              <a:rPr lang="en-US" sz="2800">
                <a:solidFill>
                  <a:srgbClr val="000000"/>
                </a:solidFill>
              </a:rPr>
              <a:t>2</a:t>
            </a:r>
            <a:endParaRPr lang="en-AU">
              <a:solidFill>
                <a:srgbClr val="000000"/>
              </a:solidFill>
            </a:endParaRPr>
          </a:p>
        </p:txBody>
      </p:sp>
      <p:sp>
        <p:nvSpPr>
          <p:cNvPr id="207918" name="Text Box 46"/>
          <p:cNvSpPr txBox="1">
            <a:spLocks noChangeArrowheads="1"/>
          </p:cNvSpPr>
          <p:nvPr/>
        </p:nvSpPr>
        <p:spPr bwMode="auto">
          <a:xfrm>
            <a:off x="6248400" y="4343400"/>
            <a:ext cx="76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   </a:t>
            </a:r>
            <a:r>
              <a:rPr lang="en-US" sz="2800">
                <a:solidFill>
                  <a:srgbClr val="0000FF"/>
                </a:solidFill>
              </a:rPr>
              <a:t> 3</a:t>
            </a:r>
            <a:endParaRPr lang="en-AU">
              <a:solidFill>
                <a:srgbClr val="0000FF"/>
              </a:solidFill>
            </a:endParaRPr>
          </a:p>
        </p:txBody>
      </p:sp>
      <p:sp>
        <p:nvSpPr>
          <p:cNvPr id="207919" name="Text Box 47"/>
          <p:cNvSpPr txBox="1">
            <a:spLocks noChangeArrowheads="1"/>
          </p:cNvSpPr>
          <p:nvPr/>
        </p:nvSpPr>
        <p:spPr bwMode="auto">
          <a:xfrm>
            <a:off x="8153400" y="4343400"/>
            <a:ext cx="76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33CC33"/>
                </a:solidFill>
              </a:rPr>
              <a:t> 9.2</a:t>
            </a:r>
            <a:endParaRPr lang="en-AU">
              <a:solidFill>
                <a:srgbClr val="33CC33"/>
              </a:solidFill>
            </a:endParaRP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0" y="76200"/>
            <a:ext cx="48006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2880"/>
          <a:lstStyle/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#include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iostream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&gt;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/**********************************\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Read in numbers and add them up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Print out the sum and the average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\**********************************/</a:t>
            </a:r>
          </a:p>
          <a:p>
            <a:pPr marL="342900" indent="-342900"/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main()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float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, sum = 0.0;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count = 0,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total numbers to be summed/averaged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while (count &lt;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next number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sum +=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count++;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}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&lt;&lt;"Sum = "&lt;&lt; sum 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&lt;&lt;"Mean = "&lt;&lt;sum/count&lt;&lt;"\n";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return 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}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>
              <a:spcBef>
                <a:spcPct val="0"/>
              </a:spcBef>
            </a:pPr>
            <a:endParaRPr lang="en-AU" sz="16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5105400" y="162966"/>
            <a:ext cx="3886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6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918" grpId="0" autoUpdateAnimBg="0"/>
      <p:bldP spid="207919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Common Mistakes in </a:t>
            </a:r>
            <a:r>
              <a:rPr lang="en-US" sz="3600" b="1" dirty="0" smtClean="0">
                <a:solidFill>
                  <a:srgbClr val="FF0000"/>
                </a:solidFill>
                <a:latin typeface="Courier New" pitchFamily="49" charset="0"/>
              </a:rPr>
              <a:t>while – “</a:t>
            </a:r>
            <a:r>
              <a:rPr lang="en-US" sz="3600" i="1" dirty="0">
                <a:solidFill>
                  <a:srgbClr val="FF0000"/>
                </a:solidFill>
              </a:rPr>
              <a:t>one </a:t>
            </a:r>
            <a:r>
              <a:rPr lang="en-US" sz="3600" i="1" dirty="0" smtClean="0">
                <a:solidFill>
                  <a:srgbClr val="FF0000"/>
                </a:solidFill>
              </a:rPr>
              <a:t>liners</a:t>
            </a:r>
            <a:r>
              <a:rPr lang="en-US" sz="3600" b="1" dirty="0" smtClean="0">
                <a:solidFill>
                  <a:srgbClr val="FF0000"/>
                </a:solidFill>
                <a:latin typeface="Courier New" pitchFamily="49" charset="0"/>
              </a:rPr>
              <a:t>”</a:t>
            </a:r>
            <a:endParaRPr lang="en-US" sz="3600" i="1" dirty="0">
              <a:solidFill>
                <a:srgbClr val="FF0000"/>
              </a:solidFill>
            </a:endParaRP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762000" y="1676400"/>
            <a:ext cx="79248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2880"/>
          <a:lstStyle/>
          <a:p>
            <a:pPr marL="342900" indent="-342900"/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while (num &lt; minimum)</a:t>
            </a:r>
          </a:p>
          <a:p>
            <a:pPr marL="342900" indent="-342900"/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 &lt;&lt; “Enter a number”;</a:t>
            </a:r>
          </a:p>
          <a:p>
            <a:pPr marL="342900" indent="-342900"/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 &gt;&gt; num</a:t>
            </a:r>
            <a:endParaRPr lang="en-US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AU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AU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(“</a:t>
            </a:r>
            <a:r>
              <a:rPr lang="en-AU" b="1" dirty="0">
                <a:solidFill>
                  <a:srgbClr val="000000"/>
                </a:solidFill>
                <a:latin typeface="Courier New" pitchFamily="49" charset="0"/>
              </a:rPr>
              <a:t>Number must be greater </a:t>
            </a:r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than” &lt;&lt; </a:t>
            </a:r>
            <a:r>
              <a:rPr lang="en-AU" b="1" dirty="0">
                <a:solidFill>
                  <a:srgbClr val="000000"/>
                </a:solidFill>
                <a:latin typeface="Courier New" pitchFamily="49" charset="0"/>
              </a:rPr>
              <a:t>minimum);</a:t>
            </a:r>
          </a:p>
          <a:p>
            <a:pPr marL="342900" indent="-342900"/>
            <a:r>
              <a:rPr lang="en-AU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AU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(“</a:t>
            </a:r>
            <a:r>
              <a:rPr lang="en-AU" b="1" dirty="0">
                <a:solidFill>
                  <a:srgbClr val="000000"/>
                </a:solidFill>
                <a:latin typeface="Courier New" pitchFamily="49" charset="0"/>
              </a:rPr>
              <a:t>Please try again.\n”);</a:t>
            </a:r>
          </a:p>
        </p:txBody>
      </p:sp>
      <p:sp>
        <p:nvSpPr>
          <p:cNvPr id="108552" name="AutoShape 8"/>
          <p:cNvSpPr>
            <a:spLocks noChangeArrowheads="1"/>
          </p:cNvSpPr>
          <p:nvPr/>
        </p:nvSpPr>
        <p:spPr bwMode="auto">
          <a:xfrm>
            <a:off x="4305300" y="3505200"/>
            <a:ext cx="533400" cy="533400"/>
          </a:xfrm>
          <a:prstGeom prst="upDownArrow">
            <a:avLst>
              <a:gd name="adj1" fmla="val 50000"/>
              <a:gd name="adj2" fmla="val 2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09600" y="4343400"/>
            <a:ext cx="7924800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2880"/>
          <a:lstStyle/>
          <a:p>
            <a:pPr marL="342900" indent="-342900"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while (num &lt; minimum)</a:t>
            </a:r>
          </a:p>
          <a:p>
            <a:pPr marL="342900" indent="-342900"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 &lt;&lt; “Enter a number”;</a:t>
            </a:r>
          </a:p>
          <a:p>
            <a:pPr marL="342900" indent="-342900"/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 &gt;&gt; num</a:t>
            </a:r>
          </a:p>
          <a:p>
            <a:pPr marL="342900" indent="-342900"/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AU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(“Number must be greater than” &lt;&lt; minimum);</a:t>
            </a:r>
          </a:p>
          <a:p>
            <a:pPr marL="342900" indent="-342900"/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AU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(“Please try again.\n”);</a:t>
            </a:r>
          </a:p>
          <a:p>
            <a:pPr marL="342900" indent="-342900">
              <a:spcBef>
                <a:spcPct val="0"/>
              </a:spcBef>
            </a:pPr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}</a:t>
            </a:r>
            <a:endParaRPr lang="en-AU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11" name="Rectangle 10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  <p:pic>
        <p:nvPicPr>
          <p:cNvPr id="1026" name="Picture 2" descr="Image result for tick mark 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4372811"/>
            <a:ext cx="758825" cy="70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61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animBg="1" autoUpdateAnimBg="0"/>
      <p:bldP spid="108552" grpId="0" animBg="1"/>
      <p:bldP spid="8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3" name="Rectangle 5"/>
          <p:cNvSpPr>
            <a:spLocks noChangeArrowheads="1"/>
          </p:cNvSpPr>
          <p:nvPr/>
        </p:nvSpPr>
        <p:spPr bwMode="auto">
          <a:xfrm>
            <a:off x="762000" y="2286000"/>
            <a:ext cx="7924800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2880"/>
          <a:lstStyle/>
          <a:p>
            <a:pPr marL="342900" indent="-342900"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while (num &lt; minimum);</a:t>
            </a:r>
          </a:p>
          <a:p>
            <a:pPr marL="342900" indent="-342900"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 &lt;&lt; “Enter a number”;</a:t>
            </a:r>
          </a:p>
          <a:p>
            <a:pPr marL="342900" indent="-342900"/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 &gt;&gt; num</a:t>
            </a:r>
          </a:p>
          <a:p>
            <a:pPr marL="342900" indent="-342900"/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AU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(“Number must be greater than” &lt;&lt; minimum);</a:t>
            </a:r>
          </a:p>
          <a:p>
            <a:pPr marL="342900" indent="-342900"/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AU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(“Please try again.\n”);</a:t>
            </a:r>
          </a:p>
          <a:p>
            <a:pPr marL="342900" indent="-342900">
              <a:spcBef>
                <a:spcPct val="0"/>
              </a:spcBef>
            </a:pPr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}</a:t>
            </a:r>
            <a:endParaRPr lang="en-AU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09575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762000"/>
          </a:xfrm>
          <a:noFill/>
          <a:ln/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Common Mistakes in </a:t>
            </a:r>
            <a:r>
              <a:rPr lang="en-US" sz="3600" b="1" dirty="0" smtClean="0">
                <a:solidFill>
                  <a:srgbClr val="FF0000"/>
                </a:solidFill>
                <a:latin typeface="Courier New" pitchFamily="49" charset="0"/>
              </a:rPr>
              <a:t>while-</a:t>
            </a:r>
            <a:r>
              <a:rPr lang="en-US" sz="3600" dirty="0" smtClean="0">
                <a:solidFill>
                  <a:srgbClr val="FF0000"/>
                </a:solidFill>
              </a:rPr>
              <a:t>extra semicolon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109578" name="AutoShape 10"/>
          <p:cNvSpPr>
            <a:spLocks noChangeArrowheads="1"/>
          </p:cNvSpPr>
          <p:nvPr/>
        </p:nvSpPr>
        <p:spPr bwMode="auto">
          <a:xfrm>
            <a:off x="4343400" y="4724400"/>
            <a:ext cx="4114800" cy="1371600"/>
          </a:xfrm>
          <a:prstGeom prst="wedgeRectCallout">
            <a:avLst>
              <a:gd name="adj1" fmla="val -59282"/>
              <a:gd name="adj2" fmla="val -208001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dirty="0">
                <a:solidFill>
                  <a:srgbClr val="FFFFFF"/>
                </a:solidFill>
                <a:latin typeface="Arial" pitchFamily="34" charset="0"/>
              </a:rPr>
              <a:t>Marks the end of the while-block -- usual cause of </a:t>
            </a:r>
            <a:r>
              <a:rPr lang="en-US" sz="2800" b="1" i="1" dirty="0">
                <a:solidFill>
                  <a:srgbClr val="FFFFFF"/>
                </a:solidFill>
                <a:latin typeface="Arial" pitchFamily="34" charset="0"/>
              </a:rPr>
              <a:t>infinite loops</a:t>
            </a:r>
            <a:endParaRPr lang="en-AU" sz="2800" b="1" i="1" dirty="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7" name="Rectangle 6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180486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8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“do…while” </a:t>
            </a:r>
            <a:r>
              <a:rPr lang="en-US" sz="4000" dirty="0">
                <a:solidFill>
                  <a:srgbClr val="FF0000"/>
                </a:solidFill>
              </a:rPr>
              <a:t>loop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r>
              <a:rPr lang="en-US" altLang="en-US" sz="3200" dirty="0">
                <a:solidFill>
                  <a:prstClr val="black"/>
                </a:solidFill>
              </a:rPr>
              <a:t>In addition to the while loop, C++ also offers the do-while and for loops</a:t>
            </a:r>
            <a:r>
              <a:rPr lang="en-US" altLang="en-US" sz="3200" dirty="0" smtClean="0">
                <a:solidFill>
                  <a:prstClr val="black"/>
                </a:solidFill>
              </a:rPr>
              <a:t>.</a:t>
            </a:r>
          </a:p>
          <a:p>
            <a:endParaRPr lang="en-US" altLang="en-US" sz="3200" dirty="0">
              <a:solidFill>
                <a:prstClr val="black"/>
              </a:solidFill>
            </a:endParaRPr>
          </a:p>
          <a:p>
            <a:r>
              <a:rPr lang="en-US" altLang="en-US" sz="3200" dirty="0" smtClean="0">
                <a:solidFill>
                  <a:prstClr val="black"/>
                </a:solidFill>
              </a:rPr>
              <a:t>A </a:t>
            </a:r>
            <a:r>
              <a:rPr lang="en-US" altLang="en-US" sz="3200" dirty="0">
                <a:solidFill>
                  <a:srgbClr val="FF0000"/>
                </a:solidFill>
              </a:rPr>
              <a:t>do-while</a:t>
            </a:r>
            <a:r>
              <a:rPr lang="en-US" altLang="en-US" sz="3200" dirty="0" smtClean="0">
                <a:solidFill>
                  <a:prstClr val="black"/>
                </a:solidFill>
              </a:rPr>
              <a:t>  loop is similar to a while loop, but it is in </a:t>
            </a:r>
            <a:r>
              <a:rPr lang="en-US" altLang="en-US" sz="3200" b="1" dirty="0" smtClean="0">
                <a:solidFill>
                  <a:prstClr val="black"/>
                </a:solidFill>
              </a:rPr>
              <a:t>“post-test”</a:t>
            </a:r>
            <a:r>
              <a:rPr lang="en-US" altLang="en-US" sz="3200" dirty="0" smtClean="0">
                <a:solidFill>
                  <a:prstClr val="black"/>
                </a:solidFill>
              </a:rPr>
              <a:t> format.</a:t>
            </a:r>
          </a:p>
          <a:p>
            <a:endParaRPr lang="en-US" alt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5237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“do…while” loop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endParaRPr lang="en-US" alt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2019300" y="2209800"/>
            <a:ext cx="5105400" cy="2055912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do </a:t>
            </a:r>
            <a:r>
              <a:rPr lang="en-US" alt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{</a:t>
            </a:r>
            <a:endParaRPr lang="en-US" altLang="en-US" sz="2800" b="1" dirty="0">
              <a:solidFill>
                <a:prstClr val="black"/>
              </a:solidFill>
              <a:latin typeface="Courier New" panose="02070309020205020404" pitchFamily="49" charset="0"/>
            </a:endParaRPr>
          </a:p>
          <a:p>
            <a:r>
              <a:rPr lang="en-US" altLang="en-US" sz="2800" b="1" dirty="0">
                <a:solidFill>
                  <a:prstClr val="black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2800" b="1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statement(s)</a:t>
            </a:r>
            <a:r>
              <a:rPr lang="en-US" alt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alt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} </a:t>
            </a:r>
            <a:r>
              <a:rPr lang="en-US" alt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while</a:t>
            </a:r>
            <a:r>
              <a:rPr lang="en-US" alt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condition</a:t>
            </a:r>
            <a:r>
              <a:rPr lang="en-US" alt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);</a:t>
            </a:r>
            <a:endParaRPr lang="en-US" altLang="en-US" sz="2800" b="1" dirty="0">
              <a:solidFill>
                <a:prstClr val="black"/>
              </a:solidFill>
              <a:latin typeface="Courier New" panose="02070309020205020404" pitchFamily="49" charset="0"/>
            </a:endParaRPr>
          </a:p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943600" y="3276600"/>
            <a:ext cx="381000" cy="533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Oval Callout 8"/>
          <p:cNvSpPr/>
          <p:nvPr/>
        </p:nvSpPr>
        <p:spPr>
          <a:xfrm>
            <a:off x="5181600" y="4503704"/>
            <a:ext cx="3505200" cy="1342091"/>
          </a:xfrm>
          <a:prstGeom prst="wedgeEllipseCallout">
            <a:avLst>
              <a:gd name="adj1" fmla="val -20705"/>
              <a:gd name="adj2" fmla="val -104685"/>
            </a:avLst>
          </a:prstGeom>
          <a:solidFill>
            <a:srgbClr val="FFFF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Note the Semicolon here. It is part of the syntax &amp; missing it will give an error.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7525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991600" cy="1143000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0070C0"/>
                </a:solidFill>
              </a:rPr>
              <a:t>Flowchart Representation of</a:t>
            </a:r>
            <a:r>
              <a:rPr lang="en-US" sz="4000" dirty="0"/>
              <a:t> </a:t>
            </a:r>
            <a:r>
              <a:rPr lang="en-US" sz="4000" dirty="0" smtClean="0">
                <a:solidFill>
                  <a:srgbClr val="FF0000"/>
                </a:solidFill>
              </a:rPr>
              <a:t>“do…while</a:t>
            </a:r>
            <a:r>
              <a:rPr lang="en-US" sz="4000" dirty="0">
                <a:solidFill>
                  <a:srgbClr val="FF0000"/>
                </a:solidFill>
              </a:rPr>
              <a:t>”</a:t>
            </a:r>
            <a:endParaRPr lang="en-IN" sz="4000" b="1" dirty="0">
              <a:solidFill>
                <a:schemeClr val="accent6">
                  <a:lumMod val="75000"/>
                </a:schemeClr>
              </a:solidFill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 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A1D6-45B6-42A0-9A96-551CCA5B504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74420" y="2160270"/>
            <a:ext cx="1725930" cy="6400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</a:rPr>
              <a:t>Part of program before iteration</a:t>
            </a:r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9" name="Flowchart: Decision 8"/>
          <p:cNvSpPr/>
          <p:nvPr/>
        </p:nvSpPr>
        <p:spPr>
          <a:xfrm>
            <a:off x="2788920" y="3040380"/>
            <a:ext cx="2857500" cy="868680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 dirty="0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26130" y="3166111"/>
            <a:ext cx="1863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</a:rPr>
              <a:t>Logical expression</a:t>
            </a:r>
          </a:p>
          <a:p>
            <a:pPr algn="ctr"/>
            <a:r>
              <a:rPr lang="en-US" dirty="0">
                <a:solidFill>
                  <a:prstClr val="black"/>
                </a:solidFill>
              </a:rPr>
              <a:t>(loop condition)</a:t>
            </a:r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108960" y="4331970"/>
            <a:ext cx="2228850" cy="7200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solidFill>
                  <a:prstClr val="black"/>
                </a:solidFill>
              </a:rPr>
              <a:t>Loop Body</a:t>
            </a:r>
            <a:endParaRPr lang="en-IN" sz="2100" dirty="0">
              <a:solidFill>
                <a:prstClr val="black"/>
              </a:solidFill>
            </a:endParaRPr>
          </a:p>
        </p:txBody>
      </p:sp>
      <p:cxnSp>
        <p:nvCxnSpPr>
          <p:cNvPr id="14" name="Shape 13"/>
          <p:cNvCxnSpPr>
            <a:stCxn id="9" idx="3"/>
          </p:cNvCxnSpPr>
          <p:nvPr/>
        </p:nvCxnSpPr>
        <p:spPr>
          <a:xfrm>
            <a:off x="5646420" y="3474720"/>
            <a:ext cx="1423035" cy="857250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11" idx="1"/>
            <a:endCxn id="9" idx="1"/>
          </p:cNvCxnSpPr>
          <p:nvPr/>
        </p:nvCxnSpPr>
        <p:spPr>
          <a:xfrm rot="10800000">
            <a:off x="2788920" y="3474720"/>
            <a:ext cx="320040" cy="1217295"/>
          </a:xfrm>
          <a:prstGeom prst="bentConnector3">
            <a:avLst>
              <a:gd name="adj1" fmla="val 153571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2"/>
            <a:endCxn id="11" idx="0"/>
          </p:cNvCxnSpPr>
          <p:nvPr/>
        </p:nvCxnSpPr>
        <p:spPr>
          <a:xfrm>
            <a:off x="4217670" y="3909060"/>
            <a:ext cx="5715" cy="42291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06490" y="4343400"/>
            <a:ext cx="1725930" cy="6400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black"/>
                </a:solidFill>
              </a:rPr>
              <a:t>Part of program after  iteration</a:t>
            </a:r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20740" y="3200400"/>
            <a:ext cx="7086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prstClr val="black"/>
                </a:solidFill>
              </a:rPr>
              <a:t>FALSE</a:t>
            </a:r>
            <a:endParaRPr lang="en-IN" sz="1500" b="1" dirty="0">
              <a:solidFill>
                <a:prstClr val="black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17670" y="3943350"/>
            <a:ext cx="7086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prstClr val="black"/>
                </a:solidFill>
              </a:rPr>
              <a:t>TRUE</a:t>
            </a:r>
            <a:endParaRPr lang="en-IN" sz="1500" b="1" dirty="0">
              <a:solidFill>
                <a:prstClr val="black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4137660" y="2137410"/>
            <a:ext cx="148590" cy="1485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97530" y="2125980"/>
            <a:ext cx="2228850" cy="7200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solidFill>
                  <a:prstClr val="black"/>
                </a:solidFill>
              </a:rPr>
              <a:t>Loop Body</a:t>
            </a:r>
            <a:endParaRPr lang="en-IN" sz="2100" dirty="0">
              <a:solidFill>
                <a:prstClr val="black"/>
              </a:solidFill>
            </a:endParaRPr>
          </a:p>
        </p:txBody>
      </p:sp>
      <p:cxnSp>
        <p:nvCxnSpPr>
          <p:cNvPr id="26" name="Elbow Connector 25"/>
          <p:cNvCxnSpPr>
            <a:stCxn id="8" idx="3"/>
            <a:endCxn id="19" idx="1"/>
          </p:cNvCxnSpPr>
          <p:nvPr/>
        </p:nvCxnSpPr>
        <p:spPr>
          <a:xfrm>
            <a:off x="2800350" y="2480310"/>
            <a:ext cx="297180" cy="57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19" idx="2"/>
            <a:endCxn id="9" idx="0"/>
          </p:cNvCxnSpPr>
          <p:nvPr/>
        </p:nvCxnSpPr>
        <p:spPr>
          <a:xfrm rot="16200000" flipH="1">
            <a:off x="4117658" y="2940368"/>
            <a:ext cx="194310" cy="571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074420" y="2423160"/>
            <a:ext cx="137160" cy="1371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04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repeatCount="200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4674 -0.0044 0.29349 -0.00857 0.35 0 C 0.40651 0.00856 0.33958 -0.01158 0.3388 0.05092 C 0.33802 0.11342 0.37825 0.31551 0.34505 0.37546 C 0.31172 0.43541 0.17591 0.44884 0.1388 0.41111 C 0.10169 0.37338 0.09023 0.19074 0.12252 0.14884 C 0.15482 0.10694 0.29505 0.1118 0.33255 0.15995 C 0.36992 0.2081 0.38502 0.39444 0.34752 0.43773 C 0.31002 0.48102 0.14987 0.4699 0.10755 0.4199 C 0.06523 0.3699 0.05312 0.18588 0.09375 0.13773 C 0.13437 0.08958 0.25794 0.13148 0.3513 0.13102 C 0.44466 0.13055 0.60273 0.07731 0.65377 0.13541 C 0.70482 0.19352 0.68112 0.33657 0.65755 0.47986 " pathEditMode="relative" ptsTypes="aaaaaaaaaaaaA">
                                      <p:cBhvr>
                                        <p:cTn id="10" dur="5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" presetID="3" presetClass="exit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8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8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9" grpId="0" animBg="1"/>
      <p:bldP spid="19" grpId="1" animBg="1"/>
      <p:bldP spid="29" grpId="0" animBg="1"/>
      <p:bldP spid="29" grpId="1" animBg="1"/>
      <p:bldP spid="29" grpId="2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“do…while” - Example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719" y="1764030"/>
            <a:ext cx="8686800" cy="1661993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1F497D">
                    <a:lumMod val="50000"/>
                  </a:srgbClr>
                </a:solidFill>
                <a:latin typeface="Courier New" panose="02070309020205020404" pitchFamily="49" charset="0"/>
              </a:rPr>
              <a:t>A </a:t>
            </a:r>
            <a:r>
              <a:rPr lang="en-US" sz="2800" dirty="0">
                <a:solidFill>
                  <a:srgbClr val="1F497D">
                    <a:lumMod val="50000"/>
                  </a:srgbClr>
                </a:solidFill>
                <a:latin typeface="Courier New" panose="02070309020205020404" pitchFamily="49" charset="0"/>
              </a:rPr>
              <a:t>program </a:t>
            </a:r>
            <a:r>
              <a:rPr lang="en-US" sz="2800" dirty="0" smtClean="0">
                <a:solidFill>
                  <a:srgbClr val="1F497D">
                    <a:lumMod val="50000"/>
                  </a:srgbClr>
                </a:solidFill>
                <a:latin typeface="Courier New" panose="02070309020205020404" pitchFamily="49" charset="0"/>
              </a:rPr>
              <a:t>that averages </a:t>
            </a:r>
            <a:r>
              <a:rPr lang="en-US" sz="2800" dirty="0">
                <a:solidFill>
                  <a:srgbClr val="1F497D">
                    <a:lumMod val="50000"/>
                  </a:srgbClr>
                </a:solidFill>
                <a:latin typeface="Courier New" panose="02070309020205020404" pitchFamily="49" charset="0"/>
              </a:rPr>
              <a:t>3 test </a:t>
            </a:r>
            <a:r>
              <a:rPr lang="en-US" sz="2800" dirty="0" smtClean="0">
                <a:solidFill>
                  <a:srgbClr val="1F497D">
                    <a:lumMod val="50000"/>
                  </a:srgbClr>
                </a:solidFill>
                <a:latin typeface="Courier New" panose="02070309020205020404" pitchFamily="49" charset="0"/>
              </a:rPr>
              <a:t>scores and it </a:t>
            </a:r>
            <a:r>
              <a:rPr lang="en-US" sz="2800" dirty="0">
                <a:solidFill>
                  <a:srgbClr val="1F497D">
                    <a:lumMod val="50000"/>
                  </a:srgbClr>
                </a:solidFill>
                <a:latin typeface="Courier New" panose="02070309020205020404" pitchFamily="49" charset="0"/>
              </a:rPr>
              <a:t>repeats as many times as </a:t>
            </a:r>
            <a:r>
              <a:rPr lang="en-US" sz="2800" dirty="0" smtClean="0">
                <a:solidFill>
                  <a:srgbClr val="1F497D">
                    <a:lumMod val="50000"/>
                  </a:srgbClr>
                </a:solidFill>
                <a:latin typeface="Courier New" panose="02070309020205020404" pitchFamily="49" charset="0"/>
              </a:rPr>
              <a:t>the user wishes.</a:t>
            </a:r>
          </a:p>
          <a:p>
            <a:endParaRPr lang="en-US" dirty="0">
              <a:solidFill>
                <a:srgbClr val="008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0183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281969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“do…while” - Example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0999" y="953884"/>
            <a:ext cx="8382001" cy="5632311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#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include &lt;</a:t>
            </a:r>
            <a:r>
              <a:rPr lang="en-US" b="1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b="1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score1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score2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score3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average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again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do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"Enter 3 scores and I will average them: "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cin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&gt;&gt;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score1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&gt;&gt;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score2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&gt;&gt;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score3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average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score1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score2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score3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/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3.0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"The average is "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average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".\n"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"Do you want to average another set? (Y/N) "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cin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&gt;&gt;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again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again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'Y'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||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again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 'y'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en-US" b="1" dirty="0">
              <a:solidFill>
                <a:prstClr val="black"/>
              </a:solidFill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14400" y="5611939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 ?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1505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187026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“do…while” - Example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5548" y="904924"/>
            <a:ext cx="8382001" cy="5632311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#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include &lt;</a:t>
            </a:r>
            <a:r>
              <a:rPr lang="en-US" b="1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b="1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score1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score2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score3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average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again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do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"Enter 3 scores and I will average them: "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cin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&gt;&gt;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score1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&gt;&gt;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score2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&gt;&gt;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score3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average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score1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score2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score3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/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3.0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"The average is "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average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".\n"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"Do you want to average another set? (Y/N) "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cin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&gt;&gt;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again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again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'Y'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||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again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'y'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en-US" b="1" dirty="0">
              <a:solidFill>
                <a:prstClr val="black"/>
              </a:solidFill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71797" y="863855"/>
            <a:ext cx="6024351" cy="267765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</a:pPr>
            <a:r>
              <a:rPr kumimoji="1" lang="en-US" altLang="en-US" sz="2400" b="1" i="1" dirty="0" smtClean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Output with a Sample Input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</a:pPr>
            <a:r>
              <a:rPr kumimoji="1" lang="en-US" altLang="en-US" sz="2000" dirty="0" smtClean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Enter </a:t>
            </a:r>
            <a:r>
              <a:rPr kumimoji="1" lang="en-US" altLang="en-US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3 scores and I will average them</a:t>
            </a:r>
            <a:r>
              <a:rPr kumimoji="1" lang="en-US" altLang="en-US" sz="2000" dirty="0" smtClean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:</a:t>
            </a:r>
            <a:endParaRPr kumimoji="1" lang="en-US" altLang="en-US" sz="2000" dirty="0">
              <a:solidFill>
                <a:srgbClr val="000000"/>
              </a:solidFill>
              <a:latin typeface="Times New Roman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</a:pPr>
            <a:r>
              <a:rPr kumimoji="1" lang="en-US" altLang="en-US" sz="2000" dirty="0">
                <a:solidFill>
                  <a:srgbClr val="000000"/>
                </a:solidFill>
                <a:latin typeface="Times New Roman"/>
                <a:ea typeface="Officina Sans"/>
                <a:cs typeface="Officina Sans"/>
              </a:rPr>
              <a:t>The average is 80.</a:t>
            </a:r>
            <a:endParaRPr kumimoji="1" lang="en-US" altLang="en-US" sz="2000" dirty="0">
              <a:solidFill>
                <a:srgbClr val="000000"/>
              </a:solidFill>
              <a:latin typeface="Times New Roman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</a:pPr>
            <a:r>
              <a:rPr kumimoji="1" lang="en-US" altLang="en-US" sz="2000" dirty="0">
                <a:solidFill>
                  <a:srgbClr val="000000"/>
                </a:solidFill>
                <a:latin typeface="Times New Roman"/>
                <a:ea typeface="Officina Sans"/>
                <a:cs typeface="Officina Sans"/>
              </a:rPr>
              <a:t>Do you want to average another set? (Y/N</a:t>
            </a:r>
            <a:r>
              <a:rPr kumimoji="1" lang="en-US" altLang="en-US" sz="2000" dirty="0" smtClean="0">
                <a:solidFill>
                  <a:srgbClr val="000000"/>
                </a:solidFill>
                <a:latin typeface="Times New Roman"/>
                <a:ea typeface="Officina Sans"/>
                <a:cs typeface="Officina Sans"/>
              </a:rPr>
              <a:t>)</a:t>
            </a:r>
            <a:endParaRPr kumimoji="1" lang="en-US" altLang="en-US" sz="2000" dirty="0" smtClean="0">
              <a:solidFill>
                <a:srgbClr val="000000"/>
              </a:solidFill>
              <a:latin typeface="Times New Roman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</a:pPr>
            <a:r>
              <a:rPr kumimoji="1" lang="en-US" altLang="en-US" sz="2000" dirty="0" smtClean="0">
                <a:solidFill>
                  <a:srgbClr val="000000"/>
                </a:solidFill>
                <a:latin typeface="Times New Roman"/>
                <a:ea typeface="Officina Sans"/>
                <a:cs typeface="Officina Sans"/>
              </a:rPr>
              <a:t>Enter 3 scores and I will average them: </a:t>
            </a:r>
            <a:r>
              <a:rPr kumimoji="1" lang="en-US" altLang="en-US" sz="2000" b="1" dirty="0" smtClean="0">
                <a:solidFill>
                  <a:srgbClr val="000000"/>
                </a:solidFill>
                <a:latin typeface="Times New Roman"/>
                <a:ea typeface="Officina Sans"/>
                <a:cs typeface="Officina Sans"/>
              </a:rPr>
              <a:t>60 75 88 [Enter]</a:t>
            </a:r>
            <a:endParaRPr kumimoji="1" lang="en-US" altLang="en-US" sz="2000" dirty="0" smtClean="0">
              <a:solidFill>
                <a:srgbClr val="000000"/>
              </a:solidFill>
              <a:latin typeface="Times New Roman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</a:pPr>
            <a:r>
              <a:rPr kumimoji="1" lang="en-US" altLang="en-US" sz="2000" dirty="0" smtClean="0">
                <a:solidFill>
                  <a:srgbClr val="000000"/>
                </a:solidFill>
                <a:latin typeface="Times New Roman"/>
                <a:ea typeface="Officina Sans"/>
                <a:cs typeface="Officina Sans"/>
              </a:rPr>
              <a:t>The </a:t>
            </a:r>
            <a:r>
              <a:rPr kumimoji="1" lang="en-US" altLang="en-US" sz="2000" dirty="0">
                <a:solidFill>
                  <a:srgbClr val="000000"/>
                </a:solidFill>
                <a:latin typeface="Times New Roman"/>
                <a:ea typeface="Officina Sans"/>
                <a:cs typeface="Officina Sans"/>
              </a:rPr>
              <a:t>average is</a:t>
            </a:r>
            <a:r>
              <a:rPr kumimoji="1" lang="en-US" altLang="en-US" sz="2000" b="1" dirty="0">
                <a:solidFill>
                  <a:srgbClr val="000000"/>
                </a:solidFill>
                <a:latin typeface="Times New Roman"/>
                <a:ea typeface="Officina Sans"/>
                <a:cs typeface="Officina Sans"/>
              </a:rPr>
              <a:t> 74.333336.</a:t>
            </a:r>
            <a:endParaRPr kumimoji="1" lang="en-US" altLang="en-US" sz="2000" dirty="0">
              <a:solidFill>
                <a:srgbClr val="000000"/>
              </a:solidFill>
              <a:latin typeface="Times New Roman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</a:pPr>
            <a:r>
              <a:rPr kumimoji="1" lang="en-US" altLang="en-US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Do you want to average another set? </a:t>
            </a:r>
            <a:r>
              <a:rPr kumimoji="1" lang="en-US" altLang="en-US" sz="2000" b="1" dirty="0">
                <a:solidFill>
                  <a:srgbClr val="000000"/>
                </a:solidFill>
                <a:latin typeface="Times New Roman"/>
                <a:ea typeface="Officina Sans"/>
                <a:cs typeface="Officina Sans"/>
              </a:rPr>
              <a:t>(Y/N) n [Enter]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10400" y="1302882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2000" b="1" dirty="0">
                <a:solidFill>
                  <a:srgbClr val="000000"/>
                </a:solidFill>
                <a:latin typeface="Times New Roman"/>
                <a:ea typeface="Officina Sans"/>
                <a:cs typeface="Officina Sans"/>
              </a:rPr>
              <a:t>80 90 70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5978" y="1288842"/>
            <a:ext cx="106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2000" b="1" dirty="0">
                <a:solidFill>
                  <a:srgbClr val="000000"/>
                </a:solidFill>
                <a:latin typeface="Times New Roman"/>
                <a:ea typeface="Officina Sans"/>
                <a:cs typeface="Officina Sans"/>
              </a:rPr>
              <a:t>[Enter] </a:t>
            </a:r>
          </a:p>
        </p:txBody>
      </p:sp>
      <p:sp>
        <p:nvSpPr>
          <p:cNvPr id="12" name="Notched Right Arrow 11"/>
          <p:cNvSpPr/>
          <p:nvPr/>
        </p:nvSpPr>
        <p:spPr>
          <a:xfrm>
            <a:off x="685800" y="3733800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Notched Right Arrow 12"/>
          <p:cNvSpPr/>
          <p:nvPr/>
        </p:nvSpPr>
        <p:spPr>
          <a:xfrm>
            <a:off x="685800" y="4008947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Notched Right Arrow 13"/>
          <p:cNvSpPr/>
          <p:nvPr/>
        </p:nvSpPr>
        <p:spPr>
          <a:xfrm>
            <a:off x="685800" y="4298748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Notched Right Arrow 14"/>
          <p:cNvSpPr/>
          <p:nvPr/>
        </p:nvSpPr>
        <p:spPr>
          <a:xfrm>
            <a:off x="685800" y="4572000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Notched Right Arrow 17"/>
          <p:cNvSpPr/>
          <p:nvPr/>
        </p:nvSpPr>
        <p:spPr>
          <a:xfrm>
            <a:off x="685800" y="4865334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Notched Right Arrow 18"/>
          <p:cNvSpPr/>
          <p:nvPr/>
        </p:nvSpPr>
        <p:spPr>
          <a:xfrm>
            <a:off x="685800" y="5105400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76698" y="2038290"/>
            <a:ext cx="499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2000" b="1" dirty="0" smtClean="0">
                <a:solidFill>
                  <a:srgbClr val="000000"/>
                </a:solidFill>
                <a:latin typeface="Times New Roman"/>
                <a:ea typeface="Officina Sans"/>
                <a:cs typeface="Officina Sans"/>
              </a:rPr>
              <a:t>y</a:t>
            </a:r>
            <a:endParaRPr kumimoji="1" lang="en-US" sz="2000" b="1" dirty="0">
              <a:solidFill>
                <a:srgbClr val="000000"/>
              </a:solidFill>
              <a:latin typeface="Times New Roman"/>
              <a:ea typeface="Officina Sans"/>
              <a:cs typeface="Officin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36575" y="2040452"/>
            <a:ext cx="106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2000" b="1" dirty="0">
                <a:solidFill>
                  <a:srgbClr val="000000"/>
                </a:solidFill>
                <a:latin typeface="Times New Roman"/>
                <a:ea typeface="Officina Sans"/>
                <a:cs typeface="Officina Sans"/>
              </a:rPr>
              <a:t>[Enter] </a:t>
            </a:r>
          </a:p>
        </p:txBody>
      </p:sp>
      <p:sp>
        <p:nvSpPr>
          <p:cNvPr id="22" name="Notched Right Arrow 21"/>
          <p:cNvSpPr/>
          <p:nvPr/>
        </p:nvSpPr>
        <p:spPr>
          <a:xfrm>
            <a:off x="224050" y="5388636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Notched Right Arrow 22"/>
          <p:cNvSpPr/>
          <p:nvPr/>
        </p:nvSpPr>
        <p:spPr>
          <a:xfrm>
            <a:off x="224050" y="3493355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8997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2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2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8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 animBg="1"/>
      <p:bldP spid="11" grpId="0"/>
      <p:bldP spid="12" grpId="0" animBg="1"/>
      <p:bldP spid="12" grpId="1" animBg="1"/>
      <p:bldP spid="12" grpId="2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8" grpId="0" animBg="1"/>
      <p:bldP spid="18" grpId="1" animBg="1"/>
      <p:bldP spid="19" grpId="0" animBg="1"/>
      <p:bldP spid="19" grpId="1" animBg="1"/>
      <p:bldP spid="21" grpId="0"/>
      <p:bldP spid="22" grpId="0" animBg="1"/>
      <p:bldP spid="22" grpId="1" animBg="1"/>
      <p:bldP spid="23" grpId="0" animBg="1"/>
      <p:bldP spid="23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“do…while” - Example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8600" y="1482566"/>
            <a:ext cx="5334000" cy="4801314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</a:p>
          <a:p>
            <a:pPr lvl="1"/>
            <a:r>
              <a:rPr lang="en-US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Local variable </a:t>
            </a:r>
            <a:r>
              <a:rPr lang="en-US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declaration</a:t>
            </a:r>
          </a:p>
          <a:p>
            <a:pPr lvl="1"/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do loop execution </a:t>
            </a:r>
            <a:endParaRPr lang="en-US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do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"value of a: 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a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13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91200" y="1674911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Output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13966" y="2407383"/>
            <a:ext cx="2802467" cy="923330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value of a: 10</a:t>
            </a:r>
          </a:p>
          <a:p>
            <a:r>
              <a:rPr lang="en-US" dirty="0">
                <a:solidFill>
                  <a:prstClr val="black"/>
                </a:solidFill>
              </a:rPr>
              <a:t>value of a: 11</a:t>
            </a:r>
          </a:p>
          <a:p>
            <a:r>
              <a:rPr lang="en-US" dirty="0">
                <a:solidFill>
                  <a:prstClr val="black"/>
                </a:solidFill>
              </a:rPr>
              <a:t>value of a: 12</a:t>
            </a:r>
          </a:p>
        </p:txBody>
      </p:sp>
    </p:spTree>
    <p:extLst>
      <p:ext uri="{BB962C8B-B14F-4D97-AF65-F5344CB8AC3E}">
        <p14:creationId xmlns:p14="http://schemas.microsoft.com/office/powerpoint/2010/main" val="2781290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“do … while …”</a:t>
            </a:r>
            <a:r>
              <a:rPr lang="en-US" dirty="0" smtClean="0"/>
              <a:t> 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“while …”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85793"/>
            <a:ext cx="8229600" cy="4525963"/>
          </a:xfrm>
        </p:spPr>
        <p:txBody>
          <a:bodyPr/>
          <a:lstStyle/>
          <a:p>
            <a:r>
              <a:rPr lang="en-US" dirty="0" smtClean="0"/>
              <a:t>Almost the same</a:t>
            </a:r>
          </a:p>
          <a:p>
            <a:r>
              <a:rPr lang="en-US" dirty="0" smtClean="0"/>
              <a:t>Prefer </a:t>
            </a:r>
            <a:r>
              <a:rPr lang="en-US" dirty="0" smtClean="0">
                <a:solidFill>
                  <a:srgbClr val="FF0000"/>
                </a:solidFill>
              </a:rPr>
              <a:t>“do … while …” </a:t>
            </a:r>
            <a:r>
              <a:rPr lang="en-US" dirty="0" smtClean="0"/>
              <a:t>when we are guaranteed to execute loop body </a:t>
            </a:r>
            <a:r>
              <a:rPr lang="en-US" b="1" dirty="0" smtClean="0"/>
              <a:t>at least once</a:t>
            </a:r>
          </a:p>
          <a:p>
            <a:r>
              <a:rPr lang="en-US" dirty="0" smtClean="0"/>
              <a:t>Prefer </a:t>
            </a:r>
            <a:r>
              <a:rPr lang="en-US" dirty="0" smtClean="0">
                <a:solidFill>
                  <a:srgbClr val="FF0000"/>
                </a:solidFill>
              </a:rPr>
              <a:t>“while …”</a:t>
            </a:r>
            <a:r>
              <a:rPr lang="en-US" dirty="0" smtClean="0"/>
              <a:t> if loop body may not be executed at all</a:t>
            </a:r>
          </a:p>
          <a:p>
            <a:r>
              <a:rPr lang="en-US" dirty="0" smtClean="0"/>
              <a:t>Programmer’s choice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A1D6-45B6-42A0-9A96-551CCA5B504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While and Do While loop in C18 programming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724400" y="4395527"/>
            <a:ext cx="4114800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7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7609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mute="1" showWhenStopped="0">
                <p:cTn id="25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r>
              <a:rPr lang="en-US" altLang="en-US" sz="3200" dirty="0">
                <a:solidFill>
                  <a:prstClr val="black"/>
                </a:solidFill>
              </a:rPr>
              <a:t>A </a:t>
            </a:r>
            <a:r>
              <a:rPr lang="en-US" altLang="en-US" sz="3200" dirty="0">
                <a:solidFill>
                  <a:srgbClr val="FF0000"/>
                </a:solidFill>
              </a:rPr>
              <a:t>for</a:t>
            </a:r>
            <a:r>
              <a:rPr lang="en-US" altLang="en-US" sz="3200" dirty="0" smtClean="0">
                <a:solidFill>
                  <a:prstClr val="black"/>
                </a:solidFill>
              </a:rPr>
              <a:t> loop is also </a:t>
            </a:r>
            <a:r>
              <a:rPr lang="en-US" altLang="en-US" sz="3200" dirty="0">
                <a:solidFill>
                  <a:prstClr val="black"/>
                </a:solidFill>
              </a:rPr>
              <a:t>a </a:t>
            </a:r>
            <a:r>
              <a:rPr lang="en-US" altLang="en-US" sz="3200" b="1" dirty="0">
                <a:solidFill>
                  <a:prstClr val="black"/>
                </a:solidFill>
              </a:rPr>
              <a:t>“pre test” </a:t>
            </a:r>
            <a:r>
              <a:rPr lang="en-US" altLang="en-US" sz="3200" dirty="0">
                <a:solidFill>
                  <a:prstClr val="black"/>
                </a:solidFill>
              </a:rPr>
              <a:t>loop - the condition is tested before the loop body is executed</a:t>
            </a:r>
          </a:p>
          <a:p>
            <a:endParaRPr lang="en-US" altLang="en-US" sz="3200" dirty="0">
              <a:solidFill>
                <a:prstClr val="black"/>
              </a:solidFill>
            </a:endParaRPr>
          </a:p>
          <a:p>
            <a:r>
              <a:rPr lang="en-US" sz="3200" dirty="0">
                <a:solidFill>
                  <a:prstClr val="black"/>
                </a:solidFill>
              </a:rPr>
              <a:t>E</a:t>
            </a:r>
            <a:r>
              <a:rPr lang="en-US" sz="3200" dirty="0" smtClean="0">
                <a:solidFill>
                  <a:prstClr val="black"/>
                </a:solidFill>
              </a:rPr>
              <a:t>xecutes </a:t>
            </a:r>
            <a:r>
              <a:rPr lang="en-US" sz="3200" dirty="0">
                <a:solidFill>
                  <a:prstClr val="black"/>
                </a:solidFill>
              </a:rPr>
              <a:t>a specified block of code a </a:t>
            </a:r>
            <a:r>
              <a:rPr lang="en-US" sz="32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specified number of times</a:t>
            </a:r>
            <a:r>
              <a:rPr lang="en-US" sz="3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</a:t>
            </a:r>
            <a:r>
              <a:rPr lang="en-US" sz="32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keeps track </a:t>
            </a:r>
            <a:r>
              <a:rPr lang="en-US" sz="3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</a:t>
            </a:r>
            <a:r>
              <a:rPr lang="en-US" sz="3200" dirty="0">
                <a:solidFill>
                  <a:prstClr val="black"/>
                </a:solidFill>
              </a:rPr>
              <a:t>he value of the variable</a:t>
            </a:r>
            <a:endParaRPr lang="en-US" alt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2357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5300" y="2033714"/>
            <a:ext cx="7810500" cy="22098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for</a:t>
            </a:r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initialization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test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update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{</a:t>
            </a:r>
            <a:endParaRPr lang="en-US" altLang="en-US" sz="2800" dirty="0" smtClean="0">
              <a:solidFill>
                <a:prstClr val="black"/>
              </a:solidFill>
              <a:latin typeface="Courier New" panose="02070309020205020404" pitchFamily="49" charset="0"/>
            </a:endParaRPr>
          </a:p>
          <a:p>
            <a:r>
              <a:rPr lang="en-US" altLang="en-US" sz="2800" i="1" dirty="0">
                <a:solidFill>
                  <a:prstClr val="black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statement(s);</a:t>
            </a:r>
          </a:p>
          <a:p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}</a:t>
            </a:r>
          </a:p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“</a:t>
            </a:r>
            <a:r>
              <a:rPr lang="en-US" sz="4000" dirty="0" smtClean="0">
                <a:solidFill>
                  <a:srgbClr val="FF0000"/>
                </a:solidFill>
              </a:rPr>
              <a:t>for” loop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endParaRPr lang="en-US" alt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4656161" y="2165636"/>
            <a:ext cx="381000" cy="533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493861" y="2505182"/>
            <a:ext cx="5143500" cy="3231625"/>
            <a:chOff x="1485900" y="3089998"/>
            <a:chExt cx="5143500" cy="3231625"/>
          </a:xfrm>
        </p:grpSpPr>
        <p:sp>
          <p:nvSpPr>
            <p:cNvPr id="12" name="Flowchart: Merge 11"/>
            <p:cNvSpPr/>
            <p:nvPr/>
          </p:nvSpPr>
          <p:spPr>
            <a:xfrm rot="12459657">
              <a:off x="5150145" y="3089998"/>
              <a:ext cx="762000" cy="2256945"/>
            </a:xfrm>
            <a:prstGeom prst="flowChartMerge">
              <a:avLst/>
            </a:prstGeom>
            <a:solidFill>
              <a:srgbClr val="FFFF00"/>
            </a:solidFill>
            <a:ln w="31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Oval Callout 8"/>
            <p:cNvSpPr/>
            <p:nvPr/>
          </p:nvSpPr>
          <p:spPr>
            <a:xfrm>
              <a:off x="1485900" y="4979532"/>
              <a:ext cx="5143500" cy="1342091"/>
            </a:xfrm>
            <a:prstGeom prst="wedgeEllipseCallout">
              <a:avLst>
                <a:gd name="adj1" fmla="val 16265"/>
                <a:gd name="adj2" fmla="val -180953"/>
              </a:avLst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Semi-colons not to denote end of executable statements But to separate three parts inside for ( ….. )</a:t>
              </a:r>
            </a:p>
          </p:txBody>
        </p:sp>
      </p:grpSp>
      <p:sp>
        <p:nvSpPr>
          <p:cNvPr id="10" name="Oval 9"/>
          <p:cNvSpPr/>
          <p:nvPr/>
        </p:nvSpPr>
        <p:spPr>
          <a:xfrm>
            <a:off x="5951561" y="2165636"/>
            <a:ext cx="381000" cy="533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Oval Callout 13"/>
          <p:cNvSpPr/>
          <p:nvPr/>
        </p:nvSpPr>
        <p:spPr>
          <a:xfrm>
            <a:off x="6332561" y="959970"/>
            <a:ext cx="2362200" cy="838200"/>
          </a:xfrm>
          <a:prstGeom prst="wedgeEllipseCallout">
            <a:avLst>
              <a:gd name="adj1" fmla="val 8715"/>
              <a:gd name="adj2" fmla="val 104833"/>
            </a:avLst>
          </a:prstGeom>
          <a:solidFill>
            <a:srgbClr val="FFFF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Note absence of semi-colon</a:t>
            </a:r>
          </a:p>
        </p:txBody>
      </p:sp>
    </p:spTree>
    <p:extLst>
      <p:ext uri="{BB962C8B-B14F-4D97-AF65-F5344CB8AC3E}">
        <p14:creationId xmlns:p14="http://schemas.microsoft.com/office/powerpoint/2010/main" val="31039867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0500" y="2590800"/>
            <a:ext cx="891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L</a:t>
            </a:r>
            <a:r>
              <a:rPr lang="en-US" sz="4000" dirty="0" smtClean="0">
                <a:solidFill>
                  <a:srgbClr val="FF0000"/>
                </a:solidFill>
              </a:rPr>
              <a:t>ets discuss each part separately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endParaRPr lang="en-US" alt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495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733800"/>
            <a:ext cx="7924800" cy="22098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for</a:t>
            </a:r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i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initialization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test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update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{</a:t>
            </a:r>
            <a:endParaRPr lang="en-US" altLang="en-US" sz="2800" dirty="0" smtClean="0">
              <a:solidFill>
                <a:prstClr val="black"/>
              </a:solidFill>
              <a:latin typeface="Courier New" panose="02070309020205020404" pitchFamily="49" charset="0"/>
            </a:endParaRPr>
          </a:p>
          <a:p>
            <a:r>
              <a:rPr lang="en-US" altLang="en-US" sz="2800" i="1" dirty="0">
                <a:solidFill>
                  <a:prstClr val="black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statement(s);</a:t>
            </a:r>
          </a:p>
          <a:p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}</a:t>
            </a:r>
          </a:p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91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“for” </a:t>
            </a:r>
            <a:r>
              <a:rPr lang="en-US" sz="4000" dirty="0" smtClean="0">
                <a:solidFill>
                  <a:srgbClr val="FF0000"/>
                </a:solidFill>
              </a:rPr>
              <a:t>loop – </a:t>
            </a:r>
            <a:r>
              <a:rPr lang="en-US" sz="40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initialization</a:t>
            </a:r>
            <a:endParaRPr lang="en-US" sz="40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3790950" y="1941611"/>
            <a:ext cx="1295400" cy="99060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72100" y="1645832"/>
            <a:ext cx="3390900" cy="16415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prstClr val="black"/>
                </a:solidFill>
              </a:rPr>
              <a:t>Lets say we have a variable </a:t>
            </a:r>
            <a:r>
              <a:rPr lang="en-US" sz="2400" b="1" dirty="0" smtClean="0">
                <a:solidFill>
                  <a:prstClr val="black"/>
                </a:solidFill>
              </a:rPr>
              <a:t>counter</a:t>
            </a:r>
          </a:p>
          <a:p>
            <a:endParaRPr lang="en-US" dirty="0" smtClean="0">
              <a:solidFill>
                <a:prstClr val="black"/>
              </a:solidFill>
            </a:endParaRPr>
          </a:p>
          <a:p>
            <a:r>
              <a:rPr lang="en-US" sz="24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i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anose="02070309020205020404" pitchFamily="49" charset="0"/>
              </a:rPr>
              <a:t>nt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counter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</a:rPr>
              <a:t>= 1;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" y="3733800"/>
            <a:ext cx="7924800" cy="22098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for</a:t>
            </a:r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i="1" dirty="0" err="1" smtClean="0">
                <a:solidFill>
                  <a:srgbClr val="FF0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800" b="1" i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 counter = 1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test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update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{</a:t>
            </a:r>
            <a:endParaRPr lang="en-US" altLang="en-US" sz="2800" dirty="0" smtClean="0">
              <a:solidFill>
                <a:prstClr val="black"/>
              </a:solidFill>
              <a:latin typeface="Courier New" panose="02070309020205020404" pitchFamily="49" charset="0"/>
            </a:endParaRPr>
          </a:p>
          <a:p>
            <a:r>
              <a:rPr lang="en-US" altLang="en-US" sz="2800" i="1" dirty="0">
                <a:solidFill>
                  <a:prstClr val="black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statement(s);</a:t>
            </a:r>
          </a:p>
          <a:p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}</a:t>
            </a:r>
          </a:p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endParaRPr lang="en-US" alt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11" name="Rectangular Callout 10"/>
          <p:cNvSpPr/>
          <p:nvPr/>
        </p:nvSpPr>
        <p:spPr>
          <a:xfrm>
            <a:off x="228600" y="1611004"/>
            <a:ext cx="3276600" cy="1676400"/>
          </a:xfrm>
          <a:prstGeom prst="wedgeRectCallout">
            <a:avLst>
              <a:gd name="adj1" fmla="val 33732"/>
              <a:gd name="adj2" fmla="val 87737"/>
            </a:avLst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</a:rPr>
              <a:t>Initialization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</a:rPr>
              <a:t>Control 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</a:rPr>
              <a:t>Declaration &amp; definition of the </a:t>
            </a:r>
            <a:r>
              <a:rPr lang="en-US" sz="2000" b="1" dirty="0" smtClean="0">
                <a:solidFill>
                  <a:srgbClr val="C00000"/>
                </a:solidFill>
              </a:rPr>
              <a:t>control variable</a:t>
            </a:r>
            <a:endParaRPr lang="en-US" sz="2000" b="1" dirty="0">
              <a:solidFill>
                <a:srgbClr val="C00000"/>
              </a:solidFill>
            </a:endParaRPr>
          </a:p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68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6" grpId="0" animBg="1"/>
      <p:bldP spid="17" grpId="0" animBg="1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606472" y="3737212"/>
            <a:ext cx="7927928" cy="22098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for</a:t>
            </a:r>
            <a:r>
              <a:rPr lang="en-US" altLang="en-US" sz="22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 (</a:t>
            </a:r>
            <a:r>
              <a:rPr lang="en-US" altLang="en-US" sz="2200" b="1" dirty="0" err="1" smtClean="0">
                <a:solidFill>
                  <a:srgbClr val="0070C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2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 counter = 1</a:t>
            </a:r>
            <a:r>
              <a:rPr lang="en-US" altLang="en-US" sz="22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sz="2200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counter &lt;= </a:t>
            </a:r>
            <a:r>
              <a:rPr lang="en-US" sz="2200" b="1" i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3</a:t>
            </a:r>
            <a:r>
              <a:rPr lang="en-US" altLang="en-US" sz="22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</a:t>
            </a:r>
            <a:r>
              <a:rPr lang="en-US" altLang="en-US" sz="22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update</a:t>
            </a:r>
            <a:r>
              <a:rPr lang="en-US" altLang="en-US" sz="22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2800" i="1" dirty="0">
                <a:solidFill>
                  <a:prstClr val="black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statement(s);</a:t>
            </a:r>
          </a:p>
          <a:p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}</a:t>
            </a:r>
          </a:p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91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“for” </a:t>
            </a:r>
            <a:r>
              <a:rPr lang="en-US" sz="4000" dirty="0" smtClean="0">
                <a:solidFill>
                  <a:srgbClr val="FF0000"/>
                </a:solidFill>
              </a:rPr>
              <a:t>loop – </a:t>
            </a:r>
            <a:r>
              <a:rPr lang="en-US" sz="40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 condition</a:t>
            </a:r>
            <a:endParaRPr lang="en-US" sz="40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 rot="10800000">
            <a:off x="3790950" y="1941611"/>
            <a:ext cx="1295400" cy="99060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8600" y="1441464"/>
            <a:ext cx="3390900" cy="16415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prstClr val="black"/>
                </a:solidFill>
              </a:rPr>
              <a:t>Lets say we want to execute the loop body 3 times:</a:t>
            </a:r>
            <a:endParaRPr lang="en-US" sz="2400" b="1" dirty="0" smtClean="0">
              <a:solidFill>
                <a:prstClr val="black"/>
              </a:solidFill>
            </a:endParaRPr>
          </a:p>
          <a:p>
            <a:endParaRPr lang="en-US" dirty="0" smtClean="0">
              <a:solidFill>
                <a:prstClr val="black"/>
              </a:solidFill>
            </a:endParaRP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counter &lt;= 3;</a:t>
            </a:r>
            <a:endParaRPr lang="en-US" sz="2400" b="1" dirty="0">
              <a:solidFill>
                <a:prstClr val="black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endParaRPr lang="en-US" alt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06472" y="3737212"/>
            <a:ext cx="7924800" cy="22098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for</a:t>
            </a:r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 counter = 1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800" b="1" i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test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update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2800" i="1" dirty="0">
                <a:solidFill>
                  <a:prstClr val="black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statement(s);</a:t>
            </a:r>
          </a:p>
          <a:p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}</a:t>
            </a:r>
          </a:p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Rectangular Callout 10"/>
          <p:cNvSpPr/>
          <p:nvPr/>
        </p:nvSpPr>
        <p:spPr>
          <a:xfrm>
            <a:off x="5410200" y="1339334"/>
            <a:ext cx="3495533" cy="1676400"/>
          </a:xfrm>
          <a:prstGeom prst="wedgeRectCallout">
            <a:avLst>
              <a:gd name="adj1" fmla="val -37493"/>
              <a:gd name="adj2" fmla="val 102391"/>
            </a:avLst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C00000"/>
                </a:solidFill>
              </a:rPr>
              <a:t>Loop continuation condition</a:t>
            </a:r>
            <a:endParaRPr lang="en-US" dirty="0" smtClean="0">
              <a:solidFill>
                <a:prstClr val="white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C00000"/>
                </a:solidFill>
              </a:rPr>
              <a:t>Number of times the loop body should execute</a:t>
            </a:r>
          </a:p>
        </p:txBody>
      </p:sp>
    </p:spTree>
    <p:extLst>
      <p:ext uri="{BB962C8B-B14F-4D97-AF65-F5344CB8AC3E}">
        <p14:creationId xmlns:p14="http://schemas.microsoft.com/office/powerpoint/2010/main" val="19369395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  <p:bldP spid="17" grpId="1" animBg="1"/>
      <p:bldP spid="1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593962" y="3708317"/>
            <a:ext cx="7927928" cy="22098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215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for</a:t>
            </a:r>
            <a:r>
              <a:rPr lang="en-US" altLang="en-US" sz="215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 (</a:t>
            </a:r>
            <a:r>
              <a:rPr lang="en-US" altLang="en-US" sz="2150" b="1" dirty="0" err="1" smtClean="0">
                <a:solidFill>
                  <a:srgbClr val="0070C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15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 counter = 1</a:t>
            </a:r>
            <a:r>
              <a:rPr lang="en-US" altLang="en-US" sz="215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sz="2150" i="1" dirty="0">
                <a:solidFill>
                  <a:prstClr val="black"/>
                </a:solidFill>
                <a:latin typeface="Courier New" panose="02070309020205020404" pitchFamily="49" charset="0"/>
              </a:rPr>
              <a:t>counter &lt;= </a:t>
            </a:r>
            <a:r>
              <a:rPr lang="en-US" sz="215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3</a:t>
            </a:r>
            <a:r>
              <a:rPr lang="en-US" altLang="en-US" sz="215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</a:t>
            </a:r>
            <a:r>
              <a:rPr lang="en-US" altLang="en-US" sz="2150" b="1" i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++counter</a:t>
            </a:r>
            <a:r>
              <a:rPr lang="en-US" altLang="en-US" sz="215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)</a:t>
            </a:r>
            <a:r>
              <a:rPr lang="en-US" altLang="en-US" sz="22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2800" i="1" dirty="0">
                <a:solidFill>
                  <a:prstClr val="black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statement(s);</a:t>
            </a:r>
          </a:p>
          <a:p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}</a:t>
            </a:r>
          </a:p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3962" y="3708317"/>
            <a:ext cx="7927928" cy="22098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23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for</a:t>
            </a:r>
            <a:r>
              <a:rPr lang="en-US" altLang="en-US" sz="23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 (</a:t>
            </a:r>
            <a:r>
              <a:rPr lang="en-US" altLang="en-US" sz="2300" b="1" dirty="0" err="1" smtClean="0">
                <a:solidFill>
                  <a:srgbClr val="0070C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3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 counter = 1</a:t>
            </a:r>
            <a:r>
              <a:rPr lang="en-US" altLang="en-US" sz="23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sz="2300" i="1" dirty="0">
                <a:solidFill>
                  <a:prstClr val="black"/>
                </a:solidFill>
                <a:latin typeface="Courier New" panose="02070309020205020404" pitchFamily="49" charset="0"/>
              </a:rPr>
              <a:t>counter &lt;= </a:t>
            </a:r>
            <a:r>
              <a:rPr lang="en-US" sz="23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3</a:t>
            </a:r>
            <a:r>
              <a:rPr lang="en-US" altLang="en-US" sz="23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300" b="1" i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update</a:t>
            </a:r>
            <a:r>
              <a:rPr lang="en-US" altLang="en-US" sz="23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)</a:t>
            </a:r>
            <a:r>
              <a:rPr lang="en-US" altLang="en-US" sz="22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2800" i="1" dirty="0">
                <a:solidFill>
                  <a:prstClr val="black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statement(s);</a:t>
            </a:r>
          </a:p>
          <a:p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}</a:t>
            </a:r>
          </a:p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91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“for” </a:t>
            </a:r>
            <a:r>
              <a:rPr lang="en-US" sz="4000" dirty="0" smtClean="0">
                <a:solidFill>
                  <a:srgbClr val="FF0000"/>
                </a:solidFill>
              </a:rPr>
              <a:t>loop – </a:t>
            </a:r>
            <a:r>
              <a:rPr lang="en-US" sz="40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update</a:t>
            </a:r>
            <a:endParaRPr lang="en-US" sz="40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 rot="10800000">
            <a:off x="3790950" y="1941611"/>
            <a:ext cx="1295400" cy="99060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8600" y="1441464"/>
            <a:ext cx="3390900" cy="16415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++counter;</a:t>
            </a:r>
            <a:endParaRPr lang="en-US" sz="2400" b="1" dirty="0">
              <a:solidFill>
                <a:prstClr val="black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endParaRPr lang="en-US" alt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11" name="Rectangular Callout 10"/>
          <p:cNvSpPr/>
          <p:nvPr/>
        </p:nvSpPr>
        <p:spPr>
          <a:xfrm>
            <a:off x="5629133" y="1339334"/>
            <a:ext cx="3276600" cy="1676400"/>
          </a:xfrm>
          <a:prstGeom prst="wedgeRectCallout">
            <a:avLst>
              <a:gd name="adj1" fmla="val 10407"/>
              <a:gd name="adj2" fmla="val 103205"/>
            </a:avLst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C00000"/>
                </a:solidFill>
              </a:rPr>
              <a:t>Instructions </a:t>
            </a:r>
            <a:r>
              <a:rPr lang="en-US" sz="2000" b="1" dirty="0">
                <a:solidFill>
                  <a:srgbClr val="C00000"/>
                </a:solidFill>
              </a:rPr>
              <a:t>to execute at end of every </a:t>
            </a:r>
            <a:r>
              <a:rPr lang="en-US" sz="2000" b="1" dirty="0" smtClean="0">
                <a:solidFill>
                  <a:srgbClr val="C00000"/>
                </a:solidFill>
              </a:rPr>
              <a:t>iteration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C00000"/>
                </a:solidFill>
              </a:rPr>
              <a:t>Increment/decrement of the control variable</a:t>
            </a:r>
          </a:p>
        </p:txBody>
      </p:sp>
      <p:sp>
        <p:nvSpPr>
          <p:cNvPr id="14" name="AutoShape 8"/>
          <p:cNvSpPr>
            <a:spLocks noChangeArrowheads="1"/>
          </p:cNvSpPr>
          <p:nvPr/>
        </p:nvSpPr>
        <p:spPr bwMode="auto">
          <a:xfrm>
            <a:off x="1047750" y="3406929"/>
            <a:ext cx="6781800" cy="2819400"/>
          </a:xfrm>
          <a:prstGeom prst="wave">
            <a:avLst>
              <a:gd name="adj1" fmla="val 13005"/>
              <a:gd name="adj2" fmla="val 0"/>
            </a:avLst>
          </a:prstGeom>
          <a:solidFill>
            <a:srgbClr val="C00000"/>
          </a:solid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prstClr val="white"/>
                </a:solidFill>
                <a:latin typeface="Arial" pitchFamily="34" charset="0"/>
              </a:rPr>
              <a:t>   IMPORTANT!!</a:t>
            </a:r>
          </a:p>
          <a:p>
            <a:pPr>
              <a:spcBef>
                <a:spcPct val="0"/>
              </a:spcBef>
            </a:pPr>
            <a:r>
              <a:rPr lang="en-US" sz="3200" b="1" dirty="0">
                <a:solidFill>
                  <a:prstClr val="white"/>
                </a:solidFill>
                <a:latin typeface="Arial" pitchFamily="34" charset="0"/>
              </a:rPr>
              <a:t>The </a:t>
            </a:r>
            <a:r>
              <a:rPr lang="en-US" sz="3200" b="1" dirty="0" smtClean="0">
                <a:solidFill>
                  <a:prstClr val="white"/>
                </a:solidFill>
                <a:latin typeface="Arial" pitchFamily="34" charset="0"/>
              </a:rPr>
              <a:t>update </a:t>
            </a:r>
            <a:r>
              <a:rPr lang="en-US" sz="3200" b="1" dirty="0">
                <a:solidFill>
                  <a:prstClr val="white"/>
                </a:solidFill>
                <a:latin typeface="Arial" pitchFamily="34" charset="0"/>
              </a:rPr>
              <a:t>is performed AFTER</a:t>
            </a:r>
          </a:p>
          <a:p>
            <a:pPr>
              <a:spcBef>
                <a:spcPct val="0"/>
              </a:spcBef>
            </a:pPr>
            <a:r>
              <a:rPr lang="en-US" sz="3200" b="1" dirty="0">
                <a:solidFill>
                  <a:prstClr val="white"/>
                </a:solidFill>
                <a:latin typeface="Arial" pitchFamily="34" charset="0"/>
              </a:rPr>
              <a:t>       the body of the loop</a:t>
            </a:r>
            <a:endParaRPr lang="en-AU" sz="3200" b="1" dirty="0">
              <a:solidFill>
                <a:prstClr val="white"/>
              </a:solidFill>
              <a:latin typeface="Arial" pitchFamily="34" charset="0"/>
            </a:endParaRPr>
          </a:p>
          <a:p>
            <a:endParaRPr lang="en-AU" sz="32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4044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 animBg="1"/>
      <p:bldP spid="15" grpId="0" animBg="1"/>
      <p:bldP spid="16" grpId="0" animBg="1"/>
      <p:bldP spid="11" grpId="0" animBg="1"/>
      <p:bldP spid="1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</a:t>
            </a:r>
            <a:r>
              <a:rPr lang="en-US" sz="4000" dirty="0">
                <a:solidFill>
                  <a:srgbClr val="FF0000"/>
                </a:solidFill>
              </a:rPr>
              <a:t>- Example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8599" y="1482566"/>
            <a:ext cx="7006989" cy="3970318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 smtClean="0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counter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counter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3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++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counter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counter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67600" y="1341864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Output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77257" y="1929558"/>
            <a:ext cx="1140819" cy="1200329"/>
          </a:xfrm>
          <a:prstGeom prst="rect">
            <a:avLst/>
          </a:prstGeom>
          <a:solidFill>
            <a:srgbClr val="FFFF00">
              <a:alpha val="37000"/>
            </a:srgbClr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  <a:p>
            <a:endParaRPr lang="en-US" dirty="0" smtClean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2" name="Down Arrow 1"/>
          <p:cNvSpPr/>
          <p:nvPr/>
        </p:nvSpPr>
        <p:spPr>
          <a:xfrm>
            <a:off x="2057400" y="2150323"/>
            <a:ext cx="685800" cy="76646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4225688" y="2150322"/>
            <a:ext cx="685800" cy="76646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Left Arrow 8"/>
          <p:cNvSpPr/>
          <p:nvPr/>
        </p:nvSpPr>
        <p:spPr>
          <a:xfrm>
            <a:off x="4724400" y="3192859"/>
            <a:ext cx="1066800" cy="707352"/>
          </a:xfrm>
          <a:prstGeom prst="leftArrow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prstClr val="white"/>
                </a:solidFill>
              </a:rPr>
              <a:t>3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5979994" y="2116203"/>
            <a:ext cx="685800" cy="76646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7257" y="2066758"/>
            <a:ext cx="5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1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77257" y="2373868"/>
            <a:ext cx="5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2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80007" y="2678668"/>
            <a:ext cx="5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3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1215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2" grpId="0" animBg="1"/>
      <p:bldP spid="13" grpId="0" animBg="1"/>
      <p:bldP spid="9" grpId="0" animBg="1"/>
      <p:bldP spid="15" grpId="0" animBg="1"/>
      <p:bldP spid="10" grpId="0"/>
      <p:bldP spid="17" grpId="0"/>
      <p:bldP spid="1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</a:t>
            </a:r>
            <a:r>
              <a:rPr lang="en-US" sz="4000" dirty="0">
                <a:solidFill>
                  <a:srgbClr val="FF0000"/>
                </a:solidFill>
              </a:rPr>
              <a:t>- Example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719" y="1764030"/>
            <a:ext cx="8686800" cy="1231106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1F497D">
                    <a:lumMod val="50000"/>
                  </a:srgbClr>
                </a:solidFill>
                <a:latin typeface="Courier New" panose="02070309020205020404" pitchFamily="49" charset="0"/>
              </a:rPr>
              <a:t>A</a:t>
            </a:r>
            <a:r>
              <a:rPr lang="en-US" altLang="en-US" sz="2800" dirty="0" smtClean="0">
                <a:solidFill>
                  <a:srgbClr val="1F497D">
                    <a:lumMod val="50000"/>
                  </a:srgbClr>
                </a:solidFill>
                <a:latin typeface="Courier New" panose="02070309020205020404" pitchFamily="49" charset="0"/>
              </a:rPr>
              <a:t> program that </a:t>
            </a:r>
            <a:r>
              <a:rPr lang="en-US" altLang="en-US" sz="2800" dirty="0">
                <a:solidFill>
                  <a:srgbClr val="1F497D">
                    <a:lumMod val="50000"/>
                  </a:srgbClr>
                </a:solidFill>
                <a:latin typeface="Courier New" panose="02070309020205020404" pitchFamily="49" charset="0"/>
              </a:rPr>
              <a:t>displays the numbers 1 through 10 and </a:t>
            </a:r>
            <a:r>
              <a:rPr lang="en-US" altLang="en-US" sz="2800" dirty="0" smtClean="0">
                <a:solidFill>
                  <a:srgbClr val="1F497D">
                    <a:lumMod val="50000"/>
                  </a:srgbClr>
                </a:solidFill>
                <a:latin typeface="Courier New" panose="02070309020205020404" pitchFamily="49" charset="0"/>
              </a:rPr>
              <a:t>their </a:t>
            </a:r>
            <a:r>
              <a:rPr lang="en-US" altLang="en-US" sz="2800" dirty="0">
                <a:solidFill>
                  <a:srgbClr val="1F497D">
                    <a:lumMod val="50000"/>
                  </a:srgbClr>
                </a:solidFill>
                <a:latin typeface="Courier New" panose="02070309020205020404" pitchFamily="49" charset="0"/>
              </a:rPr>
              <a:t>squares.</a:t>
            </a:r>
          </a:p>
          <a:p>
            <a:endParaRPr lang="en-US" dirty="0">
              <a:solidFill>
                <a:srgbClr val="008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2285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281969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</a:t>
            </a:r>
            <a:r>
              <a:rPr lang="en-US" sz="4000" dirty="0">
                <a:solidFill>
                  <a:srgbClr val="FF0000"/>
                </a:solidFill>
              </a:rPr>
              <a:t>- Example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0999" y="1556296"/>
            <a:ext cx="8382001" cy="4308872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#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pt-B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cout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808080"/>
                </a:solidFill>
                <a:latin typeface="Courier New" panose="02070309020205020404" pitchFamily="49" charset="0"/>
              </a:rPr>
              <a:t>"Number\t\tNumber Squared\n"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pt-B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cout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808080"/>
                </a:solidFill>
                <a:latin typeface="Courier New" panose="02070309020205020404" pitchFamily="49" charset="0"/>
              </a:rPr>
              <a:t>"-------------------------\n"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pt-BR" b="1" dirty="0" smtClean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lvl="1"/>
            <a:r>
              <a:rPr lang="pt-BR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pt-B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pt-BR" dirty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num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num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++)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endParaRPr lang="pt-BR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pt-B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cout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num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808080"/>
                </a:solidFill>
                <a:latin typeface="Courier New" panose="02070309020205020404" pitchFamily="49" charset="0"/>
              </a:rPr>
              <a:t>"\t\t"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num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num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endl</a:t>
            </a:r>
            <a:r>
              <a:rPr lang="pt-BR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sz="20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pPr lvl="1"/>
            <a:endParaRPr lang="en-US" sz="2000" dirty="0">
              <a:solidFill>
                <a:prstClr val="black"/>
              </a:solidFill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en-US" dirty="0">
              <a:solidFill>
                <a:prstClr val="black"/>
              </a:solidFill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5805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15616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</a:t>
            </a:r>
            <a:r>
              <a:rPr lang="en-US" sz="4000" dirty="0">
                <a:solidFill>
                  <a:srgbClr val="FF0000"/>
                </a:solidFill>
              </a:rPr>
              <a:t>- </a:t>
            </a: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1445612"/>
            <a:ext cx="6243852" cy="4555093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#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cout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808080"/>
                </a:solidFill>
                <a:latin typeface="Courier New" panose="02070309020205020404" pitchFamily="49" charset="0"/>
              </a:rPr>
              <a:t>"Number\t\tNumber Squared\n"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cout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808080"/>
                </a:solidFill>
                <a:latin typeface="Courier New" panose="02070309020205020404" pitchFamily="49" charset="0"/>
              </a:rPr>
              <a:t>"-------------------------\n"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endParaRPr lang="pt-BR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lvl="1"/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pt-BR" dirty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num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num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pt-BR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num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++)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endParaRPr lang="pt-B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	cout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num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808080"/>
                </a:solidFill>
                <a:latin typeface="Courier New" panose="02070309020205020404" pitchFamily="49" charset="0"/>
              </a:rPr>
              <a:t>"\t\t"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num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num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pt-BR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pt-BR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pPr lvl="1"/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en-US" dirty="0">
              <a:solidFill>
                <a:prstClr val="black"/>
              </a:solidFill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2" name="Notched Right Arrow 11"/>
          <p:cNvSpPr/>
          <p:nvPr/>
        </p:nvSpPr>
        <p:spPr>
          <a:xfrm rot="10800000">
            <a:off x="5637308" y="2866740"/>
            <a:ext cx="606544" cy="300795"/>
          </a:xfrm>
          <a:prstGeom prst="notchedRightArrow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Notched Right Arrow 12"/>
          <p:cNvSpPr/>
          <p:nvPr/>
        </p:nvSpPr>
        <p:spPr>
          <a:xfrm rot="10800000">
            <a:off x="5782652" y="3198057"/>
            <a:ext cx="490413" cy="230520"/>
          </a:xfrm>
          <a:prstGeom prst="notchedRightArrow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Notched Right Arrow 13"/>
          <p:cNvSpPr/>
          <p:nvPr/>
        </p:nvSpPr>
        <p:spPr>
          <a:xfrm rot="10800000">
            <a:off x="5257802" y="3767132"/>
            <a:ext cx="609600" cy="172801"/>
          </a:xfrm>
          <a:prstGeom prst="notchedRightArrow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24602" y="2097092"/>
            <a:ext cx="2819398" cy="1754326"/>
          </a:xfrm>
          <a:prstGeom prst="rect">
            <a:avLst/>
          </a:prstGeom>
          <a:solidFill>
            <a:srgbClr val="FFFF00">
              <a:alpha val="37000"/>
            </a:srgbClr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  <a:p>
            <a:endParaRPr lang="en-US" dirty="0" smtClean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 smtClean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40652" y="1348687"/>
            <a:ext cx="209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Output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90244" y="2138877"/>
            <a:ext cx="2853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</a:rPr>
              <a:t>Number	       Number Squared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90244" y="2259969"/>
            <a:ext cx="2853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</a:rPr>
              <a:t>-------------------------------------------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90244" y="2394496"/>
            <a:ext cx="2853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</a:rPr>
              <a:t>1		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7423" y="2644256"/>
            <a:ext cx="2853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</a:rPr>
              <a:t>2		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7423" y="2906526"/>
            <a:ext cx="2853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</a:rPr>
              <a:t>3		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4602" y="3167536"/>
            <a:ext cx="2853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</a:rPr>
              <a:t>4		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4602" y="3428578"/>
            <a:ext cx="2853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</a:rPr>
              <a:t>5		25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1828800" y="2893860"/>
            <a:ext cx="685800" cy="76646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Down Arrow 32"/>
          <p:cNvSpPr/>
          <p:nvPr/>
        </p:nvSpPr>
        <p:spPr>
          <a:xfrm>
            <a:off x="3276719" y="2914614"/>
            <a:ext cx="685800" cy="76646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Left Arrow 33"/>
          <p:cNvSpPr/>
          <p:nvPr/>
        </p:nvSpPr>
        <p:spPr>
          <a:xfrm>
            <a:off x="6034230" y="3954671"/>
            <a:ext cx="1066800" cy="707352"/>
          </a:xfrm>
          <a:prstGeom prst="leftArrow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prstClr val="white"/>
                </a:solidFill>
              </a:rPr>
              <a:t>3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35" name="Down Arrow 34"/>
          <p:cNvSpPr/>
          <p:nvPr/>
        </p:nvSpPr>
        <p:spPr>
          <a:xfrm>
            <a:off x="4506370" y="2953128"/>
            <a:ext cx="685800" cy="76646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645035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24" grpId="0" animBg="1"/>
      <p:bldP spid="25" grpId="0"/>
      <p:bldP spid="2" grpId="0"/>
      <p:bldP spid="26" grpId="0"/>
      <p:bldP spid="27" grpId="0"/>
      <p:bldP spid="28" grpId="0"/>
      <p:bldP spid="29" grpId="0"/>
      <p:bldP spid="30" grpId="0"/>
      <p:bldP spid="31" grpId="0"/>
      <p:bldP spid="32" grpId="0" animBg="1"/>
      <p:bldP spid="33" grpId="0" animBg="1"/>
      <p:bldP spid="34" grpId="0" animBg="1"/>
      <p:bldP spid="3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- </a:t>
            </a:r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</a:t>
            </a: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0" y="1302604"/>
            <a:ext cx="8915400" cy="4793396"/>
          </a:xfrm>
          <a:prstGeom prst="rect">
            <a:avLst/>
          </a:prstGeom>
        </p:spPr>
        <p:txBody>
          <a:bodyPr/>
          <a:lstStyle/>
          <a:p>
            <a:pPr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en-US" sz="3200" dirty="0">
                <a:solidFill>
                  <a:prstClr val="black"/>
                </a:solidFill>
              </a:rPr>
              <a:t>Vary the control variable from 100 down to 1 in decrements of 1</a:t>
            </a:r>
            <a:r>
              <a:rPr lang="en-US" sz="3200" dirty="0" smtClean="0">
                <a:solidFill>
                  <a:prstClr val="black"/>
                </a:solidFill>
              </a:rPr>
              <a:t>.</a:t>
            </a:r>
          </a:p>
          <a:p>
            <a:pPr lvl="1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nn-NO" sz="3200" dirty="0">
                <a:solidFill>
                  <a:srgbClr val="0269AF"/>
                </a:solidFill>
              </a:rPr>
              <a:t>for </a:t>
            </a:r>
            <a:r>
              <a:rPr lang="nn-NO" sz="3200" dirty="0">
                <a:solidFill>
                  <a:srgbClr val="000000"/>
                </a:solidFill>
              </a:rPr>
              <a:t>( </a:t>
            </a:r>
            <a:r>
              <a:rPr lang="nn-NO" sz="3200" dirty="0">
                <a:solidFill>
                  <a:srgbClr val="0269AF"/>
                </a:solidFill>
              </a:rPr>
              <a:t>int </a:t>
            </a:r>
            <a:r>
              <a:rPr lang="nn-NO" sz="3200" dirty="0">
                <a:solidFill>
                  <a:srgbClr val="000000"/>
                </a:solidFill>
              </a:rPr>
              <a:t>i = </a:t>
            </a:r>
            <a:r>
              <a:rPr lang="nn-NO" sz="3200" dirty="0">
                <a:solidFill>
                  <a:srgbClr val="80ADD4"/>
                </a:solidFill>
              </a:rPr>
              <a:t>100</a:t>
            </a:r>
            <a:r>
              <a:rPr lang="nn-NO" sz="3200" dirty="0">
                <a:solidFill>
                  <a:srgbClr val="000000"/>
                </a:solidFill>
              </a:rPr>
              <a:t>; i &gt;= </a:t>
            </a:r>
            <a:r>
              <a:rPr lang="nn-NO" sz="3200" dirty="0">
                <a:solidFill>
                  <a:srgbClr val="80ADD4"/>
                </a:solidFill>
              </a:rPr>
              <a:t>1</a:t>
            </a:r>
            <a:r>
              <a:rPr lang="nn-NO" sz="3200" dirty="0">
                <a:solidFill>
                  <a:srgbClr val="000000"/>
                </a:solidFill>
              </a:rPr>
              <a:t>; --i </a:t>
            </a:r>
            <a:r>
              <a:rPr lang="nn-NO" sz="3200" dirty="0" smtClean="0">
                <a:solidFill>
                  <a:srgbClr val="000000"/>
                </a:solidFill>
              </a:rPr>
              <a:t>)</a:t>
            </a:r>
          </a:p>
          <a:p>
            <a:pPr lvl="1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defRPr/>
            </a:pPr>
            <a:endParaRPr lang="en-US" sz="2800" dirty="0" smtClean="0">
              <a:solidFill>
                <a:prstClr val="black"/>
              </a:solidFill>
            </a:endParaRPr>
          </a:p>
          <a:p>
            <a:pPr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en-US" sz="3200" dirty="0" smtClean="0">
                <a:solidFill>
                  <a:prstClr val="black"/>
                </a:solidFill>
              </a:rPr>
              <a:t>Vary </a:t>
            </a:r>
            <a:r>
              <a:rPr lang="en-US" sz="3200" dirty="0">
                <a:solidFill>
                  <a:prstClr val="black"/>
                </a:solidFill>
              </a:rPr>
              <a:t>the control variable from 7 to 77 in steps of 7</a:t>
            </a:r>
            <a:r>
              <a:rPr lang="en-US" sz="3200" dirty="0" smtClean="0">
                <a:solidFill>
                  <a:prstClr val="black"/>
                </a:solidFill>
              </a:rPr>
              <a:t>.</a:t>
            </a:r>
          </a:p>
          <a:p>
            <a:pPr lvl="1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nn-NO" sz="3200" dirty="0">
                <a:solidFill>
                  <a:srgbClr val="0269AF"/>
                </a:solidFill>
              </a:rPr>
              <a:t>for </a:t>
            </a:r>
            <a:r>
              <a:rPr lang="nn-NO" sz="3200" dirty="0">
                <a:solidFill>
                  <a:srgbClr val="000000"/>
                </a:solidFill>
              </a:rPr>
              <a:t>( </a:t>
            </a:r>
            <a:r>
              <a:rPr lang="nn-NO" sz="3200" dirty="0">
                <a:solidFill>
                  <a:srgbClr val="0269AF"/>
                </a:solidFill>
              </a:rPr>
              <a:t>int </a:t>
            </a:r>
            <a:r>
              <a:rPr lang="nn-NO" sz="3200" dirty="0">
                <a:solidFill>
                  <a:srgbClr val="000000"/>
                </a:solidFill>
              </a:rPr>
              <a:t>i = </a:t>
            </a:r>
            <a:r>
              <a:rPr lang="nn-NO" sz="3200" dirty="0">
                <a:solidFill>
                  <a:srgbClr val="80ADD4"/>
                </a:solidFill>
              </a:rPr>
              <a:t>7</a:t>
            </a:r>
            <a:r>
              <a:rPr lang="nn-NO" sz="3200" dirty="0">
                <a:solidFill>
                  <a:srgbClr val="000000"/>
                </a:solidFill>
              </a:rPr>
              <a:t>; i &lt;= </a:t>
            </a:r>
            <a:r>
              <a:rPr lang="nn-NO" sz="3200" dirty="0">
                <a:solidFill>
                  <a:srgbClr val="80ADD4"/>
                </a:solidFill>
              </a:rPr>
              <a:t>77</a:t>
            </a:r>
            <a:r>
              <a:rPr lang="nn-NO" sz="3200" dirty="0">
                <a:solidFill>
                  <a:srgbClr val="000000"/>
                </a:solidFill>
              </a:rPr>
              <a:t>; i += </a:t>
            </a:r>
            <a:r>
              <a:rPr lang="nn-NO" sz="3200" dirty="0">
                <a:solidFill>
                  <a:srgbClr val="80ADD4"/>
                </a:solidFill>
              </a:rPr>
              <a:t>7 </a:t>
            </a:r>
            <a:r>
              <a:rPr lang="nn-NO" sz="3200" dirty="0" smtClean="0">
                <a:solidFill>
                  <a:srgbClr val="000000"/>
                </a:solidFill>
              </a:rPr>
              <a:t>)</a:t>
            </a:r>
          </a:p>
          <a:p>
            <a:pPr lvl="1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defRPr/>
            </a:pPr>
            <a:endParaRPr lang="nn-NO" sz="3200" dirty="0" smtClean="0">
              <a:solidFill>
                <a:srgbClr val="000000"/>
              </a:solidFill>
            </a:endParaRPr>
          </a:p>
          <a:p>
            <a:pPr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en-US" sz="3200" dirty="0">
                <a:solidFill>
                  <a:prstClr val="black"/>
                </a:solidFill>
              </a:rPr>
              <a:t>Vary the control variable from 20 down to 2 in steps of -2</a:t>
            </a:r>
            <a:r>
              <a:rPr lang="en-US" sz="3200" dirty="0" smtClean="0">
                <a:solidFill>
                  <a:prstClr val="black"/>
                </a:solidFill>
              </a:rPr>
              <a:t>.</a:t>
            </a:r>
          </a:p>
          <a:p>
            <a:pPr lvl="1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nn-NO" sz="3200" dirty="0">
                <a:solidFill>
                  <a:srgbClr val="0269AF"/>
                </a:solidFill>
              </a:rPr>
              <a:t>for </a:t>
            </a:r>
            <a:r>
              <a:rPr lang="nn-NO" sz="3200" dirty="0">
                <a:solidFill>
                  <a:srgbClr val="000000"/>
                </a:solidFill>
              </a:rPr>
              <a:t>( </a:t>
            </a:r>
            <a:r>
              <a:rPr lang="nn-NO" sz="3200" dirty="0">
                <a:solidFill>
                  <a:srgbClr val="0269AF"/>
                </a:solidFill>
              </a:rPr>
              <a:t>int </a:t>
            </a:r>
            <a:r>
              <a:rPr lang="nn-NO" sz="3200" dirty="0">
                <a:solidFill>
                  <a:srgbClr val="000000"/>
                </a:solidFill>
              </a:rPr>
              <a:t>i = </a:t>
            </a:r>
            <a:r>
              <a:rPr lang="nn-NO" sz="3200" dirty="0">
                <a:solidFill>
                  <a:srgbClr val="80ADD4"/>
                </a:solidFill>
              </a:rPr>
              <a:t>20</a:t>
            </a:r>
            <a:r>
              <a:rPr lang="nn-NO" sz="3200" dirty="0">
                <a:solidFill>
                  <a:srgbClr val="000000"/>
                </a:solidFill>
              </a:rPr>
              <a:t>; i &gt;= </a:t>
            </a:r>
            <a:r>
              <a:rPr lang="nn-NO" sz="3200" dirty="0">
                <a:solidFill>
                  <a:srgbClr val="80ADD4"/>
                </a:solidFill>
              </a:rPr>
              <a:t>2</a:t>
            </a:r>
            <a:r>
              <a:rPr lang="nn-NO" sz="3200" dirty="0">
                <a:solidFill>
                  <a:srgbClr val="000000"/>
                </a:solidFill>
              </a:rPr>
              <a:t>; i -= </a:t>
            </a:r>
            <a:r>
              <a:rPr lang="nn-NO" sz="3200" dirty="0">
                <a:solidFill>
                  <a:srgbClr val="80ADD4"/>
                </a:solidFill>
              </a:rPr>
              <a:t>2 </a:t>
            </a:r>
            <a:r>
              <a:rPr lang="nn-NO" sz="3200" dirty="0">
                <a:solidFill>
                  <a:srgbClr val="000000"/>
                </a:solidFill>
              </a:rPr>
              <a:t>)</a:t>
            </a:r>
            <a:endParaRPr lang="en-US" sz="3200" kern="0" dirty="0" smtClean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1585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- Variants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752600"/>
            <a:ext cx="8991600" cy="4343400"/>
          </a:xfrm>
          <a:prstGeom prst="rect">
            <a:avLst/>
          </a:prstGeom>
        </p:spPr>
        <p:txBody>
          <a:bodyPr/>
          <a:lstStyle/>
          <a:p>
            <a:r>
              <a:rPr lang="pt-BR" sz="32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pt-BR" sz="3200" dirty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num 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3200" dirty="0" smtClean="0">
                <a:solidFill>
                  <a:srgbClr val="666666"/>
                </a:solidFill>
                <a:latin typeface="LucidaSansTypewriter--Identity-H"/>
              </a:rPr>
              <a:t> </a:t>
            </a:r>
            <a:r>
              <a:rPr lang="en-US" sz="3200" dirty="0">
                <a:solidFill>
                  <a:srgbClr val="666666"/>
                </a:solidFill>
                <a:latin typeface="LucidaSansTypewriter--Identity-H"/>
              </a:rPr>
              <a:t>// </a:t>
            </a:r>
            <a:r>
              <a:rPr lang="en-US" sz="3200" dirty="0" smtClean="0">
                <a:solidFill>
                  <a:srgbClr val="666666"/>
                </a:solidFill>
                <a:latin typeface="LucidaSansTypewriter--Identity-H"/>
              </a:rPr>
              <a:t>initialization</a:t>
            </a:r>
            <a:endParaRPr lang="pt-BR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	</a:t>
            </a:r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num 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dirty="0">
                <a:solidFill>
                  <a:srgbClr val="666666"/>
                </a:solidFill>
                <a:latin typeface="LucidaSansTypewriter--Identity-H"/>
              </a:rPr>
              <a:t>// loop continuation condition</a:t>
            </a:r>
            <a:endParaRPr lang="pt-BR" sz="32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	 </a:t>
            </a:r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++)</a:t>
            </a:r>
          </a:p>
          <a:p>
            <a:r>
              <a:rPr lang="en-US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	</a:t>
            </a:r>
            <a:r>
              <a:rPr lang="en-US" sz="3200" dirty="0">
                <a:solidFill>
                  <a:srgbClr val="666666"/>
                </a:solidFill>
                <a:latin typeface="LucidaSansTypewriter--Identity-H"/>
              </a:rPr>
              <a:t> // loop </a:t>
            </a:r>
            <a:r>
              <a:rPr lang="en-US" sz="3200" dirty="0" smtClean="0">
                <a:solidFill>
                  <a:srgbClr val="666666"/>
                </a:solidFill>
                <a:latin typeface="LucidaSansTypewriter--Identity-H"/>
              </a:rPr>
              <a:t>body</a:t>
            </a:r>
            <a:endParaRPr lang="pt-BR" sz="32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6032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370455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- Variants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157645"/>
            <a:ext cx="8991600" cy="5392578"/>
          </a:xfrm>
          <a:prstGeom prst="rect">
            <a:avLst/>
          </a:prstGeom>
        </p:spPr>
        <p:txBody>
          <a:bodyPr/>
          <a:lstStyle/>
          <a:p>
            <a:r>
              <a:rPr lang="pt-BR" sz="3200" dirty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num;</a:t>
            </a:r>
            <a:endParaRPr lang="pt-BR" sz="3200" b="1" dirty="0" smtClean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r>
              <a:rPr lang="pt-BR" sz="32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 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3200" dirty="0" smtClean="0">
                <a:solidFill>
                  <a:srgbClr val="666666"/>
                </a:solidFill>
                <a:latin typeface="LucidaSansTypewriter--Identity-H"/>
              </a:rPr>
              <a:t> </a:t>
            </a:r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 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num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++)</a:t>
            </a:r>
          </a:p>
          <a:p>
            <a:r>
              <a:rPr lang="en-US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	</a:t>
            </a:r>
            <a:r>
              <a:rPr lang="en-US" sz="3200" dirty="0">
                <a:solidFill>
                  <a:srgbClr val="666666"/>
                </a:solidFill>
                <a:latin typeface="LucidaSansTypewriter--Identity-H"/>
              </a:rPr>
              <a:t> // loop </a:t>
            </a:r>
            <a:r>
              <a:rPr lang="en-US" sz="3200" dirty="0" smtClean="0">
                <a:solidFill>
                  <a:srgbClr val="666666"/>
                </a:solidFill>
                <a:latin typeface="LucidaSansTypewriter--Identity-H"/>
              </a:rPr>
              <a:t>body</a:t>
            </a:r>
            <a:endParaRPr lang="pt-BR" sz="32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 =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pt-BR" sz="3200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r>
              <a:rPr lang="pt-BR" sz="32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(;</a:t>
            </a:r>
            <a:r>
              <a:rPr lang="en-US" sz="3200" dirty="0" smtClean="0">
                <a:solidFill>
                  <a:srgbClr val="666666"/>
                </a:solidFill>
                <a:latin typeface="LucidaSansTypewriter--Identity-H"/>
              </a:rPr>
              <a:t> 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num 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num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++)</a:t>
            </a: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	</a:t>
            </a:r>
            <a:r>
              <a:rPr lang="en-US" sz="3200" dirty="0">
                <a:solidFill>
                  <a:srgbClr val="666666"/>
                </a:solidFill>
                <a:latin typeface="LucidaSansTypewriter--Identity-H"/>
              </a:rPr>
              <a:t> // loop body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0" y="3810000"/>
            <a:ext cx="9144000" cy="32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0755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370455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- Variants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600199"/>
            <a:ext cx="8153400" cy="3429001"/>
          </a:xfrm>
          <a:prstGeom prst="rect">
            <a:avLst/>
          </a:prstGeom>
        </p:spPr>
        <p:txBody>
          <a:bodyPr/>
          <a:lstStyle/>
          <a:p>
            <a:r>
              <a:rPr lang="pt-BR" sz="3200" dirty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num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 =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pt-BR" sz="3200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r>
              <a:rPr lang="pt-BR" sz="32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(;</a:t>
            </a:r>
            <a:r>
              <a:rPr lang="en-US" sz="3200" dirty="0">
                <a:solidFill>
                  <a:srgbClr val="666666"/>
                </a:solidFill>
                <a:latin typeface="LucidaSansTypewriter--Identity-H"/>
              </a:rPr>
              <a:t> 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num 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;)</a:t>
            </a:r>
            <a:endParaRPr lang="pt-BR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	</a:t>
            </a:r>
            <a:r>
              <a:rPr lang="en-US" sz="3200" dirty="0">
                <a:solidFill>
                  <a:srgbClr val="666666"/>
                </a:solidFill>
                <a:latin typeface="LucidaSansTypewriter--Identity-H"/>
              </a:rPr>
              <a:t> // loop </a:t>
            </a:r>
            <a:r>
              <a:rPr lang="en-US" sz="3200" dirty="0" smtClean="0">
                <a:solidFill>
                  <a:srgbClr val="666666"/>
                </a:solidFill>
                <a:latin typeface="LucidaSansTypewriter--Identity-H"/>
              </a:rPr>
              <a:t>body</a:t>
            </a: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num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++;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566779"/>
            <a:ext cx="2621280" cy="1310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00600" y="2966584"/>
            <a:ext cx="4321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prstClr val="black"/>
                </a:solidFill>
              </a:rPr>
              <a:t>The update is performed </a:t>
            </a:r>
            <a:r>
              <a:rPr lang="en-US" sz="2800" b="1" dirty="0" smtClean="0">
                <a:solidFill>
                  <a:prstClr val="black"/>
                </a:solidFill>
              </a:rPr>
              <a:t>AFTER</a:t>
            </a:r>
          </a:p>
          <a:p>
            <a:pPr algn="ctr">
              <a:spcBef>
                <a:spcPct val="0"/>
              </a:spcBef>
            </a:pPr>
            <a:r>
              <a:rPr lang="en-US" sz="2800" b="1" dirty="0" smtClean="0">
                <a:solidFill>
                  <a:prstClr val="black"/>
                </a:solidFill>
              </a:rPr>
              <a:t>the </a:t>
            </a:r>
            <a:r>
              <a:rPr lang="en-US" sz="2800" b="1" dirty="0">
                <a:solidFill>
                  <a:prstClr val="black"/>
                </a:solidFill>
              </a:rPr>
              <a:t>body of the loop</a:t>
            </a:r>
            <a:endParaRPr lang="en-AU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6594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2394898"/>
            <a:ext cx="2095500" cy="2095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370455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- Variants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600199"/>
            <a:ext cx="8153400" cy="3429001"/>
          </a:xfrm>
          <a:prstGeom prst="rect">
            <a:avLst/>
          </a:prstGeom>
        </p:spPr>
        <p:txBody>
          <a:bodyPr/>
          <a:lstStyle/>
          <a:p>
            <a:r>
              <a:rPr lang="pt-BR" sz="3200" dirty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num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 =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pt-BR" sz="3200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r>
              <a:rPr lang="pt-BR" sz="32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(;;)</a:t>
            </a:r>
            <a:endParaRPr lang="pt-BR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	</a:t>
            </a:r>
            <a:r>
              <a:rPr lang="en-US" sz="3200" dirty="0">
                <a:solidFill>
                  <a:srgbClr val="666666"/>
                </a:solidFill>
                <a:latin typeface="LucidaSansTypewriter--Identity-H"/>
              </a:rPr>
              <a:t> // loop </a:t>
            </a:r>
            <a:r>
              <a:rPr lang="en-US" sz="3200" dirty="0" smtClean="0">
                <a:solidFill>
                  <a:srgbClr val="666666"/>
                </a:solidFill>
                <a:latin typeface="LucidaSansTypewriter--Identity-H"/>
              </a:rPr>
              <a:t>body</a:t>
            </a: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num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++;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3505200" y="1587303"/>
            <a:ext cx="2362200" cy="1169560"/>
          </a:xfrm>
          <a:prstGeom prst="wedgeRoundRectCallout">
            <a:avLst>
              <a:gd name="adj1" fmla="val -107247"/>
              <a:gd name="adj2" fmla="val 14522"/>
              <a:gd name="adj3" fmla="val 16667"/>
            </a:avLst>
          </a:prstGeom>
          <a:solidFill>
            <a:srgbClr val="FFC0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this Correct or Incorrect?</a:t>
            </a:r>
            <a:endParaRPr lang="en-US" sz="24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10200" y="4081839"/>
            <a:ext cx="24384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85900" y="4876799"/>
            <a:ext cx="6172200" cy="1192189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prstClr val="black"/>
                </a:solidFill>
              </a:rPr>
              <a:t>This is syntax wise correct but without any condition it becomes an </a:t>
            </a:r>
            <a:r>
              <a:rPr lang="en-US" sz="2400" b="1" dirty="0" smtClean="0">
                <a:solidFill>
                  <a:prstClr val="black"/>
                </a:solidFill>
              </a:rPr>
              <a:t>INFINITE</a:t>
            </a:r>
            <a:r>
              <a:rPr lang="en-US" sz="2400" dirty="0" smtClean="0">
                <a:solidFill>
                  <a:prstClr val="black"/>
                </a:solidFill>
              </a:rPr>
              <a:t> loop</a:t>
            </a:r>
            <a:endParaRPr lang="en-US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2514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600199"/>
            <a:ext cx="8153400" cy="3429001"/>
          </a:xfrm>
          <a:prstGeom prst="rect">
            <a:avLst/>
          </a:prstGeom>
        </p:spPr>
        <p:txBody>
          <a:bodyPr/>
          <a:lstStyle/>
          <a:p>
            <a:r>
              <a:rPr lang="pt-BR" sz="28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pt-BR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pt-BR" sz="2800" dirty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pt-BR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 </a:t>
            </a:r>
            <a:r>
              <a:rPr lang="pt-BR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pt-BR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2800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pt-BR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800" dirty="0">
                <a:solidFill>
                  <a:srgbClr val="666666"/>
                </a:solidFill>
                <a:latin typeface="LucidaSansTypewriter--Identity-H"/>
              </a:rPr>
              <a:t> </a:t>
            </a:r>
            <a:r>
              <a:rPr lang="pt-BR" sz="2800" dirty="0">
                <a:solidFill>
                  <a:srgbClr val="000000"/>
                </a:solidFill>
                <a:latin typeface="Courier New" panose="02070309020205020404" pitchFamily="49" charset="0"/>
              </a:rPr>
              <a:t>num </a:t>
            </a:r>
            <a:r>
              <a:rPr lang="pt-BR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pt-BR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280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pt-BR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num</a:t>
            </a:r>
            <a:r>
              <a:rPr lang="pt-BR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++);</a:t>
            </a:r>
            <a:endParaRPr lang="en-US" sz="28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370455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- Variants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3886200" y="3385116"/>
            <a:ext cx="3657600" cy="1588658"/>
          </a:xfrm>
          <a:prstGeom prst="wedgeRoundRectCallout">
            <a:avLst>
              <a:gd name="adj1" fmla="val 46237"/>
              <a:gd name="adj2" fmla="val -133736"/>
              <a:gd name="adj3" fmla="val 16667"/>
            </a:avLst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semicolon here represents that the body of for loop is empty and is a logical error</a:t>
            </a:r>
            <a:endParaRPr lang="en-US" sz="24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089245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ular Callout 7"/>
          <p:cNvSpPr/>
          <p:nvPr/>
        </p:nvSpPr>
        <p:spPr>
          <a:xfrm>
            <a:off x="5334000" y="3810000"/>
            <a:ext cx="3657600" cy="1588658"/>
          </a:xfrm>
          <a:prstGeom prst="wedgeRoundRectCallout">
            <a:avLst>
              <a:gd name="adj1" fmla="val -117196"/>
              <a:gd name="adj2" fmla="val -132017"/>
              <a:gd name="adj3" fmla="val 16667"/>
            </a:avLst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 multiple variables in a for loop is allowed</a:t>
            </a:r>
            <a:endParaRPr lang="en-US" sz="24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600199"/>
            <a:ext cx="8153400" cy="3429001"/>
          </a:xfrm>
          <a:prstGeom prst="rect">
            <a:avLst/>
          </a:prstGeom>
        </p:spPr>
        <p:txBody>
          <a:bodyPr/>
          <a:lstStyle/>
          <a:p>
            <a:r>
              <a:rPr lang="nn-NO" sz="2800" dirty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i</a:t>
            </a:r>
            <a:r>
              <a:rPr lang="nn-NO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j</a:t>
            </a:r>
            <a:r>
              <a:rPr lang="nn-NO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nn-NO" sz="28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nn-NO" sz="28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i </a:t>
            </a:r>
            <a:r>
              <a:rPr lang="nn-NO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n-NO" sz="2800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j </a:t>
            </a:r>
            <a:r>
              <a:rPr lang="nn-NO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n-NO" sz="2800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j</a:t>
            </a:r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&lt;</a:t>
            </a:r>
            <a:r>
              <a:rPr lang="nn-NO" sz="2800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20</a:t>
            </a:r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++,</a:t>
            </a:r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j</a:t>
            </a:r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++)</a:t>
            </a:r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cout </a:t>
            </a:r>
            <a:r>
              <a:rPr lang="nn-NO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n-NO" sz="2800" dirty="0">
                <a:solidFill>
                  <a:srgbClr val="808080"/>
                </a:solidFill>
                <a:latin typeface="Courier New" panose="02070309020205020404" pitchFamily="49" charset="0"/>
              </a:rPr>
              <a:t>"i + j = "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n-NO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n-NO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i </a:t>
            </a:r>
            <a:r>
              <a:rPr lang="nn-NO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j</a:t>
            </a:r>
            <a:r>
              <a:rPr lang="nn-NO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nn-NO" sz="28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n-NO" sz="2800" dirty="0">
                <a:solidFill>
                  <a:srgbClr val="808080"/>
                </a:solidFill>
                <a:latin typeface="Courier New" panose="02070309020205020404" pitchFamily="49" charset="0"/>
              </a:rPr>
              <a:t>"\n"</a:t>
            </a:r>
            <a:r>
              <a:rPr lang="nn-NO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nn-NO" sz="28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nn-NO" sz="2800" dirty="0">
              <a:solidFill>
                <a:prstClr val="black"/>
              </a:solidFill>
            </a:endParaRP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370455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- Variants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3595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295400"/>
            <a:ext cx="8153400" cy="38100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2800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row 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row 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row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++)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8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latin typeface="Courier New" panose="02070309020205020404" pitchFamily="49" charset="0"/>
              </a:rPr>
              <a:t>//begin outer loop </a:t>
            </a:r>
            <a:endParaRPr lang="en-US" sz="28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sz="28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col 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col 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FF8000"/>
                </a:solidFill>
                <a:latin typeface="Courier New" panose="02070309020205020404" pitchFamily="49" charset="0"/>
              </a:rPr>
              <a:t>20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col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++)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8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latin typeface="Courier New" panose="02070309020205020404" pitchFamily="49" charset="0"/>
              </a:rPr>
              <a:t>//begin inner loop </a:t>
            </a:r>
            <a:endParaRPr lang="en-US" sz="28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	// </a:t>
            </a:r>
            <a:r>
              <a:rPr lang="en-US" sz="2800" dirty="0">
                <a:solidFill>
                  <a:srgbClr val="008000"/>
                </a:solidFill>
                <a:latin typeface="Courier New" panose="02070309020205020404" pitchFamily="49" charset="0"/>
              </a:rPr>
              <a:t>some statements </a:t>
            </a:r>
            <a:endParaRPr lang="en-US" sz="28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latin typeface="Courier New" panose="02070309020205020404" pitchFamily="49" charset="0"/>
              </a:rPr>
              <a:t>//end inner loop </a:t>
            </a:r>
            <a:endParaRPr lang="en-US" sz="28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latin typeface="Courier New" panose="02070309020205020404" pitchFamily="49" charset="0"/>
              </a:rPr>
              <a:t>//end outer loop</a:t>
            </a:r>
            <a:endParaRPr lang="en-US" sz="2800" dirty="0">
              <a:solidFill>
                <a:prstClr val="black"/>
              </a:solidFill>
            </a:endParaRP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19200" y="319325"/>
            <a:ext cx="670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Nested “for” loop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1178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246797" y="1676400"/>
            <a:ext cx="4296770" cy="1828800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</a:pPr>
            <a:r>
              <a:rPr kumimoji="1" lang="en-US" altLang="en-US" b="1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The </a:t>
            </a:r>
            <a:r>
              <a:rPr kumimoji="1" lang="en-US" altLang="en-US" b="1" dirty="0">
                <a:solidFill>
                  <a:srgbClr val="0070C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while</a:t>
            </a:r>
            <a:r>
              <a:rPr kumimoji="1" lang="en-US" altLang="en-US" b="1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 Loop</a:t>
            </a:r>
          </a:p>
          <a:p>
            <a:pPr marL="285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  <a:buFontTx/>
              <a:buChar char="•"/>
            </a:pPr>
            <a:r>
              <a:rPr kumimoji="1" lang="en-US" altLang="en-US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A pre-test loop.  </a:t>
            </a:r>
          </a:p>
          <a:p>
            <a:pPr marL="285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  <a:buFontTx/>
              <a:buChar char="•"/>
            </a:pPr>
            <a:r>
              <a:rPr kumimoji="1" lang="en-US" altLang="en-US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Use when you do not want the loop to iterate if the condition is false from the beginning. </a:t>
            </a:r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409763"/>
            <a:ext cx="670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4000" dirty="0" smtClean="0">
                <a:solidFill>
                  <a:srgbClr val="FF0000"/>
                </a:solidFill>
              </a:rPr>
              <a:t>Deciding </a:t>
            </a:r>
            <a:r>
              <a:rPr lang="en-US" altLang="en-US" sz="4000" dirty="0">
                <a:solidFill>
                  <a:srgbClr val="FF0000"/>
                </a:solidFill>
              </a:rPr>
              <a:t>Which Loop to Use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Rectangle 1027"/>
          <p:cNvSpPr txBox="1">
            <a:spLocks noChangeArrowheads="1"/>
          </p:cNvSpPr>
          <p:nvPr/>
        </p:nvSpPr>
        <p:spPr>
          <a:xfrm>
            <a:off x="4724400" y="1676400"/>
            <a:ext cx="4267200" cy="1828800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</a:pPr>
            <a:r>
              <a:rPr kumimoji="1" lang="en-US" altLang="en-US" b="1" dirty="0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The </a:t>
            </a:r>
            <a:r>
              <a:rPr kumimoji="1" lang="en-US" altLang="en-US" b="1" dirty="0">
                <a:solidFill>
                  <a:srgbClr val="0070C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do-while</a:t>
            </a:r>
            <a:r>
              <a:rPr kumimoji="1" lang="en-US" altLang="en-US" b="1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 Loop</a:t>
            </a:r>
          </a:p>
          <a:p>
            <a:pPr marL="285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  <a:buFontTx/>
              <a:buChar char="•"/>
            </a:pPr>
            <a:r>
              <a:rPr kumimoji="1" lang="en-US" altLang="en-US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A post-test loop.</a:t>
            </a:r>
          </a:p>
          <a:p>
            <a:pPr marL="285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  <a:buFontTx/>
              <a:buChar char="•"/>
            </a:pPr>
            <a:r>
              <a:rPr kumimoji="1" lang="en-US" altLang="en-US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Use if you always want the loop to iterate at least once.</a:t>
            </a: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9" name="Rectangle 1027"/>
          <p:cNvSpPr txBox="1">
            <a:spLocks noChangeArrowheads="1"/>
          </p:cNvSpPr>
          <p:nvPr/>
        </p:nvSpPr>
        <p:spPr>
          <a:xfrm>
            <a:off x="1509215" y="3886200"/>
            <a:ext cx="6553200" cy="2359780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</a:pPr>
            <a:r>
              <a:rPr kumimoji="1" lang="en-US" altLang="en-US" b="1" dirty="0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The </a:t>
            </a:r>
            <a:r>
              <a:rPr kumimoji="1" lang="en-US" altLang="en-US" b="1" dirty="0">
                <a:solidFill>
                  <a:srgbClr val="0070C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for</a:t>
            </a:r>
            <a:r>
              <a:rPr kumimoji="1" lang="en-US" altLang="en-US" b="1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 </a:t>
            </a:r>
            <a:r>
              <a:rPr kumimoji="1" lang="en-US" altLang="en-US" b="1" dirty="0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Loop</a:t>
            </a:r>
            <a:endParaRPr kumimoji="1" lang="en-US" altLang="en-US" b="1" dirty="0">
              <a:solidFill>
                <a:srgbClr val="000000"/>
              </a:solidFill>
              <a:latin typeface="Segoe UI Symbol" panose="020B0502040204020203" pitchFamily="34" charset="0"/>
              <a:ea typeface="Segoe UI Symbol" panose="020B0502040204020203" pitchFamily="34" charset="0"/>
            </a:endParaRPr>
          </a:p>
          <a:p>
            <a:pPr marL="285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  <a:buFont typeface="Arial" panose="020B0604020202020204" pitchFamily="34" charset="0"/>
              <a:buChar char="•"/>
            </a:pPr>
            <a:r>
              <a:rPr kumimoji="1" lang="en-US" altLang="en-US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A pre-test loop.</a:t>
            </a:r>
          </a:p>
          <a:p>
            <a:pPr marL="285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  <a:buFont typeface="Arial" panose="020B0604020202020204" pitchFamily="34" charset="0"/>
              <a:buChar char="•"/>
            </a:pPr>
            <a:r>
              <a:rPr kumimoji="1" lang="en-US" altLang="en-US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Automatically executes an update expression at the end of each iteration.</a:t>
            </a:r>
          </a:p>
          <a:p>
            <a:pPr marL="285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  <a:buFont typeface="Arial" panose="020B0604020202020204" pitchFamily="34" charset="0"/>
              <a:buChar char="•"/>
            </a:pPr>
            <a:r>
              <a:rPr kumimoji="1" lang="en-US" altLang="en-US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Ideal for situations where a counter variable is needed.</a:t>
            </a:r>
          </a:p>
          <a:p>
            <a:pPr marL="285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  <a:buFont typeface="Arial" panose="020B0604020202020204" pitchFamily="34" charset="0"/>
              <a:buChar char="•"/>
            </a:pPr>
            <a:r>
              <a:rPr kumimoji="1" lang="en-US" altLang="en-US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Used when the exact number of required iterations is known.</a:t>
            </a: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5796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281969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Assignment – 2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0999" y="1360690"/>
            <a:ext cx="8382001" cy="400110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prstClr val="black"/>
                </a:solidFill>
              </a:rPr>
              <a:t>Write an </a:t>
            </a:r>
            <a:r>
              <a:rPr lang="en-US" sz="2000" dirty="0" err="1" smtClean="0">
                <a:solidFill>
                  <a:prstClr val="black"/>
                </a:solidFill>
              </a:rPr>
              <a:t>algo</a:t>
            </a:r>
            <a:r>
              <a:rPr lang="en-US" sz="2000" dirty="0" smtClean="0">
                <a:solidFill>
                  <a:prstClr val="black"/>
                </a:solidFill>
              </a:rPr>
              <a:t> using for loop for the steps shown in the video below.</a:t>
            </a: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2" name="Blame - Just Dance 2016 - 5 Estrelas - trimmed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4703" y="1896726"/>
            <a:ext cx="7875897" cy="443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144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99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ank-you-very-much--thumb1003573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05000" y="990600"/>
            <a:ext cx="52578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1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ivic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18365</TotalTime>
  <Words>2877</Words>
  <Application>Microsoft Office PowerPoint</Application>
  <PresentationFormat>On-screen Show (4:3)</PresentationFormat>
  <Paragraphs>840</Paragraphs>
  <Slides>54</Slides>
  <Notes>40</Notes>
  <HiddenSlides>0</HiddenSlides>
  <MMClips>2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56" baseType="lpstr">
      <vt:lpstr>Office Theme</vt:lpstr>
      <vt:lpstr>Civic</vt:lpstr>
      <vt:lpstr>CS-111 Fundamentals of Computer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Flowchart Representation of “while”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Common Mistakes in while – “one liners”</vt:lpstr>
      <vt:lpstr>Common Mistakes in while-extra semicolon</vt:lpstr>
      <vt:lpstr>PowerPoint Presentation</vt:lpstr>
      <vt:lpstr>PowerPoint Presentation</vt:lpstr>
      <vt:lpstr>Flowchart Representation of “do…while”</vt:lpstr>
      <vt:lpstr>PowerPoint Presentation</vt:lpstr>
      <vt:lpstr>PowerPoint Presentation</vt:lpstr>
      <vt:lpstr>PowerPoint Presentation</vt:lpstr>
      <vt:lpstr>PowerPoint Presentation</vt:lpstr>
      <vt:lpstr>“do … while …”  vs “while …”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Quratulain</dc:creator>
  <cp:lastModifiedBy>NICE</cp:lastModifiedBy>
  <cp:revision>1719</cp:revision>
  <dcterms:created xsi:type="dcterms:W3CDTF">2006-08-16T00:00:00Z</dcterms:created>
  <dcterms:modified xsi:type="dcterms:W3CDTF">2018-10-31T09:34:52Z</dcterms:modified>
</cp:coreProperties>
</file>