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7" r:id="rId2"/>
    <p:sldMasterId id="2147483710" r:id="rId3"/>
  </p:sldMasterIdLst>
  <p:notesMasterIdLst>
    <p:notesMasterId r:id="rId54"/>
  </p:notesMasterIdLst>
  <p:sldIdLst>
    <p:sldId id="257" r:id="rId4"/>
    <p:sldId id="627" r:id="rId5"/>
    <p:sldId id="665" r:id="rId6"/>
    <p:sldId id="718" r:id="rId7"/>
    <p:sldId id="770" r:id="rId8"/>
    <p:sldId id="743" r:id="rId9"/>
    <p:sldId id="772" r:id="rId10"/>
    <p:sldId id="773" r:id="rId11"/>
    <p:sldId id="774" r:id="rId12"/>
    <p:sldId id="776" r:id="rId13"/>
    <p:sldId id="771" r:id="rId14"/>
    <p:sldId id="746" r:id="rId15"/>
    <p:sldId id="777" r:id="rId16"/>
    <p:sldId id="720" r:id="rId17"/>
    <p:sldId id="778" r:id="rId18"/>
    <p:sldId id="792" r:id="rId19"/>
    <p:sldId id="780" r:id="rId20"/>
    <p:sldId id="781" r:id="rId21"/>
    <p:sldId id="785" r:id="rId22"/>
    <p:sldId id="783" r:id="rId23"/>
    <p:sldId id="784" r:id="rId24"/>
    <p:sldId id="779" r:id="rId25"/>
    <p:sldId id="787" r:id="rId26"/>
    <p:sldId id="786" r:id="rId27"/>
    <p:sldId id="791" r:id="rId28"/>
    <p:sldId id="793" r:id="rId29"/>
    <p:sldId id="788" r:id="rId30"/>
    <p:sldId id="795" r:id="rId31"/>
    <p:sldId id="796" r:id="rId32"/>
    <p:sldId id="794" r:id="rId33"/>
    <p:sldId id="797" r:id="rId34"/>
    <p:sldId id="789" r:id="rId35"/>
    <p:sldId id="790" r:id="rId36"/>
    <p:sldId id="798" r:id="rId37"/>
    <p:sldId id="799" r:id="rId38"/>
    <p:sldId id="800" r:id="rId39"/>
    <p:sldId id="801" r:id="rId40"/>
    <p:sldId id="802" r:id="rId41"/>
    <p:sldId id="803" r:id="rId42"/>
    <p:sldId id="804" r:id="rId43"/>
    <p:sldId id="805" r:id="rId44"/>
    <p:sldId id="806" r:id="rId45"/>
    <p:sldId id="808" r:id="rId46"/>
    <p:sldId id="810" r:id="rId47"/>
    <p:sldId id="811" r:id="rId48"/>
    <p:sldId id="809" r:id="rId49"/>
    <p:sldId id="812" r:id="rId50"/>
    <p:sldId id="814" r:id="rId51"/>
    <p:sldId id="815" r:id="rId52"/>
    <p:sldId id="731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434" autoAdjust="0"/>
  </p:normalViewPr>
  <p:slideViewPr>
    <p:cSldViewPr>
      <p:cViewPr varScale="1">
        <p:scale>
          <a:sx n="74" d="100"/>
          <a:sy n="74" d="100"/>
        </p:scale>
        <p:origin x="7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95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0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8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986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8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961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28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816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93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382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18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199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004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762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36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9254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691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3202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039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476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207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2040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359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3733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4356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658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473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0536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0701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1645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5620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7160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427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2732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7615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3488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46017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1938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7268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8640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02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8EB77-1F76-4D93-A3AF-B57CBBC7FB5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5E841-A079-495C-8CCA-9C61DB49E5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675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C70C-F5A9-4CB0-8AC0-EE2843D3720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44C3-D1E0-410A-B4B8-4FBDC876A5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04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1F871-16F2-47A0-8BF0-9CCA39FC8DF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2D868-6FCE-4FD9-A1FD-ED546B0CB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631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E44ED-6318-4974-B656-E96A52FFCBB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3D5CA-DFD4-4B35-80ED-0EDDCA22AD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798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BA46-1340-4881-8B69-D6AC315D93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0786E-ECEE-44CA-9430-17B91A798A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140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48327-125B-42D3-904F-6F2E679B2B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AB07D-030D-44F5-9E46-2BDEBD18B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673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FD5C1-75D3-4C71-9819-583BFED4737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16C5-D16A-457D-9C29-9D16CFACF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280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1D0B-F3E7-4E6D-B86F-A6C1B7FBB59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6B74F-379B-4899-B0BF-92B55A006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08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7724C-24D6-4B7E-A696-D32759A6C3E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ECD9-6EA3-4EE6-A28B-3C30AC180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29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C926-39B7-4770-9822-E6CFBA20A3C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DE4FC-72B2-4367-8BB6-FB3A32A827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518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E58D9-392E-4DF5-A540-89826493DAA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1D85F-419F-4C06-93FA-426DFF8C70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905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36873-7A1E-49AC-A12F-89FE9649896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060A0-988F-4E57-B88A-08C90E674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291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441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44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79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887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372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46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778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6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94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6569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E0A90C-EE50-47D5-84C6-0129908DF5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10/12/2018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743FE7-0461-4BA1-9ABB-10B8182D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10/12/2018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009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2954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6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Conditional Statements – 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724400" y="6211669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Road Map for Today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Control</a:t>
            </a:r>
            <a:r>
              <a:rPr kumimoji="0" lang="en-US" sz="32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Statements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Selection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Iteration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Jump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670995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02693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Control Statements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78672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C++ Control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435580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/>
              <a:t>Normally, statements in a program execute </a:t>
            </a:r>
            <a:r>
              <a:rPr lang="en-US" sz="3600" i="1" dirty="0"/>
              <a:t>one after the other in the order </a:t>
            </a:r>
            <a:r>
              <a:rPr lang="en-US" sz="3600" dirty="0"/>
              <a:t>in which they’re written. </a:t>
            </a:r>
            <a:endParaRPr lang="en-US" sz="3600" dirty="0" smtClean="0"/>
          </a:p>
          <a:p>
            <a:endParaRPr lang="en-US" sz="3600" dirty="0"/>
          </a:p>
          <a:p>
            <a:r>
              <a:rPr lang="en-US" sz="3600" dirty="0" smtClean="0"/>
              <a:t>This </a:t>
            </a:r>
            <a:r>
              <a:rPr lang="en-US" sz="3600" dirty="0"/>
              <a:t>is called </a:t>
            </a:r>
            <a:r>
              <a:rPr lang="en-US" sz="3600" b="1" dirty="0"/>
              <a:t>sequential execution</a:t>
            </a:r>
            <a:r>
              <a:rPr lang="en-US" sz="3600" b="1" dirty="0" smtClean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009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5347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C++ Control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71600"/>
            <a:ext cx="8534400" cy="4937804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/>
              <a:t>However, various </a:t>
            </a:r>
            <a:r>
              <a:rPr lang="en-US" sz="3600" dirty="0"/>
              <a:t>C++ statements enable you to specify that </a:t>
            </a:r>
            <a:r>
              <a:rPr lang="en-US" sz="3600" i="1" dirty="0"/>
              <a:t>the </a:t>
            </a:r>
            <a:r>
              <a:rPr lang="en-US" sz="3600" b="1" i="1" dirty="0">
                <a:solidFill>
                  <a:srgbClr val="C00000"/>
                </a:solidFill>
              </a:rPr>
              <a:t>next statement to execute may be other than the next one in sequence</a:t>
            </a:r>
            <a:r>
              <a:rPr lang="en-US" sz="3600" b="1" dirty="0">
                <a:solidFill>
                  <a:srgbClr val="C00000"/>
                </a:solidFill>
              </a:rPr>
              <a:t>. </a:t>
            </a:r>
            <a:endParaRPr lang="en-US" sz="3600" b="1" dirty="0" smtClean="0">
              <a:solidFill>
                <a:srgbClr val="C00000"/>
              </a:solidFill>
            </a:endParaRPr>
          </a:p>
          <a:p>
            <a:endParaRPr lang="en-US" sz="3600" b="1" dirty="0">
              <a:solidFill>
                <a:srgbClr val="C00000"/>
              </a:solidFill>
            </a:endParaRPr>
          </a:p>
          <a:p>
            <a:r>
              <a:rPr lang="en-US" sz="3600" dirty="0" smtClean="0"/>
              <a:t>This </a:t>
            </a:r>
            <a:r>
              <a:rPr lang="en-US" sz="3600" dirty="0"/>
              <a:t>is called </a:t>
            </a:r>
            <a:r>
              <a:rPr lang="en-US" sz="3600" b="1" dirty="0"/>
              <a:t>transfer of control</a:t>
            </a:r>
            <a:r>
              <a:rPr lang="en-US" sz="3600" dirty="0"/>
              <a:t>.</a:t>
            </a:r>
            <a:endParaRPr lang="en-US" sz="3600" b="1" dirty="0"/>
          </a:p>
          <a:p>
            <a:pPr algn="just"/>
            <a:endParaRPr lang="en-US" sz="3600" b="1" dirty="0" smtClean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1314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C++ Control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28600" y="989112"/>
            <a:ext cx="87630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>
                <a:solidFill>
                  <a:srgbClr val="000000"/>
                </a:solidFill>
              </a:rPr>
              <a:t>C</a:t>
            </a:r>
            <a:r>
              <a:rPr lang="en-US" sz="3600" dirty="0">
                <a:solidFill>
                  <a:srgbClr val="000000"/>
                </a:solidFill>
              </a:rPr>
              <a:t>++ has only </a:t>
            </a:r>
            <a:r>
              <a:rPr lang="en-US" sz="3600" b="1" dirty="0">
                <a:solidFill>
                  <a:srgbClr val="C00000"/>
                </a:solidFill>
              </a:rPr>
              <a:t>three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rgbClr val="000000"/>
                </a:solidFill>
              </a:rPr>
              <a:t>kinds of </a:t>
            </a:r>
            <a:r>
              <a:rPr lang="en-US" sz="3600" i="1" dirty="0">
                <a:solidFill>
                  <a:srgbClr val="000000"/>
                </a:solidFill>
              </a:rPr>
              <a:t>control structures </a:t>
            </a:r>
            <a:r>
              <a:rPr lang="en-US" sz="3600" dirty="0">
                <a:solidFill>
                  <a:srgbClr val="000000"/>
                </a:solidFill>
              </a:rPr>
              <a:t>also known as </a:t>
            </a:r>
            <a:r>
              <a:rPr lang="en-US" sz="3600" b="1" dirty="0">
                <a:solidFill>
                  <a:srgbClr val="000000"/>
                </a:solidFill>
              </a:rPr>
              <a:t>control </a:t>
            </a:r>
            <a:r>
              <a:rPr lang="en-US" sz="3600" b="1" dirty="0" smtClean="0">
                <a:solidFill>
                  <a:srgbClr val="000000"/>
                </a:solidFill>
              </a:rPr>
              <a:t>statements</a:t>
            </a:r>
            <a:r>
              <a:rPr lang="en-US" sz="3600" dirty="0" smtClean="0">
                <a:solidFill>
                  <a:srgbClr val="000000"/>
                </a:solidFill>
              </a:rPr>
              <a:t>.</a:t>
            </a:r>
          </a:p>
          <a:p>
            <a:pPr algn="ctr"/>
            <a:endParaRPr lang="en-US" sz="3600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8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0409"/>
            <a:ext cx="6172200" cy="427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8194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28600" y="1340405"/>
            <a:ext cx="8763000" cy="4522530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Overview of Conditions</a:t>
            </a:r>
          </a:p>
          <a:p>
            <a:endParaRPr lang="en-US" sz="3200" dirty="0" smtClean="0"/>
          </a:p>
          <a:p>
            <a:r>
              <a:rPr lang="en-US" sz="3200" dirty="0" smtClean="0"/>
              <a:t>Lets </a:t>
            </a:r>
            <a:r>
              <a:rPr lang="en-US" sz="3200" dirty="0"/>
              <a:t>imagine you are </a:t>
            </a:r>
            <a:r>
              <a:rPr lang="en-US" sz="3200" dirty="0" smtClean="0"/>
              <a:t>filling an </a:t>
            </a:r>
            <a:r>
              <a:rPr lang="en-US" sz="3200" dirty="0"/>
              <a:t>employment application and one question </a:t>
            </a:r>
            <a:r>
              <a:rPr lang="en-US" sz="3200" dirty="0" smtClean="0"/>
              <a:t>is, </a:t>
            </a:r>
          </a:p>
          <a:p>
            <a:endParaRPr lang="en-US" sz="3200" b="1" dirty="0"/>
          </a:p>
          <a:p>
            <a:pPr algn="ctr"/>
            <a:r>
              <a:rPr lang="en-US" sz="3200" b="1" dirty="0" smtClean="0"/>
              <a:t>“Do </a:t>
            </a:r>
            <a:r>
              <a:rPr lang="en-US" sz="3200" b="1" dirty="0"/>
              <a:t>you consider yourself </a:t>
            </a:r>
            <a:endParaRPr lang="en-US" sz="3200" b="1" dirty="0" smtClean="0"/>
          </a:p>
          <a:p>
            <a:pPr algn="ctr"/>
            <a:r>
              <a:rPr lang="en-US" sz="3200" b="1" dirty="0" smtClean="0"/>
              <a:t>a </a:t>
            </a:r>
            <a:r>
              <a:rPr lang="en-US" sz="3200" b="1" dirty="0"/>
              <a:t>hot-tempered individual</a:t>
            </a:r>
            <a:r>
              <a:rPr lang="en-US" sz="3200" b="1" dirty="0" smtClean="0"/>
              <a:t>?”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8368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28600" y="1054923"/>
            <a:ext cx="8763000" cy="4808012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Overview of Conditions</a:t>
            </a:r>
          </a:p>
          <a:p>
            <a:r>
              <a:rPr lang="en-US" sz="3200" dirty="0" smtClean="0"/>
              <a:t>The </a:t>
            </a:r>
            <a:r>
              <a:rPr lang="en-US" sz="3200" dirty="0"/>
              <a:t>source file of such a program would look like this</a:t>
            </a:r>
            <a:r>
              <a:rPr lang="en-US" sz="3200" dirty="0" smtClean="0"/>
              <a:t>:</a:t>
            </a:r>
          </a:p>
          <a:p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2872025"/>
            <a:ext cx="8534400" cy="3416320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 smtClean="0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Answer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</a:rPr>
              <a:t>"Do you consider yourself a hot-tempered individual? </a:t>
            </a:r>
            <a:r>
              <a:rPr lang="en-US" sz="1600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";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Answer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42473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Conditional Stateme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639" y="1820071"/>
            <a:ext cx="4724400" cy="2940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28600" y="1054923"/>
            <a:ext cx="8763000" cy="5495300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Overview of Conditions</a:t>
            </a:r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The </a:t>
            </a:r>
            <a:r>
              <a:rPr lang="en-US" sz="3200" dirty="0"/>
              <a:t>variety of these different answers means that you should pay attention to how you structure your programs, you should be clear to the users.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910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28600" y="1054923"/>
            <a:ext cx="8763000" cy="5495300"/>
          </a:xfrm>
          <a:prstGeom prst="rect">
            <a:avLst/>
          </a:prstGeom>
        </p:spPr>
        <p:txBody>
          <a:bodyPr/>
          <a:lstStyle/>
          <a:p>
            <a:r>
              <a:rPr lang="en-US" sz="3600" b="1" dirty="0" smtClean="0">
                <a:solidFill>
                  <a:srgbClr val="C00000"/>
                </a:solidFill>
              </a:rPr>
              <a:t>Overview of Conditions</a:t>
            </a:r>
          </a:p>
          <a:p>
            <a:endParaRPr lang="en-US" sz="3200" dirty="0"/>
          </a:p>
          <a:p>
            <a:r>
              <a:rPr lang="en-US" sz="3200" dirty="0" smtClean="0"/>
              <a:t>A </a:t>
            </a:r>
            <a:r>
              <a:rPr lang="en-US" sz="3200" dirty="0"/>
              <a:t>better version of the line that asks the question would be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pPr algn="ctr"/>
            <a:r>
              <a:rPr lang="en-US" sz="2800" b="1" dirty="0" err="1">
                <a:solidFill>
                  <a:srgbClr val="C00000"/>
                </a:solidFill>
              </a:rPr>
              <a:t>cout</a:t>
            </a:r>
            <a:r>
              <a:rPr lang="en-US" sz="2800" b="1" dirty="0">
                <a:solidFill>
                  <a:srgbClr val="C00000"/>
                </a:solidFill>
              </a:rPr>
              <a:t> &lt;&lt; "Do you consider yourself a hot-tempered individual? (y=Yes/n=No</a:t>
            </a:r>
            <a:r>
              <a:rPr lang="en-US" sz="2800" b="1" dirty="0" smtClean="0">
                <a:solidFill>
                  <a:srgbClr val="C00000"/>
                </a:solidFill>
              </a:rPr>
              <a:t>)";</a:t>
            </a:r>
          </a:p>
          <a:p>
            <a:endParaRPr lang="en-US" sz="3200" dirty="0"/>
          </a:p>
          <a:p>
            <a:r>
              <a:rPr lang="en-US" sz="3200" dirty="0"/>
              <a:t>This time, although the user can still type anything, at least you have specified the expected </a:t>
            </a:r>
            <a:r>
              <a:rPr lang="en-US" sz="3200" dirty="0" smtClean="0"/>
              <a:t>answers</a:t>
            </a:r>
            <a:r>
              <a:rPr lang="en-US" sz="3200" dirty="0"/>
              <a:t> </a:t>
            </a:r>
            <a:r>
              <a:rPr lang="en-US" sz="3200" dirty="0" smtClean="0"/>
              <a:t>and you can place checks on the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7940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02693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C++ Selection Statements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871203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C++ Selection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200" dirty="0"/>
              <a:t>The </a:t>
            </a:r>
            <a:r>
              <a:rPr lang="en-US" sz="3200" b="1" dirty="0">
                <a:solidFill>
                  <a:srgbClr val="C00000"/>
                </a:solidFill>
              </a:rPr>
              <a:t>selection </a:t>
            </a:r>
            <a:r>
              <a:rPr lang="en-US" sz="3200" b="1" dirty="0" smtClean="0">
                <a:solidFill>
                  <a:srgbClr val="C00000"/>
                </a:solidFill>
              </a:rPr>
              <a:t>statements </a:t>
            </a:r>
            <a:r>
              <a:rPr lang="en-US" sz="3200" dirty="0"/>
              <a:t>allow </a:t>
            </a:r>
            <a:endParaRPr lang="en-US" sz="3200" dirty="0" smtClean="0"/>
          </a:p>
          <a:p>
            <a:pPr algn="ctr"/>
            <a:r>
              <a:rPr lang="en-US" sz="3200" dirty="0" smtClean="0"/>
              <a:t>to </a:t>
            </a:r>
            <a:r>
              <a:rPr lang="en-US" sz="3200" b="1" i="1" dirty="0">
                <a:solidFill>
                  <a:srgbClr val="00B050"/>
                </a:solidFill>
              </a:rPr>
              <a:t>choose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i="1" dirty="0"/>
              <a:t>the </a:t>
            </a:r>
            <a:r>
              <a:rPr lang="en-US" sz="3200" i="1" u="sng" dirty="0"/>
              <a:t>set of instructions for execution </a:t>
            </a:r>
            <a:r>
              <a:rPr lang="en-US" sz="3200" b="1" dirty="0">
                <a:solidFill>
                  <a:srgbClr val="002060"/>
                </a:solidFill>
              </a:rPr>
              <a:t>depending upon a certain condition</a:t>
            </a:r>
            <a:r>
              <a:rPr lang="en-US" sz="3200" dirty="0" smtClean="0"/>
              <a:t>.</a:t>
            </a:r>
          </a:p>
          <a:p>
            <a:pPr algn="ctr"/>
            <a:endParaRPr lang="en-US" sz="3200" u="sng" dirty="0">
              <a:solidFill>
                <a:srgbClr val="000000"/>
              </a:solidFill>
            </a:endParaRPr>
          </a:p>
          <a:p>
            <a:r>
              <a:rPr lang="en-US" sz="3200" dirty="0"/>
              <a:t>C++ provides </a:t>
            </a:r>
            <a:r>
              <a:rPr lang="en-US" sz="3200" b="1" dirty="0"/>
              <a:t>two</a:t>
            </a:r>
            <a:r>
              <a:rPr lang="en-US" sz="3200" dirty="0"/>
              <a:t> types of selections statements</a:t>
            </a:r>
            <a:r>
              <a:rPr lang="en-US" sz="3200" dirty="0" smtClean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i="1" dirty="0" smtClean="0">
                <a:solidFill>
                  <a:srgbClr val="FF0000"/>
                </a:solidFill>
              </a:rPr>
              <a:t>if</a:t>
            </a:r>
            <a:r>
              <a:rPr lang="en-US" sz="3200" dirty="0">
                <a:solidFill>
                  <a:srgbClr val="FF0000"/>
                </a:solidFill>
              </a:rPr>
              <a:t> 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FF0000"/>
                </a:solidFill>
              </a:rPr>
              <a:t>s</a:t>
            </a:r>
            <a:r>
              <a:rPr lang="en-US" sz="3200" i="1" dirty="0" smtClean="0">
                <a:solidFill>
                  <a:srgbClr val="FF0000"/>
                </a:solidFill>
              </a:rPr>
              <a:t>witch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/>
              <a:t>The selection statements are also called </a:t>
            </a:r>
            <a:r>
              <a:rPr lang="en-US" sz="3200" b="1" dirty="0">
                <a:solidFill>
                  <a:srgbClr val="C00000"/>
                </a:solidFill>
              </a:rPr>
              <a:t>conditional statements </a:t>
            </a:r>
            <a:r>
              <a:rPr lang="en-US" sz="3200" dirty="0"/>
              <a:t>or</a:t>
            </a:r>
            <a:r>
              <a:rPr lang="en-US" sz="3200" b="1" dirty="0">
                <a:solidFill>
                  <a:srgbClr val="C00000"/>
                </a:solidFill>
              </a:rPr>
              <a:t> decision </a:t>
            </a:r>
            <a:r>
              <a:rPr lang="en-US" sz="3200" b="1" dirty="0" smtClean="0">
                <a:solidFill>
                  <a:srgbClr val="C00000"/>
                </a:solidFill>
              </a:rPr>
              <a:t>statements.</a:t>
            </a:r>
            <a:endParaRPr lang="en-US" sz="3200" b="1" dirty="0">
              <a:solidFill>
                <a:srgbClr val="C00000"/>
              </a:solidFill>
            </a:endParaRPr>
          </a:p>
          <a:p>
            <a:pPr algn="ctr"/>
            <a:endParaRPr lang="en-US" sz="3200" u="sng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59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The </a:t>
            </a:r>
            <a:r>
              <a:rPr lang="en-US" sz="4400" b="1" i="1" dirty="0">
                <a:solidFill>
                  <a:srgbClr val="002060"/>
                </a:solidFill>
              </a:rPr>
              <a:t>if</a:t>
            </a:r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 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One-Way Selection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Two-Way Selection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Compound (Block of) Statements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Multiple Selections: </a:t>
            </a:r>
            <a:r>
              <a:rPr lang="en-US" sz="3200" b="1" i="1" dirty="0" smtClean="0">
                <a:solidFill>
                  <a:srgbClr val="0070C0"/>
                </a:solidFill>
              </a:rPr>
              <a:t>Nested if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Comparing </a:t>
            </a:r>
            <a:r>
              <a:rPr lang="en-US" sz="3200" b="1" i="1" dirty="0">
                <a:solidFill>
                  <a:srgbClr val="0070C0"/>
                </a:solidFill>
              </a:rPr>
              <a:t>if…else</a:t>
            </a:r>
            <a:r>
              <a:rPr lang="en-US" sz="3200" dirty="0" smtClean="0"/>
              <a:t> statements with a series of </a:t>
            </a:r>
            <a:r>
              <a:rPr lang="en-US" sz="3200" b="1" i="1" dirty="0">
                <a:solidFill>
                  <a:srgbClr val="0070C0"/>
                </a:solidFill>
              </a:rPr>
              <a:t>if</a:t>
            </a:r>
            <a:r>
              <a:rPr lang="en-US" sz="3200" dirty="0" smtClean="0"/>
              <a:t> statements</a:t>
            </a:r>
            <a:r>
              <a:rPr lang="en-US" sz="3200" dirty="0"/>
              <a:t>.</a:t>
            </a: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1653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One-Way Selection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>
                <a:solidFill>
                  <a:prstClr val="black"/>
                </a:solidFill>
              </a:rPr>
              <a:t>The syntax of one-way selection is:</a:t>
            </a:r>
          </a:p>
          <a:p>
            <a:endParaRPr lang="en-US" sz="3600" dirty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 smtClean="0">
                <a:solidFill>
                  <a:prstClr val="black"/>
                </a:solidFill>
              </a:rPr>
              <a:t>The statement is executed if the condition evaluates to </a:t>
            </a:r>
            <a:r>
              <a:rPr lang="en-US" sz="3400" i="1" dirty="0" smtClean="0">
                <a:solidFill>
                  <a:srgbClr val="00B0F0"/>
                </a:solidFill>
              </a:rPr>
              <a:t>true</a:t>
            </a:r>
            <a:r>
              <a:rPr lang="en-US" sz="3400" dirty="0" smtClean="0">
                <a:solidFill>
                  <a:srgbClr val="002060"/>
                </a:solidFill>
              </a:rPr>
              <a:t>.</a:t>
            </a:r>
            <a:r>
              <a:rPr lang="en-US" sz="3400" dirty="0" smtClean="0">
                <a:solidFill>
                  <a:prstClr val="black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prstClr val="black"/>
                </a:solidFill>
              </a:rPr>
              <a:t>The statement is </a:t>
            </a:r>
            <a:r>
              <a:rPr lang="en-US" sz="3400" i="1" dirty="0">
                <a:solidFill>
                  <a:prstClr val="black"/>
                </a:solidFill>
              </a:rPr>
              <a:t>bypassed</a:t>
            </a:r>
            <a:r>
              <a:rPr lang="en-US" sz="3400" dirty="0">
                <a:solidFill>
                  <a:prstClr val="black"/>
                </a:solidFill>
              </a:rPr>
              <a:t> if the value is </a:t>
            </a:r>
            <a:r>
              <a:rPr lang="en-US" sz="3400" i="1" dirty="0">
                <a:solidFill>
                  <a:srgbClr val="00B0F0"/>
                </a:solidFill>
              </a:rPr>
              <a:t>false</a:t>
            </a:r>
            <a:r>
              <a:rPr lang="en-US" sz="3400" dirty="0">
                <a:solidFill>
                  <a:prstClr val="black"/>
                </a:solidFill>
              </a:rPr>
              <a:t>; program goes to the next statement. </a:t>
            </a:r>
            <a:endParaRPr lang="en-US" sz="3400" dirty="0" smtClean="0">
              <a:solidFill>
                <a:prstClr val="black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sz="3400" dirty="0" smtClean="0">
                <a:solidFill>
                  <a:prstClr val="black"/>
                </a:solidFill>
              </a:rPr>
              <a:t> is a reserved word.</a:t>
            </a:r>
            <a:endParaRPr lang="en-US" sz="34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78756" y="2110829"/>
            <a:ext cx="3390900" cy="131519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statement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2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02292" y="1983596"/>
            <a:ext cx="29131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Note there is no semicolon here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4385389" y="2235026"/>
            <a:ext cx="1543050" cy="5334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75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One-Way Selection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11266" name="Picture 2" descr="if-th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1500074"/>
            <a:ext cx="5257800" cy="456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662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One-Way Selection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9218" name="Picture 2" descr="Image result for if else statement c++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8575578" cy="315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679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2" y="990600"/>
            <a:ext cx="8067675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if: </a:t>
            </a:r>
            <a:r>
              <a:rPr lang="en-US" sz="4400" dirty="0" smtClean="0">
                <a:solidFill>
                  <a:srgbClr val="FFC000"/>
                </a:solidFill>
              </a:rPr>
              <a:t>Example 1</a:t>
            </a:r>
            <a:endParaRPr lang="en-US" sz="4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19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0" y="1562100"/>
            <a:ext cx="74295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4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17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One-Way Selection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86000" y="1531441"/>
            <a:ext cx="5055711" cy="4637782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32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32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32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32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statement(1)</a:t>
            </a: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en-US" sz="32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statement(2)</a:t>
            </a: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…</a:t>
            </a:r>
          </a:p>
          <a:p>
            <a:pPr>
              <a:buFontTx/>
              <a:buNone/>
            </a:pP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…</a:t>
            </a:r>
          </a:p>
          <a:p>
            <a:pPr>
              <a:buFontTx/>
              <a:buNone/>
            </a:pPr>
            <a:r>
              <a:rPr lang="en-US" altLang="en-US" sz="32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32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32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statement(n)</a:t>
            </a: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buFontTx/>
              <a:buNone/>
            </a:pP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buFontTx/>
              <a:buNone/>
            </a:pPr>
            <a:endParaRPr lang="en-US" altLang="en-US" sz="2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1371600" y="2133600"/>
            <a:ext cx="1219200" cy="6096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371600" y="5029200"/>
            <a:ext cx="1219200" cy="6096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10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if: </a:t>
            </a:r>
            <a:r>
              <a:rPr lang="en-US" sz="4400" dirty="0" smtClean="0">
                <a:solidFill>
                  <a:srgbClr val="FFC000"/>
                </a:solidFill>
              </a:rPr>
              <a:t>Example 2</a:t>
            </a:r>
            <a:endParaRPr lang="en-US" sz="4400" dirty="0">
              <a:solidFill>
                <a:srgbClr val="FFC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14400"/>
            <a:ext cx="8001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8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if: </a:t>
            </a:r>
            <a:r>
              <a:rPr lang="en-US" sz="4400" dirty="0" smtClean="0">
                <a:solidFill>
                  <a:srgbClr val="FFC000"/>
                </a:solidFill>
              </a:rPr>
              <a:t>Example 2</a:t>
            </a:r>
            <a:endParaRPr lang="en-US" sz="4400" dirty="0">
              <a:solidFill>
                <a:srgbClr val="FFC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752600"/>
            <a:ext cx="781050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49759"/>
            <a:ext cx="906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One-Way Selection – Identify the Error</a:t>
            </a:r>
            <a:endParaRPr lang="en-US" sz="42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>
                <a:solidFill>
                  <a:srgbClr val="0269AF"/>
                </a:solidFill>
                <a:latin typeface="LucidaSansTypewriter-Bd--Identity-H"/>
              </a:rPr>
              <a:t>if 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grade 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&gt;= 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60</a:t>
            </a:r>
            <a:endParaRPr lang="en-US" sz="3600" dirty="0">
              <a:solidFill>
                <a:srgbClr val="000000"/>
              </a:solidFill>
              <a:latin typeface="LucidaSansTypewriter--Identity-H"/>
            </a:endParaRPr>
          </a:p>
          <a:p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	</a:t>
            </a:r>
            <a:r>
              <a:rPr lang="en-US" sz="3600" dirty="0" err="1" smtClean="0">
                <a:solidFill>
                  <a:srgbClr val="000000"/>
                </a:solidFill>
                <a:latin typeface="LucidaSansTypewriter--Identity-H"/>
              </a:rPr>
              <a:t>cout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 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&lt;&lt; </a:t>
            </a:r>
            <a:r>
              <a:rPr lang="en-US" sz="3600" dirty="0">
                <a:solidFill>
                  <a:srgbClr val="80ADD4"/>
                </a:solidFill>
                <a:latin typeface="LucidaSansTypewriter-Bd--Identity-H"/>
              </a:rPr>
              <a:t>"Passed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"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;</a:t>
            </a:r>
          </a:p>
          <a:p>
            <a:endParaRPr lang="en-US" sz="3600" dirty="0">
              <a:solidFill>
                <a:srgbClr val="000000"/>
              </a:solidFill>
              <a:latin typeface="LucidaSansTypewriter--Identity-H"/>
            </a:endParaRPr>
          </a:p>
          <a:p>
            <a:r>
              <a:rPr lang="en-US" sz="3600" dirty="0">
                <a:solidFill>
                  <a:srgbClr val="0269AF"/>
                </a:solidFill>
                <a:latin typeface="LucidaSansTypewriter-Bd--Identity-H"/>
              </a:rPr>
              <a:t>if </a:t>
            </a:r>
            <a:r>
              <a:rPr lang="en-US" sz="3600" dirty="0">
                <a:latin typeface="LucidaSansTypewriter-Bd--Identity-H"/>
              </a:rPr>
              <a:t>(</a:t>
            </a:r>
            <a:r>
              <a:rPr lang="en-US" sz="3600" dirty="0" smtClean="0">
                <a:latin typeface="LucidaSansTypewriter--Identity-H"/>
              </a:rPr>
              <a:t>grade </a:t>
            </a:r>
            <a:r>
              <a:rPr lang="en-US" sz="3600" dirty="0">
                <a:latin typeface="LucidaSansTypewriter--Identity-H"/>
              </a:rPr>
              <a:t>&gt;= </a:t>
            </a:r>
            <a:r>
              <a:rPr lang="en-US" sz="3600" dirty="0" smtClean="0">
                <a:latin typeface="LucidaSansTypewriter-Bd--Identity-H"/>
              </a:rPr>
              <a:t>60);</a:t>
            </a:r>
            <a:endParaRPr lang="en-US" sz="3600" dirty="0">
              <a:latin typeface="LucidaSansTypewriter--Identity-H"/>
            </a:endParaRPr>
          </a:p>
          <a:p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	</a:t>
            </a:r>
            <a:r>
              <a:rPr lang="en-US" sz="3600" dirty="0" err="1">
                <a:solidFill>
                  <a:srgbClr val="000000"/>
                </a:solidFill>
                <a:latin typeface="LucidaSansTypewriter--Identity-H"/>
              </a:rPr>
              <a:t>cout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 &lt;&lt; </a:t>
            </a:r>
            <a:r>
              <a:rPr lang="en-US" sz="3600" dirty="0">
                <a:solidFill>
                  <a:srgbClr val="80ADD4"/>
                </a:solidFill>
                <a:latin typeface="LucidaSansTypewriter-Bd--Identity-H"/>
              </a:rPr>
              <a:t>"Passed"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;</a:t>
            </a:r>
            <a:endParaRPr lang="en-US" sz="3600" dirty="0">
              <a:solidFill>
                <a:prstClr val="black"/>
              </a:solidFill>
            </a:endParaRPr>
          </a:p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505200" y="1333382"/>
            <a:ext cx="4589508" cy="954107"/>
            <a:chOff x="4385389" y="2152166"/>
            <a:chExt cx="4589508" cy="954107"/>
          </a:xfrm>
        </p:grpSpPr>
        <p:sp>
          <p:nvSpPr>
            <p:cNvPr id="11" name="TextBox 10"/>
            <p:cNvSpPr txBox="1"/>
            <p:nvPr/>
          </p:nvSpPr>
          <p:spPr>
            <a:xfrm>
              <a:off x="6061789" y="2152166"/>
              <a:ext cx="29131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Syntax Error</a:t>
              </a:r>
            </a:p>
            <a:p>
              <a:r>
                <a:rPr lang="en-US" sz="2400" b="1" dirty="0" smtClean="0">
                  <a:solidFill>
                    <a:srgbClr val="002060"/>
                  </a:solidFill>
                </a:rPr>
                <a:t>Parentheses required</a:t>
              </a:r>
              <a:endParaRPr lang="en-US" sz="1100" b="1" dirty="0">
                <a:solidFill>
                  <a:srgbClr val="002060"/>
                </a:solidFill>
              </a:endParaRPr>
            </a:p>
          </p:txBody>
        </p:sp>
        <p:sp>
          <p:nvSpPr>
            <p:cNvPr id="12" name="Left Arrow 11"/>
            <p:cNvSpPr/>
            <p:nvPr/>
          </p:nvSpPr>
          <p:spPr>
            <a:xfrm>
              <a:off x="4385389" y="2235026"/>
              <a:ext cx="1543050" cy="533400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886200" y="2977136"/>
            <a:ext cx="4589508" cy="616260"/>
            <a:chOff x="4385389" y="2152166"/>
            <a:chExt cx="4589508" cy="616260"/>
          </a:xfrm>
        </p:grpSpPr>
        <p:sp>
          <p:nvSpPr>
            <p:cNvPr id="14" name="TextBox 13"/>
            <p:cNvSpPr txBox="1"/>
            <p:nvPr/>
          </p:nvSpPr>
          <p:spPr>
            <a:xfrm>
              <a:off x="6061789" y="2152166"/>
              <a:ext cx="29131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Logical Error</a:t>
              </a:r>
              <a:endParaRPr lang="en-US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15" name="Left Arrow 14"/>
            <p:cNvSpPr/>
            <p:nvPr/>
          </p:nvSpPr>
          <p:spPr>
            <a:xfrm>
              <a:off x="4385389" y="2235026"/>
              <a:ext cx="1543050" cy="533400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7796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4400" dirty="0">
              <a:solidFill>
                <a:srgbClr val="FFFF00"/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285875"/>
            <a:ext cx="72009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8825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Two-Way Selection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0274"/>
            <a:ext cx="86106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>
                <a:solidFill>
                  <a:prstClr val="black"/>
                </a:solidFill>
              </a:rPr>
              <a:t>Two-way selection takes the form:</a:t>
            </a:r>
          </a:p>
          <a:p>
            <a:endParaRPr lang="en-US" sz="3600" dirty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400" dirty="0" smtClean="0">
                <a:solidFill>
                  <a:prstClr val="black"/>
                </a:solidFill>
              </a:rPr>
              <a:t>If the condition is true </a:t>
            </a:r>
            <a:r>
              <a:rPr lang="en-US" sz="3400" i="1" dirty="0" smtClean="0">
                <a:solidFill>
                  <a:prstClr val="black"/>
                </a:solidFill>
              </a:rPr>
              <a:t>statement1</a:t>
            </a:r>
            <a:r>
              <a:rPr lang="en-US" sz="3400" dirty="0" smtClean="0">
                <a:solidFill>
                  <a:prstClr val="black"/>
                </a:solidFill>
              </a:rPr>
              <a:t> is executed</a:t>
            </a:r>
            <a:r>
              <a:rPr lang="en-US" sz="3400" dirty="0" smtClean="0">
                <a:solidFill>
                  <a:srgbClr val="002060"/>
                </a:solidFill>
              </a:rPr>
              <a:t>; </a:t>
            </a:r>
            <a:r>
              <a:rPr lang="en-US" sz="3400" dirty="0">
                <a:solidFill>
                  <a:prstClr val="black"/>
                </a:solidFill>
              </a:rPr>
              <a:t>otherwise </a:t>
            </a:r>
            <a:r>
              <a:rPr lang="en-US" sz="3400" i="1" dirty="0">
                <a:solidFill>
                  <a:prstClr val="black"/>
                </a:solidFill>
              </a:rPr>
              <a:t>statement2</a:t>
            </a:r>
            <a:r>
              <a:rPr lang="en-US" sz="3400" dirty="0">
                <a:solidFill>
                  <a:prstClr val="black"/>
                </a:solidFill>
              </a:rPr>
              <a:t> is executed. </a:t>
            </a:r>
            <a:endParaRPr lang="en-US" sz="3400" dirty="0" smtClean="0">
              <a:solidFill>
                <a:prstClr val="black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400" dirty="0">
              <a:solidFill>
                <a:prstClr val="black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else</a:t>
            </a:r>
            <a:r>
              <a:rPr lang="en-US" sz="3400" dirty="0" smtClean="0">
                <a:solidFill>
                  <a:prstClr val="black"/>
                </a:solidFill>
              </a:rPr>
              <a:t> is a reserved word.</a:t>
            </a:r>
            <a:endParaRPr lang="en-US" sz="34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478756" y="2110828"/>
            <a:ext cx="4007644" cy="1686358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else</a:t>
            </a:r>
          </a:p>
          <a:p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statement2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2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355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Two-Way Selection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12290" name="Picture 2" descr="if-then-el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89767"/>
            <a:ext cx="6858000" cy="489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436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Two-Way Selection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10242" name="Picture 2" descr="Image result for if else statement c++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24" y="1828800"/>
            <a:ext cx="8382000" cy="401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4022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if else: </a:t>
            </a:r>
            <a:r>
              <a:rPr lang="en-US" sz="4400" dirty="0" smtClean="0">
                <a:solidFill>
                  <a:srgbClr val="FFC000"/>
                </a:solidFill>
              </a:rPr>
              <a:t>Example 1</a:t>
            </a:r>
            <a:endParaRPr lang="en-US" sz="4400" dirty="0">
              <a:solidFill>
                <a:srgbClr val="FFC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447800"/>
            <a:ext cx="4686980" cy="3557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2708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49759"/>
            <a:ext cx="906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Two-Way Selection – Identify the Error</a:t>
            </a:r>
            <a:endParaRPr lang="en-US" sz="42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>
                <a:solidFill>
                  <a:srgbClr val="0269AF"/>
                </a:solidFill>
                <a:latin typeface="LucidaSansTypewriter-Bd--Identity-H"/>
              </a:rPr>
              <a:t>if </a:t>
            </a:r>
            <a:r>
              <a:rPr lang="en-US" sz="3600" dirty="0" smtClean="0">
                <a:latin typeface="LucidaSansTypewriter-Bd--Identity-H"/>
              </a:rPr>
              <a:t>(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grade 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&gt;= 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60</a:t>
            </a:r>
            <a:r>
              <a:rPr lang="en-US" sz="3600" dirty="0" smtClean="0">
                <a:latin typeface="LucidaSansTypewriter-Bd--Identity-H"/>
              </a:rPr>
              <a:t>)</a:t>
            </a:r>
            <a:endParaRPr lang="en-US" sz="3600" dirty="0">
              <a:latin typeface="LucidaSansTypewriter--Identity-H"/>
            </a:endParaRPr>
          </a:p>
          <a:p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	</a:t>
            </a:r>
            <a:r>
              <a:rPr lang="en-US" sz="3600" dirty="0" err="1" smtClean="0">
                <a:solidFill>
                  <a:srgbClr val="000000"/>
                </a:solidFill>
                <a:latin typeface="LucidaSansTypewriter--Identity-H"/>
              </a:rPr>
              <a:t>cout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 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&lt;&lt; </a:t>
            </a:r>
            <a:r>
              <a:rPr lang="en-US" sz="3600" dirty="0">
                <a:solidFill>
                  <a:srgbClr val="80ADD4"/>
                </a:solidFill>
                <a:latin typeface="LucidaSansTypewriter-Bd--Identity-H"/>
              </a:rPr>
              <a:t>"Passed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"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;</a:t>
            </a:r>
          </a:p>
          <a:p>
            <a:r>
              <a:rPr lang="en-US" sz="3600" dirty="0" smtClean="0">
                <a:solidFill>
                  <a:srgbClr val="0269AF"/>
                </a:solidFill>
                <a:latin typeface="LucidaSansTypewriter-Bd--Identity-H"/>
              </a:rPr>
              <a:t>else </a:t>
            </a:r>
            <a:r>
              <a:rPr lang="en-US" sz="3600" dirty="0">
                <a:latin typeface="LucidaSansTypewriter-Bd--Identity-H"/>
              </a:rPr>
              <a:t>(</a:t>
            </a:r>
            <a:r>
              <a:rPr lang="en-US" sz="3600" dirty="0" smtClean="0">
                <a:latin typeface="LucidaSansTypewriter--Identity-H"/>
              </a:rPr>
              <a:t>grade &lt; </a:t>
            </a:r>
            <a:r>
              <a:rPr lang="en-US" sz="3600" dirty="0" smtClean="0">
                <a:latin typeface="LucidaSansTypewriter-Bd--Identity-H"/>
              </a:rPr>
              <a:t>60)</a:t>
            </a:r>
            <a:endParaRPr lang="en-US" sz="3600" dirty="0">
              <a:latin typeface="LucidaSansTypewriter--Identity-H"/>
            </a:endParaRPr>
          </a:p>
          <a:p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	</a:t>
            </a:r>
            <a:r>
              <a:rPr lang="en-US" sz="3600" dirty="0" err="1">
                <a:solidFill>
                  <a:srgbClr val="000000"/>
                </a:solidFill>
                <a:latin typeface="LucidaSansTypewriter--Identity-H"/>
              </a:rPr>
              <a:t>cout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 &lt;&lt; 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“Failed"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;</a:t>
            </a:r>
            <a:endParaRPr lang="en-US" sz="3600" dirty="0">
              <a:solidFill>
                <a:prstClr val="black"/>
              </a:solidFill>
            </a:endParaRPr>
          </a:p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62400" y="2431740"/>
            <a:ext cx="4589508" cy="1323439"/>
            <a:chOff x="4385389" y="2152166"/>
            <a:chExt cx="4589508" cy="1323439"/>
          </a:xfrm>
        </p:grpSpPr>
        <p:sp>
          <p:nvSpPr>
            <p:cNvPr id="11" name="TextBox 10"/>
            <p:cNvSpPr txBox="1"/>
            <p:nvPr/>
          </p:nvSpPr>
          <p:spPr>
            <a:xfrm>
              <a:off x="6061789" y="2152166"/>
              <a:ext cx="29131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Syntax Error</a:t>
              </a:r>
            </a:p>
            <a:p>
              <a:r>
                <a:rPr lang="en-US" sz="2400" b="1" dirty="0">
                  <a:solidFill>
                    <a:srgbClr val="002060"/>
                  </a:solidFill>
                </a:rPr>
                <a:t>e</a:t>
              </a:r>
              <a:r>
                <a:rPr lang="en-US" sz="2400" b="1" dirty="0" smtClean="0">
                  <a:solidFill>
                    <a:srgbClr val="002060"/>
                  </a:solidFill>
                </a:rPr>
                <a:t>lse does not require a condition</a:t>
              </a:r>
              <a:endParaRPr lang="en-US" sz="1100" b="1" dirty="0">
                <a:solidFill>
                  <a:srgbClr val="002060"/>
                </a:solidFill>
              </a:endParaRPr>
            </a:p>
          </p:txBody>
        </p:sp>
        <p:sp>
          <p:nvSpPr>
            <p:cNvPr id="12" name="Left Arrow 11"/>
            <p:cNvSpPr/>
            <p:nvPr/>
          </p:nvSpPr>
          <p:spPr>
            <a:xfrm>
              <a:off x="4385389" y="2235026"/>
              <a:ext cx="1543050" cy="533400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116593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49759"/>
            <a:ext cx="906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Two-Way Selection – Identify the Error</a:t>
            </a:r>
            <a:endParaRPr lang="en-US" sz="42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>
                <a:solidFill>
                  <a:srgbClr val="0269AF"/>
                </a:solidFill>
                <a:latin typeface="LucidaSansTypewriter-Bd--Identity-H"/>
              </a:rPr>
              <a:t>if </a:t>
            </a:r>
            <a:r>
              <a:rPr lang="en-US" sz="3600" dirty="0" smtClean="0">
                <a:latin typeface="LucidaSansTypewriter-Bd--Identity-H"/>
              </a:rPr>
              <a:t>(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grade 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&gt;= 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60</a:t>
            </a:r>
            <a:r>
              <a:rPr lang="en-US" sz="3600" dirty="0" smtClean="0">
                <a:latin typeface="LucidaSansTypewriter-Bd--Identity-H"/>
              </a:rPr>
              <a:t>);</a:t>
            </a:r>
            <a:endParaRPr lang="en-US" sz="3600" dirty="0">
              <a:latin typeface="LucidaSansTypewriter--Identity-H"/>
            </a:endParaRPr>
          </a:p>
          <a:p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	</a:t>
            </a:r>
            <a:r>
              <a:rPr lang="en-US" sz="3600" dirty="0" err="1" smtClean="0">
                <a:solidFill>
                  <a:srgbClr val="000000"/>
                </a:solidFill>
                <a:latin typeface="LucidaSansTypewriter--Identity-H"/>
              </a:rPr>
              <a:t>cout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 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&lt;&lt; </a:t>
            </a:r>
            <a:r>
              <a:rPr lang="en-US" sz="3600" dirty="0">
                <a:solidFill>
                  <a:srgbClr val="80ADD4"/>
                </a:solidFill>
                <a:latin typeface="LucidaSansTypewriter-Bd--Identity-H"/>
              </a:rPr>
              <a:t>"Passed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"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;</a:t>
            </a:r>
          </a:p>
          <a:p>
            <a:r>
              <a:rPr lang="en-US" sz="3600" dirty="0" smtClean="0">
                <a:solidFill>
                  <a:srgbClr val="0269AF"/>
                </a:solidFill>
                <a:latin typeface="LucidaSansTypewriter-Bd--Identity-H"/>
              </a:rPr>
              <a:t>else</a:t>
            </a:r>
            <a:endParaRPr lang="en-US" sz="3600" dirty="0">
              <a:latin typeface="LucidaSansTypewriter--Identity-H"/>
            </a:endParaRPr>
          </a:p>
          <a:p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	</a:t>
            </a:r>
            <a:r>
              <a:rPr lang="en-US" sz="3600" dirty="0" err="1">
                <a:solidFill>
                  <a:srgbClr val="000000"/>
                </a:solidFill>
                <a:latin typeface="LucidaSansTypewriter--Identity-H"/>
              </a:rPr>
              <a:t>cout</a:t>
            </a:r>
            <a:r>
              <a:rPr lang="en-US" sz="3600" dirty="0">
                <a:solidFill>
                  <a:srgbClr val="000000"/>
                </a:solidFill>
                <a:latin typeface="LucidaSansTypewriter--Identity-H"/>
              </a:rPr>
              <a:t> &lt;&lt; </a:t>
            </a:r>
            <a:r>
              <a:rPr lang="en-US" sz="3600" dirty="0" smtClean="0">
                <a:solidFill>
                  <a:srgbClr val="80ADD4"/>
                </a:solidFill>
                <a:latin typeface="LucidaSansTypewriter-Bd--Identity-H"/>
              </a:rPr>
              <a:t>“Failed"</a:t>
            </a:r>
            <a:r>
              <a:rPr lang="en-US" sz="3600" dirty="0" smtClean="0">
                <a:solidFill>
                  <a:srgbClr val="000000"/>
                </a:solidFill>
                <a:latin typeface="LucidaSansTypewriter--Identity-H"/>
              </a:rPr>
              <a:t>;</a:t>
            </a:r>
            <a:endParaRPr lang="en-US" sz="3600" dirty="0">
              <a:solidFill>
                <a:prstClr val="black"/>
              </a:solidFill>
            </a:endParaRPr>
          </a:p>
          <a:p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886200" y="1364506"/>
            <a:ext cx="4589508" cy="1323439"/>
            <a:chOff x="4385389" y="2152166"/>
            <a:chExt cx="4589508" cy="1323439"/>
          </a:xfrm>
        </p:grpSpPr>
        <p:sp>
          <p:nvSpPr>
            <p:cNvPr id="11" name="TextBox 10"/>
            <p:cNvSpPr txBox="1"/>
            <p:nvPr/>
          </p:nvSpPr>
          <p:spPr>
            <a:xfrm>
              <a:off x="6061789" y="2152166"/>
              <a:ext cx="29131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Syntax Error</a:t>
              </a:r>
            </a:p>
            <a:p>
              <a:r>
                <a:rPr lang="en-US" sz="2400" b="1" dirty="0" smtClean="0">
                  <a:solidFill>
                    <a:srgbClr val="002060"/>
                  </a:solidFill>
                </a:rPr>
                <a:t>No stand-alone else statement in C++</a:t>
              </a:r>
              <a:endParaRPr lang="en-US" sz="1100" b="1" dirty="0">
                <a:solidFill>
                  <a:srgbClr val="002060"/>
                </a:solidFill>
              </a:endParaRPr>
            </a:p>
          </p:txBody>
        </p:sp>
        <p:sp>
          <p:nvSpPr>
            <p:cNvPr id="12" name="Left Arrow 11"/>
            <p:cNvSpPr/>
            <p:nvPr/>
          </p:nvSpPr>
          <p:spPr>
            <a:xfrm>
              <a:off x="4385389" y="2235026"/>
              <a:ext cx="1543050" cy="533400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32378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Compound (Block of) 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905000" y="1379184"/>
            <a:ext cx="5334000" cy="505990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 lvl="1"/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  <a:endParaRPr lang="en-US" altLang="en-US" sz="2800" b="1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statement2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…</a:t>
            </a:r>
          </a:p>
          <a:p>
            <a:pPr lvl="1"/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  <a:endParaRPr lang="en-US" altLang="en-US" sz="2800" b="1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e</a:t>
            </a: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lse</a:t>
            </a:r>
          </a:p>
          <a:p>
            <a:pPr lvl="1"/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 lvl="1"/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statement3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lvl="2"/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statement2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pPr lvl="2"/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…</a:t>
            </a:r>
          </a:p>
          <a:p>
            <a:pPr lvl="1"/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71600" y="1848118"/>
            <a:ext cx="1219200" cy="390765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1383406" y="4418769"/>
            <a:ext cx="1219200" cy="390765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1371600" y="3543837"/>
            <a:ext cx="1219200" cy="390765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1371600" y="6086235"/>
            <a:ext cx="1219200" cy="390765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52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Compound (Block of) 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49" y="1696792"/>
            <a:ext cx="8344451" cy="395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275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if else: </a:t>
            </a:r>
            <a:r>
              <a:rPr lang="en-US" sz="4400" dirty="0" smtClean="0">
                <a:solidFill>
                  <a:srgbClr val="FFC000"/>
                </a:solidFill>
              </a:rPr>
              <a:t>Example 2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600200"/>
            <a:ext cx="4090987" cy="406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2195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762000"/>
            <a:ext cx="9144000" cy="6096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8A463-57E1-43EA-AD68-B8982F5B8478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295400"/>
            <a:ext cx="4819650" cy="490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0" y="0"/>
            <a:ext cx="9144000" cy="76944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if else: </a:t>
            </a:r>
            <a:r>
              <a:rPr lang="en-US" sz="4400" dirty="0" smtClean="0">
                <a:solidFill>
                  <a:srgbClr val="FFC000"/>
                </a:solidFill>
              </a:rPr>
              <a:t>Example 3</a:t>
            </a:r>
          </a:p>
        </p:txBody>
      </p:sp>
    </p:spTree>
    <p:extLst>
      <p:ext uri="{BB962C8B-B14F-4D97-AF65-F5344CB8AC3E}">
        <p14:creationId xmlns:p14="http://schemas.microsoft.com/office/powerpoint/2010/main" val="90823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30523"/>
            <a:ext cx="6782975" cy="37360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49759"/>
            <a:ext cx="906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What happens </a:t>
            </a:r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if </a:t>
            </a:r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you omit the braces?</a:t>
            </a:r>
            <a:endParaRPr lang="en-US" sz="42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1600" y="2545883"/>
            <a:ext cx="34465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Compile Time Error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No stand-alone else statement in C++</a:t>
            </a:r>
            <a:endParaRPr lang="en-US" sz="11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416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15" y="1681102"/>
            <a:ext cx="8001893" cy="43764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49759"/>
            <a:ext cx="906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What will be the output?</a:t>
            </a:r>
            <a:endParaRPr lang="en-US" sz="42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9515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49759"/>
            <a:ext cx="906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What will be the output?</a:t>
            </a:r>
            <a:endParaRPr lang="en-US" sz="42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83" y="1524000"/>
            <a:ext cx="8196233" cy="447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12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" y="449759"/>
            <a:ext cx="9067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 smtClean="0">
                <a:solidFill>
                  <a:srgbClr val="F79646">
                    <a:lumMod val="75000"/>
                  </a:srgbClr>
                </a:solidFill>
              </a:rPr>
              <a:t>What will be the output?</a:t>
            </a:r>
            <a:endParaRPr lang="en-US" sz="42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61092"/>
            <a:ext cx="7467602" cy="309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400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Multiple Selection – </a:t>
            </a:r>
            <a:r>
              <a:rPr lang="en-US" sz="4400" b="1" i="1" dirty="0">
                <a:solidFill>
                  <a:srgbClr val="002060"/>
                </a:solidFill>
              </a:rPr>
              <a:t>Nested if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60274"/>
            <a:ext cx="89916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u="sng" dirty="0" smtClean="0">
                <a:solidFill>
                  <a:prstClr val="black"/>
                </a:solidFill>
              </a:rPr>
              <a:t>Nesting</a:t>
            </a:r>
            <a:r>
              <a:rPr lang="en-US" sz="3600" dirty="0" smtClean="0">
                <a:solidFill>
                  <a:prstClr val="black"/>
                </a:solidFill>
              </a:rPr>
              <a:t>: One control statement within another</a:t>
            </a:r>
            <a:endParaRPr lang="en-US" sz="3600" dirty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72778" y="2667000"/>
            <a:ext cx="6750844" cy="28194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condition2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88847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Multiple Selection – </a:t>
            </a:r>
            <a:r>
              <a:rPr lang="en-US" sz="4400" b="1" i="1" dirty="0">
                <a:solidFill>
                  <a:srgbClr val="002060"/>
                </a:solidFill>
              </a:rPr>
              <a:t>Nested if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396184"/>
            <a:ext cx="4800600" cy="496044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 </a:t>
            </a:r>
          </a:p>
          <a:p>
            <a:pPr>
              <a:buFontTx/>
              <a:buNone/>
            </a:pP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else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condition2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	statement;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else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	statement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2800" b="1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}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085" y="2286000"/>
            <a:ext cx="6856315" cy="328285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Oval 1"/>
          <p:cNvSpPr/>
          <p:nvPr/>
        </p:nvSpPr>
        <p:spPr>
          <a:xfrm>
            <a:off x="2059085" y="2277414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01142" y="3002481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748565" y="3722088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95988" y="4438569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113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1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9191"/>
            <a:ext cx="5974035" cy="28604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375" y="3006057"/>
            <a:ext cx="7542799" cy="3143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Multiple Selection – </a:t>
            </a:r>
            <a:r>
              <a:rPr lang="en-US" sz="4400" b="1" i="1" dirty="0" smtClean="0">
                <a:solidFill>
                  <a:srgbClr val="002060"/>
                </a:solidFill>
              </a:rPr>
              <a:t>if-else-if</a:t>
            </a:r>
            <a:endParaRPr lang="en-US" sz="4400" b="1" i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5638800" y="1736917"/>
            <a:ext cx="1676400" cy="971092"/>
          </a:xfrm>
          <a:prstGeom prst="curvedDownArrow">
            <a:avLst>
              <a:gd name="adj1" fmla="val 19898"/>
              <a:gd name="adj2" fmla="val 75710"/>
              <a:gd name="adj3" fmla="val 39085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54085" y="1341979"/>
            <a:ext cx="940619" cy="120803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3422899"/>
            <a:ext cx="1180258" cy="69190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231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F79646">
                    <a:lumMod val="75000"/>
                  </a:srgbClr>
                </a:solidFill>
              </a:rPr>
              <a:t>Comparison </a:t>
            </a:r>
          </a:p>
          <a:p>
            <a:pPr algn="ctr"/>
            <a:r>
              <a:rPr lang="en-US" sz="5400" b="1" i="1" dirty="0" smtClean="0">
                <a:solidFill>
                  <a:srgbClr val="002060"/>
                </a:solidFill>
              </a:rPr>
              <a:t>If – else – if  </a:t>
            </a:r>
          </a:p>
          <a:p>
            <a:pPr algn="ctr"/>
            <a:r>
              <a:rPr lang="en-US" sz="5400" b="1" dirty="0" smtClean="0">
                <a:solidFill>
                  <a:srgbClr val="F79646">
                    <a:lumMod val="75000"/>
                  </a:srgbClr>
                </a:solidFill>
              </a:rPr>
              <a:t>vs</a:t>
            </a:r>
            <a:r>
              <a:rPr lang="en-US" sz="5400" b="1" i="1" dirty="0" smtClean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sz="5400" dirty="0" smtClean="0"/>
              <a:t>series of</a:t>
            </a:r>
            <a:r>
              <a:rPr lang="en-US" sz="5400" b="1" i="1" dirty="0" smtClean="0">
                <a:solidFill>
                  <a:srgbClr val="002060"/>
                </a:solidFill>
              </a:rPr>
              <a:t> if </a:t>
            </a:r>
            <a:r>
              <a:rPr lang="en-US" sz="5400" dirty="0"/>
              <a:t>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28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79646">
                    <a:lumMod val="75000"/>
                  </a:srgbClr>
                </a:solidFill>
              </a:rPr>
              <a:t>Comparison – </a:t>
            </a:r>
            <a:r>
              <a:rPr lang="en-US" sz="3600" b="1" i="1" dirty="0" smtClean="0">
                <a:solidFill>
                  <a:srgbClr val="002060"/>
                </a:solidFill>
              </a:rPr>
              <a:t>If-else-if </a:t>
            </a:r>
            <a:r>
              <a:rPr lang="en-US" sz="3600" b="1" dirty="0">
                <a:solidFill>
                  <a:srgbClr val="F79646">
                    <a:lumMod val="75000"/>
                  </a:srgbClr>
                </a:solidFill>
              </a:rPr>
              <a:t>vs</a:t>
            </a:r>
            <a:r>
              <a:rPr lang="en-US" sz="3600" b="1" i="1" dirty="0" smtClean="0">
                <a:solidFill>
                  <a:srgbClr val="002060"/>
                </a:solidFill>
              </a:rPr>
              <a:t> </a:t>
            </a:r>
            <a:r>
              <a:rPr lang="en-US" sz="3600" dirty="0" smtClean="0"/>
              <a:t>series of</a:t>
            </a:r>
            <a:r>
              <a:rPr lang="en-US" sz="3600" b="1" i="1" dirty="0" smtClean="0">
                <a:solidFill>
                  <a:srgbClr val="002060"/>
                </a:solidFill>
              </a:rPr>
              <a:t> if </a:t>
            </a:r>
            <a:r>
              <a:rPr lang="en-US" sz="3600" dirty="0"/>
              <a:t>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86627"/>
            <a:ext cx="4757738" cy="437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371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79646">
                    <a:lumMod val="75000"/>
                  </a:srgbClr>
                </a:solidFill>
              </a:rPr>
              <a:t>Comparison – </a:t>
            </a:r>
            <a:r>
              <a:rPr lang="en-US" sz="3600" b="1" i="1" dirty="0" smtClean="0">
                <a:solidFill>
                  <a:srgbClr val="002060"/>
                </a:solidFill>
              </a:rPr>
              <a:t>If-else-if </a:t>
            </a:r>
            <a:r>
              <a:rPr lang="en-US" sz="3600" b="1" dirty="0">
                <a:solidFill>
                  <a:srgbClr val="F79646">
                    <a:lumMod val="75000"/>
                  </a:srgbClr>
                </a:solidFill>
              </a:rPr>
              <a:t>vs</a:t>
            </a:r>
            <a:r>
              <a:rPr lang="en-US" sz="3600" b="1" i="1" dirty="0" smtClean="0">
                <a:solidFill>
                  <a:srgbClr val="002060"/>
                </a:solidFill>
              </a:rPr>
              <a:t> </a:t>
            </a:r>
            <a:r>
              <a:rPr lang="en-US" sz="3600" dirty="0" smtClean="0"/>
              <a:t>series of</a:t>
            </a:r>
            <a:r>
              <a:rPr lang="en-US" sz="3600" b="1" i="1" dirty="0" smtClean="0">
                <a:solidFill>
                  <a:srgbClr val="002060"/>
                </a:solidFill>
              </a:rPr>
              <a:t> if </a:t>
            </a:r>
            <a:r>
              <a:rPr lang="en-US" sz="3600" dirty="0"/>
              <a:t>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752600"/>
            <a:ext cx="5181600" cy="374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34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 – </a:t>
            </a:r>
            <a:r>
              <a:rPr lang="en-US" sz="4400" b="1" i="1" dirty="0" smtClean="0">
                <a:solidFill>
                  <a:srgbClr val="002060"/>
                </a:solidFill>
              </a:rPr>
              <a:t>Nested if</a:t>
            </a:r>
            <a:endParaRPr lang="en-US" sz="3600" i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64160"/>
            <a:ext cx="8229600" cy="4762004"/>
          </a:xfrm>
        </p:spPr>
        <p:txBody>
          <a:bodyPr>
            <a:normAutofit/>
          </a:bodyPr>
          <a:lstStyle/>
          <a:p>
            <a:r>
              <a:rPr lang="en-US" dirty="0" smtClean="0"/>
              <a:t>Air Force has asked you to write a program to label aircrafts as military or civilian. Your program input is plane’s speed and its estimated length. </a:t>
            </a:r>
          </a:p>
          <a:p>
            <a:r>
              <a:rPr lang="en-US" dirty="0" smtClean="0"/>
              <a:t>For planes travelling faster than 1100 km/</a:t>
            </a:r>
            <a:r>
              <a:rPr lang="en-US" dirty="0" err="1" smtClean="0"/>
              <a:t>hr</a:t>
            </a:r>
            <a:r>
              <a:rPr lang="en-US" dirty="0" smtClean="0"/>
              <a:t>, you will label those shorter than 52m as “military” and longer as “civilian”.</a:t>
            </a:r>
          </a:p>
          <a:p>
            <a:r>
              <a:rPr lang="en-US" dirty="0" smtClean="0"/>
              <a:t>For planes travelling less than 1100 km/</a:t>
            </a:r>
            <a:r>
              <a:rPr lang="en-US" dirty="0" err="1" smtClean="0"/>
              <a:t>hr</a:t>
            </a:r>
            <a:r>
              <a:rPr lang="en-US" dirty="0" smtClean="0"/>
              <a:t>, you will issue an “aircraft unknown” statement.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570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 – </a:t>
            </a:r>
            <a:r>
              <a:rPr lang="en-US" sz="4400" b="1" i="1" dirty="0" smtClean="0">
                <a:solidFill>
                  <a:srgbClr val="002060"/>
                </a:solidFill>
              </a:rPr>
              <a:t>Nested if</a:t>
            </a:r>
            <a:endParaRPr lang="en-US" sz="3600" i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64160"/>
            <a:ext cx="8229600" cy="4762004"/>
          </a:xfrm>
        </p:spPr>
        <p:txBody>
          <a:bodyPr>
            <a:normAutofit/>
          </a:bodyPr>
          <a:lstStyle/>
          <a:p>
            <a:r>
              <a:rPr lang="en-US" dirty="0" smtClean="0"/>
              <a:t>Write a program that takes an integer input from user and displays one word to describe the </a:t>
            </a:r>
            <a:r>
              <a:rPr lang="en-US" dirty="0" err="1" smtClean="0"/>
              <a:t>int</a:t>
            </a:r>
            <a:r>
              <a:rPr lang="en-US" dirty="0" smtClean="0"/>
              <a:t> value of number is “Positive”, “Negative” or “Zero”.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5174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Operator (?:)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64160"/>
            <a:ext cx="8229600" cy="4762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C++ also provides an </a:t>
            </a:r>
            <a:r>
              <a:rPr lang="en-US" b="1" dirty="0" smtClean="0"/>
              <a:t>operator</a:t>
            </a:r>
            <a:r>
              <a:rPr lang="en-US" dirty="0" smtClean="0"/>
              <a:t> to deal with </a:t>
            </a:r>
            <a:r>
              <a:rPr lang="en-US" b="1" i="1" dirty="0" smtClean="0"/>
              <a:t>if…else</a:t>
            </a:r>
            <a:r>
              <a:rPr lang="en-US" dirty="0" smtClean="0"/>
              <a:t> scenarios.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This is called </a:t>
            </a:r>
            <a:r>
              <a:rPr lang="en-US" b="1" dirty="0" smtClean="0">
                <a:solidFill>
                  <a:srgbClr val="C00000"/>
                </a:solidFill>
              </a:rPr>
              <a:t>Conditional Operator (?:)</a:t>
            </a:r>
          </a:p>
          <a:p>
            <a:r>
              <a:rPr lang="en-US" dirty="0" smtClean="0"/>
              <a:t>It takes three arguments</a:t>
            </a:r>
          </a:p>
          <a:p>
            <a:pPr lvl="1"/>
            <a:r>
              <a:rPr lang="en-US" dirty="0" smtClean="0"/>
              <a:t>Ternary Operator</a:t>
            </a:r>
          </a:p>
          <a:p>
            <a:pPr marL="0" indent="0"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137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Operator (?:)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0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>
                <a:solidFill>
                  <a:prstClr val="black"/>
                </a:solidFill>
              </a:rPr>
              <a:t>The syntax of using conditiona</a:t>
            </a:r>
            <a:r>
              <a:rPr lang="en-US" sz="3600" dirty="0">
                <a:solidFill>
                  <a:prstClr val="black"/>
                </a:solidFill>
              </a:rPr>
              <a:t>l</a:t>
            </a:r>
            <a:r>
              <a:rPr lang="en-US" sz="3600" dirty="0" smtClean="0">
                <a:solidFill>
                  <a:prstClr val="black"/>
                </a:solidFill>
              </a:rPr>
              <a:t> operator is:</a:t>
            </a:r>
          </a:p>
          <a:p>
            <a:endParaRPr lang="en-US" sz="3600" dirty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0" y="2133600"/>
            <a:ext cx="9131121" cy="131519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32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3200" b="1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)</a:t>
            </a:r>
            <a:r>
              <a:rPr lang="en-US" altLang="en-US" sz="32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3200" b="1" i="1" dirty="0" smtClean="0">
                <a:solidFill>
                  <a:srgbClr val="00B050"/>
                </a:solidFill>
                <a:latin typeface="Courier New" panose="02070309020205020404" pitchFamily="49" charset="0"/>
              </a:rPr>
              <a:t>expression1</a:t>
            </a:r>
            <a:r>
              <a:rPr lang="en-US" altLang="en-US" sz="32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:</a:t>
            </a:r>
            <a:r>
              <a:rPr lang="en-US" altLang="en-US" sz="32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expression2</a:t>
            </a: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32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Oval Callout 11"/>
          <p:cNvSpPr/>
          <p:nvPr/>
        </p:nvSpPr>
        <p:spPr>
          <a:xfrm>
            <a:off x="314458" y="4103864"/>
            <a:ext cx="2047741" cy="1534935"/>
          </a:xfrm>
          <a:prstGeom prst="wedgeEllipseCallout">
            <a:avLst>
              <a:gd name="adj1" fmla="val 10153"/>
              <a:gd name="adj2" fmla="val -12878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Condition is evaluated</a:t>
            </a:r>
            <a:endParaRPr lang="en-US" sz="2000" dirty="0"/>
          </a:p>
        </p:txBody>
      </p:sp>
      <p:sp>
        <p:nvSpPr>
          <p:cNvPr id="13" name="Oval Callout 12"/>
          <p:cNvSpPr/>
          <p:nvPr/>
        </p:nvSpPr>
        <p:spPr>
          <a:xfrm>
            <a:off x="2971800" y="4363194"/>
            <a:ext cx="2514600" cy="1670639"/>
          </a:xfrm>
          <a:prstGeom prst="wedgeEllipseCallout">
            <a:avLst>
              <a:gd name="adj1" fmla="val 10153"/>
              <a:gd name="adj2" fmla="val -12878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Result is expression1 if condition is </a:t>
            </a:r>
            <a:r>
              <a:rPr lang="en-US" sz="2000" b="1" dirty="0" smtClean="0"/>
              <a:t>true</a:t>
            </a:r>
            <a:endParaRPr lang="en-US" sz="2000" b="1" dirty="0"/>
          </a:p>
        </p:txBody>
      </p:sp>
      <p:sp>
        <p:nvSpPr>
          <p:cNvPr id="14" name="Oval Callout 13"/>
          <p:cNvSpPr/>
          <p:nvPr/>
        </p:nvSpPr>
        <p:spPr>
          <a:xfrm>
            <a:off x="5905500" y="4363193"/>
            <a:ext cx="2514600" cy="1670639"/>
          </a:xfrm>
          <a:prstGeom prst="wedgeEllipseCallout">
            <a:avLst>
              <a:gd name="adj1" fmla="val 10153"/>
              <a:gd name="adj2" fmla="val -12878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Result is expression2 if condition is </a:t>
            </a:r>
            <a:r>
              <a:rPr lang="en-US" sz="2000" b="1" dirty="0" smtClean="0"/>
              <a:t>false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54505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1436805"/>
            <a:ext cx="7308224" cy="3693319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variable declaration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?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30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40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"value of x: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625" y="21593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Operator (?:)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3625" y="1055169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0844587">
            <a:off x="5334000" y="2022853"/>
            <a:ext cx="388620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C00000"/>
                </a:solidFill>
              </a:rPr>
              <a:t>Output</a:t>
            </a:r>
            <a:endParaRPr lang="en-US" sz="4400" b="1" dirty="0">
              <a:solidFill>
                <a:srgbClr val="C00000"/>
              </a:solidFill>
            </a:endParaRPr>
          </a:p>
          <a:p>
            <a:pPr algn="ctr"/>
            <a:r>
              <a:rPr lang="en-US" sz="11500" b="1" dirty="0" smtClean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011" y="2500050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C00000"/>
                </a:solidFill>
              </a:rPr>
              <a:t>value of x: 40</a:t>
            </a:r>
            <a:endParaRPr lang="en-US" sz="115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7888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C++ Selection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C</a:t>
            </a:r>
            <a:r>
              <a:rPr lang="en-US" sz="3200" dirty="0"/>
              <a:t>++ provides </a:t>
            </a:r>
            <a:r>
              <a:rPr lang="en-US" sz="3200" b="1" dirty="0"/>
              <a:t>two</a:t>
            </a:r>
            <a:r>
              <a:rPr lang="en-US" sz="3200" dirty="0"/>
              <a:t> types of selections statements</a:t>
            </a:r>
            <a:r>
              <a:rPr lang="en-US" sz="3200" dirty="0" smtClean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i="1" dirty="0" smtClean="0">
                <a:solidFill>
                  <a:srgbClr val="002060"/>
                </a:solidFill>
              </a:rPr>
              <a:t>if</a:t>
            </a:r>
            <a:r>
              <a:rPr lang="en-US" sz="3200" dirty="0">
                <a:solidFill>
                  <a:srgbClr val="002060"/>
                </a:solidFill>
              </a:rPr>
              <a:t> 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FF0000"/>
                </a:solidFill>
              </a:rPr>
              <a:t>s</a:t>
            </a:r>
            <a:r>
              <a:rPr lang="en-US" sz="3200" i="1" dirty="0" smtClean="0">
                <a:solidFill>
                  <a:srgbClr val="FF0000"/>
                </a:solidFill>
              </a:rPr>
              <a:t>witch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algn="ctr"/>
            <a:endParaRPr lang="en-US" sz="3200" u="sng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2979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990600"/>
            <a:ext cx="5257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17658</TotalTime>
  <Words>933</Words>
  <Application>Microsoft Office PowerPoint</Application>
  <PresentationFormat>On-screen Show (4:3)</PresentationFormat>
  <Paragraphs>279</Paragraphs>
  <Slides>50</Slides>
  <Notes>41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Arial</vt:lpstr>
      <vt:lpstr>Calibri</vt:lpstr>
      <vt:lpstr>Cambria</vt:lpstr>
      <vt:lpstr>Courier New</vt:lpstr>
      <vt:lpstr>Helvetica</vt:lpstr>
      <vt:lpstr>LucidaSansTypewriter-Bd--Identity-H</vt:lpstr>
      <vt:lpstr>LucidaSansTypewriter--Identity-H</vt:lpstr>
      <vt:lpstr>Times New Roman</vt:lpstr>
      <vt:lpstr>Wingdings</vt:lpstr>
      <vt:lpstr>Wingdings 2</vt:lpstr>
      <vt:lpstr>Office Theme</vt:lpstr>
      <vt:lpstr>1_Office Theme</vt:lpstr>
      <vt:lpstr>Civic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1387</cp:revision>
  <dcterms:created xsi:type="dcterms:W3CDTF">2006-08-16T00:00:00Z</dcterms:created>
  <dcterms:modified xsi:type="dcterms:W3CDTF">2018-10-12T06:23:38Z</dcterms:modified>
</cp:coreProperties>
</file>