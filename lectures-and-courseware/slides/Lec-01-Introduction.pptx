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9.xml" ContentType="application/vnd.openxmlformats-officedocument.theme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10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1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0" r:id="rId6"/>
    <p:sldMasterId id="2147483736" r:id="rId7"/>
    <p:sldMasterId id="2147483748" r:id="rId8"/>
    <p:sldMasterId id="2147483760" r:id="rId9"/>
    <p:sldMasterId id="2147483772" r:id="rId10"/>
    <p:sldMasterId id="2147483784" r:id="rId11"/>
    <p:sldMasterId id="2147483796" r:id="rId12"/>
  </p:sldMasterIdLst>
  <p:notesMasterIdLst>
    <p:notesMasterId r:id="rId94"/>
  </p:notesMasterIdLst>
  <p:sldIdLst>
    <p:sldId id="256" r:id="rId13"/>
    <p:sldId id="258" r:id="rId14"/>
    <p:sldId id="259" r:id="rId15"/>
    <p:sldId id="295" r:id="rId16"/>
    <p:sldId id="276" r:id="rId17"/>
    <p:sldId id="298" r:id="rId18"/>
    <p:sldId id="299" r:id="rId19"/>
    <p:sldId id="277" r:id="rId20"/>
    <p:sldId id="278" r:id="rId21"/>
    <p:sldId id="300" r:id="rId22"/>
    <p:sldId id="301" r:id="rId23"/>
    <p:sldId id="307" r:id="rId24"/>
    <p:sldId id="310" r:id="rId25"/>
    <p:sldId id="311" r:id="rId26"/>
    <p:sldId id="308" r:id="rId27"/>
    <p:sldId id="306" r:id="rId28"/>
    <p:sldId id="302" r:id="rId29"/>
    <p:sldId id="296" r:id="rId30"/>
    <p:sldId id="303" r:id="rId31"/>
    <p:sldId id="370" r:id="rId32"/>
    <p:sldId id="297" r:id="rId33"/>
    <p:sldId id="371" r:id="rId34"/>
    <p:sldId id="312" r:id="rId35"/>
    <p:sldId id="304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329" r:id="rId52"/>
    <p:sldId id="330" r:id="rId53"/>
    <p:sldId id="331" r:id="rId54"/>
    <p:sldId id="332" r:id="rId55"/>
    <p:sldId id="333" r:id="rId56"/>
    <p:sldId id="334" r:id="rId57"/>
    <p:sldId id="335" r:id="rId58"/>
    <p:sldId id="336" r:id="rId59"/>
    <p:sldId id="337" r:id="rId60"/>
    <p:sldId id="338" r:id="rId61"/>
    <p:sldId id="339" r:id="rId62"/>
    <p:sldId id="340" r:id="rId63"/>
    <p:sldId id="341" r:id="rId64"/>
    <p:sldId id="342" r:id="rId65"/>
    <p:sldId id="343" r:id="rId66"/>
    <p:sldId id="344" r:id="rId67"/>
    <p:sldId id="345" r:id="rId68"/>
    <p:sldId id="348" r:id="rId69"/>
    <p:sldId id="349" r:id="rId70"/>
    <p:sldId id="350" r:id="rId71"/>
    <p:sldId id="351" r:id="rId72"/>
    <p:sldId id="352" r:id="rId73"/>
    <p:sldId id="353" r:id="rId74"/>
    <p:sldId id="354" r:id="rId75"/>
    <p:sldId id="355" r:id="rId76"/>
    <p:sldId id="356" r:id="rId77"/>
    <p:sldId id="357" r:id="rId78"/>
    <p:sldId id="358" r:id="rId79"/>
    <p:sldId id="359" r:id="rId80"/>
    <p:sldId id="360" r:id="rId81"/>
    <p:sldId id="361" r:id="rId82"/>
    <p:sldId id="362" r:id="rId83"/>
    <p:sldId id="363" r:id="rId84"/>
    <p:sldId id="364" r:id="rId85"/>
    <p:sldId id="365" r:id="rId86"/>
    <p:sldId id="366" r:id="rId87"/>
    <p:sldId id="367" r:id="rId88"/>
    <p:sldId id="368" r:id="rId89"/>
    <p:sldId id="369" r:id="rId90"/>
    <p:sldId id="346" r:id="rId91"/>
    <p:sldId id="347" r:id="rId92"/>
    <p:sldId id="290" r:id="rId9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4DA1"/>
    <a:srgbClr val="F2F4AA"/>
    <a:srgbClr val="FF9900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540" autoAdjust="0"/>
  </p:normalViewPr>
  <p:slideViewPr>
    <p:cSldViewPr>
      <p:cViewPr varScale="1">
        <p:scale>
          <a:sx n="69" d="100"/>
          <a:sy n="69" d="100"/>
        </p:scale>
        <p:origin x="14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63" Type="http://schemas.openxmlformats.org/officeDocument/2006/relationships/slide" Target="slides/slide51.xml"/><Relationship Id="rId68" Type="http://schemas.openxmlformats.org/officeDocument/2006/relationships/slide" Target="slides/slide56.xml"/><Relationship Id="rId76" Type="http://schemas.openxmlformats.org/officeDocument/2006/relationships/slide" Target="slides/slide64.xml"/><Relationship Id="rId84" Type="http://schemas.openxmlformats.org/officeDocument/2006/relationships/slide" Target="slides/slide72.xml"/><Relationship Id="rId89" Type="http://schemas.openxmlformats.org/officeDocument/2006/relationships/slide" Target="slides/slide77.xml"/><Relationship Id="rId97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9.xml"/><Relationship Id="rId92" Type="http://schemas.openxmlformats.org/officeDocument/2006/relationships/slide" Target="slides/slide8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53" Type="http://schemas.openxmlformats.org/officeDocument/2006/relationships/slide" Target="slides/slide41.xml"/><Relationship Id="rId58" Type="http://schemas.openxmlformats.org/officeDocument/2006/relationships/slide" Target="slides/slide46.xml"/><Relationship Id="rId66" Type="http://schemas.openxmlformats.org/officeDocument/2006/relationships/slide" Target="slides/slide54.xml"/><Relationship Id="rId74" Type="http://schemas.openxmlformats.org/officeDocument/2006/relationships/slide" Target="slides/slide62.xml"/><Relationship Id="rId79" Type="http://schemas.openxmlformats.org/officeDocument/2006/relationships/slide" Target="slides/slide67.xml"/><Relationship Id="rId87" Type="http://schemas.openxmlformats.org/officeDocument/2006/relationships/slide" Target="slides/slide75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49.xml"/><Relationship Id="rId82" Type="http://schemas.openxmlformats.org/officeDocument/2006/relationships/slide" Target="slides/slide70.xml"/><Relationship Id="rId90" Type="http://schemas.openxmlformats.org/officeDocument/2006/relationships/slide" Target="slides/slide78.xml"/><Relationship Id="rId95" Type="http://schemas.openxmlformats.org/officeDocument/2006/relationships/presProps" Target="presProps.xml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56" Type="http://schemas.openxmlformats.org/officeDocument/2006/relationships/slide" Target="slides/slide44.xml"/><Relationship Id="rId64" Type="http://schemas.openxmlformats.org/officeDocument/2006/relationships/slide" Target="slides/slide52.xml"/><Relationship Id="rId69" Type="http://schemas.openxmlformats.org/officeDocument/2006/relationships/slide" Target="slides/slide57.xml"/><Relationship Id="rId77" Type="http://schemas.openxmlformats.org/officeDocument/2006/relationships/slide" Target="slides/slide65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9.xml"/><Relationship Id="rId72" Type="http://schemas.openxmlformats.org/officeDocument/2006/relationships/slide" Target="slides/slide60.xml"/><Relationship Id="rId80" Type="http://schemas.openxmlformats.org/officeDocument/2006/relationships/slide" Target="slides/slide68.xml"/><Relationship Id="rId85" Type="http://schemas.openxmlformats.org/officeDocument/2006/relationships/slide" Target="slides/slide73.xml"/><Relationship Id="rId93" Type="http://schemas.openxmlformats.org/officeDocument/2006/relationships/slide" Target="slides/slide81.xml"/><Relationship Id="rId9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slide" Target="slides/slide47.xml"/><Relationship Id="rId67" Type="http://schemas.openxmlformats.org/officeDocument/2006/relationships/slide" Target="slides/slide55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slide" Target="slides/slide42.xml"/><Relationship Id="rId62" Type="http://schemas.openxmlformats.org/officeDocument/2006/relationships/slide" Target="slides/slide50.xml"/><Relationship Id="rId70" Type="http://schemas.openxmlformats.org/officeDocument/2006/relationships/slide" Target="slides/slide58.xml"/><Relationship Id="rId75" Type="http://schemas.openxmlformats.org/officeDocument/2006/relationships/slide" Target="slides/slide63.xml"/><Relationship Id="rId83" Type="http://schemas.openxmlformats.org/officeDocument/2006/relationships/slide" Target="slides/slide71.xml"/><Relationship Id="rId88" Type="http://schemas.openxmlformats.org/officeDocument/2006/relationships/slide" Target="slides/slide76.xml"/><Relationship Id="rId91" Type="http://schemas.openxmlformats.org/officeDocument/2006/relationships/slide" Target="slides/slide79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slide" Target="slides/slide45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slide" Target="slides/slide48.xml"/><Relationship Id="rId65" Type="http://schemas.openxmlformats.org/officeDocument/2006/relationships/slide" Target="slides/slide53.xml"/><Relationship Id="rId73" Type="http://schemas.openxmlformats.org/officeDocument/2006/relationships/slide" Target="slides/slide61.xml"/><Relationship Id="rId78" Type="http://schemas.openxmlformats.org/officeDocument/2006/relationships/slide" Target="slides/slide66.xml"/><Relationship Id="rId81" Type="http://schemas.openxmlformats.org/officeDocument/2006/relationships/slide" Target="slides/slide69.xml"/><Relationship Id="rId86" Type="http://schemas.openxmlformats.org/officeDocument/2006/relationships/slide" Target="slides/slide74.xml"/><Relationship Id="rId9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7B5237-A118-47D2-8F60-8510C0C5F023}" type="doc">
      <dgm:prSet loTypeId="urn:microsoft.com/office/officeart/2008/layout/VerticalCurvedLis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0647C14-70A1-4E4F-BCFC-8EC81A119B99}">
      <dgm:prSet phldrT="[Text]"/>
      <dgm:spPr/>
      <dgm:t>
        <a:bodyPr/>
        <a:lstStyle/>
        <a:p>
          <a:r>
            <a:rPr lang="en-US" dirty="0" smtClean="0"/>
            <a:t>Introduction</a:t>
          </a:r>
          <a:endParaRPr lang="en-US" dirty="0"/>
        </a:p>
      </dgm:t>
    </dgm:pt>
    <dgm:pt modelId="{87855CAA-426C-4D7A-A858-27170F01B0F2}" type="parTrans" cxnId="{9DE797B5-45B7-4FAB-A9A8-7FCDFC7CCD67}">
      <dgm:prSet/>
      <dgm:spPr/>
      <dgm:t>
        <a:bodyPr/>
        <a:lstStyle/>
        <a:p>
          <a:endParaRPr lang="en-US"/>
        </a:p>
      </dgm:t>
    </dgm:pt>
    <dgm:pt modelId="{F3CDA3BE-F879-473A-84D5-BE4B0AF53AA8}" type="sibTrans" cxnId="{9DE797B5-45B7-4FAB-A9A8-7FCDFC7CCD67}">
      <dgm:prSet/>
      <dgm:spPr/>
      <dgm:t>
        <a:bodyPr/>
        <a:lstStyle/>
        <a:p>
          <a:endParaRPr lang="en-US"/>
        </a:p>
      </dgm:t>
    </dgm:pt>
    <dgm:pt modelId="{8E0C9DC9-F8D8-4251-8DE3-98655D4BA68F}">
      <dgm:prSet phldrT="[Text]"/>
      <dgm:spPr/>
      <dgm:t>
        <a:bodyPr/>
        <a:lstStyle/>
        <a:p>
          <a:r>
            <a:rPr lang="en-US" dirty="0" smtClean="0"/>
            <a:t>Course details</a:t>
          </a:r>
        </a:p>
      </dgm:t>
    </dgm:pt>
    <dgm:pt modelId="{56C20250-7AD8-4B8D-AFA2-10375DFD3EB5}" type="parTrans" cxnId="{1876E357-92BA-48F0-9AB0-0A1E6BE45F28}">
      <dgm:prSet/>
      <dgm:spPr/>
      <dgm:t>
        <a:bodyPr/>
        <a:lstStyle/>
        <a:p>
          <a:endParaRPr lang="en-US"/>
        </a:p>
      </dgm:t>
    </dgm:pt>
    <dgm:pt modelId="{8D2EDB1D-E6A0-4543-839D-70DFBBF9C62A}" type="sibTrans" cxnId="{1876E357-92BA-48F0-9AB0-0A1E6BE45F28}">
      <dgm:prSet/>
      <dgm:spPr/>
      <dgm:t>
        <a:bodyPr/>
        <a:lstStyle/>
        <a:p>
          <a:endParaRPr lang="en-US"/>
        </a:p>
      </dgm:t>
    </dgm:pt>
    <dgm:pt modelId="{6599BCB2-D033-4B45-A14B-C275FC263FCF}">
      <dgm:prSet phldrT="[Text]"/>
      <dgm:spPr/>
      <dgm:t>
        <a:bodyPr/>
        <a:lstStyle/>
        <a:p>
          <a:r>
            <a:rPr lang="en-US" dirty="0" smtClean="0"/>
            <a:t>What is this course about?</a:t>
          </a:r>
        </a:p>
      </dgm:t>
    </dgm:pt>
    <dgm:pt modelId="{499C5D10-21B6-4ED6-ACE2-02E514758732}" type="parTrans" cxnId="{3DA0A7B2-C5BB-407A-8A51-6F236BEB27C9}">
      <dgm:prSet/>
      <dgm:spPr/>
      <dgm:t>
        <a:bodyPr/>
        <a:lstStyle/>
        <a:p>
          <a:endParaRPr lang="en-US"/>
        </a:p>
      </dgm:t>
    </dgm:pt>
    <dgm:pt modelId="{B9FC1A36-0081-4071-952F-B6E8D38CE0ED}" type="sibTrans" cxnId="{3DA0A7B2-C5BB-407A-8A51-6F236BEB27C9}">
      <dgm:prSet/>
      <dgm:spPr/>
      <dgm:t>
        <a:bodyPr/>
        <a:lstStyle/>
        <a:p>
          <a:endParaRPr lang="en-US"/>
        </a:p>
      </dgm:t>
    </dgm:pt>
    <dgm:pt modelId="{84621B9B-FAAF-472A-B466-3FEF74203986}">
      <dgm:prSet phldrT="[Text]"/>
      <dgm:spPr/>
      <dgm:t>
        <a:bodyPr/>
        <a:lstStyle/>
        <a:p>
          <a:r>
            <a:rPr lang="en-US" smtClean="0"/>
            <a:t>Aims and Outcomes</a:t>
          </a:r>
          <a:endParaRPr lang="en-US" dirty="0" smtClean="0"/>
        </a:p>
      </dgm:t>
    </dgm:pt>
    <dgm:pt modelId="{2A8D7BFE-E1D0-47B7-B543-687845A0D63B}" type="parTrans" cxnId="{A8F1A67A-0F2D-4BCA-8032-676528A7D358}">
      <dgm:prSet/>
      <dgm:spPr/>
      <dgm:t>
        <a:bodyPr/>
        <a:lstStyle/>
        <a:p>
          <a:endParaRPr lang="en-US"/>
        </a:p>
      </dgm:t>
    </dgm:pt>
    <dgm:pt modelId="{0E0AC7AE-C07B-4BE2-B3B7-7669CF173999}" type="sibTrans" cxnId="{A8F1A67A-0F2D-4BCA-8032-676528A7D358}">
      <dgm:prSet/>
      <dgm:spPr/>
      <dgm:t>
        <a:bodyPr/>
        <a:lstStyle/>
        <a:p>
          <a:endParaRPr lang="en-US"/>
        </a:p>
      </dgm:t>
    </dgm:pt>
    <dgm:pt modelId="{27672311-6C4C-4B01-AC78-62AE339DF529}">
      <dgm:prSet phldrT="[Text]"/>
      <dgm:spPr/>
      <dgm:t>
        <a:bodyPr/>
        <a:lstStyle/>
        <a:p>
          <a:r>
            <a:rPr lang="en-US" smtClean="0"/>
            <a:t>Assessment</a:t>
          </a:r>
          <a:endParaRPr lang="en-US" dirty="0" smtClean="0"/>
        </a:p>
      </dgm:t>
    </dgm:pt>
    <dgm:pt modelId="{CC94A4D0-D3A7-4735-86A0-2D825B5716DB}" type="parTrans" cxnId="{CFC927C2-0B19-4611-810F-AE211057759C}">
      <dgm:prSet/>
      <dgm:spPr/>
      <dgm:t>
        <a:bodyPr/>
        <a:lstStyle/>
        <a:p>
          <a:endParaRPr lang="en-US"/>
        </a:p>
      </dgm:t>
    </dgm:pt>
    <dgm:pt modelId="{0361C0D0-941B-47D2-B154-5675E1603969}" type="sibTrans" cxnId="{CFC927C2-0B19-4611-810F-AE211057759C}">
      <dgm:prSet/>
      <dgm:spPr/>
      <dgm:t>
        <a:bodyPr/>
        <a:lstStyle/>
        <a:p>
          <a:endParaRPr lang="en-US"/>
        </a:p>
      </dgm:t>
    </dgm:pt>
    <dgm:pt modelId="{E8AFA963-F250-4C43-828E-961BBEEF8F75}" type="pres">
      <dgm:prSet presAssocID="{9B7B5237-A118-47D2-8F60-8510C0C5F023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F79070BB-9C4E-476A-A007-204B330B97DF}" type="pres">
      <dgm:prSet presAssocID="{9B7B5237-A118-47D2-8F60-8510C0C5F023}" presName="Name1" presStyleCnt="0"/>
      <dgm:spPr/>
      <dgm:t>
        <a:bodyPr/>
        <a:lstStyle/>
        <a:p>
          <a:endParaRPr lang="en-US"/>
        </a:p>
      </dgm:t>
    </dgm:pt>
    <dgm:pt modelId="{7F58605A-DA6B-4882-80B2-A65658C08773}" type="pres">
      <dgm:prSet presAssocID="{9B7B5237-A118-47D2-8F60-8510C0C5F023}" presName="cycle" presStyleCnt="0"/>
      <dgm:spPr/>
      <dgm:t>
        <a:bodyPr/>
        <a:lstStyle/>
        <a:p>
          <a:endParaRPr lang="en-US"/>
        </a:p>
      </dgm:t>
    </dgm:pt>
    <dgm:pt modelId="{F9A8115E-3D3F-48F5-B763-B337BDBB12A0}" type="pres">
      <dgm:prSet presAssocID="{9B7B5237-A118-47D2-8F60-8510C0C5F023}" presName="srcNode" presStyleLbl="node1" presStyleIdx="0" presStyleCnt="5"/>
      <dgm:spPr/>
      <dgm:t>
        <a:bodyPr/>
        <a:lstStyle/>
        <a:p>
          <a:endParaRPr lang="en-US"/>
        </a:p>
      </dgm:t>
    </dgm:pt>
    <dgm:pt modelId="{C6BA2500-928C-46C2-B59B-ED51C87D075E}" type="pres">
      <dgm:prSet presAssocID="{9B7B5237-A118-47D2-8F60-8510C0C5F023}" presName="conn" presStyleLbl="parChTrans1D2" presStyleIdx="0" presStyleCnt="1"/>
      <dgm:spPr/>
      <dgm:t>
        <a:bodyPr/>
        <a:lstStyle/>
        <a:p>
          <a:endParaRPr lang="en-US"/>
        </a:p>
      </dgm:t>
    </dgm:pt>
    <dgm:pt modelId="{EACC26DF-75F6-47CF-89DD-71CB424B353C}" type="pres">
      <dgm:prSet presAssocID="{9B7B5237-A118-47D2-8F60-8510C0C5F023}" presName="extraNode" presStyleLbl="node1" presStyleIdx="0" presStyleCnt="5"/>
      <dgm:spPr/>
      <dgm:t>
        <a:bodyPr/>
        <a:lstStyle/>
        <a:p>
          <a:endParaRPr lang="en-US"/>
        </a:p>
      </dgm:t>
    </dgm:pt>
    <dgm:pt modelId="{249AE869-F32C-4F9C-98D5-1B19F0D1E0CD}" type="pres">
      <dgm:prSet presAssocID="{9B7B5237-A118-47D2-8F60-8510C0C5F023}" presName="dstNode" presStyleLbl="node1" presStyleIdx="0" presStyleCnt="5"/>
      <dgm:spPr/>
      <dgm:t>
        <a:bodyPr/>
        <a:lstStyle/>
        <a:p>
          <a:endParaRPr lang="en-US"/>
        </a:p>
      </dgm:t>
    </dgm:pt>
    <dgm:pt modelId="{33B74C8F-AF5F-4AC1-A64F-93A7868DE8DE}" type="pres">
      <dgm:prSet presAssocID="{50647C14-70A1-4E4F-BCFC-8EC81A119B99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BBBAED-357B-4E8D-A66C-18C0B12E07A6}" type="pres">
      <dgm:prSet presAssocID="{50647C14-70A1-4E4F-BCFC-8EC81A119B99}" presName="accent_1" presStyleCnt="0"/>
      <dgm:spPr/>
      <dgm:t>
        <a:bodyPr/>
        <a:lstStyle/>
        <a:p>
          <a:endParaRPr lang="en-US"/>
        </a:p>
      </dgm:t>
    </dgm:pt>
    <dgm:pt modelId="{0D0A88DF-6CD0-433D-9A8E-0C76E022329B}" type="pres">
      <dgm:prSet presAssocID="{50647C14-70A1-4E4F-BCFC-8EC81A119B99}" presName="accentRepeatNode" presStyleLbl="solidFgAcc1" presStyleIdx="0" presStyleCnt="5"/>
      <dgm:spPr/>
      <dgm:t>
        <a:bodyPr/>
        <a:lstStyle/>
        <a:p>
          <a:endParaRPr lang="en-US"/>
        </a:p>
      </dgm:t>
    </dgm:pt>
    <dgm:pt modelId="{544DE52E-EF81-449B-AFB9-906F8819BDDD}" type="pres">
      <dgm:prSet presAssocID="{8E0C9DC9-F8D8-4251-8DE3-98655D4BA68F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BA61F7-B694-4037-A216-DE7E1251C3F0}" type="pres">
      <dgm:prSet presAssocID="{8E0C9DC9-F8D8-4251-8DE3-98655D4BA68F}" presName="accent_2" presStyleCnt="0"/>
      <dgm:spPr/>
      <dgm:t>
        <a:bodyPr/>
        <a:lstStyle/>
        <a:p>
          <a:endParaRPr lang="en-US"/>
        </a:p>
      </dgm:t>
    </dgm:pt>
    <dgm:pt modelId="{0BBF223F-90F0-44AB-A6EE-F9AE3AFC3A4C}" type="pres">
      <dgm:prSet presAssocID="{8E0C9DC9-F8D8-4251-8DE3-98655D4BA68F}" presName="accentRepeatNode" presStyleLbl="solidFgAcc1" presStyleIdx="1" presStyleCnt="5"/>
      <dgm:spPr/>
      <dgm:t>
        <a:bodyPr/>
        <a:lstStyle/>
        <a:p>
          <a:endParaRPr lang="en-US"/>
        </a:p>
      </dgm:t>
    </dgm:pt>
    <dgm:pt modelId="{20FDE2EE-2A4C-4D21-AC1A-BE504432A637}" type="pres">
      <dgm:prSet presAssocID="{27672311-6C4C-4B01-AC78-62AE339DF529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4C748F-0A0A-4AC4-8603-DCAC38DED25E}" type="pres">
      <dgm:prSet presAssocID="{27672311-6C4C-4B01-AC78-62AE339DF529}" presName="accent_3" presStyleCnt="0"/>
      <dgm:spPr/>
    </dgm:pt>
    <dgm:pt modelId="{8A469EC9-ED16-4227-90B5-B12508C5DD21}" type="pres">
      <dgm:prSet presAssocID="{27672311-6C4C-4B01-AC78-62AE339DF529}" presName="accentRepeatNode" presStyleLbl="solidFgAcc1" presStyleIdx="2" presStyleCnt="5"/>
      <dgm:spPr/>
    </dgm:pt>
    <dgm:pt modelId="{3E5E0E8B-4ABF-4080-9025-E89D0BD50DF0}" type="pres">
      <dgm:prSet presAssocID="{6599BCB2-D033-4B45-A14B-C275FC263FCF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0381E4-7843-4A8F-95C8-6D7C44994CAA}" type="pres">
      <dgm:prSet presAssocID="{6599BCB2-D033-4B45-A14B-C275FC263FCF}" presName="accent_4" presStyleCnt="0"/>
      <dgm:spPr/>
    </dgm:pt>
    <dgm:pt modelId="{5797EF73-7DFA-4770-A80E-C3A653B41F0D}" type="pres">
      <dgm:prSet presAssocID="{6599BCB2-D033-4B45-A14B-C275FC263FCF}" presName="accentRepeatNode" presStyleLbl="solidFgAcc1" presStyleIdx="3" presStyleCnt="5"/>
      <dgm:spPr/>
    </dgm:pt>
    <dgm:pt modelId="{A949FAE2-3831-47CB-845D-A1E1014F66E6}" type="pres">
      <dgm:prSet presAssocID="{84621B9B-FAAF-472A-B466-3FEF74203986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AE251B-1267-4065-BB8A-918316D7F290}" type="pres">
      <dgm:prSet presAssocID="{84621B9B-FAAF-472A-B466-3FEF74203986}" presName="accent_5" presStyleCnt="0"/>
      <dgm:spPr/>
    </dgm:pt>
    <dgm:pt modelId="{84FD959C-BD75-4F86-8067-F37668A9166D}" type="pres">
      <dgm:prSet presAssocID="{84621B9B-FAAF-472A-B466-3FEF74203986}" presName="accentRepeatNode" presStyleLbl="solidFgAcc1" presStyleIdx="4" presStyleCnt="5"/>
      <dgm:spPr/>
    </dgm:pt>
  </dgm:ptLst>
  <dgm:cxnLst>
    <dgm:cxn modelId="{B0E5F320-3D02-4316-A423-EC73512FAC26}" type="presOf" srcId="{9B7B5237-A118-47D2-8F60-8510C0C5F023}" destId="{E8AFA963-F250-4C43-828E-961BBEEF8F75}" srcOrd="0" destOrd="0" presId="urn:microsoft.com/office/officeart/2008/layout/VerticalCurvedList"/>
    <dgm:cxn modelId="{E97613E3-6DB6-404A-9E4D-397133A9A44D}" type="presOf" srcId="{8E0C9DC9-F8D8-4251-8DE3-98655D4BA68F}" destId="{544DE52E-EF81-449B-AFB9-906F8819BDDD}" srcOrd="0" destOrd="0" presId="urn:microsoft.com/office/officeart/2008/layout/VerticalCurvedList"/>
    <dgm:cxn modelId="{0EE1FC73-53EE-47B0-9592-D18E1681C72C}" type="presOf" srcId="{84621B9B-FAAF-472A-B466-3FEF74203986}" destId="{A949FAE2-3831-47CB-845D-A1E1014F66E6}" srcOrd="0" destOrd="0" presId="urn:microsoft.com/office/officeart/2008/layout/VerticalCurvedList"/>
    <dgm:cxn modelId="{A8F1A67A-0F2D-4BCA-8032-676528A7D358}" srcId="{9B7B5237-A118-47D2-8F60-8510C0C5F023}" destId="{84621B9B-FAAF-472A-B466-3FEF74203986}" srcOrd="4" destOrd="0" parTransId="{2A8D7BFE-E1D0-47B7-B543-687845A0D63B}" sibTransId="{0E0AC7AE-C07B-4BE2-B3B7-7669CF173999}"/>
    <dgm:cxn modelId="{9DE797B5-45B7-4FAB-A9A8-7FCDFC7CCD67}" srcId="{9B7B5237-A118-47D2-8F60-8510C0C5F023}" destId="{50647C14-70A1-4E4F-BCFC-8EC81A119B99}" srcOrd="0" destOrd="0" parTransId="{87855CAA-426C-4D7A-A858-27170F01B0F2}" sibTransId="{F3CDA3BE-F879-473A-84D5-BE4B0AF53AA8}"/>
    <dgm:cxn modelId="{A050BEA6-6351-451E-AB6F-BF000735DEFE}" type="presOf" srcId="{27672311-6C4C-4B01-AC78-62AE339DF529}" destId="{20FDE2EE-2A4C-4D21-AC1A-BE504432A637}" srcOrd="0" destOrd="0" presId="urn:microsoft.com/office/officeart/2008/layout/VerticalCurvedList"/>
    <dgm:cxn modelId="{29ED484C-714A-4DBB-A4EE-66CD2EE29A36}" type="presOf" srcId="{F3CDA3BE-F879-473A-84D5-BE4B0AF53AA8}" destId="{C6BA2500-928C-46C2-B59B-ED51C87D075E}" srcOrd="0" destOrd="0" presId="urn:microsoft.com/office/officeart/2008/layout/VerticalCurvedList"/>
    <dgm:cxn modelId="{38F71083-2F6D-440D-AF78-01453A9B416A}" type="presOf" srcId="{50647C14-70A1-4E4F-BCFC-8EC81A119B99}" destId="{33B74C8F-AF5F-4AC1-A64F-93A7868DE8DE}" srcOrd="0" destOrd="0" presId="urn:microsoft.com/office/officeart/2008/layout/VerticalCurvedList"/>
    <dgm:cxn modelId="{CFC927C2-0B19-4611-810F-AE211057759C}" srcId="{9B7B5237-A118-47D2-8F60-8510C0C5F023}" destId="{27672311-6C4C-4B01-AC78-62AE339DF529}" srcOrd="2" destOrd="0" parTransId="{CC94A4D0-D3A7-4735-86A0-2D825B5716DB}" sibTransId="{0361C0D0-941B-47D2-B154-5675E1603969}"/>
    <dgm:cxn modelId="{3DA0A7B2-C5BB-407A-8A51-6F236BEB27C9}" srcId="{9B7B5237-A118-47D2-8F60-8510C0C5F023}" destId="{6599BCB2-D033-4B45-A14B-C275FC263FCF}" srcOrd="3" destOrd="0" parTransId="{499C5D10-21B6-4ED6-ACE2-02E514758732}" sibTransId="{B9FC1A36-0081-4071-952F-B6E8D38CE0ED}"/>
    <dgm:cxn modelId="{0F823BBB-6458-4359-B957-D4C8EA1032C6}" type="presOf" srcId="{6599BCB2-D033-4B45-A14B-C275FC263FCF}" destId="{3E5E0E8B-4ABF-4080-9025-E89D0BD50DF0}" srcOrd="0" destOrd="0" presId="urn:microsoft.com/office/officeart/2008/layout/VerticalCurvedList"/>
    <dgm:cxn modelId="{1876E357-92BA-48F0-9AB0-0A1E6BE45F28}" srcId="{9B7B5237-A118-47D2-8F60-8510C0C5F023}" destId="{8E0C9DC9-F8D8-4251-8DE3-98655D4BA68F}" srcOrd="1" destOrd="0" parTransId="{56C20250-7AD8-4B8D-AFA2-10375DFD3EB5}" sibTransId="{8D2EDB1D-E6A0-4543-839D-70DFBBF9C62A}"/>
    <dgm:cxn modelId="{A94F48BE-6B4D-4424-9030-00EACD40131C}" type="presParOf" srcId="{E8AFA963-F250-4C43-828E-961BBEEF8F75}" destId="{F79070BB-9C4E-476A-A007-204B330B97DF}" srcOrd="0" destOrd="0" presId="urn:microsoft.com/office/officeart/2008/layout/VerticalCurvedList"/>
    <dgm:cxn modelId="{9D88501C-5178-48BE-AF4C-095FB6A6BB02}" type="presParOf" srcId="{F79070BB-9C4E-476A-A007-204B330B97DF}" destId="{7F58605A-DA6B-4882-80B2-A65658C08773}" srcOrd="0" destOrd="0" presId="urn:microsoft.com/office/officeart/2008/layout/VerticalCurvedList"/>
    <dgm:cxn modelId="{014E2EF7-D4BF-4A4C-9441-A94FD8ABF8B2}" type="presParOf" srcId="{7F58605A-DA6B-4882-80B2-A65658C08773}" destId="{F9A8115E-3D3F-48F5-B763-B337BDBB12A0}" srcOrd="0" destOrd="0" presId="urn:microsoft.com/office/officeart/2008/layout/VerticalCurvedList"/>
    <dgm:cxn modelId="{148B8764-26D7-4A5D-A1B3-F23AB6CFD08A}" type="presParOf" srcId="{7F58605A-DA6B-4882-80B2-A65658C08773}" destId="{C6BA2500-928C-46C2-B59B-ED51C87D075E}" srcOrd="1" destOrd="0" presId="urn:microsoft.com/office/officeart/2008/layout/VerticalCurvedList"/>
    <dgm:cxn modelId="{4999B963-9316-4BAD-A53F-821660F88858}" type="presParOf" srcId="{7F58605A-DA6B-4882-80B2-A65658C08773}" destId="{EACC26DF-75F6-47CF-89DD-71CB424B353C}" srcOrd="2" destOrd="0" presId="urn:microsoft.com/office/officeart/2008/layout/VerticalCurvedList"/>
    <dgm:cxn modelId="{2AFEEFD2-B347-4C1D-93B9-EC24D2762C48}" type="presParOf" srcId="{7F58605A-DA6B-4882-80B2-A65658C08773}" destId="{249AE869-F32C-4F9C-98D5-1B19F0D1E0CD}" srcOrd="3" destOrd="0" presId="urn:microsoft.com/office/officeart/2008/layout/VerticalCurvedList"/>
    <dgm:cxn modelId="{60DB187D-2BA2-4D02-969E-C56DF3956E91}" type="presParOf" srcId="{F79070BB-9C4E-476A-A007-204B330B97DF}" destId="{33B74C8F-AF5F-4AC1-A64F-93A7868DE8DE}" srcOrd="1" destOrd="0" presId="urn:microsoft.com/office/officeart/2008/layout/VerticalCurvedList"/>
    <dgm:cxn modelId="{8C8DE5A4-0999-49FC-BB56-C81990A0E576}" type="presParOf" srcId="{F79070BB-9C4E-476A-A007-204B330B97DF}" destId="{FABBBAED-357B-4E8D-A66C-18C0B12E07A6}" srcOrd="2" destOrd="0" presId="urn:microsoft.com/office/officeart/2008/layout/VerticalCurvedList"/>
    <dgm:cxn modelId="{8523B078-2634-42FB-BC8E-FCC21D8D05BF}" type="presParOf" srcId="{FABBBAED-357B-4E8D-A66C-18C0B12E07A6}" destId="{0D0A88DF-6CD0-433D-9A8E-0C76E022329B}" srcOrd="0" destOrd="0" presId="urn:microsoft.com/office/officeart/2008/layout/VerticalCurvedList"/>
    <dgm:cxn modelId="{9BE6AAA4-A3A4-4D71-BEBD-F225433D16E6}" type="presParOf" srcId="{F79070BB-9C4E-476A-A007-204B330B97DF}" destId="{544DE52E-EF81-449B-AFB9-906F8819BDDD}" srcOrd="3" destOrd="0" presId="urn:microsoft.com/office/officeart/2008/layout/VerticalCurvedList"/>
    <dgm:cxn modelId="{5C4965D0-3644-4CD5-BEF8-CB431AF6988B}" type="presParOf" srcId="{F79070BB-9C4E-476A-A007-204B330B97DF}" destId="{50BA61F7-B694-4037-A216-DE7E1251C3F0}" srcOrd="4" destOrd="0" presId="urn:microsoft.com/office/officeart/2008/layout/VerticalCurvedList"/>
    <dgm:cxn modelId="{CFCBB819-F30F-41B4-B876-5F2FE25D7CB4}" type="presParOf" srcId="{50BA61F7-B694-4037-A216-DE7E1251C3F0}" destId="{0BBF223F-90F0-44AB-A6EE-F9AE3AFC3A4C}" srcOrd="0" destOrd="0" presId="urn:microsoft.com/office/officeart/2008/layout/VerticalCurvedList"/>
    <dgm:cxn modelId="{D73040FC-C0A7-4A86-8954-09C2710B6C34}" type="presParOf" srcId="{F79070BB-9C4E-476A-A007-204B330B97DF}" destId="{20FDE2EE-2A4C-4D21-AC1A-BE504432A637}" srcOrd="5" destOrd="0" presId="urn:microsoft.com/office/officeart/2008/layout/VerticalCurvedList"/>
    <dgm:cxn modelId="{CB513970-5D1D-4247-8004-08F14D9E5B1D}" type="presParOf" srcId="{F79070BB-9C4E-476A-A007-204B330B97DF}" destId="{D64C748F-0A0A-4AC4-8603-DCAC38DED25E}" srcOrd="6" destOrd="0" presId="urn:microsoft.com/office/officeart/2008/layout/VerticalCurvedList"/>
    <dgm:cxn modelId="{A2DAF31F-D29C-45A3-9DC3-D06A14FA5580}" type="presParOf" srcId="{D64C748F-0A0A-4AC4-8603-DCAC38DED25E}" destId="{8A469EC9-ED16-4227-90B5-B12508C5DD21}" srcOrd="0" destOrd="0" presId="urn:microsoft.com/office/officeart/2008/layout/VerticalCurvedList"/>
    <dgm:cxn modelId="{4EC4F3B6-8FEC-46EC-8C25-17B413C8DEA7}" type="presParOf" srcId="{F79070BB-9C4E-476A-A007-204B330B97DF}" destId="{3E5E0E8B-4ABF-4080-9025-E89D0BD50DF0}" srcOrd="7" destOrd="0" presId="urn:microsoft.com/office/officeart/2008/layout/VerticalCurvedList"/>
    <dgm:cxn modelId="{F9B8F922-02D0-4E1A-8363-EF3D2FC03E2A}" type="presParOf" srcId="{F79070BB-9C4E-476A-A007-204B330B97DF}" destId="{270381E4-7843-4A8F-95C8-6D7C44994CAA}" srcOrd="8" destOrd="0" presId="urn:microsoft.com/office/officeart/2008/layout/VerticalCurvedList"/>
    <dgm:cxn modelId="{0A59F14E-28E8-4A06-819A-18C65A1B79D9}" type="presParOf" srcId="{270381E4-7843-4A8F-95C8-6D7C44994CAA}" destId="{5797EF73-7DFA-4770-A80E-C3A653B41F0D}" srcOrd="0" destOrd="0" presId="urn:microsoft.com/office/officeart/2008/layout/VerticalCurvedList"/>
    <dgm:cxn modelId="{7317047B-E7E8-4FF0-97E1-5D846C5FC292}" type="presParOf" srcId="{F79070BB-9C4E-476A-A007-204B330B97DF}" destId="{A949FAE2-3831-47CB-845D-A1E1014F66E6}" srcOrd="9" destOrd="0" presId="urn:microsoft.com/office/officeart/2008/layout/VerticalCurvedList"/>
    <dgm:cxn modelId="{B724E065-D1BB-4324-806B-F576CCBE874C}" type="presParOf" srcId="{F79070BB-9C4E-476A-A007-204B330B97DF}" destId="{5EAE251B-1267-4065-BB8A-918316D7F290}" srcOrd="10" destOrd="0" presId="urn:microsoft.com/office/officeart/2008/layout/VerticalCurvedList"/>
    <dgm:cxn modelId="{48414CDD-E27F-445C-9781-479EEDD831FC}" type="presParOf" srcId="{5EAE251B-1267-4065-BB8A-918316D7F290}" destId="{84FD959C-BD75-4F86-8067-F37668A9166D}" srcOrd="0" destOrd="0" presId="urn:microsoft.com/office/officeart/2008/layout/VerticalCurve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BA2500-928C-46C2-B59B-ED51C87D075E}">
      <dsp:nvSpPr>
        <dsp:cNvPr id="0" name=""/>
        <dsp:cNvSpPr/>
      </dsp:nvSpPr>
      <dsp:spPr>
        <a:xfrm>
          <a:off x="-5427711" y="-831103"/>
          <a:ext cx="6462806" cy="6462806"/>
        </a:xfrm>
        <a:prstGeom prst="blockArc">
          <a:avLst>
            <a:gd name="adj1" fmla="val 18900000"/>
            <a:gd name="adj2" fmla="val 2700000"/>
            <a:gd name="adj3" fmla="val 334"/>
          </a:avLst>
        </a:prstGeom>
        <a:noFill/>
        <a:ln w="11429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ysDash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B74C8F-AF5F-4AC1-A64F-93A7868DE8DE}">
      <dsp:nvSpPr>
        <dsp:cNvPr id="0" name=""/>
        <dsp:cNvSpPr/>
      </dsp:nvSpPr>
      <dsp:spPr>
        <a:xfrm>
          <a:off x="452604" y="299941"/>
          <a:ext cx="6948175" cy="6002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soft" dir="b">
            <a:rot lat="0" lon="0" rev="0"/>
          </a:lightRig>
        </a:scene3d>
        <a:sp3d prstMaterial="dkEdge">
          <a:bevelT w="63500" h="63500" prst="cross"/>
          <a:contourClr>
            <a:schemeClr val="accent2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462" tIns="78740" rIns="78740" bIns="7874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Introduction</a:t>
          </a:r>
          <a:endParaRPr lang="en-US" sz="3100" kern="1200" dirty="0"/>
        </a:p>
      </dsp:txBody>
      <dsp:txXfrm>
        <a:off x="452604" y="299941"/>
        <a:ext cx="6948175" cy="600267"/>
      </dsp:txXfrm>
    </dsp:sp>
    <dsp:sp modelId="{0D0A88DF-6CD0-433D-9A8E-0C76E022329B}">
      <dsp:nvSpPr>
        <dsp:cNvPr id="0" name=""/>
        <dsp:cNvSpPr/>
      </dsp:nvSpPr>
      <dsp:spPr>
        <a:xfrm>
          <a:off x="77437" y="224908"/>
          <a:ext cx="750333" cy="75033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threePt" dir="t">
            <a:rot lat="0" lon="0" rev="0"/>
          </a:lightRig>
        </a:scene3d>
        <a:sp3d contourW="9525" prstMaterial="matte">
          <a:bevelT w="0" h="0"/>
          <a:contourClr>
            <a:schemeClr val="lt1">
              <a:hueOff val="0"/>
              <a:satOff val="0"/>
              <a:lumOff val="0"/>
              <a:alphaOff val="0"/>
              <a:shade val="70000"/>
              <a:satMod val="105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44DE52E-EF81-449B-AFB9-906F8819BDDD}">
      <dsp:nvSpPr>
        <dsp:cNvPr id="0" name=""/>
        <dsp:cNvSpPr/>
      </dsp:nvSpPr>
      <dsp:spPr>
        <a:xfrm>
          <a:off x="882738" y="1200053"/>
          <a:ext cx="6518041" cy="6002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soft" dir="b">
            <a:rot lat="0" lon="0" rev="0"/>
          </a:lightRig>
        </a:scene3d>
        <a:sp3d prstMaterial="dkEdge">
          <a:bevelT w="63500" h="63500" prst="cross"/>
          <a:contourClr>
            <a:schemeClr val="accent2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462" tIns="78740" rIns="78740" bIns="7874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Course details</a:t>
          </a:r>
        </a:p>
      </dsp:txBody>
      <dsp:txXfrm>
        <a:off x="882738" y="1200053"/>
        <a:ext cx="6518041" cy="600267"/>
      </dsp:txXfrm>
    </dsp:sp>
    <dsp:sp modelId="{0BBF223F-90F0-44AB-A6EE-F9AE3AFC3A4C}">
      <dsp:nvSpPr>
        <dsp:cNvPr id="0" name=""/>
        <dsp:cNvSpPr/>
      </dsp:nvSpPr>
      <dsp:spPr>
        <a:xfrm>
          <a:off x="507571" y="1125020"/>
          <a:ext cx="750333" cy="75033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threePt" dir="t">
            <a:rot lat="0" lon="0" rev="0"/>
          </a:lightRig>
        </a:scene3d>
        <a:sp3d contourW="9525" prstMaterial="matte">
          <a:bevelT w="0" h="0"/>
          <a:contourClr>
            <a:schemeClr val="lt1">
              <a:hueOff val="0"/>
              <a:satOff val="0"/>
              <a:lumOff val="0"/>
              <a:alphaOff val="0"/>
              <a:shade val="70000"/>
              <a:satMod val="105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0FDE2EE-2A4C-4D21-AC1A-BE504432A637}">
      <dsp:nvSpPr>
        <dsp:cNvPr id="0" name=""/>
        <dsp:cNvSpPr/>
      </dsp:nvSpPr>
      <dsp:spPr>
        <a:xfrm>
          <a:off x="1014754" y="2100166"/>
          <a:ext cx="6386024" cy="6002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soft" dir="b">
            <a:rot lat="0" lon="0" rev="0"/>
          </a:lightRig>
        </a:scene3d>
        <a:sp3d prstMaterial="dkEdge">
          <a:bevelT w="63500" h="63500" prst="cross"/>
          <a:contourClr>
            <a:schemeClr val="accent2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462" tIns="78740" rIns="78740" bIns="7874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smtClean="0"/>
            <a:t>Assessment</a:t>
          </a:r>
          <a:endParaRPr lang="en-US" sz="3100" kern="1200" dirty="0" smtClean="0"/>
        </a:p>
      </dsp:txBody>
      <dsp:txXfrm>
        <a:off x="1014754" y="2100166"/>
        <a:ext cx="6386024" cy="600267"/>
      </dsp:txXfrm>
    </dsp:sp>
    <dsp:sp modelId="{8A469EC9-ED16-4227-90B5-B12508C5DD21}">
      <dsp:nvSpPr>
        <dsp:cNvPr id="0" name=""/>
        <dsp:cNvSpPr/>
      </dsp:nvSpPr>
      <dsp:spPr>
        <a:xfrm>
          <a:off x="639587" y="2025133"/>
          <a:ext cx="750333" cy="75033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threePt" dir="t">
            <a:rot lat="0" lon="0" rev="0"/>
          </a:lightRig>
        </a:scene3d>
        <a:sp3d contourW="9525" prstMaterial="matte">
          <a:bevelT w="0" h="0"/>
          <a:contourClr>
            <a:schemeClr val="lt1">
              <a:hueOff val="0"/>
              <a:satOff val="0"/>
              <a:lumOff val="0"/>
              <a:alphaOff val="0"/>
              <a:shade val="70000"/>
              <a:satMod val="105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E5E0E8B-4ABF-4080-9025-E89D0BD50DF0}">
      <dsp:nvSpPr>
        <dsp:cNvPr id="0" name=""/>
        <dsp:cNvSpPr/>
      </dsp:nvSpPr>
      <dsp:spPr>
        <a:xfrm>
          <a:off x="882738" y="3000278"/>
          <a:ext cx="6518041" cy="6002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soft" dir="b">
            <a:rot lat="0" lon="0" rev="0"/>
          </a:lightRig>
        </a:scene3d>
        <a:sp3d prstMaterial="dkEdge">
          <a:bevelT w="63500" h="63500" prst="cross"/>
          <a:contourClr>
            <a:schemeClr val="accent2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462" tIns="78740" rIns="78740" bIns="7874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What is this course about?</a:t>
          </a:r>
        </a:p>
      </dsp:txBody>
      <dsp:txXfrm>
        <a:off x="882738" y="3000278"/>
        <a:ext cx="6518041" cy="600267"/>
      </dsp:txXfrm>
    </dsp:sp>
    <dsp:sp modelId="{5797EF73-7DFA-4770-A80E-C3A653B41F0D}">
      <dsp:nvSpPr>
        <dsp:cNvPr id="0" name=""/>
        <dsp:cNvSpPr/>
      </dsp:nvSpPr>
      <dsp:spPr>
        <a:xfrm>
          <a:off x="507571" y="2925245"/>
          <a:ext cx="750333" cy="75033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threePt" dir="t">
            <a:rot lat="0" lon="0" rev="0"/>
          </a:lightRig>
        </a:scene3d>
        <a:sp3d contourW="9525" prstMaterial="matte">
          <a:bevelT w="0" h="0"/>
          <a:contourClr>
            <a:schemeClr val="lt1">
              <a:hueOff val="0"/>
              <a:satOff val="0"/>
              <a:lumOff val="0"/>
              <a:alphaOff val="0"/>
              <a:shade val="70000"/>
              <a:satMod val="105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949FAE2-3831-47CB-845D-A1E1014F66E6}">
      <dsp:nvSpPr>
        <dsp:cNvPr id="0" name=""/>
        <dsp:cNvSpPr/>
      </dsp:nvSpPr>
      <dsp:spPr>
        <a:xfrm>
          <a:off x="452604" y="3900391"/>
          <a:ext cx="6948175" cy="60026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soft" dir="b">
            <a:rot lat="0" lon="0" rev="0"/>
          </a:lightRig>
        </a:scene3d>
        <a:sp3d prstMaterial="dkEdge">
          <a:bevelT w="63500" h="63500" prst="cross"/>
          <a:contourClr>
            <a:schemeClr val="accent2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462" tIns="78740" rIns="78740" bIns="7874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smtClean="0"/>
            <a:t>Aims and Outcomes</a:t>
          </a:r>
          <a:endParaRPr lang="en-US" sz="3100" kern="1200" dirty="0" smtClean="0"/>
        </a:p>
      </dsp:txBody>
      <dsp:txXfrm>
        <a:off x="452604" y="3900391"/>
        <a:ext cx="6948175" cy="600267"/>
      </dsp:txXfrm>
    </dsp:sp>
    <dsp:sp modelId="{84FD959C-BD75-4F86-8067-F37668A9166D}">
      <dsp:nvSpPr>
        <dsp:cNvPr id="0" name=""/>
        <dsp:cNvSpPr/>
      </dsp:nvSpPr>
      <dsp:spPr>
        <a:xfrm>
          <a:off x="77437" y="3825358"/>
          <a:ext cx="750333" cy="75033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45000"/>
            </a:srgbClr>
          </a:outerShdw>
        </a:effectLst>
        <a:scene3d>
          <a:camera prst="orthographicFront" fov="0">
            <a:rot lat="0" lon="0" rev="0"/>
          </a:camera>
          <a:lightRig rig="threePt" dir="t">
            <a:rot lat="0" lon="0" rev="0"/>
          </a:lightRig>
        </a:scene3d>
        <a:sp3d contourW="9525" prstMaterial="matte">
          <a:bevelT w="0" h="0"/>
          <a:contourClr>
            <a:schemeClr val="lt1">
              <a:hueOff val="0"/>
              <a:satOff val="0"/>
              <a:lumOff val="0"/>
              <a:alphaOff val="0"/>
              <a:shade val="70000"/>
              <a:satMod val="105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4B7A4-2F2F-431C-9EBE-938C224F6AA4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6977D-EE90-4725-9204-9A046CBD09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6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134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Charles Babbage – Creator of the Analytical Engine - the first general-purpose digital computer (1833) 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Analytical Engine was not built until 1943 (in the form of the Harvard Mark I)  - 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•A programmable, mechanical, digital machine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•Could carryout any calculation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•Could make decisions based upon the results of the previous calculation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•Components: input; memory; processor; output 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Ada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(1815-52)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•Wrote a program for computing the Bernoulli’s sequence on the Analytical Engine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world’s 1st computer program 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63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Courtesy : Assistant Professor, Dr. </a:t>
            </a:r>
            <a:r>
              <a:rPr lang="en-US" dirty="0" err="1" smtClean="0"/>
              <a:t>Junaid</a:t>
            </a:r>
            <a:r>
              <a:rPr lang="en-US" dirty="0" smtClean="0"/>
              <a:t> </a:t>
            </a:r>
            <a:r>
              <a:rPr lang="en-US" dirty="0" err="1" smtClean="0"/>
              <a:t>Qadir</a:t>
            </a:r>
            <a:r>
              <a:rPr lang="en-US" dirty="0" smtClean="0"/>
              <a:t>,</a:t>
            </a:r>
            <a:r>
              <a:rPr lang="en-US" baseline="0" dirty="0" smtClean="0"/>
              <a:t> SEECS, NUST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044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Courtesy : Assistant Professor, Dr. </a:t>
            </a:r>
            <a:r>
              <a:rPr lang="en-US" dirty="0" err="1" smtClean="0"/>
              <a:t>Junaid</a:t>
            </a:r>
            <a:r>
              <a:rPr lang="en-US" dirty="0" smtClean="0"/>
              <a:t> </a:t>
            </a:r>
            <a:r>
              <a:rPr lang="en-US" dirty="0" err="1" smtClean="0"/>
              <a:t>Qadir</a:t>
            </a:r>
            <a:r>
              <a:rPr lang="en-US" dirty="0" smtClean="0"/>
              <a:t>,</a:t>
            </a:r>
            <a:r>
              <a:rPr lang="en-US" baseline="0" dirty="0" smtClean="0"/>
              <a:t> SEECS, NUST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36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Courtesy : Assistant Professor, Dr. </a:t>
            </a:r>
            <a:r>
              <a:rPr lang="en-US" dirty="0" err="1" smtClean="0"/>
              <a:t>Junaid</a:t>
            </a:r>
            <a:r>
              <a:rPr lang="en-US" dirty="0" smtClean="0"/>
              <a:t> </a:t>
            </a:r>
            <a:r>
              <a:rPr lang="en-US" dirty="0" err="1" smtClean="0"/>
              <a:t>Qadir</a:t>
            </a:r>
            <a:r>
              <a:rPr lang="en-US" dirty="0" smtClean="0"/>
              <a:t>,</a:t>
            </a:r>
            <a:r>
              <a:rPr lang="en-US" baseline="0" dirty="0" smtClean="0"/>
              <a:t> SEECS, NUST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315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Courtesy : Assistant Professor, Dr. </a:t>
            </a:r>
            <a:r>
              <a:rPr lang="en-US" dirty="0" err="1" smtClean="0"/>
              <a:t>Junaid</a:t>
            </a:r>
            <a:r>
              <a:rPr lang="en-US" dirty="0" smtClean="0"/>
              <a:t> </a:t>
            </a:r>
            <a:r>
              <a:rPr lang="en-US" dirty="0" err="1" smtClean="0"/>
              <a:t>Qadir</a:t>
            </a:r>
            <a:r>
              <a:rPr lang="en-US" dirty="0" smtClean="0"/>
              <a:t>,</a:t>
            </a:r>
            <a:r>
              <a:rPr lang="en-US" baseline="0" dirty="0" smtClean="0"/>
              <a:t> SEECS, NUST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067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Courtesy : Assistant Professor, Dr. </a:t>
            </a:r>
            <a:r>
              <a:rPr lang="en-US" dirty="0" err="1" smtClean="0"/>
              <a:t>Junaid</a:t>
            </a:r>
            <a:r>
              <a:rPr lang="en-US" dirty="0" smtClean="0"/>
              <a:t> </a:t>
            </a:r>
            <a:r>
              <a:rPr lang="en-US" dirty="0" err="1" smtClean="0"/>
              <a:t>Qadir</a:t>
            </a:r>
            <a:r>
              <a:rPr lang="en-US" dirty="0" smtClean="0"/>
              <a:t>,</a:t>
            </a:r>
            <a:r>
              <a:rPr lang="en-US" baseline="0" dirty="0" smtClean="0"/>
              <a:t> SEECS, NUST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957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Courtesy : Assistant Professor, Dr. </a:t>
            </a:r>
            <a:r>
              <a:rPr lang="en-US" dirty="0" err="1" smtClean="0"/>
              <a:t>Junaid</a:t>
            </a:r>
            <a:r>
              <a:rPr lang="en-US" dirty="0" smtClean="0"/>
              <a:t> </a:t>
            </a:r>
            <a:r>
              <a:rPr lang="en-US" dirty="0" err="1" smtClean="0"/>
              <a:t>Qadir</a:t>
            </a:r>
            <a:r>
              <a:rPr lang="en-US" dirty="0" smtClean="0"/>
              <a:t>,</a:t>
            </a:r>
            <a:r>
              <a:rPr lang="en-US" baseline="0" dirty="0" smtClean="0"/>
              <a:t> SEECS, NUST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085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Courtesy : Assistant Professor, Dr. </a:t>
            </a:r>
            <a:r>
              <a:rPr lang="en-US" dirty="0" err="1" smtClean="0"/>
              <a:t>Junaid</a:t>
            </a:r>
            <a:r>
              <a:rPr lang="en-US" dirty="0" smtClean="0"/>
              <a:t> </a:t>
            </a:r>
            <a:r>
              <a:rPr lang="en-US" dirty="0" err="1" smtClean="0"/>
              <a:t>Qadir</a:t>
            </a:r>
            <a:r>
              <a:rPr lang="en-US" dirty="0" smtClean="0"/>
              <a:t>,</a:t>
            </a:r>
            <a:r>
              <a:rPr lang="en-US" baseline="0" dirty="0" smtClean="0"/>
              <a:t> SEECS, NUST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109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Courtesy : Assistant Professor, Dr. </a:t>
            </a:r>
            <a:r>
              <a:rPr lang="en-US" dirty="0" err="1" smtClean="0"/>
              <a:t>Junaid</a:t>
            </a:r>
            <a:r>
              <a:rPr lang="en-US" dirty="0" smtClean="0"/>
              <a:t> </a:t>
            </a:r>
            <a:r>
              <a:rPr lang="en-US" dirty="0" err="1" smtClean="0"/>
              <a:t>Qadir</a:t>
            </a:r>
            <a:r>
              <a:rPr lang="en-US" dirty="0" smtClean="0"/>
              <a:t>,</a:t>
            </a:r>
            <a:r>
              <a:rPr lang="en-US" baseline="0" dirty="0" smtClean="0"/>
              <a:t> SEECS, NUST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886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0E3E51-52A0-42F8-9554-9232C6BE1ED3}" type="slidenum">
              <a:rPr lang="en-US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8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42BC8-8DA5-47C8-8273-5E961E174FAB}" type="slidenum">
              <a:rPr lang="en-US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067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B62B36-62C1-4A5E-9693-DD42DD9CD3C9}" type="slidenum">
              <a:rPr lang="en-US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44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88975"/>
            <a:ext cx="4567237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361" y="4343401"/>
            <a:ext cx="5031278" cy="411166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09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B62B36-62C1-4A5E-9693-DD42DD9CD3C9}" type="slidenum">
              <a:rPr lang="en-US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44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88975"/>
            <a:ext cx="4567237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361" y="4343401"/>
            <a:ext cx="5031278" cy="411166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5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42BC8-8DA5-47C8-8273-5E961E174FAB}" type="slidenum">
              <a:rPr lang="en-US">
                <a:solidFill>
                  <a:prstClr val="black"/>
                </a:solidFill>
              </a:rPr>
              <a:pPr/>
              <a:t>53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828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42BC8-8DA5-47C8-8273-5E961E174FAB}" type="slidenum">
              <a:rPr lang="en-US">
                <a:solidFill>
                  <a:prstClr val="black"/>
                </a:solidFill>
              </a:rPr>
              <a:pPr/>
              <a:t>54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87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http://www.shk-dplc.com/cfo/bin/litigate/figure1.jpg</a:t>
            </a:r>
          </a:p>
          <a:p>
            <a:endParaRPr lang="en-US" dirty="0" smtClean="0"/>
          </a:p>
          <a:p>
            <a:r>
              <a:rPr lang="en-US" dirty="0" smtClean="0"/>
              <a:t>Each module must be of manageable</a:t>
            </a:r>
            <a:r>
              <a:rPr lang="en-US" baseline="0" dirty="0" smtClean="0"/>
              <a:t> size</a:t>
            </a:r>
          </a:p>
          <a:p>
            <a:r>
              <a:rPr lang="en-US" baseline="0" dirty="0" smtClean="0"/>
              <a:t>Each module should be independent and have a single function</a:t>
            </a:r>
          </a:p>
          <a:p>
            <a:r>
              <a:rPr lang="en-US" baseline="0" dirty="0" smtClean="0"/>
              <a:t>The functions of input and output are clearly defined in separate modules.</a:t>
            </a:r>
          </a:p>
          <a:p>
            <a:r>
              <a:rPr lang="en-US" baseline="0" dirty="0" smtClean="0"/>
              <a:t>Each module has a single entry point and single exit point</a:t>
            </a:r>
          </a:p>
          <a:p>
            <a:r>
              <a:rPr lang="en-US" baseline="0" dirty="0" smtClean="0"/>
              <a:t>If one module refers to or transfers control to another module, the latter module always returns control to the point which it was called by the first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42BC8-8DA5-47C8-8273-5E961E174FAB}" type="slidenum">
              <a:rPr lang="en-US">
                <a:solidFill>
                  <a:prstClr val="black"/>
                </a:solidFill>
              </a:rPr>
              <a:pPr/>
              <a:t>55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739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http://www.shk-dplc.com/cfo/bin/litigate/figure1.jpg</a:t>
            </a:r>
          </a:p>
          <a:p>
            <a:endParaRPr lang="en-US" dirty="0" smtClean="0"/>
          </a:p>
          <a:p>
            <a:r>
              <a:rPr lang="en-US" dirty="0" smtClean="0"/>
              <a:t>Each module must be of manageable</a:t>
            </a:r>
            <a:r>
              <a:rPr lang="en-US" baseline="0" dirty="0" smtClean="0"/>
              <a:t> size</a:t>
            </a:r>
          </a:p>
          <a:p>
            <a:r>
              <a:rPr lang="en-US" baseline="0" dirty="0" smtClean="0"/>
              <a:t>Each module should be independent and have a single function</a:t>
            </a:r>
          </a:p>
          <a:p>
            <a:r>
              <a:rPr lang="en-US" baseline="0" dirty="0" smtClean="0"/>
              <a:t>The functions of input and output are clearly defined in separate modules.</a:t>
            </a:r>
          </a:p>
          <a:p>
            <a:r>
              <a:rPr lang="en-US" baseline="0" dirty="0" smtClean="0"/>
              <a:t>Each module has a single entry point and single exit point</a:t>
            </a:r>
          </a:p>
          <a:p>
            <a:r>
              <a:rPr lang="en-US" baseline="0" dirty="0" smtClean="0"/>
              <a:t>If one module refers to or transfers control to another module, the latter module always returns control to the point which it was called by the first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42BC8-8DA5-47C8-8273-5E961E174FAB}" type="slidenum">
              <a:rPr lang="en-US">
                <a:solidFill>
                  <a:prstClr val="black"/>
                </a:solidFill>
              </a:rPr>
              <a:pPr/>
              <a:t>56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6254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http://www.shk-dplc.com/cfo/bin/litigate/figure1.jpg</a:t>
            </a:r>
          </a:p>
          <a:p>
            <a:endParaRPr lang="en-US" dirty="0" smtClean="0"/>
          </a:p>
          <a:p>
            <a:r>
              <a:rPr lang="en-US" dirty="0" smtClean="0"/>
              <a:t>Each module must be of manageable</a:t>
            </a:r>
            <a:r>
              <a:rPr lang="en-US" baseline="0" dirty="0" smtClean="0"/>
              <a:t> size</a:t>
            </a:r>
          </a:p>
          <a:p>
            <a:r>
              <a:rPr lang="en-US" baseline="0" dirty="0" smtClean="0"/>
              <a:t>Each module should be independent and have a single function</a:t>
            </a:r>
          </a:p>
          <a:p>
            <a:r>
              <a:rPr lang="en-US" baseline="0" dirty="0" smtClean="0"/>
              <a:t>The functions of input and output are clearly defined in separate modules.</a:t>
            </a:r>
          </a:p>
          <a:p>
            <a:r>
              <a:rPr lang="en-US" baseline="0" dirty="0" smtClean="0"/>
              <a:t>Each module has a single entry point and single exit point</a:t>
            </a:r>
          </a:p>
          <a:p>
            <a:r>
              <a:rPr lang="en-US" baseline="0" dirty="0" smtClean="0"/>
              <a:t>If one module refers to or transfers control to another module, the latter module always returns control to the point which it was called by the first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42BC8-8DA5-47C8-8273-5E961E174FAB}" type="slidenum">
              <a:rPr lang="en-US">
                <a:solidFill>
                  <a:prstClr val="black"/>
                </a:solidFill>
              </a:rPr>
              <a:pPr/>
              <a:t>79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862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pn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AE1839-1205-4FBA-B9DA-6CD313F5E07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048338-EB51-4823-96A7-80BAE918636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9F0C1D-44A6-4C97-B191-0A2307AB741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965A36-A07E-4E86-8C44-62E4C5D2D6C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D579C4-A715-4D4B-8DE1-1CF326EEC14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9E1287-950B-46AD-9E42-0F19E6852FA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E44529-A130-44B6-AEB7-850A6F22CCC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F3EF46-C254-45D0-A252-4914805431E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8EEF11-FBD1-4649-802A-5B745288C12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370EB6-5AFF-4BB2-A59A-41BF28BFC82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2D7B0B-6338-45ED-8400-87415BD86CB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1" y="1600200"/>
            <a:ext cx="3740150" cy="4527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3150" y="1600200"/>
            <a:ext cx="3741738" cy="4527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62789" y="274638"/>
            <a:ext cx="2024062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274638"/>
            <a:ext cx="5919788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AE311F-ADED-4645-BF88-1176C62E995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7A5C99-53C8-4CBC-9E80-84A3016C04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27EAC-0F94-46D9-B251-C5C4C02B85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52564" y="1600202"/>
            <a:ext cx="3740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5114" y="1600202"/>
            <a:ext cx="374173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2BB020-66E6-4A08-874A-7A86E557E7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151DDD-5BCD-4B9E-BF56-1029AFC4D7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C28B8F-6CA2-4013-A502-054848D25B5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1AD93-A7F9-4AD9-ACA6-12080194D4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1D31FD-7F70-4AE3-9212-C24259D9F64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D6D55-4A01-41E3-89A8-B4A46A311E5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33C085-C3C1-45E2-9CF5-F7F3E77545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78676" y="274640"/>
            <a:ext cx="1908175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2563" y="274640"/>
            <a:ext cx="5573712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E5B43C-DE9E-4DE0-943F-9D3C188757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68149A-93CA-43F9-B058-0EAB554D88B3}" type="datetimeFigureOut">
              <a:rPr lang="en-GB"/>
              <a:pPr/>
              <a:t>24/09/2018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DC2B5B-2346-4CB1-A012-71E79D00BD03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3FFB67-65F8-40FF-807D-2279420E0B8D}" type="datetimeFigureOut">
              <a:rPr lang="en-GB"/>
              <a:pPr/>
              <a:t>24/09/2018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54209D-5FA5-428C-849C-AE6668E3C9F2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E7B4FD1-3514-4C3E-B4F2-738282DAF296}" type="datetimeFigureOut">
              <a:rPr lang="en-GB"/>
              <a:pPr/>
              <a:t>24/09/2018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FC46B8-3858-4757-ACB5-DF3AB82F32A9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7892F0B-844D-4DF0-8450-87D623319724}" type="datetimeFigureOut">
              <a:rPr lang="en-GB"/>
              <a:pPr/>
              <a:t>24/09/2018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E5D27E-01A6-40C9-AA11-43383A5DCC2C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3F0148-5BCF-4E82-928F-8216E1B035FB}" type="datetimeFigureOut">
              <a:rPr lang="en-GB"/>
              <a:pPr/>
              <a:t>24/09/2018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CEB0B-9482-4CB2-ACE6-40991C9F553A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D4B81C-F264-4B8D-9BC8-1F1563FFD0BA}" type="datetimeFigureOut">
              <a:rPr lang="en-GB"/>
              <a:pPr/>
              <a:t>24/09/2018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D09864-81FE-4668-9791-49DE31D71946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1F506D6-1758-443C-A3AB-0BA592F16E6E}" type="datetimeFigureOut">
              <a:rPr lang="en-GB"/>
              <a:pPr/>
              <a:t>24/09/2018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18BB99-021E-4EA3-8F62-5B0967E1DE1E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598433-09AF-4ECE-907F-8F6F6FCD4530}" type="datetimeFigureOut">
              <a:rPr lang="en-GB"/>
              <a:pPr/>
              <a:t>24/09/2018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A015C4-2370-4F70-9F55-97FC577C123C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AEE3CD-9C38-4A37-BD33-73D6915DF4DD}" type="datetimeFigureOut">
              <a:rPr lang="en-GB"/>
              <a:pPr/>
              <a:t>24/09/2018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21E4D8-D9F2-46D8-B17E-4A5070EA22A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10F504-97D2-4F32-840B-EE4D81B8F9E3}" type="datetimeFigureOut">
              <a:rPr lang="en-GB"/>
              <a:pPr/>
              <a:t>24/09/2018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2B3D0C-7FD8-4622-9F2C-89588DEFA760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E11420-8798-4DC0-A8A5-B0B366E612B0}" type="datetimeFigureOut">
              <a:rPr lang="en-GB"/>
              <a:pPr/>
              <a:t>24/09/2018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059278-F833-4B9A-93B6-75173D3E778F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81000" y="0"/>
            <a:ext cx="8763000" cy="184785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0" y="2247900"/>
          <a:ext cx="9144000" cy="461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6" r:id="rId3" imgW="5028571" imgH="3453968" progId="">
                  <p:embed/>
                </p:oleObj>
              </mc:Choice>
              <mc:Fallback>
                <p:oleObj r:id="rId3" imgW="5028571" imgH="3453968" progId="">
                  <p:embed/>
                  <p:pic>
                    <p:nvPicPr>
                      <p:cNvPr id="0" name="Picture 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47900"/>
                        <a:ext cx="9144000" cy="46101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1" y="2"/>
            <a:ext cx="395288" cy="1852613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43038"/>
          </a:xfrm>
        </p:spPr>
        <p:txBody>
          <a:bodyPr/>
          <a:lstStyle>
            <a:lvl1pPr algn="ctr">
              <a:defRPr sz="4000">
                <a:latin typeface="Arial Black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17925"/>
            <a:ext cx="6400800" cy="122555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8600" cy="4714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4714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8915"/>
            <a:ext cx="2057400" cy="59388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8915"/>
            <a:ext cx="6019800" cy="59388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10080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412875"/>
            <a:ext cx="8229600" cy="4714875"/>
          </a:xfrm>
        </p:spPr>
        <p:txBody>
          <a:bodyPr/>
          <a:lstStyle/>
          <a:p>
            <a:r>
              <a:rPr lang="en-US" smtClean="0"/>
              <a:t>Click icon to add table</a:t>
            </a:r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10080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12875"/>
            <a:ext cx="4038600" cy="22812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3846515"/>
            <a:ext cx="4038600" cy="22812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4648200" y="1412875"/>
            <a:ext cx="4038600" cy="47148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10080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412875"/>
            <a:ext cx="8229600" cy="4714875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88915"/>
            <a:ext cx="8229600" cy="593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DE088C-7FD2-43EC-90D5-FAD012D0AA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9C7024-0B1C-446F-A8D4-D5D1F0950B3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2F997-AFE6-4C09-97B9-BFEE3964DE3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3287A8-C6A0-40BF-A29C-FF6C4672D98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C08A7B-01C0-490F-BB67-32644C0C63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D3BF7A-7436-4CA7-8727-4E87367653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246126-66A4-47F8-944D-67C4F277A5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E85D6B-3F36-4169-A4DD-CFBBA2C70A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A34A6D-5CA5-40EB-AB85-13738F92A9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42FE16-295D-4C94-8C59-0F3FAC03F2E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6BABA4-F67E-428B-9A49-7E17D5F3C5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90950"/>
            <a:ext cx="6400800" cy="1150938"/>
          </a:xfrm>
        </p:spPr>
        <p:txBody>
          <a:bodyPr anchor="ctr"/>
          <a:lstStyle>
            <a:lvl1pPr marL="0" indent="0" algn="ctr">
              <a:buFontTx/>
              <a:buNone/>
              <a:defRPr>
                <a:latin typeface="Arial Rounded MT Bold" pitchFamily="34" charset="0"/>
              </a:defRPr>
            </a:lvl1pPr>
          </a:lstStyle>
          <a:p>
            <a:r>
              <a:rPr lang="en-US" altLang="zh-CN" smtClean="0"/>
              <a:t>Click to edit Master subtitle style</a:t>
            </a:r>
            <a:endParaRPr 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E3BF94A5-EED8-4E25-B8A3-06F2E814472B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6F96A5-2B22-414C-BA6F-212E9E715339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83487A-658B-4AAF-9013-FDE0C6BC88B3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4313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4313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E3DE65-29CD-4A34-B100-81734353AF10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22E821-E59B-4802-BDFD-D863F7496997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474ED8-163D-414F-AD4A-B4204340413B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5FC3C7-F2F7-480E-9C74-C9CCB62E660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60FB68-346E-44AD-82CB-FB64907AC801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A4CE40-341D-405D-9B1B-F330E69F8FB7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D2C9B4-B5E5-4E0E-AC78-3B85C8ABAE24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6852"/>
            <a:ext cx="2057400" cy="58134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6852"/>
            <a:ext cx="6019800" cy="58134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98DD2F-58C9-4FBB-87BE-A60CBDF0459D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DCB8E7-A62B-473C-B74C-612403B47BC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C65AB0-0CDB-48C4-8972-FCF2A140654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35E7EE-980D-43F2-A722-5153F2BD890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19CCD5-0809-4A85-8314-C0C24A7196C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6C41AB-0A17-4AA3-8EA0-803BBE77FC2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B5180-9172-4810-9A92-841A50A159C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5D9771-6DD6-4775-A2F0-4E1F2FE3161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B561CD-A058-4171-8700-4C6355D0DBA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975875-8758-4EBF-B9F1-DA05B387727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ED0C63-A143-4D5C-8853-C3E3FE67039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6225"/>
            <a:ext cx="2057400" cy="58499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6225"/>
            <a:ext cx="6019800" cy="58499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42A129-293C-4029-A7DA-61EA4151251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4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1" y="1575654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1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2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2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3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3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30294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20707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61860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33320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85814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83031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56306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54539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5570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1662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60338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778490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41539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46089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95637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83453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67568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738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58554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485886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590045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6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vmlDrawing" Target="../drawings/vmlDrawing1.vml"/><Relationship Id="rId2" Type="http://schemas.openxmlformats.org/officeDocument/2006/relationships/slideLayout" Target="../slideLayouts/slideLayout5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5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9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4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10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12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23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32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 smtClean="0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 smtClean="0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 smtClean="0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 smtClean="0">
                <a:sym typeface="Calibri" pitchFamily="34" charset="0"/>
              </a:rPr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2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2"/>
            <a:ext cx="2895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2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9144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宋体" pitchFamily="2" charset="-122"/>
          <a:sym typeface="Calibri" pitchFamily="34" charset="0"/>
        </a:defRPr>
      </a:lvl2pPr>
      <a:lvl3pPr marL="9144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宋体" pitchFamily="2" charset="-122"/>
          <a:sym typeface="Calibri" pitchFamily="34" charset="0"/>
        </a:defRPr>
      </a:lvl3pPr>
      <a:lvl4pPr marL="9144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宋体" pitchFamily="2" charset="-122"/>
          <a:sym typeface="Calibri" pitchFamily="34" charset="0"/>
        </a:defRPr>
      </a:lvl4pPr>
      <a:lvl5pPr marL="9144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宋体" pitchFamily="2" charset="-122"/>
          <a:sym typeface="Calibri" pitchFamily="34" charset="0"/>
        </a:defRPr>
      </a:lvl5pPr>
      <a:lvl6pPr marL="13716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bg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bg1"/>
          </a:solidFill>
          <a:latin typeface="+mn-lt"/>
          <a:ea typeface="+mn-ea"/>
          <a:sym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bg1"/>
          </a:solidFill>
          <a:latin typeface="+mn-lt"/>
          <a:ea typeface="+mn-ea"/>
          <a:sym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bg1"/>
          </a:solidFill>
          <a:latin typeface="+mn-lt"/>
          <a:ea typeface="+mn-ea"/>
          <a:sym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bg1"/>
          </a:solidFill>
          <a:latin typeface="+mn-lt"/>
          <a:ea typeface="+mn-ea"/>
          <a:sym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bg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bg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bg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bg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FF87B4-0CC2-47D7-94B1-148A8DD97C5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52563" y="274638"/>
            <a:ext cx="763428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GB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1" y="1600200"/>
            <a:ext cx="7634288" cy="452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52563" y="274638"/>
            <a:ext cx="763428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GB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52563" y="1600202"/>
            <a:ext cx="7634287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fld id="{E2B1F58A-EE23-4D07-9DE5-83C7425EC26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单击此处编辑母版文本样式</a:t>
            </a:r>
          </a:p>
          <a:p>
            <a:pPr lvl="1"/>
            <a:r>
              <a:rPr lang="en-GB" smtClean="0"/>
              <a:t>第二级</a:t>
            </a:r>
          </a:p>
          <a:p>
            <a:pPr lvl="2"/>
            <a:r>
              <a:rPr lang="en-GB" smtClean="0"/>
              <a:t>第三级</a:t>
            </a:r>
          </a:p>
          <a:p>
            <a:pPr lvl="3"/>
            <a:r>
              <a:rPr lang="en-GB" smtClean="0"/>
              <a:t>第四级</a:t>
            </a:r>
          </a:p>
          <a:p>
            <a:pPr lvl="4"/>
            <a:r>
              <a:rPr lang="en-GB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fld id="{AD9DEF29-178C-4010-820F-D3C198250564}" type="datetimeFigureOut">
              <a:rPr lang="en-GB"/>
              <a:pPr/>
              <a:t>24/09/2018</a:t>
            </a:fld>
            <a:endParaRPr lang="en-GB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endParaRPr lang="en-GB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A0290EBA-FA2B-4433-93CD-5300B243EDD2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95288" y="0"/>
          <a:ext cx="8748712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2" r:id="rId18" imgW="6120635" imgH="825106" progId="">
                  <p:embed/>
                </p:oleObj>
              </mc:Choice>
              <mc:Fallback>
                <p:oleObj r:id="rId18" imgW="6120635" imgH="825106" progId="">
                  <p:embed/>
                  <p:pic>
                    <p:nvPicPr>
                      <p:cNvPr id="0" name="Picture 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0"/>
                        <a:ext cx="8748712" cy="9080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1362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" y="908052"/>
            <a:ext cx="395288" cy="4222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1" y="0"/>
            <a:ext cx="395288" cy="9144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29600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单击此处编辑母版标题样式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12875"/>
            <a:ext cx="822960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单击此处编辑母版文本样式</a:t>
            </a:r>
          </a:p>
          <a:p>
            <a:pPr lvl="1"/>
            <a:r>
              <a:rPr lang="en-US" smtClean="0"/>
              <a:t>第二级</a:t>
            </a:r>
          </a:p>
          <a:p>
            <a:pPr lvl="2"/>
            <a:r>
              <a:rPr lang="en-US" smtClean="0"/>
              <a:t>第三级</a:t>
            </a:r>
          </a:p>
          <a:p>
            <a:pPr lvl="3"/>
            <a:r>
              <a:rPr lang="en-US" smtClean="0"/>
              <a:t>第四级</a:t>
            </a:r>
          </a:p>
          <a:p>
            <a:pPr lvl="4"/>
            <a:r>
              <a:rPr lang="en-US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folHlink"/>
          </a:solidFill>
          <a:latin typeface="Verdana" pitchFamily="34" charset="0"/>
          <a:ea typeface="Microsoft YaHei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folHlink"/>
          </a:solidFill>
          <a:latin typeface="Verdana" pitchFamily="34" charset="0"/>
          <a:ea typeface="Microsoft YaHei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folHlink"/>
          </a:solidFill>
          <a:latin typeface="Verdana" pitchFamily="34" charset="0"/>
          <a:ea typeface="Microsoft YaHei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folHlink"/>
          </a:solidFill>
          <a:latin typeface="Verdana" pitchFamily="34" charset="0"/>
          <a:ea typeface="Microsoft YaHei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folHlink"/>
          </a:solidFill>
          <a:latin typeface="Verdana" pitchFamily="34" charset="0"/>
          <a:ea typeface="Microsoft YaHei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folHlink"/>
          </a:solidFill>
          <a:latin typeface="Verdana" pitchFamily="34" charset="0"/>
          <a:ea typeface="Microsoft YaHei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folHlink"/>
          </a:solidFill>
          <a:latin typeface="Verdana" pitchFamily="34" charset="0"/>
          <a:ea typeface="Microsoft YaHei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folHlink"/>
          </a:solidFill>
          <a:latin typeface="Verdana" pitchFamily="34" charset="0"/>
          <a:ea typeface="Microsoft YaHei" pitchFamily="34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u"/>
        <a:defRPr sz="2400">
          <a:solidFill>
            <a:schemeClr val="folHlink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>
          <a:solidFill>
            <a:schemeClr val="tx2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>
          <a:solidFill>
            <a:schemeClr val="tx2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>
          <a:solidFill>
            <a:schemeClr val="tx2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>
          <a:solidFill>
            <a:schemeClr val="tx2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>
          <a:solidFill>
            <a:schemeClr val="tx2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单击此处编辑母版文本样式</a:t>
            </a:r>
          </a:p>
          <a:p>
            <a:pPr lvl="1"/>
            <a:r>
              <a:rPr lang="en-US" smtClean="0"/>
              <a:t>第二级</a:t>
            </a:r>
          </a:p>
          <a:p>
            <a:pPr lvl="2"/>
            <a:r>
              <a:rPr lang="en-US" smtClean="0"/>
              <a:t>第三级</a:t>
            </a:r>
          </a:p>
          <a:p>
            <a:pPr lvl="3"/>
            <a:r>
              <a:rPr lang="en-US" smtClean="0"/>
              <a:t>第四级</a:t>
            </a:r>
          </a:p>
          <a:p>
            <a:pPr lvl="4"/>
            <a:r>
              <a:rPr 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+mn-lt"/>
              </a:defRPr>
            </a:lvl1pPr>
          </a:lstStyle>
          <a:p>
            <a:fld id="{D1AB9D04-F807-4AAA-8887-EF36C370737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96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マスタ　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4313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マスタ　テキストの書式設定</a:t>
            </a:r>
          </a:p>
          <a:p>
            <a:pPr lvl="1"/>
            <a:r>
              <a:rPr lang="zh-CN" smtClean="0"/>
              <a:t>第</a:t>
            </a:r>
            <a:r>
              <a:rPr lang="en-US" altLang="zh-CN" smtClean="0"/>
              <a:t>2</a:t>
            </a:r>
            <a:r>
              <a:rPr lang="zh-CN" smtClean="0"/>
              <a:t>レベル</a:t>
            </a:r>
          </a:p>
          <a:p>
            <a:pPr lvl="2"/>
            <a:r>
              <a:rPr lang="zh-CN" smtClean="0"/>
              <a:t>第</a:t>
            </a:r>
            <a:r>
              <a:rPr lang="en-US" altLang="zh-CN" smtClean="0"/>
              <a:t>3</a:t>
            </a:r>
            <a:r>
              <a:rPr lang="zh-CN" smtClean="0"/>
              <a:t>レベル</a:t>
            </a:r>
          </a:p>
          <a:p>
            <a:pPr lvl="3"/>
            <a:r>
              <a:rPr lang="zh-CN" smtClean="0"/>
              <a:t>第</a:t>
            </a:r>
            <a:r>
              <a:rPr lang="en-US" altLang="zh-CN" smtClean="0"/>
              <a:t>4</a:t>
            </a:r>
            <a:r>
              <a:rPr lang="zh-CN" smtClean="0"/>
              <a:t>レベル</a:t>
            </a:r>
          </a:p>
          <a:p>
            <a:pPr lvl="4"/>
            <a:r>
              <a:rPr lang="zh-CN" smtClean="0"/>
              <a:t>第</a:t>
            </a:r>
            <a:r>
              <a:rPr lang="en-US" altLang="zh-CN" smtClean="0"/>
              <a:t>5</a:t>
            </a:r>
            <a:r>
              <a:rPr lang="zh-CN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Rounded MT Bold" pitchFamily="34" charset="0"/>
          <a:ea typeface="MS PGothic" pitchFamily="3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Rounded MT Bold" pitchFamily="34" charset="0"/>
          <a:ea typeface="MS PGothic" pitchFamily="3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Rounded MT Bold" pitchFamily="34" charset="0"/>
          <a:ea typeface="MS PGothic" pitchFamily="3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Rounded MT Bold" pitchFamily="34" charset="0"/>
          <a:ea typeface="MS PGothic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Rounded MT Bold" pitchFamily="34" charset="0"/>
          <a:ea typeface="MS PGothic" pitchFamily="3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Rounded MT Bold" pitchFamily="34" charset="0"/>
          <a:ea typeface="MS PGothic" pitchFamily="3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Rounded MT Bold" pitchFamily="34" charset="0"/>
          <a:ea typeface="MS PGothic" pitchFamily="3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Rounded MT Bold" pitchFamily="34" charset="0"/>
          <a:ea typeface="MS PGothic" pitchFamily="3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6225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56F863F1-190D-4E8A-8CB2-1B4EE151797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3A7A08B-64B0-470C-87C9-934E2920E55F}" type="datetimeFigureOut">
              <a:rPr lang="en-US" smtClean="0"/>
              <a:pPr/>
              <a:t>9/24/2018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6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704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20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shazktk786@gmail.com" TargetMode="External"/><Relationship Id="rId2" Type="http://schemas.openxmlformats.org/officeDocument/2006/relationships/hyperlink" Target="mailto:qurrat.ain@seecs.edu.pk" TargetMode="External"/><Relationship Id="rId1" Type="http://schemas.openxmlformats.org/officeDocument/2006/relationships/slideLayout" Target="../slideLayouts/slideLayout10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0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3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3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32.xml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3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3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3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loodshed.net/dev/devcpp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127.xml"/><Relationship Id="rId1" Type="http://schemas.openxmlformats.org/officeDocument/2006/relationships/tags" Target="../tags/tag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2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0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0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0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0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3962400" y="5791200"/>
            <a:ext cx="5029200" cy="969306"/>
          </a:xfrm>
        </p:spPr>
        <p:txBody>
          <a:bodyPr/>
          <a:lstStyle/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r>
              <a:rPr lang="en-US" dirty="0" smtClean="0"/>
              <a:t>Qurrat-</a:t>
            </a:r>
            <a:r>
              <a:rPr lang="en-US" dirty="0" err="1" smtClean="0"/>
              <a:t>ul</a:t>
            </a:r>
            <a:r>
              <a:rPr lang="en-US" dirty="0" smtClean="0"/>
              <a:t>-</a:t>
            </a:r>
            <a:r>
              <a:rPr lang="en-US" dirty="0" err="1" smtClean="0"/>
              <a:t>ain</a:t>
            </a:r>
            <a:r>
              <a:rPr lang="en-US" dirty="0" smtClean="0"/>
              <a:t> Babar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3400"/>
            <a:ext cx="9144000" cy="1524000"/>
          </a:xfrm>
        </p:spPr>
        <p:txBody>
          <a:bodyPr anchor="ctr">
            <a:noAutofit/>
          </a:bodyPr>
          <a:lstStyle/>
          <a:p>
            <a:r>
              <a:rPr lang="en-US" sz="4000" dirty="0" smtClean="0"/>
              <a:t>CS114 </a:t>
            </a:r>
            <a:r>
              <a:rPr lang="en-US" sz="4000" dirty="0"/>
              <a:t>– Fundamentals </a:t>
            </a:r>
            <a:r>
              <a:rPr lang="en-US" sz="4000" dirty="0" smtClean="0"/>
              <a:t>of Programming</a:t>
            </a:r>
            <a:endParaRPr lang="en-US" sz="4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48" y="3041946"/>
            <a:ext cx="7382905" cy="24292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384048"/>
            <a:ext cx="8534400" cy="758952"/>
          </a:xfrm>
        </p:spPr>
        <p:txBody>
          <a:bodyPr>
            <a:noAutofit/>
          </a:bodyPr>
          <a:lstStyle/>
          <a:p>
            <a:r>
              <a:rPr lang="en-US" sz="4400" dirty="0"/>
              <a:t>Overview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42747740"/>
              </p:ext>
            </p:extLst>
          </p:nvPr>
        </p:nvGraphicFramePr>
        <p:xfrm>
          <a:off x="609600" y="1524000"/>
          <a:ext cx="74676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72000"/>
          </a:xfrm>
        </p:spPr>
        <p:txBody>
          <a:bodyPr/>
          <a:lstStyle/>
          <a:p>
            <a:r>
              <a:rPr lang="en-US" sz="2800" dirty="0"/>
              <a:t>Instructor: Qurrat-</a:t>
            </a:r>
            <a:r>
              <a:rPr lang="en-US" sz="2800" dirty="0" err="1"/>
              <a:t>ul</a:t>
            </a:r>
            <a:r>
              <a:rPr lang="en-US" sz="2800" dirty="0"/>
              <a:t>-</a:t>
            </a:r>
            <a:r>
              <a:rPr lang="en-US" sz="2800" dirty="0" err="1"/>
              <a:t>ain</a:t>
            </a:r>
            <a:r>
              <a:rPr lang="en-US" sz="2800" dirty="0"/>
              <a:t> Babar</a:t>
            </a:r>
          </a:p>
          <a:p>
            <a:pPr lvl="1"/>
            <a:r>
              <a:rPr lang="en-US" sz="2300" dirty="0" smtClean="0"/>
              <a:t>Counseling/Consultation </a:t>
            </a:r>
            <a:r>
              <a:rPr lang="en-US" sz="2300" dirty="0"/>
              <a:t>Hours</a:t>
            </a:r>
          </a:p>
          <a:p>
            <a:pPr lvl="2"/>
            <a:r>
              <a:rPr lang="en-US" sz="2100" dirty="0"/>
              <a:t>During office hours but </a:t>
            </a:r>
            <a:r>
              <a:rPr lang="en-US" sz="2100" dirty="0" smtClean="0"/>
              <a:t>it will be best if you take an </a:t>
            </a:r>
            <a:r>
              <a:rPr lang="en-US" sz="2100" dirty="0"/>
              <a:t>appointment by email first</a:t>
            </a:r>
          </a:p>
          <a:p>
            <a:pPr lvl="1"/>
            <a:r>
              <a:rPr lang="en-US" sz="2300" dirty="0"/>
              <a:t>Email: </a:t>
            </a:r>
            <a:r>
              <a:rPr lang="en-US" sz="2300" dirty="0">
                <a:hlinkClick r:id="rId2"/>
              </a:rPr>
              <a:t>qurrat.ain@seecs.edu.pk</a:t>
            </a:r>
            <a:endParaRPr lang="en-US" sz="2300" dirty="0"/>
          </a:p>
          <a:p>
            <a:pPr lvl="1"/>
            <a:r>
              <a:rPr lang="en-US" sz="2300" dirty="0"/>
              <a:t>Office: 115, NIT </a:t>
            </a:r>
            <a:r>
              <a:rPr lang="en-US" sz="2300" dirty="0" smtClean="0"/>
              <a:t>Building</a:t>
            </a:r>
          </a:p>
          <a:p>
            <a:pPr lvl="1"/>
            <a:r>
              <a:rPr lang="en-US" sz="2300" dirty="0" smtClean="0"/>
              <a:t>Contact No: 051 9085 4015</a:t>
            </a:r>
            <a:endParaRPr lang="en-US" sz="2300" dirty="0"/>
          </a:p>
          <a:p>
            <a:r>
              <a:rPr lang="en-US" sz="2800" dirty="0">
                <a:latin typeface="Calibri" pitchFamily="34" charset="0"/>
              </a:rPr>
              <a:t>Teaching </a:t>
            </a:r>
            <a:r>
              <a:rPr lang="en-US" sz="2800" dirty="0" smtClean="0">
                <a:latin typeface="Calibri" pitchFamily="34" charset="0"/>
              </a:rPr>
              <a:t>Assistant – Mr. </a:t>
            </a:r>
            <a:r>
              <a:rPr lang="en-US" sz="2800" dirty="0" err="1"/>
              <a:t>Shahzeb</a:t>
            </a:r>
            <a:r>
              <a:rPr lang="en-US" sz="2800" dirty="0"/>
              <a:t> Khan</a:t>
            </a:r>
            <a:endParaRPr lang="en-US" sz="2800" dirty="0" smtClean="0">
              <a:latin typeface="Calibri" pitchFamily="34" charset="0"/>
            </a:endParaRPr>
          </a:p>
          <a:p>
            <a:pPr lvl="1"/>
            <a:r>
              <a:rPr lang="en-US" sz="2300" dirty="0"/>
              <a:t>Email: </a:t>
            </a:r>
            <a:r>
              <a:rPr lang="en-US" sz="2400" dirty="0" smtClean="0">
                <a:hlinkClick r:id="rId3"/>
              </a:rPr>
              <a:t>shazktk786@gmail.com</a:t>
            </a:r>
            <a:endParaRPr lang="en-US" sz="2400" dirty="0" smtClean="0"/>
          </a:p>
          <a:p>
            <a:pPr lvl="1"/>
            <a:r>
              <a:rPr lang="en-US" sz="2300" dirty="0" smtClean="0"/>
              <a:t>Contact </a:t>
            </a:r>
            <a:r>
              <a:rPr lang="en-US" sz="2300" dirty="0"/>
              <a:t>No: </a:t>
            </a:r>
            <a:r>
              <a:rPr lang="en-US" sz="2400" dirty="0"/>
              <a:t>0300-5574001</a:t>
            </a:r>
            <a:endParaRPr lang="en-US" sz="23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72000"/>
          </a:xfrm>
        </p:spPr>
        <p:txBody>
          <a:bodyPr/>
          <a:lstStyle/>
          <a:p>
            <a:r>
              <a:rPr lang="en-US" sz="2800" dirty="0"/>
              <a:t>Brief Introduction of students</a:t>
            </a:r>
          </a:p>
          <a:p>
            <a:pPr lvl="1"/>
            <a:r>
              <a:rPr lang="en-US" sz="2300" dirty="0"/>
              <a:t>Name</a:t>
            </a:r>
          </a:p>
          <a:p>
            <a:pPr lvl="1"/>
            <a:r>
              <a:rPr lang="en-US" sz="2300" dirty="0"/>
              <a:t>Qualification</a:t>
            </a:r>
          </a:p>
          <a:p>
            <a:pPr lvl="1"/>
            <a:r>
              <a:rPr lang="en-US" sz="2300" dirty="0"/>
              <a:t>Day Scholar/ </a:t>
            </a:r>
            <a:r>
              <a:rPr lang="en-US" sz="2300" dirty="0" err="1"/>
              <a:t>Hostelite</a:t>
            </a:r>
            <a:r>
              <a:rPr lang="en-US" sz="2300" dirty="0"/>
              <a:t> </a:t>
            </a:r>
          </a:p>
          <a:p>
            <a:pPr lvl="1"/>
            <a:r>
              <a:rPr lang="en-US" sz="2300" dirty="0">
                <a:latin typeface="Calibri" pitchFamily="34" charset="0"/>
              </a:rPr>
              <a:t>% in </a:t>
            </a:r>
            <a:r>
              <a:rPr lang="en-US" sz="2300" dirty="0" err="1">
                <a:latin typeface="Calibri" pitchFamily="34" charset="0"/>
              </a:rPr>
              <a:t>FSc</a:t>
            </a:r>
            <a:r>
              <a:rPr lang="en-US" sz="2300" dirty="0">
                <a:latin typeface="Calibri" pitchFamily="34" charset="0"/>
              </a:rPr>
              <a:t>/A-Levels </a:t>
            </a:r>
          </a:p>
          <a:p>
            <a:pPr lvl="1"/>
            <a:r>
              <a:rPr lang="en-US" sz="2300" dirty="0">
                <a:latin typeface="Calibri" pitchFamily="34" charset="0"/>
              </a:rPr>
              <a:t>Your aim/aspiration in life</a:t>
            </a:r>
          </a:p>
        </p:txBody>
      </p:sp>
    </p:spTree>
    <p:extLst>
      <p:ext uri="{BB962C8B-B14F-4D97-AF65-F5344CB8AC3E}">
        <p14:creationId xmlns:p14="http://schemas.microsoft.com/office/powerpoint/2010/main" val="74057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2315" y="2667000"/>
            <a:ext cx="7126287" cy="35814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Credits: 2+1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Details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76905" y="3276600"/>
            <a:ext cx="3263216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24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Details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Credits: 2+1</a:t>
            </a:r>
          </a:p>
          <a:p>
            <a:pPr algn="l"/>
            <a:r>
              <a:rPr lang="en-US" b="0" dirty="0">
                <a:solidFill>
                  <a:schemeClr val="tx1"/>
                </a:solidFill>
              </a:rPr>
              <a:t>Grade distribution is </a:t>
            </a:r>
            <a:r>
              <a:rPr lang="en-US" b="0" dirty="0" smtClean="0">
                <a:solidFill>
                  <a:schemeClr val="tx1"/>
                </a:solidFill>
              </a:rPr>
              <a:t>(67% </a:t>
            </a:r>
            <a:r>
              <a:rPr lang="en-US" b="0" dirty="0">
                <a:solidFill>
                  <a:schemeClr val="tx1"/>
                </a:solidFill>
              </a:rPr>
              <a:t>+ </a:t>
            </a:r>
            <a:r>
              <a:rPr lang="en-US" b="0" dirty="0" smtClean="0">
                <a:solidFill>
                  <a:schemeClr val="tx1"/>
                </a:solidFill>
              </a:rPr>
              <a:t>33%)</a:t>
            </a:r>
            <a:endParaRPr lang="en-US" b="0" dirty="0">
              <a:solidFill>
                <a:schemeClr val="tx1"/>
              </a:solidFill>
            </a:endParaRP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Theory – 67% </a:t>
            </a:r>
            <a:endParaRPr lang="en-US" b="1" dirty="0">
              <a:solidFill>
                <a:schemeClr val="tx1"/>
              </a:solidFill>
            </a:endParaRPr>
          </a:p>
          <a:p>
            <a:pPr marL="834390" lvl="2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Quizzes </a:t>
            </a:r>
            <a:r>
              <a:rPr lang="en-US" b="0" dirty="0">
                <a:solidFill>
                  <a:schemeClr val="tx1"/>
                </a:solidFill>
              </a:rPr>
              <a:t>– 15%</a:t>
            </a:r>
          </a:p>
          <a:p>
            <a:pPr marL="834390" lvl="2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Assignments </a:t>
            </a:r>
            <a:r>
              <a:rPr lang="en-US" b="0" dirty="0">
                <a:solidFill>
                  <a:schemeClr val="tx1"/>
                </a:solidFill>
              </a:rPr>
              <a:t>– 10%</a:t>
            </a:r>
          </a:p>
          <a:p>
            <a:pPr marL="834390" lvl="2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OHT‐1 </a:t>
            </a:r>
            <a:r>
              <a:rPr lang="en-US" b="0" dirty="0">
                <a:solidFill>
                  <a:schemeClr val="tx1"/>
                </a:solidFill>
              </a:rPr>
              <a:t>– 15%</a:t>
            </a:r>
          </a:p>
          <a:p>
            <a:pPr marL="834390" lvl="2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OHT‐2 </a:t>
            </a:r>
            <a:r>
              <a:rPr lang="en-US" b="0" dirty="0">
                <a:solidFill>
                  <a:schemeClr val="tx1"/>
                </a:solidFill>
              </a:rPr>
              <a:t>– 15%</a:t>
            </a:r>
          </a:p>
          <a:p>
            <a:pPr marL="834390" lvl="2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ESE </a:t>
            </a:r>
            <a:r>
              <a:rPr lang="en-US" b="0" dirty="0">
                <a:solidFill>
                  <a:schemeClr val="tx1"/>
                </a:solidFill>
              </a:rPr>
              <a:t>– 45%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Practical – 33% </a:t>
            </a:r>
            <a:endParaRPr lang="en-US" b="1" dirty="0">
              <a:solidFill>
                <a:schemeClr val="tx1"/>
              </a:solidFill>
            </a:endParaRPr>
          </a:p>
          <a:p>
            <a:pPr marL="834390" lvl="2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Lab </a:t>
            </a:r>
            <a:r>
              <a:rPr lang="en-US" dirty="0"/>
              <a:t>W</a:t>
            </a:r>
            <a:r>
              <a:rPr lang="en-US" b="0" dirty="0" smtClean="0">
                <a:solidFill>
                  <a:schemeClr val="tx1"/>
                </a:solidFill>
              </a:rPr>
              <a:t>ork </a:t>
            </a:r>
            <a:r>
              <a:rPr lang="en-US" b="0" dirty="0">
                <a:solidFill>
                  <a:schemeClr val="tx1"/>
                </a:solidFill>
              </a:rPr>
              <a:t>– 70%</a:t>
            </a:r>
          </a:p>
          <a:p>
            <a:pPr marL="834390" lvl="2" indent="-285750">
              <a:buFont typeface="Arial" panose="020B0604020202020204" pitchFamily="34" charset="0"/>
              <a:buChar char="•"/>
            </a:pPr>
            <a:r>
              <a:rPr lang="en-US" b="0" dirty="0" smtClean="0">
                <a:solidFill>
                  <a:schemeClr val="tx1"/>
                </a:solidFill>
              </a:rPr>
              <a:t>Lab </a:t>
            </a:r>
            <a:r>
              <a:rPr lang="en-US" b="0" dirty="0">
                <a:solidFill>
                  <a:schemeClr val="tx1"/>
                </a:solidFill>
              </a:rPr>
              <a:t>Project/Exam – 30</a:t>
            </a:r>
            <a:r>
              <a:rPr lang="en-US" b="0" dirty="0" smtClean="0">
                <a:solidFill>
                  <a:schemeClr val="tx1"/>
                </a:solidFill>
              </a:rPr>
              <a:t>%</a:t>
            </a: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08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Description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 introduction to the development of programs using C++. </a:t>
            </a:r>
          </a:p>
          <a:p>
            <a:r>
              <a:rPr lang="en-US" sz="2800" dirty="0"/>
              <a:t>Emphasis is given to the development of program modules that can function independently. </a:t>
            </a:r>
          </a:p>
          <a:p>
            <a:pPr lvl="1"/>
            <a:r>
              <a:rPr lang="en-US" sz="2400" dirty="0"/>
              <a:t>Object-oriented design</a:t>
            </a:r>
          </a:p>
          <a:p>
            <a:r>
              <a:rPr lang="en-US" sz="2800" dirty="0"/>
              <a:t>The theory of data structures and programming language design is continued. </a:t>
            </a:r>
          </a:p>
        </p:txBody>
      </p:sp>
    </p:spTree>
    <p:extLst>
      <p:ext uri="{BB962C8B-B14F-4D97-AF65-F5344CB8AC3E}">
        <p14:creationId xmlns:p14="http://schemas.microsoft.com/office/powerpoint/2010/main" val="171408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this course about?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/>
              <a:t>Problem solving</a:t>
            </a:r>
          </a:p>
          <a:p>
            <a:r>
              <a:rPr lang="en-US" sz="2800" dirty="0"/>
              <a:t>Designing solutions using flowcharts</a:t>
            </a:r>
          </a:p>
          <a:p>
            <a:r>
              <a:rPr lang="en-US" sz="2800" dirty="0"/>
              <a:t>Basic computer programming using C/C++</a:t>
            </a:r>
          </a:p>
          <a:p>
            <a:r>
              <a:rPr lang="en-US" sz="2800" dirty="0"/>
              <a:t>Logic building &amp; algorithms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63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Text Book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Book</a:t>
            </a:r>
          </a:p>
          <a:p>
            <a:pPr lvl="1"/>
            <a:r>
              <a:rPr lang="en-US" dirty="0" smtClean="0"/>
              <a:t>There </a:t>
            </a:r>
            <a:r>
              <a:rPr lang="en-US" dirty="0"/>
              <a:t>are many books on </a:t>
            </a:r>
            <a:r>
              <a:rPr lang="en-US" dirty="0" smtClean="0"/>
              <a:t>C/C++</a:t>
            </a:r>
            <a:endParaRPr lang="en-US" dirty="0"/>
          </a:p>
          <a:p>
            <a:pPr lvl="1"/>
            <a:r>
              <a:rPr lang="en-US" dirty="0" smtClean="0"/>
              <a:t>All </a:t>
            </a:r>
            <a:r>
              <a:rPr lang="en-US" dirty="0"/>
              <a:t>of them teach almost the same thing</a:t>
            </a:r>
          </a:p>
          <a:p>
            <a:pPr lvl="1"/>
            <a:endParaRPr lang="en-US" i="1" dirty="0"/>
          </a:p>
          <a:p>
            <a:r>
              <a:rPr lang="en-US" dirty="0" smtClean="0"/>
              <a:t>Book </a:t>
            </a:r>
            <a:r>
              <a:rPr lang="en-US" dirty="0"/>
              <a:t>only teaches you the syntax.</a:t>
            </a:r>
          </a:p>
          <a:p>
            <a:r>
              <a:rPr lang="en-US" dirty="0" smtClean="0"/>
              <a:t>You </a:t>
            </a:r>
            <a:r>
              <a:rPr lang="en-US" dirty="0"/>
              <a:t>must know yourself how to use </a:t>
            </a:r>
            <a:r>
              <a:rPr lang="en-US" dirty="0" smtClean="0"/>
              <a:t>that syntax</a:t>
            </a:r>
            <a:r>
              <a:rPr lang="en-US" dirty="0"/>
              <a:t>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46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Text Book</a:t>
            </a:r>
          </a:p>
        </p:txBody>
      </p:sp>
      <p:pic>
        <p:nvPicPr>
          <p:cNvPr id="3074" name="Picture 2" descr="Image result for c++ how to program, 9/e book 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352" y="1600202"/>
            <a:ext cx="3505200" cy="458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97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Reference Book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986" y="1676401"/>
            <a:ext cx="3504815" cy="4549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7635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Course Contents</a:t>
            </a:r>
            <a:endParaRPr lang="en-US" sz="4000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560001247"/>
              </p:ext>
            </p:extLst>
          </p:nvPr>
        </p:nvGraphicFramePr>
        <p:xfrm>
          <a:off x="376428" y="1600201"/>
          <a:ext cx="8385048" cy="51158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9496"/>
                <a:gridCol w="7395552"/>
              </a:tblGrid>
              <a:tr h="41494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 u="none" strike="noStrike" dirty="0">
                          <a:effectLst/>
                        </a:rPr>
                        <a:t>Week</a:t>
                      </a:r>
                      <a:endParaRPr lang="en-US" sz="2800" u="sng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 u="none" dirty="0">
                          <a:effectLst/>
                        </a:rPr>
                        <a:t>Topics</a:t>
                      </a:r>
                      <a:endParaRPr lang="en-US" sz="2800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10373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GB" sz="1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 to Course, Introduction to Computer: System components, networks and operating systems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GB" sz="18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Lab: Computer Hardware and Operating System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562" marR="55562" marT="0" marB="0"/>
                </a:tc>
              </a:tr>
              <a:tr h="8002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 smtClean="0">
                          <a:effectLst/>
                        </a:rPr>
                        <a:t>2</a:t>
                      </a:r>
                      <a:endParaRPr lang="en-US" sz="1800" u="sng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u="none" strike="noStrike" dirty="0" smtClean="0">
                          <a:effectLst/>
                        </a:rPr>
                        <a:t>Introduction </a:t>
                      </a:r>
                      <a:r>
                        <a:rPr lang="en-GB" sz="1800" u="none" strike="noStrike" dirty="0">
                          <a:effectLst/>
                        </a:rPr>
                        <a:t>to Logic</a:t>
                      </a:r>
                      <a:r>
                        <a:rPr lang="en-GB" sz="1800" u="none" strike="noStrike" dirty="0" smtClean="0">
                          <a:effectLst/>
                        </a:rPr>
                        <a:t>, Flow Charts, Pseudo Code, Introduction </a:t>
                      </a:r>
                      <a:r>
                        <a:rPr lang="en-GB" sz="1800" u="none" strike="noStrike" dirty="0">
                          <a:effectLst/>
                        </a:rPr>
                        <a:t>to </a:t>
                      </a:r>
                      <a:r>
                        <a:rPr lang="en-GB" sz="1800" u="none" strike="noStrike" dirty="0" smtClean="0">
                          <a:effectLst/>
                        </a:rPr>
                        <a:t>Programming</a:t>
                      </a:r>
                      <a:endParaRPr lang="en-US" sz="1800" u="sng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</a:rPr>
                        <a:t>Lab: </a:t>
                      </a:r>
                      <a:r>
                        <a:rPr lang="en-GB" sz="1800" u="none" strike="noStrike" dirty="0" smtClean="0">
                          <a:effectLst/>
                        </a:rPr>
                        <a:t>Problem </a:t>
                      </a:r>
                      <a:r>
                        <a:rPr lang="en-GB" sz="1800" u="none" strike="noStrike" dirty="0">
                          <a:effectLst/>
                        </a:rPr>
                        <a:t>Solving using Flow Charts (Visual Logic</a:t>
                      </a:r>
                      <a:r>
                        <a:rPr lang="en-GB" sz="1800" u="none" strike="noStrike" dirty="0" smtClean="0">
                          <a:effectLst/>
                        </a:rPr>
                        <a:t>), Testing the Programming Environment and Basic Program </a:t>
                      </a:r>
                      <a:endParaRPr lang="en-US" sz="1800" u="sng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8002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u="sng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</a:rPr>
                        <a:t>Programming Environment, Basic Programming, Statements, Expressions, Comments</a:t>
                      </a:r>
                      <a:endParaRPr lang="en-US" sz="1800" u="sng" dirty="0">
                        <a:effectLst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Lab: First Program, Basic statement, and Output Formats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6815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u="sng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</a:rPr>
                        <a:t>First Program, Compilation, Variables, Types, Operators, Debugging</a:t>
                      </a:r>
                      <a:endParaRPr lang="en-US" sz="1800" u="sng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</a:rPr>
                        <a:t>Lab: Variable processing, Arithmetic operations, Finding Errors </a:t>
                      </a:r>
                      <a:endParaRPr lang="en-US" sz="1800" u="sng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647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sz="1800" u="sng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</a:rPr>
                        <a:t>I/O, interactive programming</a:t>
                      </a:r>
                      <a:endParaRPr lang="en-US" sz="1800" u="sng" dirty="0">
                        <a:effectLst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Lab: User Input based programming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647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800" u="none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OHT – I</a:t>
                      </a:r>
                      <a:endParaRPr kumimoji="0" lang="en-US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562" marR="5556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38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Course Contents</a:t>
            </a:r>
            <a:endParaRPr lang="en-US" sz="4000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768978459"/>
              </p:ext>
            </p:extLst>
          </p:nvPr>
        </p:nvGraphicFramePr>
        <p:xfrm>
          <a:off x="457200" y="1447800"/>
          <a:ext cx="7620000" cy="46662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3000"/>
                <a:gridCol w="6477000"/>
              </a:tblGrid>
              <a:tr h="35329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 u="none" strike="noStrike" dirty="0">
                          <a:effectLst/>
                          <a:latin typeface="+mn-lt"/>
                        </a:rPr>
                        <a:t>Week</a:t>
                      </a:r>
                      <a:endParaRPr lang="en-US" sz="2800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 u="none" dirty="0">
                          <a:effectLst/>
                          <a:latin typeface="+mn-lt"/>
                        </a:rPr>
                        <a:t>Topics</a:t>
                      </a:r>
                      <a:endParaRPr lang="en-US" sz="2800" u="none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7065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7</a:t>
                      </a:r>
                      <a:endParaRPr lang="en-US" sz="1800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Relational operators, logical operators, conditional statements</a:t>
                      </a:r>
                      <a:endParaRPr lang="en-US" sz="1800" u="sng">
                        <a:effectLst/>
                        <a:latin typeface="+mn-lt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Lab: Conditional Constructs I</a:t>
                      </a:r>
                      <a:endParaRPr lang="en-US" sz="1800" u="sng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7065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8</a:t>
                      </a:r>
                      <a:endParaRPr lang="en-US" sz="1800" u="sng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If-Else Statement, Switch-Break-Continue</a:t>
                      </a:r>
                      <a:endParaRPr lang="en-US" sz="1800" u="sng" dirty="0">
                        <a:effectLst/>
                        <a:latin typeface="+mn-lt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Lab: Conditional Constructs II</a:t>
                      </a:r>
                      <a:endParaRPr lang="en-US" sz="1800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7065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9</a:t>
                      </a:r>
                      <a:endParaRPr lang="en-US" sz="1800" u="sng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Iterations, For loop, Do-While Loop, While Loop</a:t>
                      </a:r>
                      <a:endParaRPr lang="en-US" sz="1800" u="sng">
                        <a:effectLst/>
                        <a:latin typeface="+mn-lt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Lab: Loops and Iterations</a:t>
                      </a:r>
                      <a:endParaRPr lang="en-US" sz="1800" u="sng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7065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10</a:t>
                      </a:r>
                      <a:endParaRPr lang="en-US" sz="1800" u="sng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Functions, parameters to functions</a:t>
                      </a:r>
                      <a:endParaRPr lang="en-US" sz="1800" u="sng">
                        <a:effectLst/>
                        <a:latin typeface="+mn-lt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Lab: Function Definition, Function Parameters and calls</a:t>
                      </a:r>
                      <a:endParaRPr lang="en-US" sz="1800" u="sng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7065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11</a:t>
                      </a:r>
                      <a:endParaRPr lang="en-US" sz="1800" u="sng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More functions, Recursion</a:t>
                      </a:r>
                      <a:endParaRPr lang="en-US" sz="1800" u="sng" dirty="0">
                        <a:effectLst/>
                        <a:latin typeface="+mn-lt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Lab: Function reuse and recursion</a:t>
                      </a:r>
                      <a:endParaRPr lang="en-US" sz="1800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7065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800" u="none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OHT – II</a:t>
                      </a:r>
                      <a:r>
                        <a:rPr lang="en-US" sz="1800" u="sng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800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2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Course Contents</a:t>
            </a:r>
            <a:endParaRPr lang="en-US" sz="4000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13232927"/>
              </p:ext>
            </p:extLst>
          </p:nvPr>
        </p:nvGraphicFramePr>
        <p:xfrm>
          <a:off x="533400" y="1524000"/>
          <a:ext cx="8077200" cy="47909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3000"/>
                <a:gridCol w="6934200"/>
              </a:tblGrid>
              <a:tr h="31172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 u="none" strike="noStrike" dirty="0">
                          <a:effectLst/>
                          <a:latin typeface="+mn-lt"/>
                        </a:rPr>
                        <a:t>Week</a:t>
                      </a:r>
                      <a:endParaRPr lang="en-US" sz="2800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800" u="none" dirty="0">
                          <a:effectLst/>
                          <a:latin typeface="+mn-lt"/>
                        </a:rPr>
                        <a:t>Topics</a:t>
                      </a:r>
                      <a:endParaRPr lang="en-US" sz="2800" u="none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6234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13</a:t>
                      </a:r>
                      <a:endParaRPr lang="en-US" sz="1800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Arrays</a:t>
                      </a:r>
                      <a:endParaRPr lang="en-US" sz="1800" u="sng" dirty="0">
                        <a:effectLst/>
                        <a:latin typeface="+mn-lt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Lab: Arrays and Operations on Arrays</a:t>
                      </a:r>
                      <a:endParaRPr lang="en-US" sz="1800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6234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14</a:t>
                      </a:r>
                      <a:endParaRPr lang="en-US" sz="1800" u="sng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Structures</a:t>
                      </a:r>
                      <a:endParaRPr lang="en-US" sz="1800" u="sng">
                        <a:effectLst/>
                        <a:latin typeface="+mn-lt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Lab: Structure definition and usage</a:t>
                      </a:r>
                      <a:endParaRPr lang="en-US" sz="1800" u="sng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6234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15</a:t>
                      </a:r>
                      <a:endParaRPr lang="en-US" sz="1800" u="sng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Pointers</a:t>
                      </a:r>
                      <a:endParaRPr lang="en-US" sz="1800" u="sng" dirty="0">
                        <a:effectLst/>
                        <a:latin typeface="+mn-lt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Lab: Pointers, Variable Pointer</a:t>
                      </a:r>
                      <a:endParaRPr lang="en-US" sz="1800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6234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16</a:t>
                      </a:r>
                      <a:endParaRPr lang="en-US" sz="1800" u="sng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File I/O</a:t>
                      </a:r>
                      <a:endParaRPr lang="en-US" sz="1800" u="sng" dirty="0">
                        <a:effectLst/>
                        <a:latin typeface="+mn-lt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Lab: File Handling and Information storage</a:t>
                      </a:r>
                      <a:endParaRPr lang="en-US" sz="1800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6234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>
                          <a:effectLst/>
                          <a:latin typeface="+mn-lt"/>
                        </a:rPr>
                        <a:t>17</a:t>
                      </a:r>
                      <a:endParaRPr lang="en-US" sz="1800" u="sng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Project demos, Revision</a:t>
                      </a:r>
                      <a:endParaRPr lang="en-US" sz="1800" u="sng" dirty="0">
                        <a:effectLst/>
                        <a:latin typeface="+mn-lt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u="none" strike="noStrike" dirty="0">
                          <a:effectLst/>
                          <a:latin typeface="+mn-lt"/>
                        </a:rPr>
                        <a:t>Lab: Project Demos</a:t>
                      </a:r>
                      <a:endParaRPr lang="en-US" sz="1800" u="sng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6234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1800" u="none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ESE</a:t>
                      </a:r>
                      <a:endParaRPr lang="en-US" sz="1800" b="1" u="none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  <a:tr h="6234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1800" u="none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dirty="0" smtClea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ESE</a:t>
                      </a:r>
                      <a:endParaRPr lang="en-US" sz="1800" b="1" u="none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562" marR="5556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08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Course Outcomes</a:t>
            </a:r>
            <a:endParaRPr lang="en-US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</a:rPr>
              <a:t>By the end of the course, you should be able to: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GB" dirty="0"/>
              <a:t>Comprehend the fundamental concepts of computer </a:t>
            </a:r>
            <a:r>
              <a:rPr lang="en-GB" dirty="0" smtClean="0"/>
              <a:t>systems.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dirty="0" smtClean="0"/>
              <a:t>Apply </a:t>
            </a:r>
            <a:r>
              <a:rPr lang="en-US" dirty="0"/>
              <a:t>programming skills to implement computer-based solutions of well specified problems</a:t>
            </a:r>
            <a:r>
              <a:rPr lang="en-US" dirty="0" smtClean="0"/>
              <a:t>.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Analyze where computer programs fit in the provision of computer-based solutions to real world problems.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27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Ground Rules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895600"/>
            <a:ext cx="485775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5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Attendance Policy</a:t>
            </a:r>
            <a:endParaRPr lang="en-US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Will be marked at the beginning of the class (within first 10 mins)</a:t>
            </a:r>
          </a:p>
          <a:p>
            <a:r>
              <a:rPr lang="en-US" dirty="0" smtClean="0"/>
              <a:t>75</a:t>
            </a:r>
            <a:r>
              <a:rPr lang="en-US" dirty="0"/>
              <a:t>% required to take ESE</a:t>
            </a:r>
          </a:p>
          <a:p>
            <a:r>
              <a:rPr lang="en-US" dirty="0"/>
              <a:t>Any missed </a:t>
            </a:r>
            <a:r>
              <a:rPr lang="en-US" dirty="0" smtClean="0"/>
              <a:t>attendance is </a:t>
            </a:r>
            <a:r>
              <a:rPr lang="en-US" dirty="0"/>
              <a:t>your own </a:t>
            </a:r>
            <a:r>
              <a:rPr lang="en-US" dirty="0" smtClean="0"/>
              <a:t>responsibility</a:t>
            </a:r>
          </a:p>
          <a:p>
            <a:r>
              <a:rPr lang="en-US" dirty="0" smtClean="0"/>
              <a:t>No late attendance marking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46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Quiz Policy</a:t>
            </a:r>
            <a:endParaRPr lang="en-US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5-6 </a:t>
            </a:r>
            <a:r>
              <a:rPr lang="en-US" dirty="0"/>
              <a:t>quizzes in whole semester</a:t>
            </a:r>
          </a:p>
          <a:p>
            <a:r>
              <a:rPr lang="en-US" dirty="0" smtClean="0"/>
              <a:t>Unannounced</a:t>
            </a:r>
            <a:endParaRPr lang="en-US" dirty="0"/>
          </a:p>
          <a:p>
            <a:r>
              <a:rPr lang="en-US" dirty="0" smtClean="0"/>
              <a:t>No drop quiz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56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Assignment Policy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3 </a:t>
            </a:r>
            <a:r>
              <a:rPr lang="en-US" dirty="0"/>
              <a:t>Assignments</a:t>
            </a:r>
          </a:p>
          <a:p>
            <a:r>
              <a:rPr lang="en-US" dirty="0" smtClean="0"/>
              <a:t>No </a:t>
            </a:r>
            <a:r>
              <a:rPr lang="en-US" dirty="0"/>
              <a:t>drop </a:t>
            </a:r>
            <a:r>
              <a:rPr lang="en-US" dirty="0" smtClean="0"/>
              <a:t>policy</a:t>
            </a:r>
          </a:p>
          <a:p>
            <a:r>
              <a:rPr lang="en-US" dirty="0" smtClean="0"/>
              <a:t>No late/email submissions will be accepted</a:t>
            </a:r>
          </a:p>
          <a:p>
            <a:r>
              <a:rPr lang="en-US" dirty="0" smtClean="0"/>
              <a:t>Zero tolerance for plagiarism/cheating</a:t>
            </a:r>
          </a:p>
          <a:p>
            <a:pPr lvl="1"/>
            <a:r>
              <a:rPr lang="en-US" dirty="0"/>
              <a:t>Discussing homework concepts is fine, but </a:t>
            </a:r>
            <a:r>
              <a:rPr lang="en-US" b="1" i="1" dirty="0"/>
              <a:t>you must submit your own work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Lab Tasks Policy</a:t>
            </a:r>
            <a:endParaRPr lang="en-US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Each student will submit their own work at the end of each lab</a:t>
            </a:r>
            <a:endParaRPr lang="en-US" dirty="0"/>
          </a:p>
          <a:p>
            <a:r>
              <a:rPr lang="en-US" dirty="0" smtClean="0"/>
              <a:t>No late/email submissions will be accepted</a:t>
            </a:r>
          </a:p>
          <a:p>
            <a:r>
              <a:rPr lang="en-US" dirty="0" smtClean="0"/>
              <a:t>Zero tolerance for plagiarism/cheating</a:t>
            </a:r>
          </a:p>
          <a:p>
            <a:pPr lvl="1"/>
            <a:r>
              <a:rPr lang="en-US" dirty="0"/>
              <a:t>Discussing </a:t>
            </a:r>
            <a:r>
              <a:rPr lang="en-US" dirty="0" smtClean="0"/>
              <a:t>lab task </a:t>
            </a:r>
            <a:r>
              <a:rPr lang="en-US" dirty="0"/>
              <a:t>is fine, but </a:t>
            </a:r>
            <a:r>
              <a:rPr lang="en-US" b="1" i="1" dirty="0"/>
              <a:t>you must submit your own work</a:t>
            </a:r>
            <a:r>
              <a:rPr lang="en-US" dirty="0" smtClean="0"/>
              <a:t>.</a:t>
            </a:r>
          </a:p>
          <a:p>
            <a:r>
              <a:rPr lang="en-US" dirty="0" smtClean="0"/>
              <a:t>Pop Lab Quiz – which can be unannounced, you should expect a lab quiz after every 3/4 lab sessions.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93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Student Civility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an effort to make this class enjoyable for everybody…</a:t>
            </a:r>
          </a:p>
          <a:p>
            <a:pPr lvl="1"/>
            <a:r>
              <a:rPr lang="en-US" dirty="0"/>
              <a:t>Please be on time to class!</a:t>
            </a:r>
          </a:p>
          <a:p>
            <a:pPr lvl="1"/>
            <a:r>
              <a:rPr lang="en-US" dirty="0"/>
              <a:t>Please do not talk to your friends and </a:t>
            </a:r>
            <a:r>
              <a:rPr lang="en-US" dirty="0" smtClean="0"/>
              <a:t>neighbors </a:t>
            </a:r>
            <a:r>
              <a:rPr lang="en-US" dirty="0"/>
              <a:t>in class!  It disturbs everyone, and makes it hard to concentrate.  If you have a question, just ask me!</a:t>
            </a:r>
          </a:p>
          <a:p>
            <a:pPr lvl="1"/>
            <a:r>
              <a:rPr lang="en-US" dirty="0"/>
              <a:t>Please turn your cell-phones off! </a:t>
            </a:r>
            <a:r>
              <a:rPr lang="en-US" dirty="0" smtClean="0"/>
              <a:t>No usage of mobiles during class – will have a penalty.</a:t>
            </a:r>
            <a:endParaRPr lang="en-US" dirty="0"/>
          </a:p>
          <a:p>
            <a:r>
              <a:rPr lang="en-US" dirty="0"/>
              <a:t>Interaction is the key</a:t>
            </a:r>
          </a:p>
          <a:p>
            <a:pPr lvl="1"/>
            <a:r>
              <a:rPr lang="en-US" dirty="0" smtClean="0"/>
              <a:t>Please </a:t>
            </a:r>
            <a:r>
              <a:rPr lang="en-US" dirty="0"/>
              <a:t>ask questions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you don’t </a:t>
            </a:r>
            <a:r>
              <a:rPr lang="en-US" dirty="0" smtClean="0"/>
              <a:t>understand, </a:t>
            </a:r>
            <a:r>
              <a:rPr lang="en-US" b="1" dirty="0"/>
              <a:t>ask</a:t>
            </a:r>
          </a:p>
          <a:p>
            <a:pPr lvl="1"/>
            <a:r>
              <a:rPr lang="en-US" dirty="0" smtClean="0"/>
              <a:t>Let </a:t>
            </a:r>
            <a:r>
              <a:rPr lang="en-US" dirty="0"/>
              <a:t>me know if I am going too </a:t>
            </a:r>
            <a:r>
              <a:rPr lang="en-US" dirty="0" smtClean="0"/>
              <a:t>slow/too fast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19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Student Civility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 room for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indecency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/>
              <a:t>in this class.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86000"/>
            <a:ext cx="3721577" cy="371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1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 result for begin in the name of Alla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4800"/>
            <a:ext cx="5791200" cy="5910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1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91831" y="4226123"/>
            <a:ext cx="9327661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Road Map for Today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sz="3200" kern="0" dirty="0" smtClean="0">
                <a:solidFill>
                  <a:prstClr val="black"/>
                </a:solidFill>
              </a:rPr>
              <a:t>Computer Programming in Civil Engineering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sz="3200" kern="0" dirty="0" smtClean="0">
                <a:solidFill>
                  <a:prstClr val="black"/>
                </a:solidFill>
              </a:rPr>
              <a:t>History of Computers 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sz="3200" kern="0" dirty="0" smtClean="0">
                <a:solidFill>
                  <a:prstClr val="black"/>
                </a:solidFill>
              </a:rPr>
              <a:t>Introduction to Computers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en-US" sz="3200" kern="0" dirty="0" smtClean="0">
                <a:solidFill>
                  <a:prstClr val="black"/>
                </a:solidFill>
              </a:rPr>
              <a:t>Introduction to Programming 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24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24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0461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488" y="3583565"/>
            <a:ext cx="257175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32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62700" y="4043146"/>
            <a:ext cx="26670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327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28962" y="4352911"/>
            <a:ext cx="288607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6328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19775" y="1112029"/>
            <a:ext cx="187642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1752600" y="2808982"/>
            <a:ext cx="5943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prstClr val="black"/>
                </a:solidFill>
              </a:rPr>
              <a:t>Why study Computer Programming in Civil Engineering?</a:t>
            </a:r>
            <a:endParaRPr lang="en-US" sz="3200" b="1" dirty="0">
              <a:solidFill>
                <a:prstClr val="black"/>
              </a:solidFill>
            </a:endParaRPr>
          </a:p>
        </p:txBody>
      </p:sp>
      <p:pic>
        <p:nvPicPr>
          <p:cNvPr id="5632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62000" y="833424"/>
            <a:ext cx="3195228" cy="199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Rectangle 21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92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83298" name="Picture 2" descr="C:\Users\xyz\Desktop\Techie_Timelin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379041"/>
            <a:ext cx="7086600" cy="498332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524000" y="304800"/>
            <a:ext cx="64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prstClr val="white"/>
                </a:solidFill>
              </a:rPr>
              <a:t>HISTORY OF COMPUTERS</a:t>
            </a:r>
            <a:endParaRPr lang="en-US" sz="44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87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AutoShape 2" descr="http://www.techjini.com/blog/wp-content/uploads/2011/10/computer-timeline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pic>
        <p:nvPicPr>
          <p:cNvPr id="66563" name="Picture 3" descr="C:\Users\xyz\Desktop\4INFbuenocarmen_computers'-history-timelin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953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676400" y="449759"/>
            <a:ext cx="6172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prstClr val="black"/>
                </a:solidFill>
              </a:rPr>
              <a:t>Hardware and Software</a:t>
            </a:r>
            <a:endParaRPr lang="en-US" sz="4400" b="1" dirty="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6562" name="AutoShape 2" descr="data:image/jpeg;base64,/9j/4AAQSkZJRgABAQAAAQABAAD/2wCEAAkGBxMTEhUUExQVFhUVFhwXFxgYGBcXGBgYFBYXHBgYFBcYHCggGRolHBQUITEhJSkrLi4uFx8zODMsNygtLisBCgoKDg0OGxAQGywlICQsLCwsLCwsLCwsLCwsLCwsLC8sLCwsLSwsLCwsLCwsLCwsLCwsLCwsLCwsLCwsLCwsLP/AABEIALEBHAMBEQACEQEDEQH/xAAcAAABBQEBAQAAAAAAAAAAAAAAAwQFBgcCAQj/xABMEAACAAQDBAYFCAcGBQQDAAABAgADBBEFEiEGMUFREyJhcYGRBzKhscEUI0JSYnKS0TOCorLC0vBDRFNzk+EVVGOj8TSUs+IWFyX/xAAbAQACAwEBAQAAAAAAAAAAAAAABQIDBAYBB//EADcRAAICAQEGAgkDBAIDAQAAAAABAgMRBAUSITFBUWFxEyIygZGxwdHwBqHhFBUjQjNSNHLxJP/aAAwDAQACEQMRAD8A3GAAgAIAPCbQAQWIbW00s2DdI3JNR4tu8rxVK6KNtWgusWcYXiQVVt2fohF7yWPstFT1Bthsnu2xk23D/wCKPBF+MR/qPEuWyo9v3PZe27/4gPeq/CD07B7Lj2/cf0u3J+kqN90lT7bxNXlE9ldmyew/aenm6Zsjcn08jui2NsWYbdDdXxxleBMgxYZD2AAgAIAOXcAEkgAC5J0AA4kwAU3FPSNTqxl0ytUv9jSWO+Yd/eoIjVDSTlxlwMtmrhDlxEpNZilRqXk0yncFTO9u0vcX/VEWeipj3Zlertl7OEPpWAzz+krqknsIQfsARF2QXKCJpXPnMdU+CuuvyqpPe+YeREQdkX/qiW5Z/wB2KzPlSerMSZ2Otj5raBKqXNYIuy+HVNeJH0+28pX6OqRpDXtm9eUf1wLjxAtziUtJLGYPPzLK9dCXCXBlplTVYBlIZSLggggjmCN8ZGsPDNiafFHcB6EABAAQAEABAAQAEABABw8wDebRVZdCCzJ4PUm+RGVe0EmXva55DWF89rUp4jxNEdJY+fAZHaYn1Keaw52iK2jZLiq2W/0cVzmjuj2qls4SYrSmO7ONPOL6NfCx7slh+JXZpZRWVxJ8GN5lPY9AIAG1dXJKUs5sACfIXPsBiLklzITsjBZZku0e2zV8o/J0mJKltdiT+kUg2YgblFjz3xl1cpKKwOtgJTsk7I44Ldzz/gi8UeTKllFYzJjDeGsFvx0Nu4G5jFZOMFjqdHRXbZPeawvmV4g8zGTeYyVZ5kPbBvBuHuU8zBvBuHoZhxMeqxkXWheXXTBxvE1c0VvTxZYtn9vJ9MQD15fFCdw+wfon2dkaa9Y48+Qs1eyK7uK4Pv8Ac1rZ/HpNXL6SS1+DKdGQ8mHD3HhDOuyNizE5TU6WzTz3LF9n5DnEa4SlBPEgD4nwEV6jURpim+rwQppdrwhntNtHIoZJmz2sNyqNXdvqoOJ7dw4xrrrlY8RKJzUVlmJY3tTU4m9ph6OQDpJU9XTcXP0279BwAhtRp4w5c+4ttulMt2yNDLlqGsL8Oy3HviV3ZGR88su1PWShbM6BjpYsAbngAYV23Qi92Ul8TdRROUd6MW/cSIeAnk9zx5g9yJvMiSRCUiubQ09wSoRuaOAyNbeCN4PIixEaIR3u6fdGOUlGXLPgRmz8sqGmYc5RlPz1FOYlLnjLfet9bNx42sRGbUaj0TUNSvKS+ptohlb1D84ssmFbYSZs7oHV5M3TqTNDmtqt+fIjQixHKMtk1CSTfB8n0f8APgMqq3ZW5x5r2l1X8eJZImQCAAgAIAGWI4rIkLmnTZcsfbYL74AK5M9JGH3skx5v+VKmTB4FRHuGeZO12/pj/Z1f/t5v5RXZONazJnsePIe120aheryvrpbv5Rzup2zKTcKFxN9WibW9N4QxoJMyrGczVyH6pB90Qp2Xfe9++XAnPUV1cK0TtFg8mXuUE8zqYe0aOqpYijFO+c3xZIBY1YRURuOYYk6UwYC9tDxBjDrKIyhvLmi+i1wljoGzcwtTSy28Cx/VJHwjVRJyrTZXYsSZJxaQGeJ4gslCzeA4k8hEJzUFllVtsa47zKdWo9TLmM59dGVRwAYFfLXx7oyRk5PfYsblbmcivbP0arQTJwW7h2zaa5EUDLbsuWi+/wBhs6nZc07or/t+IpYSOeyfQ8E3h+zMx1zzCJMvfd99udjaw7SRGqvSylxlwQs1G0qq3uw9Z/t/PuFcuGJo055h+yHYeBlrb2mNMdNUvEwz2hqn2j8PqeqcKc5RNeWe3pF9rqR5wOip8OQR1us58H8H8uJ7W7KNlzyHWap1FrXI+yQcreyKLNI0sxeTVTtWEni1Y8ehXnlEEgggjeCLEHtB3RjeVwY1WJLK5CZSPcnjiPcExWbSThNlGxGjL9F14q3Z7t8XU3yrllGTV6OvUVuE15Psy9bQbTrPKuhOTIpAPAnVge0HQ/diraF/pLFjkkI9FoJUpxnzy/4KZtNhNRWzUmdJ1VUIOlJAVR9SwJ146ePJnszbkKK/R3J8OTXyfkKtp7Ids96lrjzX1Q6w7ZgqABNl37m98M4fqGjPsv8AYWy2Hdj2l+45ardfm1bdcEqTr3G17Rg2htqVrxT6se/V/YY7P2JXUt+9KT7dF92WbY/DwCZrC7DRb8DxPfHuzNCt308+b5eXfz+hj2ztJuf9PXyXP7eRcUeHDQjUj1ngweuRH1VcAbDXXXsi2NeTPO0gsTrLkkRprgZpSyyHwyQ8yZnpnC1UoX6JzZZ0u/WCuOB0BUjQ2N9xjPr9x1uu9eo+q6Pob9HF5Uq36y6PqWDFsNl18lSQ0meo6jMLPKcb5cy29b+HEbwTyMLnp5Sot9aD/E12/Ex/HKaur4SX40/B/wA8zrYraSYZr0lVpNQcd9wBmF+I1DA8QY21XuqSjN5i+T+X50ZdqKoWVK6tY6Ndn+fQvMMReM8VxSVTSmmznVEUXJJ9g5nsgAyDF/SRWV7mXh4+TyAbGe4u7fcG4e/ui2NbZXKxITwnZqnDdJPLVE3eXnEtr2A6CJ+iwUu3PIvNAyheqAqjkLDwtC3X7Qr00efE0UUTtkjyprGbQaD2mOS39TtG3diN8VaWOZDZpSZSGAa4sQdRY8LR1+z9jw00cvjIS6naUrXhciq1mzqSmMyjmPSzOctiEP3k3GGrq7mRagkcA9Js2nmCRiaix0WpQdU/5i8O8RnnU1yNcLVI1SnqFdQ6MGVhcEG4IPEERUWnNZMyoxPAExn1TxWyUF6yG+ByysiWDvtc/rEn4xZTHdgkE3mTHsxwASdANT4RYRM42gxYzphP0QSqj3nvF7d5PKFl9m8xDq73ZLwJCjxBBLUbzlAI7hY3vEo2RxgsrujuJDOnAkzHUayp7Zx9mYRZlb7wAI7QRxEa65qSwM9Jd/qny5EC+HyaLPPm9cBrSU4knVRr9Lf3AX7sMdMqptvj2O1ntOeqqUVw4es/zp1K7XVE2pbPPbq36ksaqPuJ9I82bzG6GVOllZxks+Bz+p2nGvMa3urrJ8H8enkiTpsHXKCVPifyK/GGtez1j1mIZ7STfqpvx5fMbVmFEbpYZewkH9okRXPZ8unEuhtCGMrMX+dUN6Ez6YmZINhveWfVYdqg6feG7sjFqNnWVLeiuAy0e3qr5eitefHr/JY6iRLr5HTShlmroy8bjej/AAMKLqlbHK5o6nSap6ae7J5g/wAyiolYVPgdLzWUclYMnjRLYA4JyMLkdZL/AFtxHjpYc4jZFyjwFW0YOCVi5cn9CQmVWbW8ZUjJuYOeliSR40eU8oA3iTeSLJ3ZjaGX0QWZ1WHYSD26R0+n2vRGtRt4NLHLt5HJa/YOpd8p0+sm88+KyT0vaCn0+cAuQNQVFybAXI5xsp1+mveK5cfevmLbtm6uiO9ZDh5p/Ik3mxtSF7mMqlFN7jfxiyOUUykRc2lQG51793lGiLbKXIqmPK0l0nSTZ0bMvIEcPukXBHImJ21K2twnyZdprnGSfY0OhrVqpCTU0zoHXn2q3aCCO8R841NcqbZVWc0zsKZ5iprkyFxCgz1FNUoPnZUwS5nNpUy6G/aucnuLdkSrt/xyrny5rz/n54ND9RSxyf4mXKZiSSpDTprBUlqS7HgF3mH2htd1MZPn1Ftkd2TPnTavaeZi1SWclaWWfmpe64+s32j7IaVVZ4mO61RJDD6j1Uli/AKBE77aqI70ngyb0pvCL1g2E5V6SedOCjieUcpr9tylwjwXzGml0LlzJCvrVRc7kKo9VfgO2EWl01+0bsLl1Y0vvr0kOHMrM/aME7wOQj6Hodn1aSvcgvectqNXO6WZMbPj19xjak2Z3JJCLYgTxi5UtlE9QlyGOIlZilWAIPCPZUHkNY0xT0e7Yth08U85i1JMayk/2TE6EfZ5jxhXdS4seae9WI3mfKWYljqrDhxEY51qfM1J4FlFhaLDwgdssQ6KnNt7af7eJKjxim+W7Ay6yz0dTZnDt1su/L1fEesfFixhXLmc/PnjsSFG8exZOtk3SyFm/NtqraHhp2HgdNDzjVV7Qwobclgpu0hRpZLm86ROMgG5s2pu2XcLqt78xaN9danNDieplGiSi+H1PcHkhU6QgFmOVewDefgOUdFCCit1e85PfdknOXF5wvqWOjp8+p3/ANbohOe7wRuhHI4q6Cw3RXC3JOVfArVbS9Ya2JNge07vbGtz9Rtiy6r11h4ZDScKZ5pEp+imE5bB2lknkCN4v5XjmtdTVXLfXJ9fM6/Ze0r3VuPGVww1n4BXYHWS/XMz9fre2YNYwy09UnjPyHFW2LodF7sojpizV9YKe8FD4W6vsimegXQYVfqHHtJ/s/sK0tQFIZiZduJBYcrqyAm4vxAjO9JKD48jdPalGpplBvmvzgyZqXBIddFmIsxRyzi5Hg2YeEKHHDa7cCjSz361nmuAmrQYLmPKcXgwUyeCVwTZMlLvORCVuBa/mbxsWi9Is73My27Q3HiMWxlVpTXElG+UTM6MWXSVL6KYr7/pm6ActTDzZexZVzVtnTkc9tbbSsrdUOvPr+e4shqzzjpNw5LIzqsTC72+MSUEecWM6jESVOUg6G2vHwi2MEVvg+JVmrsudZlyTpa+lzvN+e6Jci9rOGiz+jauPyd0/wAKc1vuzAG/eMzzjh/1HUo6iMl1Xy4HU7Ke9S49i5JLGbMN2YHzBv7l9sc85Zrx2YweUseBmPprxyYJcqkQkJNZpky3EKwCqey+vgI6HYHrVSXZmLW+rh+BQ8Cw+ZNYS5Y7zwUczDvW66vR18eYl3HZI1rZrAZchMx15sd7HkvIRxOr1s7n6Sx+SG+j0mXhEnXVqojTZpCogv2ADgIW6eizW3KMRtZONEOBB4TstUYqRUVDtT0x/RS1/SOv1mJ9UGO/0lUNJX6OtebENkfSy3pljHonw61ss6/1ule/vtGj08yLoh2KntZsBMo1M6S7TZK+ureug+sCPWAjbptTl4kL9Xolu5iVoTNIbIQOGGJzJkeM9jEhsYkh1MY9RWmhro7GpGyehPaY1VGZMxrzaY5CTvMs+ofIW8ITzWGPovKNGiB6ULb6pvOkS/tZj3ILke7yjHqXxSFe0JetCPv+BSaebfU8dfOF4lTzxJSmmR6icWWTAJl3/VPwjVQ+Iy0kvWM3x9j0zDnVTye8Fbe8+cM6ZYkmbKlvaeS8ZfMk6SoGWUOAB8yY6WHFZOcctyaT8S0YdVgRmtryM65jusrQRFUKsMslMq2ITrsLfWHvjdjEHnsK9RLelGK7oh5tTesUrvzDzzCOV1j/APzuPZPHzOn0ccT3u5sWINu8fhHHbZnKG44vHP6DahJ5yQdZhUmZ60tb8x1T7N/jeF+n2xq6eU8rs+JbKiEuhUNpNj2Mo/Jzm45DYNvF8p3E6dkP6duV3x3LVuv9iuFLhNS6EfQym+SyM6srIzyyGBBte63B8Yy2tellh55Ma6OWJNC8mReIo3SkStFTi9tL8r6xJIzTkebQymIlpnKy2zZ1Gma2WwPZqdI6n9OwjNzbWWsY8Dlf1BfOCiovg85EqVkQWUAR1ODk95sUn1hynLqeEeYBc+JCVuK5lsQL8/GAujDDI1cRZQQOPsPOPUyUq0+ZG11UQC4NyOt3kG8RlxRbWuKNcpMASRUzmldWVUZXCj6DqszMByU3QjvI3AR8+2jrf6jdUuccrz7HV6SpUqTXXDJTD3JRgd4IHjcwnlwz7jXavWWDOtuaX5RO6IWzmQCDytMdz5iXDfZtzoq9J0y/kl9TzUVRlTZ3SXzJHZfB0lqEXQAXd+J7T+UYNVa7Zuyximilye6iwlw2u5FGg5AcT2wqbnqLVCPXkPcR09bMz2lx1ayrk0+YLTdMqsSbBhm6xa/DS0d/oNmrRadR/wBnxZz9mo9NZl8kbjJ2holAVamQABYATF0A4b40bj7BvIU//JKP/mZP+ov5wbkuwb8e5xPx6jdSpqJJBBBGddx8Y9UJJ8iE5xa5mBzlCs6qbqkx0UjUFVY5bHlaOjpTdaZzmoilNobzJpESkVxjkY1VQLRnt4o10waZM+hfFOhxZUvZahGln7w6y+4+cJblhjyp5ifSUUlpmO2jXrpY7JgH+kPzjBqf+ReQn13G+Pkyn0syMQli+BKU8yAtROYLVZZi33HTz0/KLqpYkatNZuzWSA29w1knsyjRyJyd6i01R27nhlFjih4nKHfivr9GQciotYj1Tu7Dyh1odYsbshRr9E296JL02IkQ0xGXIWxvnXwkhWbihIgUEiUtW3yIirxILc7zwjDrNRFR3V7zboNJOc/ST9w42Cw9p9WjHUKc7H7K/m1hHN6yeYY7/jOopjumtVz3a3Ie+OG21apXKC6L5jGiOI5GrQqSLxvNMaKo5fEiyC2iHVT/ADB+60MtMlltdi7Sv1yh4tVu7lQSFGmnGGtUVFZY2ihvKoTbMbgBgCRvFwba+Hth3sR12alxn2eP2EP6jtsr0q3O/HHb/wC4JGmLLYGYzBRZQxvlB4AnhpujroUwg24pLPM4O26diSk84HgqYsKANTBg9wRtVIFiwJ3boi4l0JvkRLTYiaMDOvm9Ru4x4TgvWRv/AEnVB5KvmV/8x8oueZya7nX1R9VI5EyyH7R90ZXLoXbuZFEopLTq2sn2+blD5Oh+tMICsB93PMv3iH127Vo6K8+tLMmuyeOfngyysbdsVy9VfDP1LKkrKolDhq55ty7hCDV35e6jXpaVVDefMqnpAx7ok+Tyz1mHXI4Dl3mOu/TWyNyH9TauL5CPaesc5+ji/MzKTJLt2R2NdLskKZ2KCJ2moAo/2hjHSxxxQtnqZNjtZP8AWkT/AKavsUvUT7iglf1YQPT19iLukEwaQOCSIqTb4kfUxRNGmsiapox2G+pHexU0rilGR/jqPM2+MKb+Y0q5H1pGYuMz28GSrlOd2YD/AFAwPuWMGqWJxYq1yxZGRRT1HZfqsR5GMT54EUluyaH9PNgJpkjJmx6TTLInR1knophs66qw9YFdzr28xG6m3PDqNKLVZFJ+0igY3gM2nciwW504Sn7ZbHRT9hrW4cI1J5N8boye7Zwf7Py+3MiJk+amjIV7wR5XjVDVWRWMnk9DTPi0cfLJh3DyvE3rLGiC2fSnyHOE4LOqJgRFLHkNwHNm3KO0xknZ1kzdGCSwjYtnMESik2uGmNYu3Mjcq/ZHxJ7IR7Q10aoub9yNNVbbwLM19THDTnKyTlLmxglhYE3MSSPRrNaNVS6kGQWPN+jHNifwix/eEMdNHEGy/SrMyofJOse+NTs4DlciWw6SuVlYetbQ8YjXdOE1ODw1yZRqao2R3ZLKYhUYMw1lsCOTbx48Y63SfqaDjjURafePL4HG6r9NyUs0S4dn9zyRhDn12AHZqfhaJ6j9T0xX+GDb8eC+rK9P+mrW/wDNJJeHF/RL9yWpsGpjozuCeN/zFoWx/Umpcsvd8scPv+4ws/T+nUfVT88/nyIHanCWpyF6QMjglXHEA6hhfQi477+A6nZ+0I6yDaWGua8//hzer0ctLNZ4p8invNjWRwP9nsH+WvMlXtll578PXQWPepfyhZtTaC0VSm+rx+z/AIN2i0zun5G0ibmWZyJH7P8A5j5k7GuHc6vc3WkI1FRoOyKuZOMOIypp4VeqAAvqgCwzMSb99yTfnHspyct6TyyfoI+yhviWILTyWmNvtp2sdwhjsPZstfq0v9VxZi2nqlTW8czHsTqmmuWY3Zjc+MfVXXGOIQXBHIJvjJjuhpGzyZakAzZipmIuBmNr6Qam6WnSweVVq9vJpq+iuoH95k/gf+aMX92mW/2yPc7HotqP+Yk/gf8Ang/uth5/a49z3/8AV1R/zEn8Ez+eD+62B/a49zlvRVUH+8SfwTP54g9qWMktmwXUbzPRDPP95lf6b/zRF7QkyxaCK6jWZ6FZ5/vUr/Tf+aKnrG+hbHTJdTrCPQpOk1MmeatD0UxXsJbC+U3sDmjNOe8y+McG0RAmUf0m4fnlZxvA+II9qgeJjNqob0DDr696rK6GZ4mcxWb9cdbsddG90LbOal3EFy3sT7nFPOjwoTwSMidAWpkhT1BBBBsRuIj3JNSafAmxtBeWwmIri2pa2Q/eU6GGNG/JZkO9LGd0f8i4fP3EfhGFzaw2l/M04NjMtbNbeslfjuHsNllsK+bGkY8MIskvYmhXUqzfemN/CRGKeuiuckixVsmJKypK5JSKq8lAUd5tvMKdTtaC9n1n+xdCl9RvNmEm5jl9RfO6e9N5NcIqK4CTGKUiYjMaLoo8GzamN1VecR7kGyrYzVhqgqDpKUL+sdW96jwhq4bsEjdo4epvdxFpV9RvjPJG6M8cGJ1FMWWwOVhqp5EfCPKpbsuPIm5ZI6RjU1DlmKLjQ842yoT4rkVOK7is7aJQOtlXvPuG8xKrQW2vEIt+4otupqWZyS95C120LubISo58T3Dh7+6Oo2d+na4evqFl9unv7/LzOZ2ht2UvU0/Bf9uvu7Ec9ax9Zma27MxbyvHR06eqlNVxUc9kkc5bbbbxsk3ju8kRNLa9/n3QNM0JI0f0ZUJlU8yews049Xn0cu4B8WZ/ALHAfqbV+l1Cpjyhz839kdPsrT7te++pcpczLLsd9iT3mOWlLLGrjmWSMqqnqnt0849issvjHiTeCbPtOkpMWYtmubWJ3Ejn2R0Gn2JC2tSnJpvtgWanXzqscEkNdpPR7Oqcvz6gLuGU2vzOsdLslQ2dDchHOevUR6xPUy3pMo9f6MKyS2ayzFH1d/lrDqnaVW9maa/cw26Se7iLIfE8PmBLAFZiEMt9OshuPdGjVyr1Nea2ngwaVz09uLFjJvWx+0EutpZc5DqRZ14o49ZWHfHOtYeB+nwJqPD0ZYziSU8l50wgKilj4DQDmTEoxcnhEZyUVkw9tqsQa7GrnLmJbKMllBNwuqncLQ9hsuMopiWW0pKTSGk7a/EBurJ//b/kj3+1QLY6+TI6o27xNf75O/7f8kZbdFGCNVeocmWX0R7Q4lXV9ptVMeRKUvMBCWJOiqbLzufCFk0kzYnk3QRA9GeL0YmymQ8RHjWVg8kk1hmN4hhhQvJbQE3U/VcbvOFllWHus5+6j0bcHy6FeN1JB0IjJxTwxdKOBzJn2ia48iKeCTlGy53uF4Lxa+7Tt5Qwp0yjxlzHui0HDft9y+5aMG2YabaZVgqm9JG4nkZ3IfZ39240azaEaViPFj6Fbl5FwuAAAAABYACwAG4ADcI5m6+VjcpM1RglwQmzRinMtSEWaMU7Mk0jgmKkiQm7RbFANnaNVUOpBsRqpwlqSdTuA5k7gIc6TTNvHV8ytJyeEVeXsyQzOs+5c5mExcvWO851uNe4Q2t0qkvVfxG9djjFJx+B5MkPLNnUjkd4PcRoYWW0yg/WRYpRlyFEe8UNBxGONYJKqQM4sy+q4tcdh5js90btBtG3RyzDinzT5fwY9Xo69SsS4PuVHFNmnkC65pg5rLPuBJ9lu2Ov0G3aNQ92aUX4v74+Zzer2RZUsxbl7is11eymwt23GoI4GGtmox7LRgr0y/3XE4paapnjqJMcX3gWFzoAG3cd0YL9fXWvXmkba9I28wiXyk2JsspZk0lt80LxGlkQ+d2PkI56f6rmlJQjw5Rb+b+iGcdhxeJSfi/4NAGWVKCqANygDcqruUdgsI5KcnJOUnlvmNoQ9ZJLCXIazqjq98VKDyXRjxIDEJ7zpqU0kFnbV7cF5X4XG88Ae0Q92folGp6q3lyiu7+y+Zmu1C3/AEUfOT7Lt5seVgrVYy5M2WJSaLfpNbesbBSLFsxHYRHRUrEEItRb6SxyEFm4kuomSm7jMX2lQPbFpSLy9r8QkazUmBRvZSJiDvPWA8xABIJtTT1YtPlqx+unVcd6Hf4E90eptPKPGk1hkNNw2ZSuamgqCFb1iozDunSjx9sXxsjN4s+JTKEorMPgSUnbPF8o/wDSuDufI4v22BtGyOz1LinwFk9sQg2pJpoisWn1VUQaubnCm6ooySweeX6R74ZabQwr4sWana8rfVhyIqqW0MsGaDyQ9THjN1ayQGIOWYIgLMxsANSSdwEI9dd0Q401fU+jvRbsj/w+jCuB083rzT220XuA084St5ZvRc48PQgAqO2GBhh0ii/1hFVte8vEz6ilWLxM5xXDcwvxHHn96F868iK6logWksLi3qi57hv79/v5R7pI7tnrFWmUVanLknxNH2DWXMlmcwDTUfKL65OqCHUczmOv2TaIbV1c6IpR69TsaYqZa2eOUna28s2qOBNnjPO0mkJM0ZJ2Nk0jkmIJHomzRYkeCLEndGqFTzjr+cyLZ4QFhrRTx7splIrG0JrZb9O1PnpFGhU3Zebuu8eVgBvjoK9NKiOceZs0FlE3hvEvEWpMQSagdDcH+rHtiSlkbOvDwxb5RoRoQd4OoPhA3lYZF1J8SPqqcDrJu4rvK9o5j3Qu1Glx60OXY83WuDEUnRgweYFOkiLDByzg8AfKIZfcN1A1QRyHtiG4pcWepI6lTrRGUAaHkiUW1fQDcvE9/KIqJVOWOETp6XO12YBeAGpsPYIg7UuSyeKW7HCHNBhqS1aXIDK831nUgzWJ3kswPbYWsOAEdHs3S36ycb9R/wAcPZXJPyXbu+oj1dkaswh7T5s8n4NJzMWEy62BUzZwsSLaKrBf6EdZDCSXD4IVSWWJf8IkfR6RTzE2bw7GYj2RZlPovgiGGurEJtDNTWVND7+rMAVuwCZLAsO9TEJV1vpjy+zJKUiHqqCRObKymRP3ggAE8zYdWaOZU3HE8IyzqlFZ6FsZpjJnnU75ZhsxHVmDVXXk31l5g6jsiskL0OL9E5OXqnWZLGoF/wC0ldnZGnT6h1PHQW7Q2fHUxyvaXJ9/B/QkK2ardZSCCLgjcQd0dRQ8xTRxe7KM3FrDXMrmITQOMaOXEYUQbK3V1DOwSWpd2NlVQSSTyAhdq9UoLCHmm0zNZ9F3oz+TMKusAM/fLTeJV+J5v7o5y2xzY4jHdWDVIqJHsABABy6gixgAp+0GzxF3li44j8oqnWpeZnuoU+K5lMrMMBNx1SDvHxHwjHODXmKbdNuvPJjCkmzaKZ0svVN0xNbW7eziD9E9m+yUIait12GzSaqVLSly+X8fI0DDMVl1CZ5ZuOIPrKeTD47jwjh9oaS7ST3ZLh0ff+TpqrI2LKHRMLG8l5yzROEN5pAc6xojSvF/niR3jno+ZjXDSZ4sg5nE2YFHu5nu5w0o08p4jBFMppcx9heFM5DzBZd4Xn2mOh0ujjTxfFmSyxyLHkAFraRtKjHtpMNFDWjoxlp6m5CjckwbwOQ1BA7SOELr69yWVyZ1WzNT6erdl7Ufl0+x6Z0U5Ge4c9PbUQbx7uZGs42NxuPDkeQ7IXamrde8uTKJVuJ6rDtEYmyvAoJY+t7IrcwPRIXmTHnpGHEWRgN3+8QeXzIs8mV4HVJA7OJ8BFsNPZYvVXDv/JW93ex17Cf/ABIk2Xz/ACjodm7BhhW38e0env7+Qk1+0XGTrr+JIyqgjK3FSD5H/aOq3FjCEilx4kpUYlmluswZiLpLmqQb5SGCuRvuALH/AHitV4ax8Cze7kYZpibg+ZVvHnyiI4PcjfGJsooA+t9w3MG3Aod4btG6ISmoYz1/cnCDnnHTi/AbU7Bh8nqOsG1lvoC2Ub91lmqPBhfhcCq2rC3o+9diUJ9GQWJULyWyH1k60tuDKf4TutwPdGcsEElTphlpTKWE4nKlwCri5dNe4mG2g16qi4T5dBXrNnxtn6SK49Sfw30VVk83qZqyV4heu5+AiV+088IllOiUOZpGy2xNJQi8mXeZbWa/Wc+PAdghXOyU3lm6MVHkWMRWSPYACAAgAIAPCIAIbFNn0mar1WjxxT5kZRUuZVa/AZqb1uOY/KKJUdjJPS/9WV58NeU/SU79E44EdU34WI0HZqOyIzjvx3LI5RXFain2PuiZw7adxZamTlP+JLKlD2lScy+F/CEt+x4PjU15M30bSnysg/NfYkztDS/48vztGB6C2Dxu/DA3ipTWUn8BpU7V0y7nLnkisfabD2xetFbLjjBZHT2S6ELP2onzZ8iRIlhOmmBSz9Zgt+sQo0BAudb7o2U6GOUpPJfPRuFUrJ9EaTh+CJLOY9ZuZ1h7CuMFuxWEIG2+ZKgRM8CAClelfD89C0wDrSXSYPxZW/ZcnwjPqY5rGeybNzUpd+H1Rn6VNwDzF/OFe8dmogZ0eZJbgjOYMpU8ffwPnHjeVgJV5Q0kTWGlz539hjDNIwtdx7KmOePsH5Rnko9iOEOUVuLEeQiGM+yiuUkhOsrJKrZppFza0sgsey6g29nfGvS6PUymnGvP/ty+gu1OspjHDnjy5/sM6fKb9FLyL9Ym8w+JuF7xrHU6fZ1smpaiW9jlFcIr3CO7aKUXClYXV82yToqbKIdxhgUOY+DxPBHeLLgdB01HPAHWD5l+8qA28QSPGMls9y2L8C+C3oMqjT4tfEgmIT6wKDGHWa2vTR48ZPku/wBkMNDobNVL1eEVzfRfd+BH0JMx+kbcPUHvMV6Kqyf+e72ny8F4Fmvurh/+en2Vz8X4+RKMocZSbcQRvDDUEdohjgWZHNRL+UU2Yj5yVe47v0i92mYd3bC+yG5LBrhLeWSt4UGE15SGzm0+SeU6Tr7QNYrJG64JiC1EiVPXQTED24gkaqe0G48IAH0ABAAQAEABAAQAEABAB4RAA2nYfLbeoMAGabdU8r5TkVRaWoH6zdY+wr5Qv1Nj38HU7H00XRvtc2/2IDIg4CMu+xwqI9gDAbgI83ixVpdB1smufFaXkomMf9N7e3LF2m42IW7Xe7pZe75o2qGpxgQAEAETtbIz0VUvORMt35Db22iFnsvyNGllu3wfivmYZRTfm17oRN8T6LBLdFS8RyS4HOeAMls2a2bWqk9IN4Yq3eLH3MIaaauuytb0UcZtedtGqe5JpPD5/nUjNt9mOhWSg9aY5/Ci3PtKxphTXBYihTPUWzeZSZX8J2eWY4B1Gax7l9b2AxaklyKW88yXxPD1ScFsOol/1nJv7B+1G7TQ9XeMmonxweyzaNaTMzY/Q33RaVNknRYQZyFpLozL66FgrL277FdDqbRRO5QliS8mWxhvxzFi2H7XyaOWZaMk1i2Zm64UEhRZbKSw036b4hZpp2vefAnXqIwWFxIGtxCTNDTEBQliTYkpqbmwZAR5kcIVa/aP9J/ijxn8vMdbM2U9Z/ln6sO/fwX3K9Mm9K+S4CjU3IBt4neYXbO0k9Ta7rePfxfbyGm1ddDS1Kinh2XZd/MmPUXdYDy8I6rByG9xH9FhFU4V1l2Q2IdiqrZuN2OoseEVysguGS1QbHmBh1dmZCFNgbiwLLobc7iwv2Rm1OHjHMtoTTZXcZl/JquS43S52XvW9vapjIaDUdgGyrU0/CRUvl+5OAmjwvMceEAFqgAIACAAgAIACAAgAIACAAgAxfaupvWTz/1Cv4er8IS6iebGd/syvd0la8PnxIgzYp3jfunBmR5k93Sb9HWuKJ2SX+A+MbNF7Yi29/43vX1NnhqcaEABAA1xRbyZo5y2HmpjyXInXwmvNHztQP8ANr3QglzPpEHwFy8eYPcnJeDB5k0v0QT7pUJydG/EpH8EMtA+Ekct+oY+vXLwa+D/AJD0hdatp1+rImt5sg+EbznStbJreXm+y5/FcfxGABtjMy0+Ze+rAAbyeogAAGphtpor0a/Oorvb9I1+ckQkzGBfKOqftD4cI1KrgUttCi1DmwYk30A7eQAiawiiaciwnCJ0ilmzWRpZmhZK30bK5LPdd4uJYXX6xil2wsmoxeccfsSVc64OcljOF9xlgeyU2egmaKrTBLQNcB2sxYkjcoCnhqdIx6++aj6Op4k+b7eXiMdn11ufpLY70V05Zfj4DTaajmSJvQPluLWyG6tcacB5W0jlIbOk71Wnlvr9zs57XrWldsluqPDHj0SLlsXIoZdFmrJchnExlzPLVnfRWsosSbZ7dmkdM9NOlqunOMI43+sjenbfjOWRW0GOyBdaOikS7j9I0tc3gi6DxJ7o2V6afOyT+Jkerrf/ABxwVhsZmZVRpeY5cszMFIYBrrkAX5vSwOU8Li0X+hWcp/n1J+m4Etgc/PUBrAFy7FRoBm1sNTpcDjGXVQxVjyLKLN6zgd+kiXZc3bLP7CwqGJc/R/UlqyrHAyKV/ErOU/uiAC+wAEABAAQAEABAAQAEABAAQAYTtIbVdQP+tM9rmEN3/JLzZ9E0Ml/S1/8AqvkRmeKzVk8zwHmSxejI/wD9Nf8AIf3rG3Re2I9vf+N719TaIanHBAAQAN8Q/RTPuN+6YjLkTr9teZ820jWRe6ET5s+iJihmR4e7xyZkekcmlehjU1R4fND/AOWN+h/2931Oc/UDz6Nef0JTa+TfEaYfXp56+IykfGGBzhVdiBeUy8VMxfFQSPcIAIvaelylZ3SLe6tku+e6dW91HV1U6kiHOhlvQ3Me/oLNRFRs3m+fTqS2KC1KVzmjpzfKJvz1RVDmDmuqEcgF14gx5X/yZxvPw4KJOT9Xsvi2c7PbSJSqvR0coNbV2Zmf8RGncLCPbtM7Hxm/gZ46mNfsxRPysafFL0rSejXR2mo9zLyHfYrbXVf1r8DGaVS03rqXHt+Muja9V6jjw7/iHW0WNSZMpZa2WTLsqqBcuV3BQd/P2nnGJKVku7ZubhXHskUeSj1U4zMgzWyoi8FFzcndfUknQe+GdGnhR675vr9BPq9VZfiuPLmkWKvwlDIl9DNSYZYbpEU9a7G7MgOrLoBu3KDEq7mpvfTWeRVZVF1x3JJ45rzILoY15MWRnXpuHjHhdU+o62ap7zr8l95A9xMY9a8V48RjoVmzPgdelBtFXizqv4UAPthSNy0ejBb1Va/AS6eV4oJhP74gA0aAAgAIACAAgAIACAAgAIACADD9v5Jl188cGKuO5kW/7WaE2qji1nc7Jt3tJDwyvg39MFdMyM+Bhk5MyPTzeLL6NJlsSlfalzF/ZLfwxq0bxZgU7bWdK34o2+GxxoQAEADLG5mWnnNylOfJDEZ+yyylZsivFHzYjWAHYIRdT6BKXE8MyDBDeOTMj083jYfQvTEUs2Yf7SdYdoRFHvLDwhno44g2cxtuzeujHsvm/wD4SPpAPRPR1XCTUKH+5OGQ+F2B8I1iYqOEL8nxGqpzuz9Kg5q2pt4EQAe7R0FieIU270fVT3Xv+MQw0FmG4+8XbQhwU0QT0oJDNckAKLkmwUWUC/AAQ0TwsIVuxvmxWXTliFUEsxAAG8k6ACISaiss8inJ4RaKqtl0Ej5PL6859ZpX6TfVvwlruvx15m6mW9qLOHIdR3NLXx5lclVUzNnfI5P0XRHQD6qhgco7Rr2xvr00IrC59xbZq5zfh2L5tCZIw9ZlOiS1mslwoC3BuSrW32II8IyUKfp8TecZNep3HpswWE8cimyDm4boZsRyW6xXo48IkfUSybMRYHdHqNMY7qLJsjh3VLnQHU/dW9v4/ZCrXWZkoroOdBXiDk+pUNtKvpa5E4S+u3eTcxiN5oXogpj8kmzyNaiezj7qWRfCyX8YAL3AAQAEABAAQAEABAAQAEABABl3pjw0gyakDQgyn8LsnvmeyF+thykdHsHUcJUvzXyf0M0MyMB0O8cmZBg83id2DqQuIUrH/EK/6qMg9rRfp3i1GLaK39JNeHyeT6BhwcSEABABA7eVHR4fVHdeUyDvmdQe1hFVzxWzZs+G/qYLxz8OJ86zZmp8vKE6XA7KcuImZkS3SveOc8eqJ5vH0psdhXyWjkSSLMqAv99+s/7TGG9cN2KRx2ru9NdKfd8PLoK7UYWKmlmyT9NCPHgR2xMzmN4niDlaest8/SH5PVLxOTQN3FT7RABoKSkqpCulmutx9pDwvzHsIXlEoycXvIjOKlFplSqqMoxU94PMfnpqOBBh5VarI5Rzl9UqpOLClqjKuZQzTiLBvoylOhY83a9gOAP2oouTuluLl18TRTKNEd9+0+XgNpdNYkklmOpY7yf64RphCMFhGSy2U3mQp0UTIZFZOLu9OadELjplKG4UE5Wzqt9+9Db7RiLojGz0knjhx/bBqhKUqnX45X75E8JnK+q8eHEROcHF4ZisHdToLcTEERiupzR0TTWC6kDeeQPAdp1t4ncDFV9qqjk26emV08dOpacbq0o6Vi1hZbkD9lR5Adw7YSNtvLOiSSWEYpLeZPmHLrOqXyL2Zjqe4C58I8PT6UwPDlp6eVIQWWWiqPAQAPoACAAgAIACAAgAIACAAgAIAIzaTCFqqaZIbTOvVP1WGqt4ECIWQ34uJfpr3RarF0/GfOFbJeVMaXMGV0YqwPAg6/8AmE0oNPDO1jZGcVKPJ8huZkGD3eFqGrKTFdfWVg6/eQhh7RHq4NPseLE04Pk00fTmH1izpaTUN1mKHXuYXHvh1F5WUcNZB1zcJc08DiPSAQAZ56ZcUCUySb6zXzEfYla/vlPIxk1ksRUe462JVm2Vr5RX7v8AjJiBMYh4eQAXb0VbOGqqxNYfNU5DtyZ/oL5jMexbcYv09e9LL5IX7R1Hoqt1c5fLr9jfRDE5kIAMl9I2EGlntVKt5E4ZKheFuD9449ndABD7FbQfI5vyea3zDm8qZwW/A9hgA0nEsLSetwNd9h+8p8uw6X1AItptlW8r4FF+njdHD9z7FSmUDSTu0vYkDQ34Ebwew9/bDaq6Fi4fARX0W1S9bl3Eml3MaDJvHE2RdSBxBHmI9Tw8hkQwecFl9HNlSZiLMJs7dHNl5guZpbA3t1eGt1ESvg3Leg2njosp+DNNNyUd2STWerw14oTw2nCvMZL9GXPR33lQxy38Le2JWN7qUufXzM8mnJ45EzJoGmsLAgHja9+eQcfcOJEYbdRCpY6mnTaOy3y7lnp6WXSyy7kDKL6nQcyx4nt8BCmyyVksyOgqpjVHdiYvt1tWaybZSRJQ6faP1j8IrLS3+hrZgu/y2atgBlkg8jvfx93fABsUABAAQAEABAAQAEABAAQAEABAAQAZz6U9ijUKaqnW85B11G+Yo3EDi49o04ARl1FO96yG2zdd6N+im/VfJ9v4ZiZjCdC8gDAeI1b0XbbJLQU1QwVL3luTZVLG5RzwF7kHdqRyjTpr1H1Je4WbU0Lt/wA9Sy/9l18zWlYEXGojec4McZxqRSyzMnOFHAfSY8kXex7ohOcYLMi6jT2Xy3a1n86nz5tltC9ZUNMbQeqq3vkRb5VvxNySe0wrnN2S3n7jrqaI6apVR59X3ZX48JEls/gk2rnLJkrdjvJ9VF4s54AfkN5EShBzeEVXXQpg5z5fPwR9G7N4HLo5CyZW5dWbi7H1mbtPsAA4QzhBQWEcpffK6xzkSkTKQgAa4lQrOlsjgEEQAYJths09CzKVLUxNwRqZV/4PdAA52S27mUmWXOvNkfRYHrIOw8R2QAaxh2I01YmaW6vpvXRh2Mvw1EeptcjxpNYYhU7Mg6oQe45TrzFiPICNMNZZHxMNmzqZ8uHkMH2bmA/T/Cp9of4RoWv7xMstk9pfsKUGzrLMV2Qtl4FUF9CLZs5sNeURs1zlBxS/csq2YoTU2846Y8B7T7Nqpu2VRwBOcjsFwF9hiiertlwyaKtBTXxxnzEMb2lpKFTmYZ7bvWmN4cPG3dGY24S5GPbW7Xz64kay5INwl9/a54wHgvsDsO9bMV5gIkA31+n/APX3wHp9CUdMstFRBZVFgIAFoACAAgAIACAAgAIACAAgAIACAAgA8MAGc7e7AyagtOkMsqdvYHRJh5m3qt2jfx5xmtoUuMeY00W0nUtyzjH91914GP1mGTJTFZilWH9aEaEdojBJOLxI6GqcLVvVvKEklkaiI5yWxUk8okKXFqiWMsubNQckmTEHkptApSXJs9lCE3mcIt+SG9TUTHOZmJY/SYlm/ExvHmcvLeT3LS3YJJeA16Ax7khuMntmtkJtW41EuXxdv4F3sfIdoi+umU/IxanW1afg3l9l9X+M3XZbAaejldHIG/13OruRxY+4bhDCFagsI5vUamd8t6fuXRE3EzOEABAAQAM8Sw5JyFXF4AMb2u9GkyUS9NYA65D6h+6foHs3QAUAvPpZmomSHB3glfJhoYALdhXpGr0ABZJwH11ufxLABYJPpWn/AEqVD3TWHsMB4E70n1bfo6ZB3zHb2LABBYntPiU4HNNElTvCDJ7TYwBkr0mhzv1Q86Yd5Fzr2sdBABe9k/Ru01hMqbZRqEHq+P1j7ID01yhoklIEQWAgAcQAEABAAQAEABAAQAEABAAQAEABAAQAEADefRI28QAV7FNhqedvLDyPvjySUlhk4WSg8xeH4FdqPRNLPqT2HeoPxjNLSVvwGVW2NTDg8S8/4GbeiSZwqU8ZbfzRX/Qx/wCzNS29PrBfFncr0SN9KpH6qH4mPVoY9WyE9u2v2YJfEkqP0VyFN2ms36o/OL4aeuPJGC7aOpt4Slw7LgWjD9mpMr1bnvi4xEtKkqu4QAKQAEABAAQAEAHjKCLEXEAEHiuy0icCCo14EAjyMAFLxD0Uyiby1K/ca37J0gAi29G89fVmzh4A+6ABWV6PKk6GdOt4CAMErQei9L3mXb77E+waQAXHC9mpEkABRp2ADyEAEyBaAD2AAgAIACAAgAIACAAgAIACAAgAIACAAgAIACAAgAIACAAgAIACAAgAIACAAgAIACAAgAIACAAgAIACAAgAIACAAgAIACAAgAIACAD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6564" name="AutoShape 4" descr="data:image/jpeg;base64,/9j/4AAQSkZJRgABAQAAAQABAAD/2wCEAAkGBxMTEhUUExQVFhUVFhwXFxgYGBcXGBgYFBYXHBgYFBcYHCggGRolHBQUITEhJSkrLi4uFx8zODMsNygtLisBCgoKDg0OGxAQGywlICQsLCwsLCwsLCwsLCwsLCwsLC8sLCwsLSwsLCwsLCwsLCwsLCwsLCwsLCwsLCwsLCwsLP/AABEIALEBHAMBEQACEQEDEQH/xAAcAAABBQEBAQAAAAAAAAAAAAAAAwQFBgcCAQj/xABMEAACAAQDBAYFCAcGBQQDAAABAgADBBEFEiEGMUFREyJhcYGRBzKhscEUI0JSYnKS0TOCorLC0vBDRFNzk+EVVGOj8TSUs+IWFyX/xAAbAQACAwEBAQAAAAAAAAAAAAAABQIDBAYBB//EADcRAAICAQEGAgkDBAIDAQAAAAABAgMRBAUSITFBUWFxEyIygZGxwdHwBqHhFBUjQjNSNHLxJP/aAAwDAQACEQMRAD8A3GAAgAIAPCbQAQWIbW00s2DdI3JNR4tu8rxVK6KNtWgusWcYXiQVVt2fohF7yWPstFT1Bthsnu2xk23D/wCKPBF+MR/qPEuWyo9v3PZe27/4gPeq/CD07B7Lj2/cf0u3J+kqN90lT7bxNXlE9ldmyew/aenm6Zsjcn08jui2NsWYbdDdXxxleBMgxYZD2AAgAIAOXcAEkgAC5J0AA4kwAU3FPSNTqxl0ytUv9jSWO+Yd/eoIjVDSTlxlwMtmrhDlxEpNZilRqXk0yncFTO9u0vcX/VEWeipj3Zlertl7OEPpWAzz+krqknsIQfsARF2QXKCJpXPnMdU+CuuvyqpPe+YeREQdkX/qiW5Z/wB2KzPlSerMSZ2Otj5raBKqXNYIuy+HVNeJH0+28pX6OqRpDXtm9eUf1wLjxAtziUtJLGYPPzLK9dCXCXBlplTVYBlIZSLggggjmCN8ZGsPDNiafFHcB6EABAAQAEABAAQAEABABw8wDebRVZdCCzJ4PUm+RGVe0EmXva55DWF89rUp4jxNEdJY+fAZHaYn1Keaw52iK2jZLiq2W/0cVzmjuj2qls4SYrSmO7ONPOL6NfCx7slh+JXZpZRWVxJ8GN5lPY9AIAG1dXJKUs5sACfIXPsBiLklzITsjBZZku0e2zV8o/J0mJKltdiT+kUg2YgblFjz3xl1cpKKwOtgJTsk7I44Ldzz/gi8UeTKllFYzJjDeGsFvx0Nu4G5jFZOMFjqdHRXbZPeawvmV4g8zGTeYyVZ5kPbBvBuHuU8zBvBuHoZhxMeqxkXWheXXTBxvE1c0VvTxZYtn9vJ9MQD15fFCdw+wfon2dkaa9Y48+Qs1eyK7uK4Pv8Ac1rZ/HpNXL6SS1+DKdGQ8mHD3HhDOuyNizE5TU6WzTz3LF9n5DnEa4SlBPEgD4nwEV6jURpim+rwQppdrwhntNtHIoZJmz2sNyqNXdvqoOJ7dw4xrrrlY8RKJzUVlmJY3tTU4m9ph6OQDpJU9XTcXP0279BwAhtRp4w5c+4ttulMt2yNDLlqGsL8Oy3HviV3ZGR88su1PWShbM6BjpYsAbngAYV23Qi92Ul8TdRROUd6MW/cSIeAnk9zx5g9yJvMiSRCUiubQ09wSoRuaOAyNbeCN4PIixEaIR3u6fdGOUlGXLPgRmz8sqGmYc5RlPz1FOYlLnjLfet9bNx42sRGbUaj0TUNSvKS+ptohlb1D84ssmFbYSZs7oHV5M3TqTNDmtqt+fIjQixHKMtk1CSTfB8n0f8APgMqq3ZW5x5r2l1X8eJZImQCAAgAIAGWI4rIkLmnTZcsfbYL74AK5M9JGH3skx5v+VKmTB4FRHuGeZO12/pj/Z1f/t5v5RXZONazJnsePIe120aheryvrpbv5Rzup2zKTcKFxN9WibW9N4QxoJMyrGczVyH6pB90Qp2Xfe9++XAnPUV1cK0TtFg8mXuUE8zqYe0aOqpYijFO+c3xZIBY1YRURuOYYk6UwYC9tDxBjDrKIyhvLmi+i1wljoGzcwtTSy28Cx/VJHwjVRJyrTZXYsSZJxaQGeJ4gslCzeA4k8hEJzUFllVtsa47zKdWo9TLmM59dGVRwAYFfLXx7oyRk5PfYsblbmcivbP0arQTJwW7h2zaa5EUDLbsuWi+/wBhs6nZc07or/t+IpYSOeyfQ8E3h+zMx1zzCJMvfd99udjaw7SRGqvSylxlwQs1G0qq3uw9Z/t/PuFcuGJo055h+yHYeBlrb2mNMdNUvEwz2hqn2j8PqeqcKc5RNeWe3pF9rqR5wOip8OQR1us58H8H8uJ7W7KNlzyHWap1FrXI+yQcreyKLNI0sxeTVTtWEni1Y8ehXnlEEgggjeCLEHtB3RjeVwY1WJLK5CZSPcnjiPcExWbSThNlGxGjL9F14q3Z7t8XU3yrllGTV6OvUVuE15Psy9bQbTrPKuhOTIpAPAnVge0HQ/diraF/pLFjkkI9FoJUpxnzy/4KZtNhNRWzUmdJ1VUIOlJAVR9SwJ146ePJnszbkKK/R3J8OTXyfkKtp7Ids96lrjzX1Q6w7ZgqABNl37m98M4fqGjPsv8AYWy2Hdj2l+45ardfm1bdcEqTr3G17Rg2htqVrxT6se/V/YY7P2JXUt+9KT7dF92WbY/DwCZrC7DRb8DxPfHuzNCt308+b5eXfz+hj2ztJuf9PXyXP7eRcUeHDQjUj1ngweuRH1VcAbDXXXsi2NeTPO0gsTrLkkRprgZpSyyHwyQ8yZnpnC1UoX6JzZZ0u/WCuOB0BUjQ2N9xjPr9x1uu9eo+q6Pob9HF5Uq36y6PqWDFsNl18lSQ0meo6jMLPKcb5cy29b+HEbwTyMLnp5Sot9aD/E12/Ex/HKaur4SX40/B/wA8zrYraSYZr0lVpNQcd9wBmF+I1DA8QY21XuqSjN5i+T+X50ZdqKoWVK6tY6Ndn+fQvMMReM8VxSVTSmmznVEUXJJ9g5nsgAyDF/SRWV7mXh4+TyAbGe4u7fcG4e/ui2NbZXKxITwnZqnDdJPLVE3eXnEtr2A6CJ+iwUu3PIvNAyheqAqjkLDwtC3X7Qr00efE0UUTtkjyprGbQaD2mOS39TtG3diN8VaWOZDZpSZSGAa4sQdRY8LR1+z9jw00cvjIS6naUrXhciq1mzqSmMyjmPSzOctiEP3k3GGrq7mRagkcA9Js2nmCRiaix0WpQdU/5i8O8RnnU1yNcLVI1SnqFdQ6MGVhcEG4IPEERUWnNZMyoxPAExn1TxWyUF6yG+ByysiWDvtc/rEn4xZTHdgkE3mTHsxwASdANT4RYRM42gxYzphP0QSqj3nvF7d5PKFl9m8xDq73ZLwJCjxBBLUbzlAI7hY3vEo2RxgsrujuJDOnAkzHUayp7Zx9mYRZlb7wAI7QRxEa65qSwM9Jd/qny5EC+HyaLPPm9cBrSU4knVRr9Lf3AX7sMdMqptvj2O1ntOeqqUVw4es/zp1K7XVE2pbPPbq36ksaqPuJ9I82bzG6GVOllZxks+Bz+p2nGvMa3urrJ8H8enkiTpsHXKCVPifyK/GGtez1j1mIZ7STfqpvx5fMbVmFEbpYZewkH9okRXPZ8unEuhtCGMrMX+dUN6Ez6YmZINhveWfVYdqg6feG7sjFqNnWVLeiuAy0e3qr5eitefHr/JY6iRLr5HTShlmroy8bjej/AAMKLqlbHK5o6nSap6ae7J5g/wAyiolYVPgdLzWUclYMnjRLYA4JyMLkdZL/AFtxHjpYc4jZFyjwFW0YOCVi5cn9CQmVWbW8ZUjJuYOeliSR40eU8oA3iTeSLJ3ZjaGX0QWZ1WHYSD26R0+n2vRGtRt4NLHLt5HJa/YOpd8p0+sm88+KyT0vaCn0+cAuQNQVFybAXI5xsp1+mveK5cfevmLbtm6uiO9ZDh5p/Ik3mxtSF7mMqlFN7jfxiyOUUykRc2lQG51793lGiLbKXIqmPK0l0nSTZ0bMvIEcPukXBHImJ21K2twnyZdprnGSfY0OhrVqpCTU0zoHXn2q3aCCO8R841NcqbZVWc0zsKZ5iprkyFxCgz1FNUoPnZUwS5nNpUy6G/aucnuLdkSrt/xyrny5rz/n54ND9RSxyf4mXKZiSSpDTprBUlqS7HgF3mH2htd1MZPn1Ftkd2TPnTavaeZi1SWclaWWfmpe64+s32j7IaVVZ4mO61RJDD6j1Uli/AKBE77aqI70ngyb0pvCL1g2E5V6SedOCjieUcpr9tylwjwXzGml0LlzJCvrVRc7kKo9VfgO2EWl01+0bsLl1Y0vvr0kOHMrM/aME7wOQj6Hodn1aSvcgvectqNXO6WZMbPj19xjak2Z3JJCLYgTxi5UtlE9QlyGOIlZilWAIPCPZUHkNY0xT0e7Yth08U85i1JMayk/2TE6EfZ5jxhXdS4seae9WI3mfKWYljqrDhxEY51qfM1J4FlFhaLDwgdssQ6KnNt7af7eJKjxim+W7Ay6yz0dTZnDt1su/L1fEesfFixhXLmc/PnjsSFG8exZOtk3SyFm/NtqraHhp2HgdNDzjVV7Qwobclgpu0hRpZLm86ROMgG5s2pu2XcLqt78xaN9danNDieplGiSi+H1PcHkhU6QgFmOVewDefgOUdFCCit1e85PfdknOXF5wvqWOjp8+p3/ANbohOe7wRuhHI4q6Cw3RXC3JOVfArVbS9Ya2JNge07vbGtz9Rtiy6r11h4ZDScKZ5pEp+imE5bB2lknkCN4v5XjmtdTVXLfXJ9fM6/Ze0r3VuPGVww1n4BXYHWS/XMz9fre2YNYwy09UnjPyHFW2LodF7sojpizV9YKe8FD4W6vsimegXQYVfqHHtJ/s/sK0tQFIZiZduJBYcrqyAm4vxAjO9JKD48jdPalGpplBvmvzgyZqXBIddFmIsxRyzi5Hg2YeEKHHDa7cCjSz361nmuAmrQYLmPKcXgwUyeCVwTZMlLvORCVuBa/mbxsWi9Is73My27Q3HiMWxlVpTXElG+UTM6MWXSVL6KYr7/pm6ActTDzZexZVzVtnTkc9tbbSsrdUOvPr+e4shqzzjpNw5LIzqsTC72+MSUEecWM6jESVOUg6G2vHwi2MEVvg+JVmrsudZlyTpa+lzvN+e6Jci9rOGiz+jauPyd0/wAKc1vuzAG/eMzzjh/1HUo6iMl1Xy4HU7Ke9S49i5JLGbMN2YHzBv7l9sc85Zrx2YweUseBmPprxyYJcqkQkJNZpky3EKwCqey+vgI6HYHrVSXZmLW+rh+BQ8Cw+ZNYS5Y7zwUczDvW66vR18eYl3HZI1rZrAZchMx15sd7HkvIRxOr1s7n6Sx+SG+j0mXhEnXVqojTZpCogv2ADgIW6eizW3KMRtZONEOBB4TstUYqRUVDtT0x/RS1/SOv1mJ9UGO/0lUNJX6OtebENkfSy3pljHonw61ss6/1ule/vtGj08yLoh2KntZsBMo1M6S7TZK+ureug+sCPWAjbptTl4kL9Xolu5iVoTNIbIQOGGJzJkeM9jEhsYkh1MY9RWmhro7GpGyehPaY1VGZMxrzaY5CTvMs+ofIW8ITzWGPovKNGiB6ULb6pvOkS/tZj3ILke7yjHqXxSFe0JetCPv+BSaebfU8dfOF4lTzxJSmmR6icWWTAJl3/VPwjVQ+Iy0kvWM3x9j0zDnVTye8Fbe8+cM6ZYkmbKlvaeS8ZfMk6SoGWUOAB8yY6WHFZOcctyaT8S0YdVgRmtryM65jusrQRFUKsMslMq2ITrsLfWHvjdjEHnsK9RLelGK7oh5tTesUrvzDzzCOV1j/APzuPZPHzOn0ccT3u5sWINu8fhHHbZnKG44vHP6DahJ5yQdZhUmZ60tb8x1T7N/jeF+n2xq6eU8rs+JbKiEuhUNpNj2Mo/Jzm45DYNvF8p3E6dkP6duV3x3LVuv9iuFLhNS6EfQym+SyM6srIzyyGBBte63B8Yy2tellh55Ma6OWJNC8mReIo3SkStFTi9tL8r6xJIzTkebQymIlpnKy2zZ1Gma2WwPZqdI6n9OwjNzbWWsY8Dlf1BfOCiovg85EqVkQWUAR1ODk95sUn1hynLqeEeYBc+JCVuK5lsQL8/GAujDDI1cRZQQOPsPOPUyUq0+ZG11UQC4NyOt3kG8RlxRbWuKNcpMASRUzmldWVUZXCj6DqszMByU3QjvI3AR8+2jrf6jdUuccrz7HV6SpUqTXXDJTD3JRgd4IHjcwnlwz7jXavWWDOtuaX5RO6IWzmQCDytMdz5iXDfZtzoq9J0y/kl9TzUVRlTZ3SXzJHZfB0lqEXQAXd+J7T+UYNVa7Zuyximilye6iwlw2u5FGg5AcT2wqbnqLVCPXkPcR09bMz2lx1ayrk0+YLTdMqsSbBhm6xa/DS0d/oNmrRadR/wBnxZz9mo9NZl8kbjJ2holAVamQABYATF0A4b40bj7BvIU//JKP/mZP+ov5wbkuwb8e5xPx6jdSpqJJBBBGddx8Y9UJJ8iE5xa5mBzlCs6qbqkx0UjUFVY5bHlaOjpTdaZzmoilNobzJpESkVxjkY1VQLRnt4o10waZM+hfFOhxZUvZahGln7w6y+4+cJblhjyp5ifSUUlpmO2jXrpY7JgH+kPzjBqf+ReQn13G+Pkyn0syMQli+BKU8yAtROYLVZZi33HTz0/KLqpYkatNZuzWSA29w1knsyjRyJyd6i01R27nhlFjih4nKHfivr9GQciotYj1Tu7Dyh1odYsbshRr9E296JL02IkQ0xGXIWxvnXwkhWbihIgUEiUtW3yIirxILc7zwjDrNRFR3V7zboNJOc/ST9w42Cw9p9WjHUKc7H7K/m1hHN6yeYY7/jOopjumtVz3a3Ie+OG21apXKC6L5jGiOI5GrQqSLxvNMaKo5fEiyC2iHVT/ADB+60MtMlltdi7Sv1yh4tVu7lQSFGmnGGtUVFZY2ihvKoTbMbgBgCRvFwba+Hth3sR12alxn2eP2EP6jtsr0q3O/HHb/wC4JGmLLYGYzBRZQxvlB4AnhpujroUwg24pLPM4O26diSk84HgqYsKANTBg9wRtVIFiwJ3boi4l0JvkRLTYiaMDOvm9Ru4x4TgvWRv/AEnVB5KvmV/8x8oueZya7nX1R9VI5EyyH7R90ZXLoXbuZFEopLTq2sn2+blD5Oh+tMICsB93PMv3iH127Vo6K8+tLMmuyeOfngyysbdsVy9VfDP1LKkrKolDhq55ty7hCDV35e6jXpaVVDefMqnpAx7ok+Tyz1mHXI4Dl3mOu/TWyNyH9TauL5CPaesc5+ji/MzKTJLt2R2NdLskKZ2KCJ2moAo/2hjHSxxxQtnqZNjtZP8AWkT/AKavsUvUT7iglf1YQPT19iLukEwaQOCSIqTb4kfUxRNGmsiapox2G+pHexU0rilGR/jqPM2+MKb+Y0q5H1pGYuMz28GSrlOd2YD/AFAwPuWMGqWJxYq1yxZGRRT1HZfqsR5GMT54EUluyaH9PNgJpkjJmx6TTLInR1knophs66qw9YFdzr28xG6m3PDqNKLVZFJ+0igY3gM2nciwW504Sn7ZbHRT9hrW4cI1J5N8boye7Zwf7Py+3MiJk+amjIV7wR5XjVDVWRWMnk9DTPi0cfLJh3DyvE3rLGiC2fSnyHOE4LOqJgRFLHkNwHNm3KO0xknZ1kzdGCSwjYtnMESik2uGmNYu3Mjcq/ZHxJ7IR7Q10aoub9yNNVbbwLM19THDTnKyTlLmxglhYE3MSSPRrNaNVS6kGQWPN+jHNifwix/eEMdNHEGy/SrMyofJOse+NTs4DlciWw6SuVlYetbQ8YjXdOE1ODw1yZRqao2R3ZLKYhUYMw1lsCOTbx48Y63SfqaDjjURafePL4HG6r9NyUs0S4dn9zyRhDn12AHZqfhaJ6j9T0xX+GDb8eC+rK9P+mrW/wDNJJeHF/RL9yWpsGpjozuCeN/zFoWx/Umpcsvd8scPv+4ws/T+nUfVT88/nyIHanCWpyF6QMjglXHEA6hhfQi477+A6nZ+0I6yDaWGua8//hzer0ctLNZ4p8invNjWRwP9nsH+WvMlXtll578PXQWPepfyhZtTaC0VSm+rx+z/AIN2i0zun5G0ibmWZyJH7P8A5j5k7GuHc6vc3WkI1FRoOyKuZOMOIypp4VeqAAvqgCwzMSb99yTfnHspyct6TyyfoI+yhviWILTyWmNvtp2sdwhjsPZstfq0v9VxZi2nqlTW8czHsTqmmuWY3Zjc+MfVXXGOIQXBHIJvjJjuhpGzyZakAzZipmIuBmNr6Qam6WnSweVVq9vJpq+iuoH95k/gf+aMX92mW/2yPc7HotqP+Yk/gf8Ang/uth5/a49z3/8AV1R/zEn8Ez+eD+62B/a49zlvRVUH+8SfwTP54g9qWMktmwXUbzPRDPP95lf6b/zRF7QkyxaCK6jWZ6FZ5/vUr/Tf+aKnrG+hbHTJdTrCPQpOk1MmeatD0UxXsJbC+U3sDmjNOe8y+McG0RAmUf0m4fnlZxvA+II9qgeJjNqob0DDr696rK6GZ4mcxWb9cdbsddG90LbOal3EFy3sT7nFPOjwoTwSMidAWpkhT1BBBBsRuIj3JNSafAmxtBeWwmIri2pa2Q/eU6GGNG/JZkO9LGd0f8i4fP3EfhGFzaw2l/M04NjMtbNbeslfjuHsNllsK+bGkY8MIskvYmhXUqzfemN/CRGKeuiuckixVsmJKypK5JSKq8lAUd5tvMKdTtaC9n1n+xdCl9RvNmEm5jl9RfO6e9N5NcIqK4CTGKUiYjMaLoo8GzamN1VecR7kGyrYzVhqgqDpKUL+sdW96jwhq4bsEjdo4epvdxFpV9RvjPJG6M8cGJ1FMWWwOVhqp5EfCPKpbsuPIm5ZI6RjU1DlmKLjQ842yoT4rkVOK7is7aJQOtlXvPuG8xKrQW2vEIt+4otupqWZyS95C120LubISo58T3Dh7+6Oo2d+na4evqFl9unv7/LzOZ2ht2UvU0/Bf9uvu7Ec9ax9Zma27MxbyvHR06eqlNVxUc9kkc5bbbbxsk3ju8kRNLa9/n3QNM0JI0f0ZUJlU8yews049Xn0cu4B8WZ/ALHAfqbV+l1Cpjyhz839kdPsrT7te++pcpczLLsd9iT3mOWlLLGrjmWSMqqnqnt0849issvjHiTeCbPtOkpMWYtmubWJ3Ejn2R0Gn2JC2tSnJpvtgWanXzqscEkNdpPR7Oqcvz6gLuGU2vzOsdLslQ2dDchHOevUR6xPUy3pMo9f6MKyS2ayzFH1d/lrDqnaVW9maa/cw26Se7iLIfE8PmBLAFZiEMt9OshuPdGjVyr1Nea2ngwaVz09uLFjJvWx+0EutpZc5DqRZ14o49ZWHfHOtYeB+nwJqPD0ZYziSU8l50wgKilj4DQDmTEoxcnhEZyUVkw9tqsQa7GrnLmJbKMllBNwuqncLQ9hsuMopiWW0pKTSGk7a/EBurJ//b/kj3+1QLY6+TI6o27xNf75O/7f8kZbdFGCNVeocmWX0R7Q4lXV9ptVMeRKUvMBCWJOiqbLzufCFk0kzYnk3QRA9GeL0YmymQ8RHjWVg8kk1hmN4hhhQvJbQE3U/VcbvOFllWHus5+6j0bcHy6FeN1JB0IjJxTwxdKOBzJn2ia48iKeCTlGy53uF4Lxa+7Tt5Qwp0yjxlzHui0HDft9y+5aMG2YabaZVgqm9JG4nkZ3IfZ39240azaEaViPFj6Fbl5FwuAAAAABYACwAG4ADcI5m6+VjcpM1RglwQmzRinMtSEWaMU7Mk0jgmKkiQm7RbFANnaNVUOpBsRqpwlqSdTuA5k7gIc6TTNvHV8ytJyeEVeXsyQzOs+5c5mExcvWO851uNe4Q2t0qkvVfxG9djjFJx+B5MkPLNnUjkd4PcRoYWW0yg/WRYpRlyFEe8UNBxGONYJKqQM4sy+q4tcdh5js90btBtG3RyzDinzT5fwY9Xo69SsS4PuVHFNmnkC65pg5rLPuBJ9lu2Ov0G3aNQ92aUX4v74+Zzer2RZUsxbl7is11eymwt23GoI4GGtmox7LRgr0y/3XE4paapnjqJMcX3gWFzoAG3cd0YL9fXWvXmkba9I28wiXyk2JsspZk0lt80LxGlkQ+d2PkI56f6rmlJQjw5Rb+b+iGcdhxeJSfi/4NAGWVKCqANygDcqruUdgsI5KcnJOUnlvmNoQ9ZJLCXIazqjq98VKDyXRjxIDEJ7zpqU0kFnbV7cF5X4XG88Ae0Q92folGp6q3lyiu7+y+Zmu1C3/AEUfOT7Lt5seVgrVYy5M2WJSaLfpNbesbBSLFsxHYRHRUrEEItRb6SxyEFm4kuomSm7jMX2lQPbFpSLy9r8QkazUmBRvZSJiDvPWA8xABIJtTT1YtPlqx+unVcd6Hf4E90eptPKPGk1hkNNw2ZSuamgqCFb1iozDunSjx9sXxsjN4s+JTKEorMPgSUnbPF8o/wDSuDufI4v22BtGyOz1LinwFk9sQg2pJpoisWn1VUQaubnCm6ooySweeX6R74ZabQwr4sWana8rfVhyIqqW0MsGaDyQ9THjN1ayQGIOWYIgLMxsANSSdwEI9dd0Q401fU+jvRbsj/w+jCuB083rzT220XuA084St5ZvRc48PQgAqO2GBhh0ii/1hFVte8vEz6ilWLxM5xXDcwvxHHn96F868iK6logWksLi3qi57hv79/v5R7pI7tnrFWmUVanLknxNH2DWXMlmcwDTUfKL65OqCHUczmOv2TaIbV1c6IpR69TsaYqZa2eOUna28s2qOBNnjPO0mkJM0ZJ2Nk0jkmIJHomzRYkeCLEndGqFTzjr+cyLZ4QFhrRTx7splIrG0JrZb9O1PnpFGhU3Zebuu8eVgBvjoK9NKiOceZs0FlE3hvEvEWpMQSagdDcH+rHtiSlkbOvDwxb5RoRoQd4OoPhA3lYZF1J8SPqqcDrJu4rvK9o5j3Qu1Glx60OXY83WuDEUnRgweYFOkiLDByzg8AfKIZfcN1A1QRyHtiG4pcWepI6lTrRGUAaHkiUW1fQDcvE9/KIqJVOWOETp6XO12YBeAGpsPYIg7UuSyeKW7HCHNBhqS1aXIDK831nUgzWJ3kswPbYWsOAEdHs3S36ycb9R/wAcPZXJPyXbu+oj1dkaswh7T5s8n4NJzMWEy62BUzZwsSLaKrBf6EdZDCSXD4IVSWWJf8IkfR6RTzE2bw7GYj2RZlPovgiGGurEJtDNTWVND7+rMAVuwCZLAsO9TEJV1vpjy+zJKUiHqqCRObKymRP3ggAE8zYdWaOZU3HE8IyzqlFZ6FsZpjJnnU75ZhsxHVmDVXXk31l5g6jsiskL0OL9E5OXqnWZLGoF/wC0ldnZGnT6h1PHQW7Q2fHUxyvaXJ9/B/QkK2ardZSCCLgjcQd0dRQ8xTRxe7KM3FrDXMrmITQOMaOXEYUQbK3V1DOwSWpd2NlVQSSTyAhdq9UoLCHmm0zNZ9F3oz+TMKusAM/fLTeJV+J5v7o5y2xzY4jHdWDVIqJHsABABy6gixgAp+0GzxF3li44j8oqnWpeZnuoU+K5lMrMMBNx1SDvHxHwjHODXmKbdNuvPJjCkmzaKZ0svVN0xNbW7eziD9E9m+yUIait12GzSaqVLSly+X8fI0DDMVl1CZ5ZuOIPrKeTD47jwjh9oaS7ST3ZLh0ff+TpqrI2LKHRMLG8l5yzROEN5pAc6xojSvF/niR3jno+ZjXDSZ4sg5nE2YFHu5nu5w0o08p4jBFMppcx9heFM5DzBZd4Xn2mOh0ujjTxfFmSyxyLHkAFraRtKjHtpMNFDWjoxlp6m5CjckwbwOQ1BA7SOELr69yWVyZ1WzNT6erdl7Ufl0+x6Z0U5Ge4c9PbUQbx7uZGs42NxuPDkeQ7IXamrde8uTKJVuJ6rDtEYmyvAoJY+t7IrcwPRIXmTHnpGHEWRgN3+8QeXzIs8mV4HVJA7OJ8BFsNPZYvVXDv/JW93ex17Cf/ABIk2Xz/ACjodm7BhhW38e0env7+Qk1+0XGTrr+JIyqgjK3FSD5H/aOq3FjCEilx4kpUYlmluswZiLpLmqQb5SGCuRvuALH/AHitV4ax8Cze7kYZpibg+ZVvHnyiI4PcjfGJsooA+t9w3MG3Aod4btG6ISmoYz1/cnCDnnHTi/AbU7Bh8nqOsG1lvoC2Ub91lmqPBhfhcCq2rC3o+9diUJ9GQWJULyWyH1k60tuDKf4TutwPdGcsEElTphlpTKWE4nKlwCri5dNe4mG2g16qi4T5dBXrNnxtn6SK49Sfw30VVk83qZqyV4heu5+AiV+088IllOiUOZpGy2xNJQi8mXeZbWa/Wc+PAdghXOyU3lm6MVHkWMRWSPYACAAgAIAPCIAIbFNn0mar1WjxxT5kZRUuZVa/AZqb1uOY/KKJUdjJPS/9WV58NeU/SU79E44EdU34WI0HZqOyIzjvx3LI5RXFain2PuiZw7adxZamTlP+JLKlD2lScy+F/CEt+x4PjU15M30bSnysg/NfYkztDS/48vztGB6C2Dxu/DA3ipTWUn8BpU7V0y7nLnkisfabD2xetFbLjjBZHT2S6ELP2onzZ8iRIlhOmmBSz9Zgt+sQo0BAudb7o2U6GOUpPJfPRuFUrJ9EaTh+CJLOY9ZuZ1h7CuMFuxWEIG2+ZKgRM8CAClelfD89C0wDrSXSYPxZW/ZcnwjPqY5rGeybNzUpd+H1Rn6VNwDzF/OFe8dmogZ0eZJbgjOYMpU8ffwPnHjeVgJV5Q0kTWGlz539hjDNIwtdx7KmOePsH5Rnko9iOEOUVuLEeQiGM+yiuUkhOsrJKrZppFza0sgsey6g29nfGvS6PUymnGvP/ty+gu1OspjHDnjy5/sM6fKb9FLyL9Ym8w+JuF7xrHU6fZ1smpaiW9jlFcIr3CO7aKUXClYXV82yToqbKIdxhgUOY+DxPBHeLLgdB01HPAHWD5l+8qA28QSPGMls9y2L8C+C3oMqjT4tfEgmIT6wKDGHWa2vTR48ZPku/wBkMNDobNVL1eEVzfRfd+BH0JMx+kbcPUHvMV6Kqyf+e72ny8F4Fmvurh/+en2Vz8X4+RKMocZSbcQRvDDUEdohjgWZHNRL+UU2Yj5yVe47v0i92mYd3bC+yG5LBrhLeWSt4UGE15SGzm0+SeU6Tr7QNYrJG64JiC1EiVPXQTED24gkaqe0G48IAH0ABAAQAEABAAQAEABAB4RAA2nYfLbeoMAGabdU8r5TkVRaWoH6zdY+wr5Qv1Nj38HU7H00XRvtc2/2IDIg4CMu+xwqI9gDAbgI83ixVpdB1smufFaXkomMf9N7e3LF2m42IW7Xe7pZe75o2qGpxgQAEAETtbIz0VUvORMt35Db22iFnsvyNGllu3wfivmYZRTfm17oRN8T6LBLdFS8RyS4HOeAMls2a2bWqk9IN4Yq3eLH3MIaaauuytb0UcZtedtGqe5JpPD5/nUjNt9mOhWSg9aY5/Ci3PtKxphTXBYihTPUWzeZSZX8J2eWY4B1Gax7l9b2AxaklyKW88yXxPD1ScFsOol/1nJv7B+1G7TQ9XeMmonxweyzaNaTMzY/Q33RaVNknRYQZyFpLozL66FgrL277FdDqbRRO5QliS8mWxhvxzFi2H7XyaOWZaMk1i2Zm64UEhRZbKSw036b4hZpp2vefAnXqIwWFxIGtxCTNDTEBQliTYkpqbmwZAR5kcIVa/aP9J/ijxn8vMdbM2U9Z/ln6sO/fwX3K9Mm9K+S4CjU3IBt4neYXbO0k9Ta7rePfxfbyGm1ddDS1Kinh2XZd/MmPUXdYDy8I6rByG9xH9FhFU4V1l2Q2IdiqrZuN2OoseEVysguGS1QbHmBh1dmZCFNgbiwLLobc7iwv2Rm1OHjHMtoTTZXcZl/JquS43S52XvW9vapjIaDUdgGyrU0/CRUvl+5OAmjwvMceEAFqgAIACAAgAIACAAgAIACAAgAxfaupvWTz/1Cv4er8IS6iebGd/syvd0la8PnxIgzYp3jfunBmR5k93Sb9HWuKJ2SX+A+MbNF7Yi29/43vX1NnhqcaEABAA1xRbyZo5y2HmpjyXInXwmvNHztQP8ANr3QglzPpEHwFy8eYPcnJeDB5k0v0QT7pUJydG/EpH8EMtA+Ekct+oY+vXLwa+D/AJD0hdatp1+rImt5sg+EbznStbJreXm+y5/FcfxGABtjMy0+Ze+rAAbyeogAAGphtpor0a/Oorvb9I1+ckQkzGBfKOqftD4cI1KrgUttCi1DmwYk30A7eQAiawiiaciwnCJ0ilmzWRpZmhZK30bK5LPdd4uJYXX6xil2wsmoxeccfsSVc64OcljOF9xlgeyU2egmaKrTBLQNcB2sxYkjcoCnhqdIx6++aj6Op4k+b7eXiMdn11ufpLY70V05Zfj4DTaajmSJvQPluLWyG6tcacB5W0jlIbOk71Wnlvr9zs57XrWldsluqPDHj0SLlsXIoZdFmrJchnExlzPLVnfRWsosSbZ7dmkdM9NOlqunOMI43+sjenbfjOWRW0GOyBdaOikS7j9I0tc3gi6DxJ7o2V6afOyT+Jkerrf/ABxwVhsZmZVRpeY5cszMFIYBrrkAX5vSwOU8Li0X+hWcp/n1J+m4Etgc/PUBrAFy7FRoBm1sNTpcDjGXVQxVjyLKLN6zgd+kiXZc3bLP7CwqGJc/R/UlqyrHAyKV/ErOU/uiAC+wAEABAAQAEABAAQAEABAAQAYTtIbVdQP+tM9rmEN3/JLzZ9E0Ml/S1/8AqvkRmeKzVk8zwHmSxejI/wD9Nf8AIf3rG3Re2I9vf+N719TaIanHBAAQAN8Q/RTPuN+6YjLkTr9teZ820jWRe6ET5s+iJihmR4e7xyZkekcmlehjU1R4fND/AOWN+h/2931Oc/UDz6Nef0JTa+TfEaYfXp56+IykfGGBzhVdiBeUy8VMxfFQSPcIAIvaelylZ3SLe6tku+e6dW91HV1U6kiHOhlvQ3Me/oLNRFRs3m+fTqS2KC1KVzmjpzfKJvz1RVDmDmuqEcgF14gx5X/yZxvPw4KJOT9Xsvi2c7PbSJSqvR0coNbV2Zmf8RGncLCPbtM7Hxm/gZ46mNfsxRPysafFL0rSejXR2mo9zLyHfYrbXVf1r8DGaVS03rqXHt+Muja9V6jjw7/iHW0WNSZMpZa2WTLsqqBcuV3BQd/P2nnGJKVku7ZubhXHskUeSj1U4zMgzWyoi8FFzcndfUknQe+GdGnhR675vr9BPq9VZfiuPLmkWKvwlDIl9DNSYZYbpEU9a7G7MgOrLoBu3KDEq7mpvfTWeRVZVF1x3JJ45rzILoY15MWRnXpuHjHhdU+o62ap7zr8l95A9xMY9a8V48RjoVmzPgdelBtFXizqv4UAPthSNy0ejBb1Va/AS6eV4oJhP74gA0aAAgAIACAAgAIACAAgAIACADD9v5Jl188cGKuO5kW/7WaE2qji1nc7Jt3tJDwyvg39MFdMyM+Bhk5MyPTzeLL6NJlsSlfalzF/ZLfwxq0bxZgU7bWdK34o2+GxxoQAEADLG5mWnnNylOfJDEZ+yyylZsivFHzYjWAHYIRdT6BKXE8MyDBDeOTMj083jYfQvTEUs2Yf7SdYdoRFHvLDwhno44g2cxtuzeujHsvm/wD4SPpAPRPR1XCTUKH+5OGQ+F2B8I1iYqOEL8nxGqpzuz9Kg5q2pt4EQAe7R0FieIU270fVT3Xv+MQw0FmG4+8XbQhwU0QT0oJDNckAKLkmwUWUC/AAQ0TwsIVuxvmxWXTliFUEsxAAG8k6ACISaiss8inJ4RaKqtl0Ej5PL6859ZpX6TfVvwlruvx15m6mW9qLOHIdR3NLXx5lclVUzNnfI5P0XRHQD6qhgco7Rr2xvr00IrC59xbZq5zfh2L5tCZIw9ZlOiS1mslwoC3BuSrW32II8IyUKfp8TecZNep3HpswWE8cimyDm4boZsRyW6xXo48IkfUSybMRYHdHqNMY7qLJsjh3VLnQHU/dW9v4/ZCrXWZkoroOdBXiDk+pUNtKvpa5E4S+u3eTcxiN5oXogpj8kmzyNaiezj7qWRfCyX8YAL3AAQAEABAAQAEABAAQAEABABl3pjw0gyakDQgyn8LsnvmeyF+thykdHsHUcJUvzXyf0M0MyMB0O8cmZBg83id2DqQuIUrH/EK/6qMg9rRfp3i1GLaK39JNeHyeT6BhwcSEABABA7eVHR4fVHdeUyDvmdQe1hFVzxWzZs+G/qYLxz8OJ86zZmp8vKE6XA7KcuImZkS3SveOc8eqJ5vH0psdhXyWjkSSLMqAv99+s/7TGG9cN2KRx2ru9NdKfd8PLoK7UYWKmlmyT9NCPHgR2xMzmN4niDlaest8/SH5PVLxOTQN3FT7RABoKSkqpCulmutx9pDwvzHsIXlEoycXvIjOKlFplSqqMoxU94PMfnpqOBBh5VarI5Rzl9UqpOLClqjKuZQzTiLBvoylOhY83a9gOAP2oouTuluLl18TRTKNEd9+0+XgNpdNYkklmOpY7yf64RphCMFhGSy2U3mQp0UTIZFZOLu9OadELjplKG4UE5Wzqt9+9Db7RiLojGz0knjhx/bBqhKUqnX45X75E8JnK+q8eHEROcHF4ZisHdToLcTEERiupzR0TTWC6kDeeQPAdp1t4ncDFV9qqjk26emV08dOpacbq0o6Vi1hZbkD9lR5Adw7YSNtvLOiSSWEYpLeZPmHLrOqXyL2Zjqe4C58I8PT6UwPDlp6eVIQWWWiqPAQAPoACAAgAIACAAgAIACAAgAIAIzaTCFqqaZIbTOvVP1WGqt4ECIWQ34uJfpr3RarF0/GfOFbJeVMaXMGV0YqwPAg6/8AmE0oNPDO1jZGcVKPJ8huZkGD3eFqGrKTFdfWVg6/eQhh7RHq4NPseLE04Pk00fTmH1izpaTUN1mKHXuYXHvh1F5WUcNZB1zcJc08DiPSAQAZ56ZcUCUySb6zXzEfYla/vlPIxk1ksRUe462JVm2Vr5RX7v8AjJiBMYh4eQAXb0VbOGqqxNYfNU5DtyZ/oL5jMexbcYv09e9LL5IX7R1Hoqt1c5fLr9jfRDE5kIAMl9I2EGlntVKt5E4ZKheFuD9449ndABD7FbQfI5vyea3zDm8qZwW/A9hgA0nEsLSetwNd9h+8p8uw6X1AItptlW8r4FF+njdHD9z7FSmUDSTu0vYkDQ34Ebwew9/bDaq6Fi4fARX0W1S9bl3Eml3MaDJvHE2RdSBxBHmI9Tw8hkQwecFl9HNlSZiLMJs7dHNl5guZpbA3t1eGt1ESvg3Leg2njosp+DNNNyUd2STWerw14oTw2nCvMZL9GXPR33lQxy38Le2JWN7qUufXzM8mnJ45EzJoGmsLAgHja9+eQcfcOJEYbdRCpY6mnTaOy3y7lnp6WXSyy7kDKL6nQcyx4nt8BCmyyVksyOgqpjVHdiYvt1tWaybZSRJQ6faP1j8IrLS3+hrZgu/y2atgBlkg8jvfx93fABsUABAAQAEABAAQAEABAAQAEABAAQAZz6U9ijUKaqnW85B11G+Yo3EDi49o04ARl1FO96yG2zdd6N+im/VfJ9v4ZiZjCdC8gDAeI1b0XbbJLQU1QwVL3luTZVLG5RzwF7kHdqRyjTpr1H1Je4WbU0Lt/wA9Sy/9l18zWlYEXGojec4McZxqRSyzMnOFHAfSY8kXex7ohOcYLMi6jT2Xy3a1n86nz5tltC9ZUNMbQeqq3vkRb5VvxNySe0wrnN2S3n7jrqaI6apVR59X3ZX48JEls/gk2rnLJkrdjvJ9VF4s54AfkN5EShBzeEVXXQpg5z5fPwR9G7N4HLo5CyZW5dWbi7H1mbtPsAA4QzhBQWEcpffK6xzkSkTKQgAa4lQrOlsjgEEQAYJths09CzKVLUxNwRqZV/4PdAA52S27mUmWXOvNkfRYHrIOw8R2QAaxh2I01YmaW6vpvXRh2Mvw1EeptcjxpNYYhU7Mg6oQe45TrzFiPICNMNZZHxMNmzqZ8uHkMH2bmA/T/Cp9of4RoWv7xMstk9pfsKUGzrLMV2Qtl4FUF9CLZs5sNeURs1zlBxS/csq2YoTU2846Y8B7T7Nqpu2VRwBOcjsFwF9hiiertlwyaKtBTXxxnzEMb2lpKFTmYZ7bvWmN4cPG3dGY24S5GPbW7Xz64kay5INwl9/a54wHgvsDsO9bMV5gIkA31+n/APX3wHp9CUdMstFRBZVFgIAFoACAAgAIACAAgAIACAAgAIACAAgA8MAGc7e7AyagtOkMsqdvYHRJh5m3qt2jfx5xmtoUuMeY00W0nUtyzjH91914GP1mGTJTFZilWH9aEaEdojBJOLxI6GqcLVvVvKEklkaiI5yWxUk8okKXFqiWMsubNQckmTEHkptApSXJs9lCE3mcIt+SG9TUTHOZmJY/SYlm/ExvHmcvLeT3LS3YJJeA16Ax7khuMntmtkJtW41EuXxdv4F3sfIdoi+umU/IxanW1afg3l9l9X+M3XZbAaejldHIG/13OruRxY+4bhDCFagsI5vUamd8t6fuXRE3EzOEABAAQAM8Sw5JyFXF4AMb2u9GkyUS9NYA65D6h+6foHs3QAUAvPpZmomSHB3glfJhoYALdhXpGr0ABZJwH11ufxLABYJPpWn/AEqVD3TWHsMB4E70n1bfo6ZB3zHb2LABBYntPiU4HNNElTvCDJ7TYwBkr0mhzv1Q86Yd5Fzr2sdBABe9k/Ru01hMqbZRqEHq+P1j7ID01yhoklIEQWAgAcQAEABAAQAEABAAQAEABAAQAEABAAQAEADefRI28QAV7FNhqedvLDyPvjySUlhk4WSg8xeH4FdqPRNLPqT2HeoPxjNLSVvwGVW2NTDg8S8/4GbeiSZwqU8ZbfzRX/Qx/wCzNS29PrBfFncr0SN9KpH6qH4mPVoY9WyE9u2v2YJfEkqP0VyFN2ms36o/OL4aeuPJGC7aOpt4Slw7LgWjD9mpMr1bnvi4xEtKkqu4QAKQAEABAAQAEAHjKCLEXEAEHiuy0icCCo14EAjyMAFLxD0Uyiby1K/ca37J0gAi29G89fVmzh4A+6ABWV6PKk6GdOt4CAMErQei9L3mXb77E+waQAXHC9mpEkABRp2ADyEAEyBaAD2AAgAIACAAgAIACAAgAIACAAgAIACAAgAIACAAgAIACAAgAIACAAgAIACAAgAIACAAgAIACAAgAIACAAgAIACAAgAIACAAgAIACAD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457200" y="1600200"/>
            <a:ext cx="6172200" cy="4525963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Charles Babbage 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Creator of the Analytical Engine - the first general-purpose digital computer (1833)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/>
              <a:t>ENIAC -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Analytical Engine was not built until 1945 (Harvard Mark I)  </a:t>
            </a:r>
          </a:p>
          <a:p>
            <a:pPr lvl="1">
              <a:buClr>
                <a:schemeClr val="accent2">
                  <a:lumMod val="60000"/>
                  <a:lumOff val="40000"/>
                </a:schemeClr>
              </a:buCl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World’s first programmable computer</a:t>
            </a:r>
          </a:p>
          <a:p>
            <a:pPr lvl="1">
              <a:buClr>
                <a:schemeClr val="accent2">
                  <a:lumMod val="60000"/>
                  <a:lumOff val="40000"/>
                </a:schemeClr>
              </a:buCl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Could carryout any calculation </a:t>
            </a:r>
          </a:p>
          <a:p>
            <a:pPr lvl="1">
              <a:buClr>
                <a:schemeClr val="accent2">
                  <a:lumMod val="60000"/>
                  <a:lumOff val="40000"/>
                </a:schemeClr>
              </a:buCl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CPU was 8 feet tall , 100 feet long and </a:t>
            </a:r>
          </a:p>
          <a:p>
            <a:pPr lvl="1">
              <a:buClr>
                <a:schemeClr val="accent2">
                  <a:lumMod val="60000"/>
                  <a:lumOff val="40000"/>
                </a:schemeClr>
              </a:buCl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weighed 30 tons</a:t>
            </a:r>
          </a:p>
          <a:p>
            <a:pPr>
              <a:buNone/>
            </a:pPr>
            <a:endParaRPr lang="en-US" sz="2400" dirty="0" smtClean="0"/>
          </a:p>
        </p:txBody>
      </p:sp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05600" y="1524000"/>
            <a:ext cx="173698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0" y="4038600"/>
            <a:ext cx="284797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6019800" y="601980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prstClr val="black"/>
                </a:solidFill>
                <a:cs typeface="Times New Roman" pitchFamily="18" charset="0"/>
              </a:rPr>
              <a:t>(courtesy of US Army Historic Computer Images)</a:t>
            </a:r>
            <a:endParaRPr lang="en-US" sz="1200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581400"/>
            <a:ext cx="2971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prstClr val="black"/>
                </a:solidFill>
                <a:cs typeface="Times New Roman" pitchFamily="18" charset="0"/>
              </a:rPr>
              <a:t>(courtesy : Wikipedia.org)</a:t>
            </a:r>
            <a:endParaRPr lang="en-US" sz="1200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84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9050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prstClr val="black"/>
                </a:solidFill>
              </a:rPr>
              <a:t>History of Computers</a:t>
            </a:r>
            <a:endParaRPr lang="en-US" sz="4400" b="1" dirty="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6562" name="AutoShape 2" descr="data:image/jpeg;base64,/9j/4AAQSkZJRgABAQAAAQABAAD/2wCEAAkGBxMTEhUUExQVFhUVFhwXFxgYGBcXGBgYFBYXHBgYFBcYHCggGRolHBQUITEhJSkrLi4uFx8zODMsNygtLisBCgoKDg0OGxAQGywlICQsLCwsLCwsLCwsLCwsLCwsLC8sLCwsLSwsLCwsLCwsLCwsLCwsLCwsLCwsLCwsLCwsLP/AABEIALEBHAMBEQACEQEDEQH/xAAcAAABBQEBAQAAAAAAAAAAAAAAAwQFBgcCAQj/xABMEAACAAQDBAYFCAcGBQQDAAABAgADBBEFEiEGMUFREyJhcYGRBzKhscEUI0JSYnKS0TOCorLC0vBDRFNzk+EVVGOj8TSUs+IWFyX/xAAbAQACAwEBAQAAAAAAAAAAAAAABQIDBAYBB//EADcRAAICAQEGAgkDBAIDAQAAAAABAgMRBAUSITFBUWFxEyIygZGxwdHwBqHhFBUjQjNSNHLxJP/aAAwDAQACEQMRAD8A3GAAgAIAPCbQAQWIbW00s2DdI3JNR4tu8rxVK6KNtWgusWcYXiQVVt2fohF7yWPstFT1Bthsnu2xk23D/wCKPBF+MR/qPEuWyo9v3PZe27/4gPeq/CD07B7Lj2/cf0u3J+kqN90lT7bxNXlE9ldmyew/aenm6Zsjcn08jui2NsWYbdDdXxxleBMgxYZD2AAgAIAOXcAEkgAC5J0AA4kwAU3FPSNTqxl0ytUv9jSWO+Yd/eoIjVDSTlxlwMtmrhDlxEpNZilRqXk0yncFTO9u0vcX/VEWeipj3Zlertl7OEPpWAzz+krqknsIQfsARF2QXKCJpXPnMdU+CuuvyqpPe+YeREQdkX/qiW5Z/wB2KzPlSerMSZ2Otj5raBKqXNYIuy+HVNeJH0+28pX6OqRpDXtm9eUf1wLjxAtziUtJLGYPPzLK9dCXCXBlplTVYBlIZSLggggjmCN8ZGsPDNiafFHcB6EABAAQAEABAAQAEABABw8wDebRVZdCCzJ4PUm+RGVe0EmXva55DWF89rUp4jxNEdJY+fAZHaYn1Keaw52iK2jZLiq2W/0cVzmjuj2qls4SYrSmO7ONPOL6NfCx7slh+JXZpZRWVxJ8GN5lPY9AIAG1dXJKUs5sACfIXPsBiLklzITsjBZZku0e2zV8o/J0mJKltdiT+kUg2YgblFjz3xl1cpKKwOtgJTsk7I44Ldzz/gi8UeTKllFYzJjDeGsFvx0Nu4G5jFZOMFjqdHRXbZPeawvmV4g8zGTeYyVZ5kPbBvBuHuU8zBvBuHoZhxMeqxkXWheXXTBxvE1c0VvTxZYtn9vJ9MQD15fFCdw+wfon2dkaa9Y48+Qs1eyK7uK4Pv8Ac1rZ/HpNXL6SS1+DKdGQ8mHD3HhDOuyNizE5TU6WzTz3LF9n5DnEa4SlBPEgD4nwEV6jURpim+rwQppdrwhntNtHIoZJmz2sNyqNXdvqoOJ7dw4xrrrlY8RKJzUVlmJY3tTU4m9ph6OQDpJU9XTcXP0279BwAhtRp4w5c+4ttulMt2yNDLlqGsL8Oy3HviV3ZGR88su1PWShbM6BjpYsAbngAYV23Qi92Ul8TdRROUd6MW/cSIeAnk9zx5g9yJvMiSRCUiubQ09wSoRuaOAyNbeCN4PIixEaIR3u6fdGOUlGXLPgRmz8sqGmYc5RlPz1FOYlLnjLfet9bNx42sRGbUaj0TUNSvKS+ptohlb1D84ssmFbYSZs7oHV5M3TqTNDmtqt+fIjQixHKMtk1CSTfB8n0f8APgMqq3ZW5x5r2l1X8eJZImQCAAgAIAGWI4rIkLmnTZcsfbYL74AK5M9JGH3skx5v+VKmTB4FRHuGeZO12/pj/Z1f/t5v5RXZONazJnsePIe120aheryvrpbv5Rzup2zKTcKFxN9WibW9N4QxoJMyrGczVyH6pB90Qp2Xfe9++XAnPUV1cK0TtFg8mXuUE8zqYe0aOqpYijFO+c3xZIBY1YRURuOYYk6UwYC9tDxBjDrKIyhvLmi+i1wljoGzcwtTSy28Cx/VJHwjVRJyrTZXYsSZJxaQGeJ4gslCzeA4k8hEJzUFllVtsa47zKdWo9TLmM59dGVRwAYFfLXx7oyRk5PfYsblbmcivbP0arQTJwW7h2zaa5EUDLbsuWi+/wBhs6nZc07or/t+IpYSOeyfQ8E3h+zMx1zzCJMvfd99udjaw7SRGqvSylxlwQs1G0qq3uw9Z/t/PuFcuGJo055h+yHYeBlrb2mNMdNUvEwz2hqn2j8PqeqcKc5RNeWe3pF9rqR5wOip8OQR1us58H8H8uJ7W7KNlzyHWap1FrXI+yQcreyKLNI0sxeTVTtWEni1Y8ehXnlEEgggjeCLEHtB3RjeVwY1WJLK5CZSPcnjiPcExWbSThNlGxGjL9F14q3Z7t8XU3yrllGTV6OvUVuE15Psy9bQbTrPKuhOTIpAPAnVge0HQ/diraF/pLFjkkI9FoJUpxnzy/4KZtNhNRWzUmdJ1VUIOlJAVR9SwJ146ePJnszbkKK/R3J8OTXyfkKtp7Ids96lrjzX1Q6w7ZgqABNl37m98M4fqGjPsv8AYWy2Hdj2l+45ardfm1bdcEqTr3G17Rg2htqVrxT6se/V/YY7P2JXUt+9KT7dF92WbY/DwCZrC7DRb8DxPfHuzNCt308+b5eXfz+hj2ztJuf9PXyXP7eRcUeHDQjUj1ngweuRH1VcAbDXXXsi2NeTPO0gsTrLkkRprgZpSyyHwyQ8yZnpnC1UoX6JzZZ0u/WCuOB0BUjQ2N9xjPr9x1uu9eo+q6Pob9HF5Uq36y6PqWDFsNl18lSQ0meo6jMLPKcb5cy29b+HEbwTyMLnp5Sot9aD/E12/Ex/HKaur4SX40/B/wA8zrYraSYZr0lVpNQcd9wBmF+I1DA8QY21XuqSjN5i+T+X50ZdqKoWVK6tY6Ndn+fQvMMReM8VxSVTSmmznVEUXJJ9g5nsgAyDF/SRWV7mXh4+TyAbGe4u7fcG4e/ui2NbZXKxITwnZqnDdJPLVE3eXnEtr2A6CJ+iwUu3PIvNAyheqAqjkLDwtC3X7Qr00efE0UUTtkjyprGbQaD2mOS39TtG3diN8VaWOZDZpSZSGAa4sQdRY8LR1+z9jw00cvjIS6naUrXhciq1mzqSmMyjmPSzOctiEP3k3GGrq7mRagkcA9Js2nmCRiaix0WpQdU/5i8O8RnnU1yNcLVI1SnqFdQ6MGVhcEG4IPEERUWnNZMyoxPAExn1TxWyUF6yG+ByysiWDvtc/rEn4xZTHdgkE3mTHsxwASdANT4RYRM42gxYzphP0QSqj3nvF7d5PKFl9m8xDq73ZLwJCjxBBLUbzlAI7hY3vEo2RxgsrujuJDOnAkzHUayp7Zx9mYRZlb7wAI7QRxEa65qSwM9Jd/qny5EC+HyaLPPm9cBrSU4knVRr9Lf3AX7sMdMqptvj2O1ntOeqqUVw4es/zp1K7XVE2pbPPbq36ksaqPuJ9I82bzG6GVOllZxks+Bz+p2nGvMa3urrJ8H8enkiTpsHXKCVPifyK/GGtez1j1mIZ7STfqpvx5fMbVmFEbpYZewkH9okRXPZ8unEuhtCGMrMX+dUN6Ez6YmZINhveWfVYdqg6feG7sjFqNnWVLeiuAy0e3qr5eitefHr/JY6iRLr5HTShlmroy8bjej/AAMKLqlbHK5o6nSap6ae7J5g/wAyiolYVPgdLzWUclYMnjRLYA4JyMLkdZL/AFtxHjpYc4jZFyjwFW0YOCVi5cn9CQmVWbW8ZUjJuYOeliSR40eU8oA3iTeSLJ3ZjaGX0QWZ1WHYSD26R0+n2vRGtRt4NLHLt5HJa/YOpd8p0+sm88+KyT0vaCn0+cAuQNQVFybAXI5xsp1+mveK5cfevmLbtm6uiO9ZDh5p/Ik3mxtSF7mMqlFN7jfxiyOUUykRc2lQG51793lGiLbKXIqmPK0l0nSTZ0bMvIEcPukXBHImJ21K2twnyZdprnGSfY0OhrVqpCTU0zoHXn2q3aCCO8R841NcqbZVWc0zsKZ5iprkyFxCgz1FNUoPnZUwS5nNpUy6G/aucnuLdkSrt/xyrny5rz/n54ND9RSxyf4mXKZiSSpDTprBUlqS7HgF3mH2htd1MZPn1Ftkd2TPnTavaeZi1SWclaWWfmpe64+s32j7IaVVZ4mO61RJDD6j1Uli/AKBE77aqI70ngyb0pvCL1g2E5V6SedOCjieUcpr9tylwjwXzGml0LlzJCvrVRc7kKo9VfgO2EWl01+0bsLl1Y0vvr0kOHMrM/aME7wOQj6Hodn1aSvcgvectqNXO6WZMbPj19xjak2Z3JJCLYgTxi5UtlE9QlyGOIlZilWAIPCPZUHkNY0xT0e7Yth08U85i1JMayk/2TE6EfZ5jxhXdS4seae9WI3mfKWYljqrDhxEY51qfM1J4FlFhaLDwgdssQ6KnNt7af7eJKjxim+W7Ay6yz0dTZnDt1su/L1fEesfFixhXLmc/PnjsSFG8exZOtk3SyFm/NtqraHhp2HgdNDzjVV7Qwobclgpu0hRpZLm86ROMgG5s2pu2XcLqt78xaN9danNDieplGiSi+H1PcHkhU6QgFmOVewDefgOUdFCCit1e85PfdknOXF5wvqWOjp8+p3/ANbohOe7wRuhHI4q6Cw3RXC3JOVfArVbS9Ya2JNge07vbGtz9Rtiy6r11h4ZDScKZ5pEp+imE5bB2lknkCN4v5XjmtdTVXLfXJ9fM6/Ze0r3VuPGVww1n4BXYHWS/XMz9fre2YNYwy09UnjPyHFW2LodF7sojpizV9YKe8FD4W6vsimegXQYVfqHHtJ/s/sK0tQFIZiZduJBYcrqyAm4vxAjO9JKD48jdPalGpplBvmvzgyZqXBIddFmIsxRyzi5Hg2YeEKHHDa7cCjSz361nmuAmrQYLmPKcXgwUyeCVwTZMlLvORCVuBa/mbxsWi9Is73My27Q3HiMWxlVpTXElG+UTM6MWXSVL6KYr7/pm6ActTDzZexZVzVtnTkc9tbbSsrdUOvPr+e4shqzzjpNw5LIzqsTC72+MSUEecWM6jESVOUg6G2vHwi2MEVvg+JVmrsudZlyTpa+lzvN+e6Jci9rOGiz+jauPyd0/wAKc1vuzAG/eMzzjh/1HUo6iMl1Xy4HU7Ke9S49i5JLGbMN2YHzBv7l9sc85Zrx2YweUseBmPprxyYJcqkQkJNZpky3EKwCqey+vgI6HYHrVSXZmLW+rh+BQ8Cw+ZNYS5Y7zwUczDvW66vR18eYl3HZI1rZrAZchMx15sd7HkvIRxOr1s7n6Sx+SG+j0mXhEnXVqojTZpCogv2ADgIW6eizW3KMRtZONEOBB4TstUYqRUVDtT0x/RS1/SOv1mJ9UGO/0lUNJX6OtebENkfSy3pljHonw61ss6/1ule/vtGj08yLoh2KntZsBMo1M6S7TZK+ureug+sCPWAjbptTl4kL9Xolu5iVoTNIbIQOGGJzJkeM9jEhsYkh1MY9RWmhro7GpGyehPaY1VGZMxrzaY5CTvMs+ofIW8ITzWGPovKNGiB6ULb6pvOkS/tZj3ILke7yjHqXxSFe0JetCPv+BSaebfU8dfOF4lTzxJSmmR6icWWTAJl3/VPwjVQ+Iy0kvWM3x9j0zDnVTye8Fbe8+cM6ZYkmbKlvaeS8ZfMk6SoGWUOAB8yY6WHFZOcctyaT8S0YdVgRmtryM65jusrQRFUKsMslMq2ITrsLfWHvjdjEHnsK9RLelGK7oh5tTesUrvzDzzCOV1j/APzuPZPHzOn0ccT3u5sWINu8fhHHbZnKG44vHP6DahJ5yQdZhUmZ60tb8x1T7N/jeF+n2xq6eU8rs+JbKiEuhUNpNj2Mo/Jzm45DYNvF8p3E6dkP6duV3x3LVuv9iuFLhNS6EfQym+SyM6srIzyyGBBte63B8Yy2tellh55Ma6OWJNC8mReIo3SkStFTi9tL8r6xJIzTkebQymIlpnKy2zZ1Gma2WwPZqdI6n9OwjNzbWWsY8Dlf1BfOCiovg85EqVkQWUAR1ODk95sUn1hynLqeEeYBc+JCVuK5lsQL8/GAujDDI1cRZQQOPsPOPUyUq0+ZG11UQC4NyOt3kG8RlxRbWuKNcpMASRUzmldWVUZXCj6DqszMByU3QjvI3AR8+2jrf6jdUuccrz7HV6SpUqTXXDJTD3JRgd4IHjcwnlwz7jXavWWDOtuaX5RO6IWzmQCDytMdz5iXDfZtzoq9J0y/kl9TzUVRlTZ3SXzJHZfB0lqEXQAXd+J7T+UYNVa7Zuyximilye6iwlw2u5FGg5AcT2wqbnqLVCPXkPcR09bMz2lx1ayrk0+YLTdMqsSbBhm6xa/DS0d/oNmrRadR/wBnxZz9mo9NZl8kbjJ2holAVamQABYATF0A4b40bj7BvIU//JKP/mZP+ov5wbkuwb8e5xPx6jdSpqJJBBBGddx8Y9UJJ8iE5xa5mBzlCs6qbqkx0UjUFVY5bHlaOjpTdaZzmoilNobzJpESkVxjkY1VQLRnt4o10waZM+hfFOhxZUvZahGln7w6y+4+cJblhjyp5ifSUUlpmO2jXrpY7JgH+kPzjBqf+ReQn13G+Pkyn0syMQli+BKU8yAtROYLVZZi33HTz0/KLqpYkatNZuzWSA29w1knsyjRyJyd6i01R27nhlFjih4nKHfivr9GQciotYj1Tu7Dyh1odYsbshRr9E296JL02IkQ0xGXIWxvnXwkhWbihIgUEiUtW3yIirxILc7zwjDrNRFR3V7zboNJOc/ST9w42Cw9p9WjHUKc7H7K/m1hHN6yeYY7/jOopjumtVz3a3Ie+OG21apXKC6L5jGiOI5GrQqSLxvNMaKo5fEiyC2iHVT/ADB+60MtMlltdi7Sv1yh4tVu7lQSFGmnGGtUVFZY2ihvKoTbMbgBgCRvFwba+Hth3sR12alxn2eP2EP6jtsr0q3O/HHb/wC4JGmLLYGYzBRZQxvlB4AnhpujroUwg24pLPM4O26diSk84HgqYsKANTBg9wRtVIFiwJ3boi4l0JvkRLTYiaMDOvm9Ru4x4TgvWRv/AEnVB5KvmV/8x8oueZya7nX1R9VI5EyyH7R90ZXLoXbuZFEopLTq2sn2+blD5Oh+tMICsB93PMv3iH127Vo6K8+tLMmuyeOfngyysbdsVy9VfDP1LKkrKolDhq55ty7hCDV35e6jXpaVVDefMqnpAx7ok+Tyz1mHXI4Dl3mOu/TWyNyH9TauL5CPaesc5+ji/MzKTJLt2R2NdLskKZ2KCJ2moAo/2hjHSxxxQtnqZNjtZP8AWkT/AKavsUvUT7iglf1YQPT19iLukEwaQOCSIqTb4kfUxRNGmsiapox2G+pHexU0rilGR/jqPM2+MKb+Y0q5H1pGYuMz28GSrlOd2YD/AFAwPuWMGqWJxYq1yxZGRRT1HZfqsR5GMT54EUluyaH9PNgJpkjJmx6TTLInR1knophs66qw9YFdzr28xG6m3PDqNKLVZFJ+0igY3gM2nciwW504Sn7ZbHRT9hrW4cI1J5N8boye7Zwf7Py+3MiJk+amjIV7wR5XjVDVWRWMnk9DTPi0cfLJh3DyvE3rLGiC2fSnyHOE4LOqJgRFLHkNwHNm3KO0xknZ1kzdGCSwjYtnMESik2uGmNYu3Mjcq/ZHxJ7IR7Q10aoub9yNNVbbwLM19THDTnKyTlLmxglhYE3MSSPRrNaNVS6kGQWPN+jHNifwix/eEMdNHEGy/SrMyofJOse+NTs4DlciWw6SuVlYetbQ8YjXdOE1ODw1yZRqao2R3ZLKYhUYMw1lsCOTbx48Y63SfqaDjjURafePL4HG6r9NyUs0S4dn9zyRhDn12AHZqfhaJ6j9T0xX+GDb8eC+rK9P+mrW/wDNJJeHF/RL9yWpsGpjozuCeN/zFoWx/Umpcsvd8scPv+4ws/T+nUfVT88/nyIHanCWpyF6QMjglXHEA6hhfQi477+A6nZ+0I6yDaWGua8//hzer0ctLNZ4p8invNjWRwP9nsH+WvMlXtll578PXQWPepfyhZtTaC0VSm+rx+z/AIN2i0zun5G0ibmWZyJH7P8A5j5k7GuHc6vc3WkI1FRoOyKuZOMOIypp4VeqAAvqgCwzMSb99yTfnHspyct6TyyfoI+yhviWILTyWmNvtp2sdwhjsPZstfq0v9VxZi2nqlTW8czHsTqmmuWY3Zjc+MfVXXGOIQXBHIJvjJjuhpGzyZakAzZipmIuBmNr6Qam6WnSweVVq9vJpq+iuoH95k/gf+aMX92mW/2yPc7HotqP+Yk/gf8Ang/uth5/a49z3/8AV1R/zEn8Ez+eD+62B/a49zlvRVUH+8SfwTP54g9qWMktmwXUbzPRDPP95lf6b/zRF7QkyxaCK6jWZ6FZ5/vUr/Tf+aKnrG+hbHTJdTrCPQpOk1MmeatD0UxXsJbC+U3sDmjNOe8y+McG0RAmUf0m4fnlZxvA+II9qgeJjNqob0DDr696rK6GZ4mcxWb9cdbsddG90LbOal3EFy3sT7nFPOjwoTwSMidAWpkhT1BBBBsRuIj3JNSafAmxtBeWwmIri2pa2Q/eU6GGNG/JZkO9LGd0f8i4fP3EfhGFzaw2l/M04NjMtbNbeslfjuHsNllsK+bGkY8MIskvYmhXUqzfemN/CRGKeuiuckixVsmJKypK5JSKq8lAUd5tvMKdTtaC9n1n+xdCl9RvNmEm5jl9RfO6e9N5NcIqK4CTGKUiYjMaLoo8GzamN1VecR7kGyrYzVhqgqDpKUL+sdW96jwhq4bsEjdo4epvdxFpV9RvjPJG6M8cGJ1FMWWwOVhqp5EfCPKpbsuPIm5ZI6RjU1DlmKLjQ842yoT4rkVOK7is7aJQOtlXvPuG8xKrQW2vEIt+4otupqWZyS95C120LubISo58T3Dh7+6Oo2d+na4evqFl9unv7/LzOZ2ht2UvU0/Bf9uvu7Ec9ax9Zma27MxbyvHR06eqlNVxUc9kkc5bbbbxsk3ju8kRNLa9/n3QNM0JI0f0ZUJlU8yews049Xn0cu4B8WZ/ALHAfqbV+l1Cpjyhz839kdPsrT7te++pcpczLLsd9iT3mOWlLLGrjmWSMqqnqnt0849issvjHiTeCbPtOkpMWYtmubWJ3Ejn2R0Gn2JC2tSnJpvtgWanXzqscEkNdpPR7Oqcvz6gLuGU2vzOsdLslQ2dDchHOevUR6xPUy3pMo9f6MKyS2ayzFH1d/lrDqnaVW9maa/cw26Se7iLIfE8PmBLAFZiEMt9OshuPdGjVyr1Nea2ngwaVz09uLFjJvWx+0EutpZc5DqRZ14o49ZWHfHOtYeB+nwJqPD0ZYziSU8l50wgKilj4DQDmTEoxcnhEZyUVkw9tqsQa7GrnLmJbKMllBNwuqncLQ9hsuMopiWW0pKTSGk7a/EBurJ//b/kj3+1QLY6+TI6o27xNf75O/7f8kZbdFGCNVeocmWX0R7Q4lXV9ptVMeRKUvMBCWJOiqbLzufCFk0kzYnk3QRA9GeL0YmymQ8RHjWVg8kk1hmN4hhhQvJbQE3U/VcbvOFllWHus5+6j0bcHy6FeN1JB0IjJxTwxdKOBzJn2ia48iKeCTlGy53uF4Lxa+7Tt5Qwp0yjxlzHui0HDft9y+5aMG2YabaZVgqm9JG4nkZ3IfZ39240azaEaViPFj6Fbl5FwuAAAAABYACwAG4ADcI5m6+VjcpM1RglwQmzRinMtSEWaMU7Mk0jgmKkiQm7RbFANnaNVUOpBsRqpwlqSdTuA5k7gIc6TTNvHV8ytJyeEVeXsyQzOs+5c5mExcvWO851uNe4Q2t0qkvVfxG9djjFJx+B5MkPLNnUjkd4PcRoYWW0yg/WRYpRlyFEe8UNBxGONYJKqQM4sy+q4tcdh5js90btBtG3RyzDinzT5fwY9Xo69SsS4PuVHFNmnkC65pg5rLPuBJ9lu2Ov0G3aNQ92aUX4v74+Zzer2RZUsxbl7is11eymwt23GoI4GGtmox7LRgr0y/3XE4paapnjqJMcX3gWFzoAG3cd0YL9fXWvXmkba9I28wiXyk2JsspZk0lt80LxGlkQ+d2PkI56f6rmlJQjw5Rb+b+iGcdhxeJSfi/4NAGWVKCqANygDcqruUdgsI5KcnJOUnlvmNoQ9ZJLCXIazqjq98VKDyXRjxIDEJ7zpqU0kFnbV7cF5X4XG88Ae0Q92folGp6q3lyiu7+y+Zmu1C3/AEUfOT7Lt5seVgrVYy5M2WJSaLfpNbesbBSLFsxHYRHRUrEEItRb6SxyEFm4kuomSm7jMX2lQPbFpSLy9r8QkazUmBRvZSJiDvPWA8xABIJtTT1YtPlqx+unVcd6Hf4E90eptPKPGk1hkNNw2ZSuamgqCFb1iozDunSjx9sXxsjN4s+JTKEorMPgSUnbPF8o/wDSuDufI4v22BtGyOz1LinwFk9sQg2pJpoisWn1VUQaubnCm6ooySweeX6R74ZabQwr4sWana8rfVhyIqqW0MsGaDyQ9THjN1ayQGIOWYIgLMxsANSSdwEI9dd0Q401fU+jvRbsj/w+jCuB083rzT220XuA084St5ZvRc48PQgAqO2GBhh0ii/1hFVte8vEz6ilWLxM5xXDcwvxHHn96F868iK6logWksLi3qi57hv79/v5R7pI7tnrFWmUVanLknxNH2DWXMlmcwDTUfKL65OqCHUczmOv2TaIbV1c6IpR69TsaYqZa2eOUna28s2qOBNnjPO0mkJM0ZJ2Nk0jkmIJHomzRYkeCLEndGqFTzjr+cyLZ4QFhrRTx7splIrG0JrZb9O1PnpFGhU3Zebuu8eVgBvjoK9NKiOceZs0FlE3hvEvEWpMQSagdDcH+rHtiSlkbOvDwxb5RoRoQd4OoPhA3lYZF1J8SPqqcDrJu4rvK9o5j3Qu1Glx60OXY83WuDEUnRgweYFOkiLDByzg8AfKIZfcN1A1QRyHtiG4pcWepI6lTrRGUAaHkiUW1fQDcvE9/KIqJVOWOETp6XO12YBeAGpsPYIg7UuSyeKW7HCHNBhqS1aXIDK831nUgzWJ3kswPbYWsOAEdHs3S36ycb9R/wAcPZXJPyXbu+oj1dkaswh7T5s8n4NJzMWEy62BUzZwsSLaKrBf6EdZDCSXD4IVSWWJf8IkfR6RTzE2bw7GYj2RZlPovgiGGurEJtDNTWVND7+rMAVuwCZLAsO9TEJV1vpjy+zJKUiHqqCRObKymRP3ggAE8zYdWaOZU3HE8IyzqlFZ6FsZpjJnnU75ZhsxHVmDVXXk31l5g6jsiskL0OL9E5OXqnWZLGoF/wC0ldnZGnT6h1PHQW7Q2fHUxyvaXJ9/B/QkK2ardZSCCLgjcQd0dRQ8xTRxe7KM3FrDXMrmITQOMaOXEYUQbK3V1DOwSWpd2NlVQSSTyAhdq9UoLCHmm0zNZ9F3oz+TMKusAM/fLTeJV+J5v7o5y2xzY4jHdWDVIqJHsABABy6gixgAp+0GzxF3li44j8oqnWpeZnuoU+K5lMrMMBNx1SDvHxHwjHODXmKbdNuvPJjCkmzaKZ0svVN0xNbW7eziD9E9m+yUIait12GzSaqVLSly+X8fI0DDMVl1CZ5ZuOIPrKeTD47jwjh9oaS7ST3ZLh0ff+TpqrI2LKHRMLG8l5yzROEN5pAc6xojSvF/niR3jno+ZjXDSZ4sg5nE2YFHu5nu5w0o08p4jBFMppcx9heFM5DzBZd4Xn2mOh0ujjTxfFmSyxyLHkAFraRtKjHtpMNFDWjoxlp6m5CjckwbwOQ1BA7SOELr69yWVyZ1WzNT6erdl7Ufl0+x6Z0U5Ge4c9PbUQbx7uZGs42NxuPDkeQ7IXamrde8uTKJVuJ6rDtEYmyvAoJY+t7IrcwPRIXmTHnpGHEWRgN3+8QeXzIs8mV4HVJA7OJ8BFsNPZYvVXDv/JW93ex17Cf/ABIk2Xz/ACjodm7BhhW38e0env7+Qk1+0XGTrr+JIyqgjK3FSD5H/aOq3FjCEilx4kpUYlmluswZiLpLmqQb5SGCuRvuALH/AHitV4ax8Cze7kYZpibg+ZVvHnyiI4PcjfGJsooA+t9w3MG3Aod4btG6ISmoYz1/cnCDnnHTi/AbU7Bh8nqOsG1lvoC2Ub91lmqPBhfhcCq2rC3o+9diUJ9GQWJULyWyH1k60tuDKf4TutwPdGcsEElTphlpTKWE4nKlwCri5dNe4mG2g16qi4T5dBXrNnxtn6SK49Sfw30VVk83qZqyV4heu5+AiV+088IllOiUOZpGy2xNJQi8mXeZbWa/Wc+PAdghXOyU3lm6MVHkWMRWSPYACAAgAIAPCIAIbFNn0mar1WjxxT5kZRUuZVa/AZqb1uOY/KKJUdjJPS/9WV58NeU/SU79E44EdU34WI0HZqOyIzjvx3LI5RXFain2PuiZw7adxZamTlP+JLKlD2lScy+F/CEt+x4PjU15M30bSnysg/NfYkztDS/48vztGB6C2Dxu/DA3ipTWUn8BpU7V0y7nLnkisfabD2xetFbLjjBZHT2S6ELP2onzZ8iRIlhOmmBSz9Zgt+sQo0BAudb7o2U6GOUpPJfPRuFUrJ9EaTh+CJLOY9ZuZ1h7CuMFuxWEIG2+ZKgRM8CAClelfD89C0wDrSXSYPxZW/ZcnwjPqY5rGeybNzUpd+H1Rn6VNwDzF/OFe8dmogZ0eZJbgjOYMpU8ffwPnHjeVgJV5Q0kTWGlz539hjDNIwtdx7KmOePsH5Rnko9iOEOUVuLEeQiGM+yiuUkhOsrJKrZppFza0sgsey6g29nfGvS6PUymnGvP/ty+gu1OspjHDnjy5/sM6fKb9FLyL9Ym8w+JuF7xrHU6fZ1smpaiW9jlFcIr3CO7aKUXClYXV82yToqbKIdxhgUOY+DxPBHeLLgdB01HPAHWD5l+8qA28QSPGMls9y2L8C+C3oMqjT4tfEgmIT6wKDGHWa2vTR48ZPku/wBkMNDobNVL1eEVzfRfd+BH0JMx+kbcPUHvMV6Kqyf+e72ny8F4Fmvurh/+en2Vz8X4+RKMocZSbcQRvDDUEdohjgWZHNRL+UU2Yj5yVe47v0i92mYd3bC+yG5LBrhLeWSt4UGE15SGzm0+SeU6Tr7QNYrJG64JiC1EiVPXQTED24gkaqe0G48IAH0ABAAQAEABAAQAEABAB4RAA2nYfLbeoMAGabdU8r5TkVRaWoH6zdY+wr5Qv1Nj38HU7H00XRvtc2/2IDIg4CMu+xwqI9gDAbgI83ixVpdB1smufFaXkomMf9N7e3LF2m42IW7Xe7pZe75o2qGpxgQAEAETtbIz0VUvORMt35Db22iFnsvyNGllu3wfivmYZRTfm17oRN8T6LBLdFS8RyS4HOeAMls2a2bWqk9IN4Yq3eLH3MIaaauuytb0UcZtedtGqe5JpPD5/nUjNt9mOhWSg9aY5/Ci3PtKxphTXBYihTPUWzeZSZX8J2eWY4B1Gax7l9b2AxaklyKW88yXxPD1ScFsOol/1nJv7B+1G7TQ9XeMmonxweyzaNaTMzY/Q33RaVNknRYQZyFpLozL66FgrL277FdDqbRRO5QliS8mWxhvxzFi2H7XyaOWZaMk1i2Zm64UEhRZbKSw036b4hZpp2vefAnXqIwWFxIGtxCTNDTEBQliTYkpqbmwZAR5kcIVa/aP9J/ijxn8vMdbM2U9Z/ln6sO/fwX3K9Mm9K+S4CjU3IBt4neYXbO0k9Ta7rePfxfbyGm1ddDS1Kinh2XZd/MmPUXdYDy8I6rByG9xH9FhFU4V1l2Q2IdiqrZuN2OoseEVysguGS1QbHmBh1dmZCFNgbiwLLobc7iwv2Rm1OHjHMtoTTZXcZl/JquS43S52XvW9vapjIaDUdgGyrU0/CRUvl+5OAmjwvMceEAFqgAIACAAgAIACAAgAIACAAgAxfaupvWTz/1Cv4er8IS6iebGd/syvd0la8PnxIgzYp3jfunBmR5k93Sb9HWuKJ2SX+A+MbNF7Yi29/43vX1NnhqcaEABAA1xRbyZo5y2HmpjyXInXwmvNHztQP8ANr3QglzPpEHwFy8eYPcnJeDB5k0v0QT7pUJydG/EpH8EMtA+Ekct+oY+vXLwa+D/AJD0hdatp1+rImt5sg+EbznStbJreXm+y5/FcfxGABtjMy0+Ze+rAAbyeogAAGphtpor0a/Oorvb9I1+ckQkzGBfKOqftD4cI1KrgUttCi1DmwYk30A7eQAiawiiaciwnCJ0ilmzWRpZmhZK30bK5LPdd4uJYXX6xil2wsmoxeccfsSVc64OcljOF9xlgeyU2egmaKrTBLQNcB2sxYkjcoCnhqdIx6++aj6Op4k+b7eXiMdn11ufpLY70V05Zfj4DTaajmSJvQPluLWyG6tcacB5W0jlIbOk71Wnlvr9zs57XrWldsluqPDHj0SLlsXIoZdFmrJchnExlzPLVnfRWsosSbZ7dmkdM9NOlqunOMI43+sjenbfjOWRW0GOyBdaOikS7j9I0tc3gi6DxJ7o2V6afOyT+Jkerrf/ABxwVhsZmZVRpeY5cszMFIYBrrkAX5vSwOU8Li0X+hWcp/n1J+m4Etgc/PUBrAFy7FRoBm1sNTpcDjGXVQxVjyLKLN6zgd+kiXZc3bLP7CwqGJc/R/UlqyrHAyKV/ErOU/uiAC+wAEABAAQAEABAAQAEABAAQAYTtIbVdQP+tM9rmEN3/JLzZ9E0Ml/S1/8AqvkRmeKzVk8zwHmSxejI/wD9Nf8AIf3rG3Re2I9vf+N719TaIanHBAAQAN8Q/RTPuN+6YjLkTr9teZ820jWRe6ET5s+iJihmR4e7xyZkekcmlehjU1R4fND/AOWN+h/2931Oc/UDz6Nef0JTa+TfEaYfXp56+IykfGGBzhVdiBeUy8VMxfFQSPcIAIvaelylZ3SLe6tku+e6dW91HV1U6kiHOhlvQ3Me/oLNRFRs3m+fTqS2KC1KVzmjpzfKJvz1RVDmDmuqEcgF14gx5X/yZxvPw4KJOT9Xsvi2c7PbSJSqvR0coNbV2Zmf8RGncLCPbtM7Hxm/gZ46mNfsxRPysafFL0rSejXR2mo9zLyHfYrbXVf1r8DGaVS03rqXHt+Muja9V6jjw7/iHW0WNSZMpZa2WTLsqqBcuV3BQd/P2nnGJKVku7ZubhXHskUeSj1U4zMgzWyoi8FFzcndfUknQe+GdGnhR675vr9BPq9VZfiuPLmkWKvwlDIl9DNSYZYbpEU9a7G7MgOrLoBu3KDEq7mpvfTWeRVZVF1x3JJ45rzILoY15MWRnXpuHjHhdU+o62ap7zr8l95A9xMY9a8V48RjoVmzPgdelBtFXizqv4UAPthSNy0ejBb1Va/AS6eV4oJhP74gA0aAAgAIACAAgAIACAAgAIACADD9v5Jl188cGKuO5kW/7WaE2qji1nc7Jt3tJDwyvg39MFdMyM+Bhk5MyPTzeLL6NJlsSlfalzF/ZLfwxq0bxZgU7bWdK34o2+GxxoQAEADLG5mWnnNylOfJDEZ+yyylZsivFHzYjWAHYIRdT6BKXE8MyDBDeOTMj083jYfQvTEUs2Yf7SdYdoRFHvLDwhno44g2cxtuzeujHsvm/wD4SPpAPRPR1XCTUKH+5OGQ+F2B8I1iYqOEL8nxGqpzuz9Kg5q2pt4EQAe7R0FieIU270fVT3Xv+MQw0FmG4+8XbQhwU0QT0oJDNckAKLkmwUWUC/AAQ0TwsIVuxvmxWXTliFUEsxAAG8k6ACISaiss8inJ4RaKqtl0Ej5PL6859ZpX6TfVvwlruvx15m6mW9qLOHIdR3NLXx5lclVUzNnfI5P0XRHQD6qhgco7Rr2xvr00IrC59xbZq5zfh2L5tCZIw9ZlOiS1mslwoC3BuSrW32II8IyUKfp8TecZNep3HpswWE8cimyDm4boZsRyW6xXo48IkfUSybMRYHdHqNMY7qLJsjh3VLnQHU/dW9v4/ZCrXWZkoroOdBXiDk+pUNtKvpa5E4S+u3eTcxiN5oXogpj8kmzyNaiezj7qWRfCyX8YAL3AAQAEABAAQAEABAAQAEABABl3pjw0gyakDQgyn8LsnvmeyF+thykdHsHUcJUvzXyf0M0MyMB0O8cmZBg83id2DqQuIUrH/EK/6qMg9rRfp3i1GLaK39JNeHyeT6BhwcSEABABA7eVHR4fVHdeUyDvmdQe1hFVzxWzZs+G/qYLxz8OJ86zZmp8vKE6XA7KcuImZkS3SveOc8eqJ5vH0psdhXyWjkSSLMqAv99+s/7TGG9cN2KRx2ru9NdKfd8PLoK7UYWKmlmyT9NCPHgR2xMzmN4niDlaest8/SH5PVLxOTQN3FT7RABoKSkqpCulmutx9pDwvzHsIXlEoycXvIjOKlFplSqqMoxU94PMfnpqOBBh5VarI5Rzl9UqpOLClqjKuZQzTiLBvoylOhY83a9gOAP2oouTuluLl18TRTKNEd9+0+XgNpdNYkklmOpY7yf64RphCMFhGSy2U3mQp0UTIZFZOLu9OadELjplKG4UE5Wzqt9+9Db7RiLojGz0knjhx/bBqhKUqnX45X75E8JnK+q8eHEROcHF4ZisHdToLcTEERiupzR0TTWC6kDeeQPAdp1t4ncDFV9qqjk26emV08dOpacbq0o6Vi1hZbkD9lR5Adw7YSNtvLOiSSWEYpLeZPmHLrOqXyL2Zjqe4C58I8PT6UwPDlp6eVIQWWWiqPAQAPoACAAgAIACAAgAIACAAgAIAIzaTCFqqaZIbTOvVP1WGqt4ECIWQ34uJfpr3RarF0/GfOFbJeVMaXMGV0YqwPAg6/8AmE0oNPDO1jZGcVKPJ8huZkGD3eFqGrKTFdfWVg6/eQhh7RHq4NPseLE04Pk00fTmH1izpaTUN1mKHXuYXHvh1F5WUcNZB1zcJc08DiPSAQAZ56ZcUCUySb6zXzEfYla/vlPIxk1ksRUe462JVm2Vr5RX7v8AjJiBMYh4eQAXb0VbOGqqxNYfNU5DtyZ/oL5jMexbcYv09e9LL5IX7R1Hoqt1c5fLr9jfRDE5kIAMl9I2EGlntVKt5E4ZKheFuD9449ndABD7FbQfI5vyea3zDm8qZwW/A9hgA0nEsLSetwNd9h+8p8uw6X1AItptlW8r4FF+njdHD9z7FSmUDSTu0vYkDQ34Ebwew9/bDaq6Fi4fARX0W1S9bl3Eml3MaDJvHE2RdSBxBHmI9Tw8hkQwecFl9HNlSZiLMJs7dHNl5guZpbA3t1eGt1ESvg3Leg2njosp+DNNNyUd2STWerw14oTw2nCvMZL9GXPR33lQxy38Le2JWN7qUufXzM8mnJ45EzJoGmsLAgHja9+eQcfcOJEYbdRCpY6mnTaOy3y7lnp6WXSyy7kDKL6nQcyx4nt8BCmyyVksyOgqpjVHdiYvt1tWaybZSRJQ6faP1j8IrLS3+hrZgu/y2atgBlkg8jvfx93fABsUABAAQAEABAAQAEABAAQAEABAAQAZz6U9ijUKaqnW85B11G+Yo3EDi49o04ARl1FO96yG2zdd6N+im/VfJ9v4ZiZjCdC8gDAeI1b0XbbJLQU1QwVL3luTZVLG5RzwF7kHdqRyjTpr1H1Je4WbU0Lt/wA9Sy/9l18zWlYEXGojec4McZxqRSyzMnOFHAfSY8kXex7ohOcYLMi6jT2Xy3a1n86nz5tltC9ZUNMbQeqq3vkRb5VvxNySe0wrnN2S3n7jrqaI6apVR59X3ZX48JEls/gk2rnLJkrdjvJ9VF4s54AfkN5EShBzeEVXXQpg5z5fPwR9G7N4HLo5CyZW5dWbi7H1mbtPsAA4QzhBQWEcpffK6xzkSkTKQgAa4lQrOlsjgEEQAYJths09CzKVLUxNwRqZV/4PdAA52S27mUmWXOvNkfRYHrIOw8R2QAaxh2I01YmaW6vpvXRh2Mvw1EeptcjxpNYYhU7Mg6oQe45TrzFiPICNMNZZHxMNmzqZ8uHkMH2bmA/T/Cp9of4RoWv7xMstk9pfsKUGzrLMV2Qtl4FUF9CLZs5sNeURs1zlBxS/csq2YoTU2846Y8B7T7Nqpu2VRwBOcjsFwF9hiiertlwyaKtBTXxxnzEMb2lpKFTmYZ7bvWmN4cPG3dGY24S5GPbW7Xz64kay5INwl9/a54wHgvsDsO9bMV5gIkA31+n/APX3wHp9CUdMstFRBZVFgIAFoACAAgAIACAAgAIACAAgAIACAAgA8MAGc7e7AyagtOkMsqdvYHRJh5m3qt2jfx5xmtoUuMeY00W0nUtyzjH91914GP1mGTJTFZilWH9aEaEdojBJOLxI6GqcLVvVvKEklkaiI5yWxUk8okKXFqiWMsubNQckmTEHkptApSXJs9lCE3mcIt+SG9TUTHOZmJY/SYlm/ExvHmcvLeT3LS3YJJeA16Ax7khuMntmtkJtW41EuXxdv4F3sfIdoi+umU/IxanW1afg3l9l9X+M3XZbAaejldHIG/13OruRxY+4bhDCFagsI5vUamd8t6fuXRE3EzOEABAAQAM8Sw5JyFXF4AMb2u9GkyUS9NYA65D6h+6foHs3QAUAvPpZmomSHB3glfJhoYALdhXpGr0ABZJwH11ufxLABYJPpWn/AEqVD3TWHsMB4E70n1bfo6ZB3zHb2LABBYntPiU4HNNElTvCDJ7TYwBkr0mhzv1Q86Yd5Fzr2sdBABe9k/Ru01hMqbZRqEHq+P1j7ID01yhoklIEQWAgAcQAEABAAQAEABAAQAEABAAQAEABAAQAEADefRI28QAV7FNhqedvLDyPvjySUlhk4WSg8xeH4FdqPRNLPqT2HeoPxjNLSVvwGVW2NTDg8S8/4GbeiSZwqU8ZbfzRX/Qx/wCzNS29PrBfFncr0SN9KpH6qH4mPVoY9WyE9u2v2YJfEkqP0VyFN2ms36o/OL4aeuPJGC7aOpt4Slw7LgWjD9mpMr1bnvi4xEtKkqu4QAKQAEABAAQAEAHjKCLEXEAEHiuy0icCCo14EAjyMAFLxD0Uyiby1K/ca37J0gAi29G89fVmzh4A+6ABWV6PKk6GdOt4CAMErQei9L3mXb77E+waQAXHC9mpEkABRp2ADyEAEyBaAD2AAgAIACAAgAIACAAgAIACAAgAIACAAgAIACAAgAIACAAgAIACAAgAIACAAgAIACAAgAIACAAgAIACAAgAIACAAgAIACAAgAIACAD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6564" name="AutoShape 4" descr="data:image/jpeg;base64,/9j/4AAQSkZJRgABAQAAAQABAAD/2wCEAAkGBxMTEhUUExQVFhUVFhwXFxgYGBcXGBgYFBYXHBgYFBcYHCggGRolHBQUITEhJSkrLi4uFx8zODMsNygtLisBCgoKDg0OGxAQGywlICQsLCwsLCwsLCwsLCwsLCwsLC8sLCwsLSwsLCwsLCwsLCwsLCwsLCwsLCwsLCwsLCwsLP/AABEIALEBHAMBEQACEQEDEQH/xAAcAAABBQEBAQAAAAAAAAAAAAAAAwQFBgcCAQj/xABMEAACAAQDBAYFCAcGBQQDAAABAgADBBEFEiEGMUFREyJhcYGRBzKhscEUI0JSYnKS0TOCorLC0vBDRFNzk+EVVGOj8TSUs+IWFyX/xAAbAQACAwEBAQAAAAAAAAAAAAAABQIDBAYBB//EADcRAAICAQEGAgkDBAIDAQAAAAABAgMRBAUSITFBUWFxEyIygZGxwdHwBqHhFBUjQjNSNHLxJP/aAAwDAQACEQMRAD8A3GAAgAIAPCbQAQWIbW00s2DdI3JNR4tu8rxVK6KNtWgusWcYXiQVVt2fohF7yWPstFT1Bthsnu2xk23D/wCKPBF+MR/qPEuWyo9v3PZe27/4gPeq/CD07B7Lj2/cf0u3J+kqN90lT7bxNXlE9ldmyew/aenm6Zsjcn08jui2NsWYbdDdXxxleBMgxYZD2AAgAIAOXcAEkgAC5J0AA4kwAU3FPSNTqxl0ytUv9jSWO+Yd/eoIjVDSTlxlwMtmrhDlxEpNZilRqXk0yncFTO9u0vcX/VEWeipj3Zlertl7OEPpWAzz+krqknsIQfsARF2QXKCJpXPnMdU+CuuvyqpPe+YeREQdkX/qiW5Z/wB2KzPlSerMSZ2Otj5raBKqXNYIuy+HVNeJH0+28pX6OqRpDXtm9eUf1wLjxAtziUtJLGYPPzLK9dCXCXBlplTVYBlIZSLggggjmCN8ZGsPDNiafFHcB6EABAAQAEABAAQAEABABw8wDebRVZdCCzJ4PUm+RGVe0EmXva55DWF89rUp4jxNEdJY+fAZHaYn1Keaw52iK2jZLiq2W/0cVzmjuj2qls4SYrSmO7ONPOL6NfCx7slh+JXZpZRWVxJ8GN5lPY9AIAG1dXJKUs5sACfIXPsBiLklzITsjBZZku0e2zV8o/J0mJKltdiT+kUg2YgblFjz3xl1cpKKwOtgJTsk7I44Ldzz/gi8UeTKllFYzJjDeGsFvx0Nu4G5jFZOMFjqdHRXbZPeawvmV4g8zGTeYyVZ5kPbBvBuHuU8zBvBuHoZhxMeqxkXWheXXTBxvE1c0VvTxZYtn9vJ9MQD15fFCdw+wfon2dkaa9Y48+Qs1eyK7uK4Pv8Ac1rZ/HpNXL6SS1+DKdGQ8mHD3HhDOuyNizE5TU6WzTz3LF9n5DnEa4SlBPEgD4nwEV6jURpim+rwQppdrwhntNtHIoZJmz2sNyqNXdvqoOJ7dw4xrrrlY8RKJzUVlmJY3tTU4m9ph6OQDpJU9XTcXP0279BwAhtRp4w5c+4ttulMt2yNDLlqGsL8Oy3HviV3ZGR88su1PWShbM6BjpYsAbngAYV23Qi92Ul8TdRROUd6MW/cSIeAnk9zx5g9yJvMiSRCUiubQ09wSoRuaOAyNbeCN4PIixEaIR3u6fdGOUlGXLPgRmz8sqGmYc5RlPz1FOYlLnjLfet9bNx42sRGbUaj0TUNSvKS+ptohlb1D84ssmFbYSZs7oHV5M3TqTNDmtqt+fIjQixHKMtk1CSTfB8n0f8APgMqq3ZW5x5r2l1X8eJZImQCAAgAIAGWI4rIkLmnTZcsfbYL74AK5M9JGH3skx5v+VKmTB4FRHuGeZO12/pj/Z1f/t5v5RXZONazJnsePIe120aheryvrpbv5Rzup2zKTcKFxN9WibW9N4QxoJMyrGczVyH6pB90Qp2Xfe9++XAnPUV1cK0TtFg8mXuUE8zqYe0aOqpYijFO+c3xZIBY1YRURuOYYk6UwYC9tDxBjDrKIyhvLmi+i1wljoGzcwtTSy28Cx/VJHwjVRJyrTZXYsSZJxaQGeJ4gslCzeA4k8hEJzUFllVtsa47zKdWo9TLmM59dGVRwAYFfLXx7oyRk5PfYsblbmcivbP0arQTJwW7h2zaa5EUDLbsuWi+/wBhs6nZc07or/t+IpYSOeyfQ8E3h+zMx1zzCJMvfd99udjaw7SRGqvSylxlwQs1G0qq3uw9Z/t/PuFcuGJo055h+yHYeBlrb2mNMdNUvEwz2hqn2j8PqeqcKc5RNeWe3pF9rqR5wOip8OQR1us58H8H8uJ7W7KNlzyHWap1FrXI+yQcreyKLNI0sxeTVTtWEni1Y8ehXnlEEgggjeCLEHtB3RjeVwY1WJLK5CZSPcnjiPcExWbSThNlGxGjL9F14q3Z7t8XU3yrllGTV6OvUVuE15Psy9bQbTrPKuhOTIpAPAnVge0HQ/diraF/pLFjkkI9FoJUpxnzy/4KZtNhNRWzUmdJ1VUIOlJAVR9SwJ146ePJnszbkKK/R3J8OTXyfkKtp7Ids96lrjzX1Q6w7ZgqABNl37m98M4fqGjPsv8AYWy2Hdj2l+45ardfm1bdcEqTr3G17Rg2htqVrxT6se/V/YY7P2JXUt+9KT7dF92WbY/DwCZrC7DRb8DxPfHuzNCt308+b5eXfz+hj2ztJuf9PXyXP7eRcUeHDQjUj1ngweuRH1VcAbDXXXsi2NeTPO0gsTrLkkRprgZpSyyHwyQ8yZnpnC1UoX6JzZZ0u/WCuOB0BUjQ2N9xjPr9x1uu9eo+q6Pob9HF5Uq36y6PqWDFsNl18lSQ0meo6jMLPKcb5cy29b+HEbwTyMLnp5Sot9aD/E12/Ex/HKaur4SX40/B/wA8zrYraSYZr0lVpNQcd9wBmF+I1DA8QY21XuqSjN5i+T+X50ZdqKoWVK6tY6Ndn+fQvMMReM8VxSVTSmmznVEUXJJ9g5nsgAyDF/SRWV7mXh4+TyAbGe4u7fcG4e/ui2NbZXKxITwnZqnDdJPLVE3eXnEtr2A6CJ+iwUu3PIvNAyheqAqjkLDwtC3X7Qr00efE0UUTtkjyprGbQaD2mOS39TtG3diN8VaWOZDZpSZSGAa4sQdRY8LR1+z9jw00cvjIS6naUrXhciq1mzqSmMyjmPSzOctiEP3k3GGrq7mRagkcA9Js2nmCRiaix0WpQdU/5i8O8RnnU1yNcLVI1SnqFdQ6MGVhcEG4IPEERUWnNZMyoxPAExn1TxWyUF6yG+ByysiWDvtc/rEn4xZTHdgkE3mTHsxwASdANT4RYRM42gxYzphP0QSqj3nvF7d5PKFl9m8xDq73ZLwJCjxBBLUbzlAI7hY3vEo2RxgsrujuJDOnAkzHUayp7Zx9mYRZlb7wAI7QRxEa65qSwM9Jd/qny5EC+HyaLPPm9cBrSU4knVRr9Lf3AX7sMdMqptvj2O1ntOeqqUVw4es/zp1K7XVE2pbPPbq36ksaqPuJ9I82bzG6GVOllZxks+Bz+p2nGvMa3urrJ8H8enkiTpsHXKCVPifyK/GGtez1j1mIZ7STfqpvx5fMbVmFEbpYZewkH9okRXPZ8unEuhtCGMrMX+dUN6Ez6YmZINhveWfVYdqg6feG7sjFqNnWVLeiuAy0e3qr5eitefHr/JY6iRLr5HTShlmroy8bjej/AAMKLqlbHK5o6nSap6ae7J5g/wAyiolYVPgdLzWUclYMnjRLYA4JyMLkdZL/AFtxHjpYc4jZFyjwFW0YOCVi5cn9CQmVWbW8ZUjJuYOeliSR40eU8oA3iTeSLJ3ZjaGX0QWZ1WHYSD26R0+n2vRGtRt4NLHLt5HJa/YOpd8p0+sm88+KyT0vaCn0+cAuQNQVFybAXI5xsp1+mveK5cfevmLbtm6uiO9ZDh5p/Ik3mxtSF7mMqlFN7jfxiyOUUykRc2lQG51793lGiLbKXIqmPK0l0nSTZ0bMvIEcPukXBHImJ21K2twnyZdprnGSfY0OhrVqpCTU0zoHXn2q3aCCO8R841NcqbZVWc0zsKZ5iprkyFxCgz1FNUoPnZUwS5nNpUy6G/aucnuLdkSrt/xyrny5rz/n54ND9RSxyf4mXKZiSSpDTprBUlqS7HgF3mH2htd1MZPn1Ftkd2TPnTavaeZi1SWclaWWfmpe64+s32j7IaVVZ4mO61RJDD6j1Uli/AKBE77aqI70ngyb0pvCL1g2E5V6SedOCjieUcpr9tylwjwXzGml0LlzJCvrVRc7kKo9VfgO2EWl01+0bsLl1Y0vvr0kOHMrM/aME7wOQj6Hodn1aSvcgvectqNXO6WZMbPj19xjak2Z3JJCLYgTxi5UtlE9QlyGOIlZilWAIPCPZUHkNY0xT0e7Yth08U85i1JMayk/2TE6EfZ5jxhXdS4seae9WI3mfKWYljqrDhxEY51qfM1J4FlFhaLDwgdssQ6KnNt7af7eJKjxim+W7Ay6yz0dTZnDt1su/L1fEesfFixhXLmc/PnjsSFG8exZOtk3SyFm/NtqraHhp2HgdNDzjVV7Qwobclgpu0hRpZLm86ROMgG5s2pu2XcLqt78xaN9danNDieplGiSi+H1PcHkhU6QgFmOVewDefgOUdFCCit1e85PfdknOXF5wvqWOjp8+p3/ANbohOe7wRuhHI4q6Cw3RXC3JOVfArVbS9Ya2JNge07vbGtz9Rtiy6r11h4ZDScKZ5pEp+imE5bB2lknkCN4v5XjmtdTVXLfXJ9fM6/Ze0r3VuPGVww1n4BXYHWS/XMz9fre2YNYwy09UnjPyHFW2LodF7sojpizV9YKe8FD4W6vsimegXQYVfqHHtJ/s/sK0tQFIZiZduJBYcrqyAm4vxAjO9JKD48jdPalGpplBvmvzgyZqXBIddFmIsxRyzi5Hg2YeEKHHDa7cCjSz361nmuAmrQYLmPKcXgwUyeCVwTZMlLvORCVuBa/mbxsWi9Is73My27Q3HiMWxlVpTXElG+UTM6MWXSVL6KYr7/pm6ActTDzZexZVzVtnTkc9tbbSsrdUOvPr+e4shqzzjpNw5LIzqsTC72+MSUEecWM6jESVOUg6G2vHwi2MEVvg+JVmrsudZlyTpa+lzvN+e6Jci9rOGiz+jauPyd0/wAKc1vuzAG/eMzzjh/1HUo6iMl1Xy4HU7Ke9S49i5JLGbMN2YHzBv7l9sc85Zrx2YweUseBmPprxyYJcqkQkJNZpky3EKwCqey+vgI6HYHrVSXZmLW+rh+BQ8Cw+ZNYS5Y7zwUczDvW66vR18eYl3HZI1rZrAZchMx15sd7HkvIRxOr1s7n6Sx+SG+j0mXhEnXVqojTZpCogv2ADgIW6eizW3KMRtZONEOBB4TstUYqRUVDtT0x/RS1/SOv1mJ9UGO/0lUNJX6OtebENkfSy3pljHonw61ss6/1ule/vtGj08yLoh2KntZsBMo1M6S7TZK+ureug+sCPWAjbptTl4kL9Xolu5iVoTNIbIQOGGJzJkeM9jEhsYkh1MY9RWmhro7GpGyehPaY1VGZMxrzaY5CTvMs+ofIW8ITzWGPovKNGiB6ULb6pvOkS/tZj3ILke7yjHqXxSFe0JetCPv+BSaebfU8dfOF4lTzxJSmmR6icWWTAJl3/VPwjVQ+Iy0kvWM3x9j0zDnVTye8Fbe8+cM6ZYkmbKlvaeS8ZfMk6SoGWUOAB8yY6WHFZOcctyaT8S0YdVgRmtryM65jusrQRFUKsMslMq2ITrsLfWHvjdjEHnsK9RLelGK7oh5tTesUrvzDzzCOV1j/APzuPZPHzOn0ccT3u5sWINu8fhHHbZnKG44vHP6DahJ5yQdZhUmZ60tb8x1T7N/jeF+n2xq6eU8rs+JbKiEuhUNpNj2Mo/Jzm45DYNvF8p3E6dkP6duV3x3LVuv9iuFLhNS6EfQym+SyM6srIzyyGBBte63B8Yy2tellh55Ma6OWJNC8mReIo3SkStFTi9tL8r6xJIzTkebQymIlpnKy2zZ1Gma2WwPZqdI6n9OwjNzbWWsY8Dlf1BfOCiovg85EqVkQWUAR1ODk95sUn1hynLqeEeYBc+JCVuK5lsQL8/GAujDDI1cRZQQOPsPOPUyUq0+ZG11UQC4NyOt3kG8RlxRbWuKNcpMASRUzmldWVUZXCj6DqszMByU3QjvI3AR8+2jrf6jdUuccrz7HV6SpUqTXXDJTD3JRgd4IHjcwnlwz7jXavWWDOtuaX5RO6IWzmQCDytMdz5iXDfZtzoq9J0y/kl9TzUVRlTZ3SXzJHZfB0lqEXQAXd+J7T+UYNVa7Zuyximilye6iwlw2u5FGg5AcT2wqbnqLVCPXkPcR09bMz2lx1ayrk0+YLTdMqsSbBhm6xa/DS0d/oNmrRadR/wBnxZz9mo9NZl8kbjJ2holAVamQABYATF0A4b40bj7BvIU//JKP/mZP+ov5wbkuwb8e5xPx6jdSpqJJBBBGddx8Y9UJJ8iE5xa5mBzlCs6qbqkx0UjUFVY5bHlaOjpTdaZzmoilNobzJpESkVxjkY1VQLRnt4o10waZM+hfFOhxZUvZahGln7w6y+4+cJblhjyp5ifSUUlpmO2jXrpY7JgH+kPzjBqf+ReQn13G+Pkyn0syMQli+BKU8yAtROYLVZZi33HTz0/KLqpYkatNZuzWSA29w1knsyjRyJyd6i01R27nhlFjih4nKHfivr9GQciotYj1Tu7Dyh1odYsbshRr9E296JL02IkQ0xGXIWxvnXwkhWbihIgUEiUtW3yIirxILc7zwjDrNRFR3V7zboNJOc/ST9w42Cw9p9WjHUKc7H7K/m1hHN6yeYY7/jOopjumtVz3a3Ie+OG21apXKC6L5jGiOI5GrQqSLxvNMaKo5fEiyC2iHVT/ADB+60MtMlltdi7Sv1yh4tVu7lQSFGmnGGtUVFZY2ihvKoTbMbgBgCRvFwba+Hth3sR12alxn2eP2EP6jtsr0q3O/HHb/wC4JGmLLYGYzBRZQxvlB4AnhpujroUwg24pLPM4O26diSk84HgqYsKANTBg9wRtVIFiwJ3boi4l0JvkRLTYiaMDOvm9Ru4x4TgvWRv/AEnVB5KvmV/8x8oueZya7nX1R9VI5EyyH7R90ZXLoXbuZFEopLTq2sn2+blD5Oh+tMICsB93PMv3iH127Vo6K8+tLMmuyeOfngyysbdsVy9VfDP1LKkrKolDhq55ty7hCDV35e6jXpaVVDefMqnpAx7ok+Tyz1mHXI4Dl3mOu/TWyNyH9TauL5CPaesc5+ji/MzKTJLt2R2NdLskKZ2KCJ2moAo/2hjHSxxxQtnqZNjtZP8AWkT/AKavsUvUT7iglf1YQPT19iLukEwaQOCSIqTb4kfUxRNGmsiapox2G+pHexU0rilGR/jqPM2+MKb+Y0q5H1pGYuMz28GSrlOd2YD/AFAwPuWMGqWJxYq1yxZGRRT1HZfqsR5GMT54EUluyaH9PNgJpkjJmx6TTLInR1knophs66qw9YFdzr28xG6m3PDqNKLVZFJ+0igY3gM2nciwW504Sn7ZbHRT9hrW4cI1J5N8boye7Zwf7Py+3MiJk+amjIV7wR5XjVDVWRWMnk9DTPi0cfLJh3DyvE3rLGiC2fSnyHOE4LOqJgRFLHkNwHNm3KO0xknZ1kzdGCSwjYtnMESik2uGmNYu3Mjcq/ZHxJ7IR7Q10aoub9yNNVbbwLM19THDTnKyTlLmxglhYE3MSSPRrNaNVS6kGQWPN+jHNifwix/eEMdNHEGy/SrMyofJOse+NTs4DlciWw6SuVlYetbQ8YjXdOE1ODw1yZRqao2R3ZLKYhUYMw1lsCOTbx48Y63SfqaDjjURafePL4HG6r9NyUs0S4dn9zyRhDn12AHZqfhaJ6j9T0xX+GDb8eC+rK9P+mrW/wDNJJeHF/RL9yWpsGpjozuCeN/zFoWx/Umpcsvd8scPv+4ws/T+nUfVT88/nyIHanCWpyF6QMjglXHEA6hhfQi477+A6nZ+0I6yDaWGua8//hzer0ctLNZ4p8invNjWRwP9nsH+WvMlXtll578PXQWPepfyhZtTaC0VSm+rx+z/AIN2i0zun5G0ibmWZyJH7P8A5j5k7GuHc6vc3WkI1FRoOyKuZOMOIypp4VeqAAvqgCwzMSb99yTfnHspyct6TyyfoI+yhviWILTyWmNvtp2sdwhjsPZstfq0v9VxZi2nqlTW8czHsTqmmuWY3Zjc+MfVXXGOIQXBHIJvjJjuhpGzyZakAzZipmIuBmNr6Qam6WnSweVVq9vJpq+iuoH95k/gf+aMX92mW/2yPc7HotqP+Yk/gf8Ang/uth5/a49z3/8AV1R/zEn8Ez+eD+62B/a49zlvRVUH+8SfwTP54g9qWMktmwXUbzPRDPP95lf6b/zRF7QkyxaCK6jWZ6FZ5/vUr/Tf+aKnrG+hbHTJdTrCPQpOk1MmeatD0UxXsJbC+U3sDmjNOe8y+McG0RAmUf0m4fnlZxvA+II9qgeJjNqob0DDr696rK6GZ4mcxWb9cdbsddG90LbOal3EFy3sT7nFPOjwoTwSMidAWpkhT1BBBBsRuIj3JNSafAmxtBeWwmIri2pa2Q/eU6GGNG/JZkO9LGd0f8i4fP3EfhGFzaw2l/M04NjMtbNbeslfjuHsNllsK+bGkY8MIskvYmhXUqzfemN/CRGKeuiuckixVsmJKypK5JSKq8lAUd5tvMKdTtaC9n1n+xdCl9RvNmEm5jl9RfO6e9N5NcIqK4CTGKUiYjMaLoo8GzamN1VecR7kGyrYzVhqgqDpKUL+sdW96jwhq4bsEjdo4epvdxFpV9RvjPJG6M8cGJ1FMWWwOVhqp5EfCPKpbsuPIm5ZI6RjU1DlmKLjQ842yoT4rkVOK7is7aJQOtlXvPuG8xKrQW2vEIt+4otupqWZyS95C120LubISo58T3Dh7+6Oo2d+na4evqFl9unv7/LzOZ2ht2UvU0/Bf9uvu7Ec9ax9Zma27MxbyvHR06eqlNVxUc9kkc5bbbbxsk3ju8kRNLa9/n3QNM0JI0f0ZUJlU8yews049Xn0cu4B8WZ/ALHAfqbV+l1Cpjyhz839kdPsrT7te++pcpczLLsd9iT3mOWlLLGrjmWSMqqnqnt0849issvjHiTeCbPtOkpMWYtmubWJ3Ejn2R0Gn2JC2tSnJpvtgWanXzqscEkNdpPR7Oqcvz6gLuGU2vzOsdLslQ2dDchHOevUR6xPUy3pMo9f6MKyS2ayzFH1d/lrDqnaVW9maa/cw26Se7iLIfE8PmBLAFZiEMt9OshuPdGjVyr1Nea2ngwaVz09uLFjJvWx+0EutpZc5DqRZ14o49ZWHfHOtYeB+nwJqPD0ZYziSU8l50wgKilj4DQDmTEoxcnhEZyUVkw9tqsQa7GrnLmJbKMllBNwuqncLQ9hsuMopiWW0pKTSGk7a/EBurJ//b/kj3+1QLY6+TI6o27xNf75O/7f8kZbdFGCNVeocmWX0R7Q4lXV9ptVMeRKUvMBCWJOiqbLzufCFk0kzYnk3QRA9GeL0YmymQ8RHjWVg8kk1hmN4hhhQvJbQE3U/VcbvOFllWHus5+6j0bcHy6FeN1JB0IjJxTwxdKOBzJn2ia48iKeCTlGy53uF4Lxa+7Tt5Qwp0yjxlzHui0HDft9y+5aMG2YabaZVgqm9JG4nkZ3IfZ39240azaEaViPFj6Fbl5FwuAAAAABYACwAG4ADcI5m6+VjcpM1RglwQmzRinMtSEWaMU7Mk0jgmKkiQm7RbFANnaNVUOpBsRqpwlqSdTuA5k7gIc6TTNvHV8ytJyeEVeXsyQzOs+5c5mExcvWO851uNe4Q2t0qkvVfxG9djjFJx+B5MkPLNnUjkd4PcRoYWW0yg/WRYpRlyFEe8UNBxGONYJKqQM4sy+q4tcdh5js90btBtG3RyzDinzT5fwY9Xo69SsS4PuVHFNmnkC65pg5rLPuBJ9lu2Ov0G3aNQ92aUX4v74+Zzer2RZUsxbl7is11eymwt23GoI4GGtmox7LRgr0y/3XE4paapnjqJMcX3gWFzoAG3cd0YL9fXWvXmkba9I28wiXyk2JsspZk0lt80LxGlkQ+d2PkI56f6rmlJQjw5Rb+b+iGcdhxeJSfi/4NAGWVKCqANygDcqruUdgsI5KcnJOUnlvmNoQ9ZJLCXIazqjq98VKDyXRjxIDEJ7zpqU0kFnbV7cF5X4XG88Ae0Q92folGp6q3lyiu7+y+Zmu1C3/AEUfOT7Lt5seVgrVYy5M2WJSaLfpNbesbBSLFsxHYRHRUrEEItRb6SxyEFm4kuomSm7jMX2lQPbFpSLy9r8QkazUmBRvZSJiDvPWA8xABIJtTT1YtPlqx+unVcd6Hf4E90eptPKPGk1hkNNw2ZSuamgqCFb1iozDunSjx9sXxsjN4s+JTKEorMPgSUnbPF8o/wDSuDufI4v22BtGyOz1LinwFk9sQg2pJpoisWn1VUQaubnCm6ooySweeX6R74ZabQwr4sWana8rfVhyIqqW0MsGaDyQ9THjN1ayQGIOWYIgLMxsANSSdwEI9dd0Q401fU+jvRbsj/w+jCuB083rzT220XuA084St5ZvRc48PQgAqO2GBhh0ii/1hFVte8vEz6ilWLxM5xXDcwvxHHn96F868iK6logWksLi3qi57hv79/v5R7pI7tnrFWmUVanLknxNH2DWXMlmcwDTUfKL65OqCHUczmOv2TaIbV1c6IpR69TsaYqZa2eOUna28s2qOBNnjPO0mkJM0ZJ2Nk0jkmIJHomzRYkeCLEndGqFTzjr+cyLZ4QFhrRTx7splIrG0JrZb9O1PnpFGhU3Zebuu8eVgBvjoK9NKiOceZs0FlE3hvEvEWpMQSagdDcH+rHtiSlkbOvDwxb5RoRoQd4OoPhA3lYZF1J8SPqqcDrJu4rvK9o5j3Qu1Glx60OXY83WuDEUnRgweYFOkiLDByzg8AfKIZfcN1A1QRyHtiG4pcWepI6lTrRGUAaHkiUW1fQDcvE9/KIqJVOWOETp6XO12YBeAGpsPYIg7UuSyeKW7HCHNBhqS1aXIDK831nUgzWJ3kswPbYWsOAEdHs3S36ycb9R/wAcPZXJPyXbu+oj1dkaswh7T5s8n4NJzMWEy62BUzZwsSLaKrBf6EdZDCSXD4IVSWWJf8IkfR6RTzE2bw7GYj2RZlPovgiGGurEJtDNTWVND7+rMAVuwCZLAsO9TEJV1vpjy+zJKUiHqqCRObKymRP3ggAE8zYdWaOZU3HE8IyzqlFZ6FsZpjJnnU75ZhsxHVmDVXXk31l5g6jsiskL0OL9E5OXqnWZLGoF/wC0ldnZGnT6h1PHQW7Q2fHUxyvaXJ9/B/QkK2ardZSCCLgjcQd0dRQ8xTRxe7KM3FrDXMrmITQOMaOXEYUQbK3V1DOwSWpd2NlVQSSTyAhdq9UoLCHmm0zNZ9F3oz+TMKusAM/fLTeJV+J5v7o5y2xzY4jHdWDVIqJHsABABy6gixgAp+0GzxF3li44j8oqnWpeZnuoU+K5lMrMMBNx1SDvHxHwjHODXmKbdNuvPJjCkmzaKZ0svVN0xNbW7eziD9E9m+yUIait12GzSaqVLSly+X8fI0DDMVl1CZ5ZuOIPrKeTD47jwjh9oaS7ST3ZLh0ff+TpqrI2LKHRMLG8l5yzROEN5pAc6xojSvF/niR3jno+ZjXDSZ4sg5nE2YFHu5nu5w0o08p4jBFMppcx9heFM5DzBZd4Xn2mOh0ujjTxfFmSyxyLHkAFraRtKjHtpMNFDWjoxlp6m5CjckwbwOQ1BA7SOELr69yWVyZ1WzNT6erdl7Ufl0+x6Z0U5Ge4c9PbUQbx7uZGs42NxuPDkeQ7IXamrde8uTKJVuJ6rDtEYmyvAoJY+t7IrcwPRIXmTHnpGHEWRgN3+8QeXzIs8mV4HVJA7OJ8BFsNPZYvVXDv/JW93ex17Cf/ABIk2Xz/ACjodm7BhhW38e0env7+Qk1+0XGTrr+JIyqgjK3FSD5H/aOq3FjCEilx4kpUYlmluswZiLpLmqQb5SGCuRvuALH/AHitV4ax8Cze7kYZpibg+ZVvHnyiI4PcjfGJsooA+t9w3MG3Aod4btG6ISmoYz1/cnCDnnHTi/AbU7Bh8nqOsG1lvoC2Ub91lmqPBhfhcCq2rC3o+9diUJ9GQWJULyWyH1k60tuDKf4TutwPdGcsEElTphlpTKWE4nKlwCri5dNe4mG2g16qi4T5dBXrNnxtn6SK49Sfw30VVk83qZqyV4heu5+AiV+088IllOiUOZpGy2xNJQi8mXeZbWa/Wc+PAdghXOyU3lm6MVHkWMRWSPYACAAgAIAPCIAIbFNn0mar1WjxxT5kZRUuZVa/AZqb1uOY/KKJUdjJPS/9WV58NeU/SU79E44EdU34WI0HZqOyIzjvx3LI5RXFain2PuiZw7adxZamTlP+JLKlD2lScy+F/CEt+x4PjU15M30bSnysg/NfYkztDS/48vztGB6C2Dxu/DA3ipTWUn8BpU7V0y7nLnkisfabD2xetFbLjjBZHT2S6ELP2onzZ8iRIlhOmmBSz9Zgt+sQo0BAudb7o2U6GOUpPJfPRuFUrJ9EaTh+CJLOY9ZuZ1h7CuMFuxWEIG2+ZKgRM8CAClelfD89C0wDrSXSYPxZW/ZcnwjPqY5rGeybNzUpd+H1Rn6VNwDzF/OFe8dmogZ0eZJbgjOYMpU8ffwPnHjeVgJV5Q0kTWGlz539hjDNIwtdx7KmOePsH5Rnko9iOEOUVuLEeQiGM+yiuUkhOsrJKrZppFza0sgsey6g29nfGvS6PUymnGvP/ty+gu1OspjHDnjy5/sM6fKb9FLyL9Ym8w+JuF7xrHU6fZ1smpaiW9jlFcIr3CO7aKUXClYXV82yToqbKIdxhgUOY+DxPBHeLLgdB01HPAHWD5l+8qA28QSPGMls9y2L8C+C3oMqjT4tfEgmIT6wKDGHWa2vTR48ZPku/wBkMNDobNVL1eEVzfRfd+BH0JMx+kbcPUHvMV6Kqyf+e72ny8F4Fmvurh/+en2Vz8X4+RKMocZSbcQRvDDUEdohjgWZHNRL+UU2Yj5yVe47v0i92mYd3bC+yG5LBrhLeWSt4UGE15SGzm0+SeU6Tr7QNYrJG64JiC1EiVPXQTED24gkaqe0G48IAH0ABAAQAEABAAQAEABAB4RAA2nYfLbeoMAGabdU8r5TkVRaWoH6zdY+wr5Qv1Nj38HU7H00XRvtc2/2IDIg4CMu+xwqI9gDAbgI83ixVpdB1smufFaXkomMf9N7e3LF2m42IW7Xe7pZe75o2qGpxgQAEAETtbIz0VUvORMt35Db22iFnsvyNGllu3wfivmYZRTfm17oRN8T6LBLdFS8RyS4HOeAMls2a2bWqk9IN4Yq3eLH3MIaaauuytb0UcZtedtGqe5JpPD5/nUjNt9mOhWSg9aY5/Ci3PtKxphTXBYihTPUWzeZSZX8J2eWY4B1Gax7l9b2AxaklyKW88yXxPD1ScFsOol/1nJv7B+1G7TQ9XeMmonxweyzaNaTMzY/Q33RaVNknRYQZyFpLozL66FgrL277FdDqbRRO5QliS8mWxhvxzFi2H7XyaOWZaMk1i2Zm64UEhRZbKSw036b4hZpp2vefAnXqIwWFxIGtxCTNDTEBQliTYkpqbmwZAR5kcIVa/aP9J/ijxn8vMdbM2U9Z/ln6sO/fwX3K9Mm9K+S4CjU3IBt4neYXbO0k9Ta7rePfxfbyGm1ddDS1Kinh2XZd/MmPUXdYDy8I6rByG9xH9FhFU4V1l2Q2IdiqrZuN2OoseEVysguGS1QbHmBh1dmZCFNgbiwLLobc7iwv2Rm1OHjHMtoTTZXcZl/JquS43S52XvW9vapjIaDUdgGyrU0/CRUvl+5OAmjwvMceEAFqgAIACAAgAIACAAgAIACAAgAxfaupvWTz/1Cv4er8IS6iebGd/syvd0la8PnxIgzYp3jfunBmR5k93Sb9HWuKJ2SX+A+MbNF7Yi29/43vX1NnhqcaEABAA1xRbyZo5y2HmpjyXInXwmvNHztQP8ANr3QglzPpEHwFy8eYPcnJeDB5k0v0QT7pUJydG/EpH8EMtA+Ekct+oY+vXLwa+D/AJD0hdatp1+rImt5sg+EbznStbJreXm+y5/FcfxGABtjMy0+Ze+rAAbyeogAAGphtpor0a/Oorvb9I1+ckQkzGBfKOqftD4cI1KrgUttCi1DmwYk30A7eQAiawiiaciwnCJ0ilmzWRpZmhZK30bK5LPdd4uJYXX6xil2wsmoxeccfsSVc64OcljOF9xlgeyU2egmaKrTBLQNcB2sxYkjcoCnhqdIx6++aj6Op4k+b7eXiMdn11ufpLY70V05Zfj4DTaajmSJvQPluLWyG6tcacB5W0jlIbOk71Wnlvr9zs57XrWldsluqPDHj0SLlsXIoZdFmrJchnExlzPLVnfRWsosSbZ7dmkdM9NOlqunOMI43+sjenbfjOWRW0GOyBdaOikS7j9I0tc3gi6DxJ7o2V6afOyT+Jkerrf/ABxwVhsZmZVRpeY5cszMFIYBrrkAX5vSwOU8Li0X+hWcp/n1J+m4Etgc/PUBrAFy7FRoBm1sNTpcDjGXVQxVjyLKLN6zgd+kiXZc3bLP7CwqGJc/R/UlqyrHAyKV/ErOU/uiAC+wAEABAAQAEABAAQAEABAAQAYTtIbVdQP+tM9rmEN3/JLzZ9E0Ml/S1/8AqvkRmeKzVk8zwHmSxejI/wD9Nf8AIf3rG3Re2I9vf+N719TaIanHBAAQAN8Q/RTPuN+6YjLkTr9teZ820jWRe6ET5s+iJihmR4e7xyZkekcmlehjU1R4fND/AOWN+h/2931Oc/UDz6Nef0JTa+TfEaYfXp56+IykfGGBzhVdiBeUy8VMxfFQSPcIAIvaelylZ3SLe6tku+e6dW91HV1U6kiHOhlvQ3Me/oLNRFRs3m+fTqS2KC1KVzmjpzfKJvz1RVDmDmuqEcgF14gx5X/yZxvPw4KJOT9Xsvi2c7PbSJSqvR0coNbV2Zmf8RGncLCPbtM7Hxm/gZ46mNfsxRPysafFL0rSejXR2mo9zLyHfYrbXVf1r8DGaVS03rqXHt+Muja9V6jjw7/iHW0WNSZMpZa2WTLsqqBcuV3BQd/P2nnGJKVku7ZubhXHskUeSj1U4zMgzWyoi8FFzcndfUknQe+GdGnhR675vr9BPq9VZfiuPLmkWKvwlDIl9DNSYZYbpEU9a7G7MgOrLoBu3KDEq7mpvfTWeRVZVF1x3JJ45rzILoY15MWRnXpuHjHhdU+o62ap7zr8l95A9xMY9a8V48RjoVmzPgdelBtFXizqv4UAPthSNy0ejBb1Va/AS6eV4oJhP74gA0aAAgAIACAAgAIACAAgAIACADD9v5Jl188cGKuO5kW/7WaE2qji1nc7Jt3tJDwyvg39MFdMyM+Bhk5MyPTzeLL6NJlsSlfalzF/ZLfwxq0bxZgU7bWdK34o2+GxxoQAEADLG5mWnnNylOfJDEZ+yyylZsivFHzYjWAHYIRdT6BKXE8MyDBDeOTMj083jYfQvTEUs2Yf7SdYdoRFHvLDwhno44g2cxtuzeujHsvm/wD4SPpAPRPR1XCTUKH+5OGQ+F2B8I1iYqOEL8nxGqpzuz9Kg5q2pt4EQAe7R0FieIU270fVT3Xv+MQw0FmG4+8XbQhwU0QT0oJDNckAKLkmwUWUC/AAQ0TwsIVuxvmxWXTliFUEsxAAG8k6ACISaiss8inJ4RaKqtl0Ej5PL6859ZpX6TfVvwlruvx15m6mW9qLOHIdR3NLXx5lclVUzNnfI5P0XRHQD6qhgco7Rr2xvr00IrC59xbZq5zfh2L5tCZIw9ZlOiS1mslwoC3BuSrW32II8IyUKfp8TecZNep3HpswWE8cimyDm4boZsRyW6xXo48IkfUSybMRYHdHqNMY7qLJsjh3VLnQHU/dW9v4/ZCrXWZkoroOdBXiDk+pUNtKvpa5E4S+u3eTcxiN5oXogpj8kmzyNaiezj7qWRfCyX8YAL3AAQAEABAAQAEABAAQAEABABl3pjw0gyakDQgyn8LsnvmeyF+thykdHsHUcJUvzXyf0M0MyMB0O8cmZBg83id2DqQuIUrH/EK/6qMg9rRfp3i1GLaK39JNeHyeT6BhwcSEABABA7eVHR4fVHdeUyDvmdQe1hFVzxWzZs+G/qYLxz8OJ86zZmp8vKE6XA7KcuImZkS3SveOc8eqJ5vH0psdhXyWjkSSLMqAv99+s/7TGG9cN2KRx2ru9NdKfd8PLoK7UYWKmlmyT9NCPHgR2xMzmN4niDlaest8/SH5PVLxOTQN3FT7RABoKSkqpCulmutx9pDwvzHsIXlEoycXvIjOKlFplSqqMoxU94PMfnpqOBBh5VarI5Rzl9UqpOLClqjKuZQzTiLBvoylOhY83a9gOAP2oouTuluLl18TRTKNEd9+0+XgNpdNYkklmOpY7yf64RphCMFhGSy2U3mQp0UTIZFZOLu9OadELjplKG4UE5Wzqt9+9Db7RiLojGz0knjhx/bBqhKUqnX45X75E8JnK+q8eHEROcHF4ZisHdToLcTEERiupzR0TTWC6kDeeQPAdp1t4ncDFV9qqjk26emV08dOpacbq0o6Vi1hZbkD9lR5Adw7YSNtvLOiSSWEYpLeZPmHLrOqXyL2Zjqe4C58I8PT6UwPDlp6eVIQWWWiqPAQAPoACAAgAIACAAgAIACAAgAIAIzaTCFqqaZIbTOvVP1WGqt4ECIWQ34uJfpr3RarF0/GfOFbJeVMaXMGV0YqwPAg6/8AmE0oNPDO1jZGcVKPJ8huZkGD3eFqGrKTFdfWVg6/eQhh7RHq4NPseLE04Pk00fTmH1izpaTUN1mKHXuYXHvh1F5WUcNZB1zcJc08DiPSAQAZ56ZcUCUySb6zXzEfYla/vlPIxk1ksRUe462JVm2Vr5RX7v8AjJiBMYh4eQAXb0VbOGqqxNYfNU5DtyZ/oL5jMexbcYv09e9LL5IX7R1Hoqt1c5fLr9jfRDE5kIAMl9I2EGlntVKt5E4ZKheFuD9449ndABD7FbQfI5vyea3zDm8qZwW/A9hgA0nEsLSetwNd9h+8p8uw6X1AItptlW8r4FF+njdHD9z7FSmUDSTu0vYkDQ34Ebwew9/bDaq6Fi4fARX0W1S9bl3Eml3MaDJvHE2RdSBxBHmI9Tw8hkQwecFl9HNlSZiLMJs7dHNl5guZpbA3t1eGt1ESvg3Leg2njosp+DNNNyUd2STWerw14oTw2nCvMZL9GXPR33lQxy38Le2JWN7qUufXzM8mnJ45EzJoGmsLAgHja9+eQcfcOJEYbdRCpY6mnTaOy3y7lnp6WXSyy7kDKL6nQcyx4nt8BCmyyVksyOgqpjVHdiYvt1tWaybZSRJQ6faP1j8IrLS3+hrZgu/y2atgBlkg8jvfx93fABsUABAAQAEABAAQAEABAAQAEABAAQAZz6U9ijUKaqnW85B11G+Yo3EDi49o04ARl1FO96yG2zdd6N+im/VfJ9v4ZiZjCdC8gDAeI1b0XbbJLQU1QwVL3luTZVLG5RzwF7kHdqRyjTpr1H1Je4WbU0Lt/wA9Sy/9l18zWlYEXGojec4McZxqRSyzMnOFHAfSY8kXex7ohOcYLMi6jT2Xy3a1n86nz5tltC9ZUNMbQeqq3vkRb5VvxNySe0wrnN2S3n7jrqaI6apVR59X3ZX48JEls/gk2rnLJkrdjvJ9VF4s54AfkN5EShBzeEVXXQpg5z5fPwR9G7N4HLo5CyZW5dWbi7H1mbtPsAA4QzhBQWEcpffK6xzkSkTKQgAa4lQrOlsjgEEQAYJths09CzKVLUxNwRqZV/4PdAA52S27mUmWXOvNkfRYHrIOw8R2QAaxh2I01YmaW6vpvXRh2Mvw1EeptcjxpNYYhU7Mg6oQe45TrzFiPICNMNZZHxMNmzqZ8uHkMH2bmA/T/Cp9of4RoWv7xMstk9pfsKUGzrLMV2Qtl4FUF9CLZs5sNeURs1zlBxS/csq2YoTU2846Y8B7T7Nqpu2VRwBOcjsFwF9hiiertlwyaKtBTXxxnzEMb2lpKFTmYZ7bvWmN4cPG3dGY24S5GPbW7Xz64kay5INwl9/a54wHgvsDsO9bMV5gIkA31+n/APX3wHp9CUdMstFRBZVFgIAFoACAAgAIACAAgAIACAAgAIACAAgA8MAGc7e7AyagtOkMsqdvYHRJh5m3qt2jfx5xmtoUuMeY00W0nUtyzjH91914GP1mGTJTFZilWH9aEaEdojBJOLxI6GqcLVvVvKEklkaiI5yWxUk8okKXFqiWMsubNQckmTEHkptApSXJs9lCE3mcIt+SG9TUTHOZmJY/SYlm/ExvHmcvLeT3LS3YJJeA16Ax7khuMntmtkJtW41EuXxdv4F3sfIdoi+umU/IxanW1afg3l9l9X+M3XZbAaejldHIG/13OruRxY+4bhDCFagsI5vUamd8t6fuXRE3EzOEABAAQAM8Sw5JyFXF4AMb2u9GkyUS9NYA65D6h+6foHs3QAUAvPpZmomSHB3glfJhoYALdhXpGr0ABZJwH11ufxLABYJPpWn/AEqVD3TWHsMB4E70n1bfo6ZB3zHb2LABBYntPiU4HNNElTvCDJ7TYwBkr0mhzv1Q86Yd5Fzr2sdBABe9k/Ru01hMqbZRqEHq+P1j7ID01yhoklIEQWAgAcQAEABAAQAEABAAQAEABAAQAEABAAQAEADefRI28QAV7FNhqedvLDyPvjySUlhk4WSg8xeH4FdqPRNLPqT2HeoPxjNLSVvwGVW2NTDg8S8/4GbeiSZwqU8ZbfzRX/Qx/wCzNS29PrBfFncr0SN9KpH6qH4mPVoY9WyE9u2v2YJfEkqP0VyFN2ms36o/OL4aeuPJGC7aOpt4Slw7LgWjD9mpMr1bnvi4xEtKkqu4QAKQAEABAAQAEAHjKCLEXEAEHiuy0icCCo14EAjyMAFLxD0Uyiby1K/ca37J0gAi29G89fVmzh4A+6ABWV6PKk6GdOt4CAMErQei9L3mXb77E+waQAXHC9mpEkABRp2ADyEAEyBaAD2AAgAIACAAgAIACAAgAIACAAgAIACAAgAIACAAgAIACAAgAIACAAgAIACAAgAIACAAgAIACAAgAIACAAgAIACAAgAIACAAgAIACAD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457200" y="1798637"/>
            <a:ext cx="5943600" cy="4525963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400" dirty="0" smtClean="0"/>
          </a:p>
          <a:p>
            <a:r>
              <a:rPr lang="en-US" sz="2400" b="1" dirty="0" err="1" smtClean="0"/>
              <a:t>Ada</a:t>
            </a:r>
            <a:r>
              <a:rPr lang="en-US" sz="2400" b="1" dirty="0" smtClean="0"/>
              <a:t> (1815-52) </a:t>
            </a:r>
          </a:p>
          <a:p>
            <a:pPr>
              <a:buNone/>
            </a:pPr>
            <a:r>
              <a:rPr lang="en-US" sz="2400" dirty="0" smtClean="0"/>
              <a:t>	Wrote a program for computing the Bernoulli’s sequence on the Analytical Engine </a:t>
            </a:r>
            <a:r>
              <a:rPr lang="en-US" sz="2400" i="1" dirty="0" smtClean="0"/>
              <a:t>- world’s 1st computer program </a:t>
            </a:r>
          </a:p>
          <a:p>
            <a:endParaRPr lang="en-US" sz="2400" dirty="0"/>
          </a:p>
        </p:txBody>
      </p:sp>
      <p:pic>
        <p:nvPicPr>
          <p:cNvPr id="95234" name="Picture 2" descr="https://encrypted-tbn3.gstatic.com/images?q=tbn:ANd9GcQ-0Kgu8CeSWkJ-s35q4JjD0g80K71tQPSjRANAv2cy8miz48G8fQ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0" y="2133600"/>
            <a:ext cx="2619375" cy="1743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9926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0" y="304800"/>
            <a:ext cx="6400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prstClr val="white"/>
                </a:solidFill>
              </a:rPr>
              <a:t>INTRODUCTION TO COMPUTERS</a:t>
            </a:r>
            <a:endParaRPr lang="en-US" sz="4400" b="1" dirty="0">
              <a:solidFill>
                <a:prstClr val="white"/>
              </a:solidFill>
            </a:endParaRPr>
          </a:p>
        </p:txBody>
      </p:sp>
      <p:pic>
        <p:nvPicPr>
          <p:cNvPr id="70658" name="Picture 2" descr="http://csy78.files.wordpress.com/2010/10/intro-to-compute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2286000"/>
            <a:ext cx="4775199" cy="3581400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381000" y="2514600"/>
            <a:ext cx="3733800" cy="2977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ts val="4500"/>
              </a:lnSpc>
              <a:buClr>
                <a:srgbClr val="F79646">
                  <a:lumMod val="75000"/>
                </a:srgbClr>
              </a:buClr>
            </a:pPr>
            <a:r>
              <a:rPr lang="en-US" sz="2800" b="1" dirty="0" smtClean="0">
                <a:ln w="0" cap="rnd" cmpd="thickThin">
                  <a:noFill/>
                  <a:bevel/>
                </a:ln>
                <a:solidFill>
                  <a:srgbClr val="00B0F0"/>
                </a:solidFill>
                <a:latin typeface="Tahoma" pitchFamily="34" charset="0"/>
                <a:cs typeface="Tahoma" pitchFamily="34" charset="0"/>
              </a:rPr>
              <a:t>A device that can perform computations and make logical decisions</a:t>
            </a:r>
          </a:p>
        </p:txBody>
      </p:sp>
    </p:spTree>
    <p:extLst>
      <p:ext uri="{BB962C8B-B14F-4D97-AF65-F5344CB8AC3E}">
        <p14:creationId xmlns:p14="http://schemas.microsoft.com/office/powerpoint/2010/main" val="185888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453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57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317500"/>
            <a:ext cx="9144000" cy="68453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86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453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6100" y="368300"/>
            <a:ext cx="8597900" cy="774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555"/>
              </a:lnSpc>
            </a:pPr>
            <a:r>
              <a:rPr lang="en-CA" sz="6012" b="1" smtClean="0">
                <a:solidFill>
                  <a:srgbClr val="E36C09"/>
                </a:solidFill>
                <a:latin typeface="Calibri Bold"/>
                <a:cs typeface="Calibri Bold"/>
              </a:rPr>
              <a:t>Mother</a:t>
            </a:r>
            <a:r>
              <a:rPr lang="en-CA" sz="5412" b="1" smtClean="0">
                <a:solidFill>
                  <a:srgbClr val="000000"/>
                </a:solidFill>
                <a:latin typeface="Tahoma Bold"/>
                <a:cs typeface="Tahoma Bold"/>
              </a:rPr>
              <a:t>board</a:t>
            </a:r>
          </a:p>
          <a:p>
            <a:pPr>
              <a:lnSpc>
                <a:spcPts val="6555"/>
              </a:lnSpc>
            </a:pPr>
            <a:endParaRPr lang="en-CA" sz="5729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979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152400"/>
            <a:ext cx="9144000" cy="6845300"/>
          </a:xfrm>
          <a:prstGeom prst="rect">
            <a:avLst/>
          </a:prstGeom>
        </p:spPr>
      </p:pic>
      <p:sp>
        <p:nvSpPr>
          <p:cNvPr id="4" name="TextBox 2"/>
          <p:cNvSpPr txBox="1"/>
          <p:nvPr/>
        </p:nvSpPr>
        <p:spPr>
          <a:xfrm>
            <a:off x="546100" y="330200"/>
            <a:ext cx="8597900" cy="774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900"/>
              </a:lnSpc>
            </a:pPr>
            <a:r>
              <a:rPr lang="en-CA" sz="6012" b="1" smtClean="0">
                <a:solidFill>
                  <a:srgbClr val="E36C09"/>
                </a:solidFill>
                <a:latin typeface="Calibri Bold Italic"/>
                <a:cs typeface="Calibri Bold Italic"/>
              </a:rPr>
              <a:t>Input</a:t>
            </a:r>
          </a:p>
          <a:p>
            <a:pPr>
              <a:lnSpc>
                <a:spcPts val="6900"/>
              </a:lnSpc>
            </a:pPr>
            <a:endParaRPr lang="en-CA" sz="600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6100" y="1206500"/>
            <a:ext cx="8597900" cy="914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320"/>
              </a:lnSpc>
            </a:pPr>
            <a:r>
              <a:rPr lang="en-CA" sz="4812" b="1" smtClean="0">
                <a:solidFill>
                  <a:srgbClr val="000000"/>
                </a:solidFill>
                <a:latin typeface="Tahoma Bold"/>
                <a:cs typeface="Tahoma Bold"/>
              </a:rPr>
              <a:t>devices</a:t>
            </a:r>
          </a:p>
          <a:p>
            <a:pPr>
              <a:lnSpc>
                <a:spcPts val="4320"/>
              </a:lnSpc>
            </a:pPr>
            <a:endParaRPr lang="en-CA" sz="4802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-1524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63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45300"/>
          </a:xfrm>
          <a:prstGeom prst="rect">
            <a:avLst/>
          </a:prstGeom>
        </p:spPr>
      </p:pic>
      <p:sp>
        <p:nvSpPr>
          <p:cNvPr id="4" name="TextBox 2"/>
          <p:cNvSpPr txBox="1"/>
          <p:nvPr/>
        </p:nvSpPr>
        <p:spPr>
          <a:xfrm>
            <a:off x="469900" y="330200"/>
            <a:ext cx="8674100" cy="774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900"/>
              </a:lnSpc>
            </a:pPr>
            <a:r>
              <a:rPr lang="en-CA" sz="6012" b="1" smtClean="0">
                <a:solidFill>
                  <a:srgbClr val="E36C09"/>
                </a:solidFill>
                <a:latin typeface="Calibri Bold Italic"/>
                <a:cs typeface="Calibri Bold Italic"/>
              </a:rPr>
              <a:t>Processing</a:t>
            </a:r>
          </a:p>
          <a:p>
            <a:pPr>
              <a:lnSpc>
                <a:spcPts val="6900"/>
              </a:lnSpc>
            </a:pPr>
            <a:endParaRPr lang="en-CA" sz="600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69900" y="1206500"/>
            <a:ext cx="8674100" cy="914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320"/>
              </a:lnSpc>
            </a:pPr>
            <a:r>
              <a:rPr lang="en-CA" sz="4812" b="1" smtClean="0">
                <a:solidFill>
                  <a:srgbClr val="000000"/>
                </a:solidFill>
                <a:latin typeface="Tahoma Bold"/>
                <a:cs typeface="Tahoma Bold"/>
              </a:rPr>
              <a:t>devices</a:t>
            </a:r>
          </a:p>
          <a:p>
            <a:pPr>
              <a:lnSpc>
                <a:spcPts val="4320"/>
              </a:lnSpc>
            </a:pPr>
            <a:endParaRPr lang="en-CA" sz="4802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19800" y="6550223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 smtClean="0">
                <a:solidFill>
                  <a:prstClr val="white"/>
                </a:solidFill>
              </a:rPr>
              <a:t>Quratulain Shafi</a:t>
            </a:r>
            <a:endParaRPr lang="en-US" sz="14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45300"/>
          </a:xfrm>
          <a:prstGeom prst="rect">
            <a:avLst/>
          </a:prstGeom>
        </p:spPr>
      </p:pic>
      <p:sp>
        <p:nvSpPr>
          <p:cNvPr id="9" name="TextBox 2"/>
          <p:cNvSpPr txBox="1"/>
          <p:nvPr/>
        </p:nvSpPr>
        <p:spPr>
          <a:xfrm>
            <a:off x="469900" y="330200"/>
            <a:ext cx="8674100" cy="774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900"/>
              </a:lnSpc>
            </a:pPr>
            <a:r>
              <a:rPr lang="en-CA" sz="6012" b="1" smtClean="0">
                <a:solidFill>
                  <a:srgbClr val="E36C09"/>
                </a:solidFill>
                <a:latin typeface="Calibri Bold Italic"/>
                <a:cs typeface="Calibri Bold Italic"/>
              </a:rPr>
              <a:t>Memory</a:t>
            </a:r>
          </a:p>
          <a:p>
            <a:pPr>
              <a:lnSpc>
                <a:spcPts val="6900"/>
              </a:lnSpc>
            </a:pPr>
            <a:endParaRPr lang="en-CA" sz="600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69900" y="1206500"/>
            <a:ext cx="8674100" cy="914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320"/>
              </a:lnSpc>
            </a:pPr>
            <a:r>
              <a:rPr lang="en-CA" sz="4812" b="1" smtClean="0">
                <a:solidFill>
                  <a:srgbClr val="000000"/>
                </a:solidFill>
                <a:latin typeface="Tahoma Bold"/>
                <a:cs typeface="Tahoma Bold"/>
              </a:rPr>
              <a:t>devices</a:t>
            </a:r>
          </a:p>
          <a:p>
            <a:pPr>
              <a:lnSpc>
                <a:spcPts val="4320"/>
              </a:lnSpc>
            </a:pPr>
            <a:endParaRPr lang="en-CA" sz="480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46100" y="2578100"/>
            <a:ext cx="8597900" cy="6858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140"/>
              </a:lnSpc>
            </a:pPr>
            <a:r>
              <a:rPr lang="en-CA" sz="3610" b="1" smtClean="0">
                <a:solidFill>
                  <a:srgbClr val="919191"/>
                </a:solidFill>
                <a:latin typeface="Tahoma Bold"/>
                <a:cs typeface="Tahoma Bold"/>
              </a:rPr>
              <a:t>RAM:</a:t>
            </a:r>
          </a:p>
          <a:p>
            <a:pPr>
              <a:lnSpc>
                <a:spcPts val="4140"/>
              </a:lnSpc>
            </a:pPr>
            <a:endParaRPr lang="en-CA" sz="360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46100" y="3111500"/>
            <a:ext cx="85979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202" b="1" smtClean="0">
                <a:solidFill>
                  <a:srgbClr val="622422"/>
                </a:solidFill>
                <a:latin typeface="Tahoma Bold"/>
                <a:cs typeface="Tahoma Bold"/>
              </a:rPr>
              <a:t>Volatile memory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70700" y="5168900"/>
            <a:ext cx="2273300" cy="6858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140"/>
              </a:lnSpc>
            </a:pPr>
            <a:r>
              <a:rPr lang="en-CA" sz="3610" b="1" smtClean="0">
                <a:solidFill>
                  <a:srgbClr val="919191"/>
                </a:solidFill>
                <a:latin typeface="Tahoma Bold"/>
                <a:cs typeface="Tahoma Bold"/>
              </a:rPr>
              <a:t>ROM:</a:t>
            </a:r>
          </a:p>
          <a:p>
            <a:pPr>
              <a:lnSpc>
                <a:spcPts val="4140"/>
              </a:lnSpc>
            </a:pPr>
            <a:endParaRPr lang="en-CA" sz="3600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870700" y="5702300"/>
            <a:ext cx="22733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CA" sz="2410" b="1" smtClean="0">
                <a:solidFill>
                  <a:srgbClr val="622422"/>
                </a:solidFill>
                <a:latin typeface="Tahoma Bold"/>
                <a:cs typeface="Tahoma Bold"/>
              </a:rPr>
              <a:t>Non-volatile</a:t>
            </a:r>
          </a:p>
          <a:p>
            <a:pPr>
              <a:lnSpc>
                <a:spcPts val="2760"/>
              </a:lnSpc>
            </a:pPr>
            <a:endParaRPr lang="en-CA" sz="2400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870700" y="6057900"/>
            <a:ext cx="22733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CA" sz="2412" b="1" smtClean="0">
                <a:solidFill>
                  <a:srgbClr val="622422"/>
                </a:solidFill>
                <a:latin typeface="Tahoma Bold"/>
                <a:cs typeface="Tahoma Bold"/>
              </a:rPr>
              <a:t>memory</a:t>
            </a:r>
          </a:p>
          <a:p>
            <a:pPr>
              <a:lnSpc>
                <a:spcPts val="2760"/>
              </a:lnSpc>
            </a:pPr>
            <a:endParaRPr lang="en-CA" sz="2402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94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152400"/>
            <a:ext cx="9144000" cy="6845300"/>
          </a:xfrm>
          <a:prstGeom prst="rect">
            <a:avLst/>
          </a:prstGeom>
        </p:spPr>
      </p:pic>
      <p:sp>
        <p:nvSpPr>
          <p:cNvPr id="11" name="TextBox 2"/>
          <p:cNvSpPr txBox="1"/>
          <p:nvPr/>
        </p:nvSpPr>
        <p:spPr>
          <a:xfrm>
            <a:off x="469900" y="330200"/>
            <a:ext cx="3467100" cy="1016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900"/>
              </a:lnSpc>
            </a:pPr>
            <a:r>
              <a:rPr lang="en-CA" sz="6012" b="1" smtClean="0">
                <a:solidFill>
                  <a:srgbClr val="E36C09"/>
                </a:solidFill>
                <a:latin typeface="Calibri Bold Italic"/>
                <a:cs typeface="Calibri Bold Italic"/>
              </a:rPr>
              <a:t>Storage</a:t>
            </a:r>
          </a:p>
          <a:p>
            <a:pPr>
              <a:lnSpc>
                <a:spcPts val="6900"/>
              </a:lnSpc>
            </a:pPr>
            <a:endParaRPr lang="en-CA" sz="600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69900" y="1206500"/>
            <a:ext cx="3467100" cy="1028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300"/>
              </a:lnSpc>
            </a:pPr>
            <a:r>
              <a:rPr lang="en-CA" sz="4812" b="1" smtClean="0">
                <a:solidFill>
                  <a:srgbClr val="000000"/>
                </a:solidFill>
                <a:latin typeface="Tahoma Bold"/>
                <a:cs typeface="Tahoma Bold"/>
              </a:rPr>
              <a:t>devices</a:t>
            </a:r>
          </a:p>
          <a:p>
            <a:pPr>
              <a:lnSpc>
                <a:spcPts val="4320"/>
              </a:lnSpc>
            </a:pPr>
            <a:endParaRPr lang="en-CA" sz="480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35000" y="5372100"/>
            <a:ext cx="3302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02" smtClean="0">
                <a:solidFill>
                  <a:srgbClr val="FFFFFF"/>
                </a:solidFill>
                <a:cs typeface="Calibri"/>
              </a:rPr>
              <a:t>IDE - Integrated</a:t>
            </a:r>
          </a:p>
          <a:p>
            <a:pPr>
              <a:lnSpc>
                <a:spcPts val="2760"/>
              </a:lnSpc>
            </a:pPr>
            <a:endParaRPr lang="en-CA" sz="2402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96900" y="5740400"/>
            <a:ext cx="33401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00" smtClean="0">
                <a:solidFill>
                  <a:srgbClr val="FFFFFF"/>
                </a:solidFill>
                <a:cs typeface="Calibri"/>
              </a:rPr>
              <a:t>Drive Electronics</a:t>
            </a:r>
          </a:p>
          <a:p>
            <a:pPr>
              <a:lnSpc>
                <a:spcPts val="2760"/>
              </a:lnSpc>
            </a:pPr>
            <a:endParaRPr lang="en-CA" sz="2400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051300" y="279400"/>
            <a:ext cx="5054600" cy="927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CA" sz="4404" b="1" smtClean="0">
                <a:solidFill>
                  <a:srgbClr val="919191"/>
                </a:solidFill>
                <a:latin typeface="Tahoma Bold"/>
                <a:cs typeface="Tahoma Bold"/>
              </a:rPr>
              <a:t>Magnetic storage</a:t>
            </a:r>
            <a:r>
              <a:rPr lang="en-CA" sz="4020" b="1" smtClean="0">
                <a:solidFill>
                  <a:srgbClr val="919191"/>
                </a:solidFill>
                <a:latin typeface="Tahoma Bold"/>
                <a:cs typeface="Tahoma Bold"/>
              </a:rPr>
              <a:t>:</a:t>
            </a:r>
          </a:p>
          <a:p>
            <a:pPr>
              <a:lnSpc>
                <a:spcPts val="5060"/>
              </a:lnSpc>
            </a:pPr>
            <a:endParaRPr lang="en-CA" sz="4371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051300" y="952500"/>
            <a:ext cx="5054600" cy="863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CA" sz="4020" b="1" smtClean="0">
                <a:solidFill>
                  <a:srgbClr val="0F243E"/>
                </a:solidFill>
                <a:latin typeface="Tahoma Bold"/>
                <a:cs typeface="Tahoma Bold"/>
              </a:rPr>
              <a:t>Hard disks</a:t>
            </a:r>
          </a:p>
          <a:p>
            <a:pPr>
              <a:lnSpc>
                <a:spcPts val="4600"/>
              </a:lnSpc>
            </a:pPr>
            <a:endParaRPr lang="en-CA" sz="4010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051300" y="1663700"/>
            <a:ext cx="5054600" cy="660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700"/>
              </a:lnSpc>
            </a:pPr>
            <a:r>
              <a:rPr lang="en-CA" sz="3204" b="1" smtClean="0">
                <a:solidFill>
                  <a:srgbClr val="622422"/>
                </a:solidFill>
                <a:latin typeface="Tahoma Bold"/>
                <a:cs typeface="Tahoma Bold"/>
              </a:rPr>
              <a:t>Non-volatile memory</a:t>
            </a:r>
          </a:p>
          <a:p>
            <a:pPr>
              <a:lnSpc>
                <a:spcPts val="3680"/>
              </a:lnSpc>
            </a:pPr>
            <a:endParaRPr lang="en-CA" sz="3194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753100" y="5524500"/>
            <a:ext cx="33528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02" smtClean="0">
                <a:solidFill>
                  <a:srgbClr val="FFFFFF"/>
                </a:solidFill>
                <a:cs typeface="Calibri"/>
              </a:rPr>
              <a:t>SCSI - Small Computer</a:t>
            </a:r>
          </a:p>
          <a:p>
            <a:pPr>
              <a:lnSpc>
                <a:spcPts val="2760"/>
              </a:lnSpc>
            </a:pPr>
            <a:endParaRPr lang="en-CA" sz="2402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057900" y="5892800"/>
            <a:ext cx="3048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00" smtClean="0">
                <a:solidFill>
                  <a:srgbClr val="FFFFFF"/>
                </a:solidFill>
                <a:cs typeface="Calibri"/>
              </a:rPr>
              <a:t>Systems Interface</a:t>
            </a:r>
          </a:p>
          <a:p>
            <a:pPr>
              <a:lnSpc>
                <a:spcPts val="2760"/>
              </a:lnSpc>
            </a:pPr>
            <a:endParaRPr lang="en-CA" sz="2400">
              <a:solidFill>
                <a:srgbClr val="0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56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45300"/>
          </a:xfrm>
          <a:prstGeom prst="rect">
            <a:avLst/>
          </a:prstGeom>
        </p:spPr>
      </p:pic>
      <p:sp>
        <p:nvSpPr>
          <p:cNvPr id="7" name="TextBox 2"/>
          <p:cNvSpPr txBox="1"/>
          <p:nvPr/>
        </p:nvSpPr>
        <p:spPr>
          <a:xfrm>
            <a:off x="469900" y="330200"/>
            <a:ext cx="3619500" cy="1016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900"/>
              </a:lnSpc>
            </a:pPr>
            <a:r>
              <a:rPr lang="en-CA" sz="6012" b="1" smtClean="0">
                <a:solidFill>
                  <a:srgbClr val="E36C09"/>
                </a:solidFill>
                <a:latin typeface="Calibri Bold Italic"/>
                <a:cs typeface="Calibri Bold Italic"/>
              </a:rPr>
              <a:t>Storage</a:t>
            </a:r>
          </a:p>
          <a:p>
            <a:pPr>
              <a:lnSpc>
                <a:spcPts val="6900"/>
              </a:lnSpc>
            </a:pPr>
            <a:endParaRPr lang="en-CA" sz="600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69900" y="1206500"/>
            <a:ext cx="3619500" cy="1028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300"/>
              </a:lnSpc>
            </a:pPr>
            <a:r>
              <a:rPr lang="en-CA" sz="4812" b="1" smtClean="0">
                <a:solidFill>
                  <a:srgbClr val="000000"/>
                </a:solidFill>
                <a:latin typeface="Tahoma Bold"/>
                <a:cs typeface="Tahoma Bold"/>
              </a:rPr>
              <a:t>devices</a:t>
            </a:r>
          </a:p>
          <a:p>
            <a:pPr>
              <a:lnSpc>
                <a:spcPts val="4320"/>
              </a:lnSpc>
            </a:pPr>
            <a:endParaRPr lang="en-CA" sz="480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203700" y="279400"/>
            <a:ext cx="4826000" cy="9271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5000"/>
              </a:lnSpc>
            </a:pPr>
            <a:r>
              <a:rPr lang="en-CA" sz="4404" b="1" smtClean="0">
                <a:solidFill>
                  <a:srgbClr val="919191"/>
                </a:solidFill>
                <a:latin typeface="Tahoma Bold"/>
                <a:cs typeface="Tahoma Bold"/>
              </a:rPr>
              <a:t>Optical storage:</a:t>
            </a:r>
          </a:p>
          <a:p>
            <a:pPr>
              <a:lnSpc>
                <a:spcPts val="5060"/>
              </a:lnSpc>
            </a:pPr>
            <a:endParaRPr lang="en-CA" sz="4394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203700" y="952500"/>
            <a:ext cx="4826000" cy="8636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CA" sz="4020" b="1" smtClean="0">
                <a:solidFill>
                  <a:srgbClr val="0F243E"/>
                </a:solidFill>
                <a:latin typeface="Tahoma Bold"/>
                <a:cs typeface="Tahoma Bold"/>
              </a:rPr>
              <a:t>CD/ DVD</a:t>
            </a:r>
          </a:p>
          <a:p>
            <a:pPr>
              <a:lnSpc>
                <a:spcPts val="4600"/>
              </a:lnSpc>
            </a:pPr>
            <a:endParaRPr lang="en-CA" sz="4010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203700" y="1663700"/>
            <a:ext cx="4826000" cy="660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700"/>
              </a:lnSpc>
            </a:pPr>
            <a:r>
              <a:rPr lang="en-CA" sz="3204" b="1" smtClean="0">
                <a:solidFill>
                  <a:srgbClr val="622422"/>
                </a:solidFill>
                <a:latin typeface="Tahoma Bold"/>
                <a:cs typeface="Tahoma Bold"/>
              </a:rPr>
              <a:t>Non-volatile memory</a:t>
            </a:r>
          </a:p>
          <a:p>
            <a:pPr>
              <a:lnSpc>
                <a:spcPts val="3680"/>
              </a:lnSpc>
            </a:pPr>
            <a:endParaRPr lang="en-CA" sz="3194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41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45300"/>
          </a:xfrm>
          <a:prstGeom prst="rect">
            <a:avLst/>
          </a:prstGeom>
        </p:spPr>
      </p:pic>
      <p:sp>
        <p:nvSpPr>
          <p:cNvPr id="4" name="TextBox 2"/>
          <p:cNvSpPr txBox="1"/>
          <p:nvPr/>
        </p:nvSpPr>
        <p:spPr>
          <a:xfrm>
            <a:off x="546100" y="330200"/>
            <a:ext cx="8597900" cy="774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900"/>
              </a:lnSpc>
            </a:pPr>
            <a:r>
              <a:rPr lang="en-CA" sz="6012" b="1" smtClean="0">
                <a:solidFill>
                  <a:srgbClr val="E36C09"/>
                </a:solidFill>
                <a:latin typeface="Calibri Bold Italic"/>
                <a:cs typeface="Calibri Bold Italic"/>
              </a:rPr>
              <a:t>Output</a:t>
            </a:r>
          </a:p>
          <a:p>
            <a:pPr>
              <a:lnSpc>
                <a:spcPts val="6900"/>
              </a:lnSpc>
            </a:pPr>
            <a:endParaRPr lang="en-CA" sz="600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6100" y="1206500"/>
            <a:ext cx="8597900" cy="914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320"/>
              </a:lnSpc>
            </a:pPr>
            <a:r>
              <a:rPr lang="en-CA" sz="4812" b="1" smtClean="0">
                <a:solidFill>
                  <a:srgbClr val="000000"/>
                </a:solidFill>
                <a:latin typeface="Tahoma Bold"/>
                <a:cs typeface="Tahoma Bold"/>
              </a:rPr>
              <a:t>devices</a:t>
            </a:r>
          </a:p>
          <a:p>
            <a:pPr>
              <a:lnSpc>
                <a:spcPts val="4320"/>
              </a:lnSpc>
            </a:pPr>
            <a:endParaRPr lang="en-CA" sz="4802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16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45300"/>
          </a:xfrm>
          <a:prstGeom prst="rect">
            <a:avLst/>
          </a:prstGeom>
        </p:spPr>
      </p:pic>
      <p:sp>
        <p:nvSpPr>
          <p:cNvPr id="4" name="TextBox 2"/>
          <p:cNvSpPr txBox="1"/>
          <p:nvPr/>
        </p:nvSpPr>
        <p:spPr>
          <a:xfrm>
            <a:off x="622300" y="330200"/>
            <a:ext cx="8521700" cy="774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900"/>
              </a:lnSpc>
            </a:pPr>
            <a:r>
              <a:rPr lang="en-CA" sz="6012" b="1" smtClean="0">
                <a:solidFill>
                  <a:srgbClr val="E36C09"/>
                </a:solidFill>
                <a:latin typeface="Calibri Bold Italic"/>
                <a:cs typeface="Calibri Bold Italic"/>
              </a:rPr>
              <a:t>Communication</a:t>
            </a:r>
          </a:p>
          <a:p>
            <a:pPr>
              <a:lnSpc>
                <a:spcPts val="6900"/>
              </a:lnSpc>
            </a:pPr>
            <a:endParaRPr lang="en-CA" sz="600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22300" y="1206500"/>
            <a:ext cx="8521700" cy="914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320"/>
              </a:lnSpc>
            </a:pPr>
            <a:r>
              <a:rPr lang="en-CA" sz="4812" b="1" smtClean="0">
                <a:solidFill>
                  <a:srgbClr val="000000"/>
                </a:solidFill>
                <a:latin typeface="Tahoma Bold"/>
                <a:cs typeface="Tahoma Bold"/>
              </a:rPr>
              <a:t>devices</a:t>
            </a:r>
          </a:p>
          <a:p>
            <a:pPr>
              <a:lnSpc>
                <a:spcPts val="4320"/>
              </a:lnSpc>
            </a:pPr>
            <a:endParaRPr lang="en-CA" sz="4802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47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152400"/>
            <a:ext cx="89154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0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45300"/>
          </a:xfrm>
          <a:prstGeom prst="rect">
            <a:avLst/>
          </a:prstGeom>
        </p:spPr>
      </p:pic>
      <p:sp>
        <p:nvSpPr>
          <p:cNvPr id="4" name="TextBox 2"/>
          <p:cNvSpPr txBox="1"/>
          <p:nvPr/>
        </p:nvSpPr>
        <p:spPr>
          <a:xfrm>
            <a:off x="469900" y="330200"/>
            <a:ext cx="8674100" cy="774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900"/>
              </a:lnSpc>
            </a:pPr>
            <a:r>
              <a:rPr lang="en-CA" sz="6012" b="1" smtClean="0">
                <a:solidFill>
                  <a:srgbClr val="E36C09"/>
                </a:solidFill>
                <a:latin typeface="Calibri Bold Italic"/>
                <a:cs typeface="Calibri Bold Italic"/>
              </a:rPr>
              <a:t>System</a:t>
            </a:r>
          </a:p>
          <a:p>
            <a:pPr>
              <a:lnSpc>
                <a:spcPts val="6900"/>
              </a:lnSpc>
            </a:pPr>
            <a:endParaRPr lang="en-CA" sz="600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69900" y="1219200"/>
            <a:ext cx="8674100" cy="914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5325"/>
              </a:lnSpc>
            </a:pPr>
            <a:r>
              <a:rPr lang="en-CA" sz="4812" b="1" smtClean="0">
                <a:solidFill>
                  <a:srgbClr val="000000"/>
                </a:solidFill>
                <a:latin typeface="Tahoma Bold"/>
                <a:cs typeface="Tahoma Bold"/>
              </a:rPr>
              <a:t>Software</a:t>
            </a:r>
          </a:p>
          <a:p>
            <a:pPr>
              <a:lnSpc>
                <a:spcPts val="5325"/>
              </a:lnSpc>
            </a:pPr>
            <a:endParaRPr lang="en-CA" sz="4802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2286000"/>
            <a:ext cx="8305800" cy="457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895600"/>
            <a:ext cx="7620000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0070C0"/>
                </a:solidFill>
              </a:rPr>
              <a:t>Name some other Operating Systems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pic>
        <p:nvPicPr>
          <p:cNvPr id="2027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0024" y="4800600"/>
            <a:ext cx="2541776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2759" name="AutoShape 7" descr="data:image/png;base64,iVBORw0KGgoAAAANSUhEUgAAAbgAAAByCAMAAAAWEDTnAAABF1BMVEX///8AAAD/tRXJABb/YwnGAAD5+fn/sACenp6ysrL/sgDj4+P/VADIAAAwMDCZmZmsrKzQ0NCTk5NXV1elpaX/WgBKSkr/XwD22t3/8+wiIiIQEBC6urq/v793d3fY2Njs7OxCQkLx8fHIyMiBgYGMjIxiYmJzc3M8PDz/+Oz/8dnIAAv/5r0rKyteXl4XFxf/9OLjlZn/ui1RUVH/39LyztD55+n/w1P67O3/pYL/68r/2Zn/aRX/z7v/4bD/oHn/lGnvwcT/cSj/2MjYZmz/1Ir/vDn/yGP/vaTLFCP/zXTnpqr/sJDbc3nhjZH/iFTSQEr/gEXTR1DNJTHSREzikJXPMTvXXWT/6N//15P/w63/djP/gko51QcRAAAPgElEQVR4nO1daVvbOBDGCTElJNwmBAJJOAI0sNByLLSwHKUUCvTctizd//871nbieEYzkh3bSuBZv19KI8mS/UqjOXQMDGiBeXt5k83e/Lo91PP8FHrwqZhrZm00i7l7s9+NSREWBzfFbAfF5my/25MiHA6KzSxAM5cy9yxg3iDenEGXTnTPAffFrEjcr363KUUwDnIib9lsKiyfAX6QAWcPuft+typFIH6KM5zLXL9blSIQjKS0ZWWqnjwllB/23p2cnLzbeyh3fuOmuF5McqmZHwrmu7uzi5JVKFg2CvY/g79Pr/eclL4QV1ucN4zdZa11JILlxvb8zHi/at+7+21TVSoNQpRsGh/sRJMn7kBng4aNFtZ0VpIEGq12ztX6UPfD0bFN2iCHgjvkiPmtXTmZMIznwVyj09ClXld98rtQ4lmzYV07WT5x5sClzkZtdb6HUdVZT1z4HcxY7HHVewUpa460/OzkmeUM8H2NjRrxv4exqrGe2FgDDe113aeWgrhBy1Uuf5Eh1/yis03D4Hv8obOiuJgHDR3pcd2mmjhXVh4S4vTqlNPge6zrrCguQDuNiV5Xfq1irnTs5tkXhGXuVmuTXoDvsa21pngwIXGV3tS583rH+/O3apaz7tw850Uw6Jq5c72Ng8TN660qFhBxwz2pcjOf/9P7+11BJSxdU86Wlt9yLeqaxdxPrSbcQEqcHO+HMpmhTe9/n5WK5WDb+TV7f5OzcXOpU59sISVOgo82b5nMa++/ZeWQK1103JaHB7M9cS2nxPH4M+/wlhl66/1wp9QsS4N7+tuEkBLHos2bzdyG99OgSlgOlgp32huFkBLHocNbJv/B++1EKSxt3fL4Gj7iUTORKXEMPgxlOhh66f2qNAmcQWdZZ497ZRt7j2eWpXkIpsRR/AN4y+SvvJ8fAoacy50T+LFagYTCic5GpsQRbELe7CH3l5dw2h5yJQ8BNLbNOz14LsQhl5dWz8lGPoOR91LKljumChdnp0dHR2efjwuyGF2b4GONzXwOxI2MrTUakLh6w8GqnqD9FSHuvZd0XbA+X0O9f+/uq6XgzjoLV+XE4tb8zJgszDiyum6sr4iOdUrcxOTa+rwxt74W8GEqjbntqWlpW9ZG52cmA0Ke1fGVxvqWMTc6tTi2LM27aMhQJ2tlliZnjNFFqRN6emp7rqEer2+HMiKGOi7LxzLJX74+lofrwk1zXsSK/97j7dQx/LNAXBV/JcJzB2a9XYbPsdJ+wIK8uQt/iDRMs9ytSnmzi4jPbP/Oh1pr2zK+fexQ3jK+y5LHyYXMOC8Nqku6WOm8DhfJXuik4tU2KDqwMEM+zaLkJf2cXIZJZVscjM+TqpyOwjxMwZv4+Kr/IKZKs1PljKRRA9CCg0PujbyAi2uZvLROA0ra3cl/G65dc34y+h0Sx4MdNH4/4L7Rkrottthel9VG5FhVlpPJDvodIwjGAt7JwSYz4DLAZSlD+V/JoAvWLCEDNZIKX39BVkwCbkUD1BVo6jhIpW1BtBOI/aAL4kDfNSZpraN+qnRd1GuWN2CFS3HHW3mtFSkqwE9JO9Sw7J1CEMfNGDCZdm64PoTp3OOGCg1FVQQ1mHMZJEwp2ywLGf/FD7h8MG9Sl1ghyPsMhQ/V9YCYwDyEIY6RhjCV6nBTIJUuYFWNNwfCcKgosmJhADsEXYYBl0XJlhtJBtyGJDvGHistA4ccmMQYOQGJQ2uCQhFHXRUwUU0c6UQjRhBe4AJS5urCaIbEjZJGhSCOn+HyO3xuAj5MXqAmBEJ44pAUCUecUROeB9O6JE6ql/gQhe/E8DASr4vDw8OVKjEeYhPHq5Rh5GQLjxxz1pG6kNYRR6YMmNYdceoJrgXRPBNrlJjQcYnjbDjgqgwBbgFmkC2XFHHr09WauTRSaeCfBXaiExeCN06jCeNkjkvcW2bA+fG4ULhg7LkA90lCxPmfbKQOf9/Fz4tMHFRvXSxOL1Qmd4Uf6ZDrBXGcapIPp5h44EI/pTNlkUSI20bzBhp0eN6JTFwd1+f1k6UV9Dt1uPSAuA1GUnYlKB1wwtJSlkiEOEErgB4w7OOMShy0kW2xDDxc2Eggb9CLEbfzmsjKQJeJiDJDXOGdqkQSxAl6OPrM+EtEJQ5JynlTmkRkpT7iymVfXxdDOl0PuIGBI8qcpVzEkARxxMULYwU1mBCVOBR8WJaXIkNCD3Hlu98ly7KOTz33hsBcnjwlEMwCzNJvVYEEiKMePPiySAePShw04sRvi7yS4iSnhbjTdgS7VCp8bTmDcfjbD6F2AWbNc0m1xz4B4hjzCDhmkd8rKnGw3JhYDCaKQUUNxD0cA6lWKjy6uZC3sgvb28cJlZXKEEECxKlDIShAE5E4U1luTVZMLJkIcQ9CDK3NHPSedK2aOGDUE+tRkT8B4pgANNjAi6adiMShj1cTi8FYtxhLSp64Y1Gktfz4b/whl//I1xOAr0RWKrWTBHyVzFNBSBSpLhGJg/2AVgc/vBhKSpw4qv2VLtx8vhkeQad0cESIU5rgYBN+AHGysM5cwGOhJI1IHIyYUeJgGEB0jiZNHGtvub6pf/KxpjjH1UzwVZG9Hps4+q74sVDRC08cisdBamg/gTa4aMglTRy3Obj0r5PPl5Vdurs6KFMocmsiDnCQAHHqHeeQOLExSRN3xq3uKTj5fM9XBCsuAtTEwXm/K+KAppcwcXQZEZwBxfEYhjg4noOIO2Z4a6vtvlrJV5Mw4CpFStyKLDWIOPDY8MRBHycyDidBgl7itkgqJo7jre1UjGcNdA3oyqfrsiITBwIuMuJo8GxGlqqXOLXqU0VPfzrEQWro4h7oI0Qei2n4NgyAjwpqldD4oJ+xDlLReAxPnPjhwxCnNjYgcaNPSFTCWYw6HaFTQqbnsXs+wILjGvgZjikxpoBNE+SO0UscEobEPQifvvuElBOoN9IAMlQXkPCC4oXxnMDADvxdLZjhB6zBBL3EoWAf8d/BGXBt4JEzB9yVdLHNAXOWQpEdhbNIKhRtyPEOe2mNPhVo6EiSQtFLjgBDHxn1fL3EoTxk6wv0Ea0oDPD3cQ3w2xyB6jg29NY1MVWaCHsps80HEITkLxzfZG6ETcFrhvUShw5qIwJ8DScyLq9W2Mx3eeWjubzo0ZXKgyuRgBcDNAp9CySQOAtKRb4rtEhVlEpyqa2ZuLrq8dsg0ZktyIKslmoS38lMT7IvvlLlNxSthlOcYOEAtVHty0ASFgU9RSVWnpYQcVQdagGtOBK6E+pqzruUhT3c7VV0KAYuqUeJQ3rkqPogPdjdBNsKDTjB774ivA8CDFijBPQdjRpKg+wIWwc0E4cW2wpTL5zlWxNvGe5HLFkt3uIHUm8Z4pQnV+KdmzWQglfrC3IGDipxyEEPlWBioC2QaBDj5Vq430cnDg1j2VG2+EURvWipoVf1kbd0wSp8bvmBE1i68I0eq11UXg8gbCTzDd8JnFDDxVBXxl8EFRQ0l2n0zFH/oXjFq2AbJkScuBOrAzSswNuYeNtyZzIvX38tWVbp4shbW/A69mIh5gaCoDN+t1DjjMayw7O5LGy13hWLQW0LTUlIwIofcsnAWHHF7FKljn8WxkYM4uZViR6gWmRjbrzm/FqdxD9jMQBjLgksz6PXkWWLn9RFpg0R88xGa6Lz45E66s2OVbx5gGicwt4Cp7Zt8pNRw4ViEIdkszdP10awEBK7k41t2irZgN3JxF8QS49mDnEaOm01BXPusrhwf3d1crUhvi4pFbzNzaD6Zgzi8HEQ9bHhF6t15y8cCRFWsvOQHCXBLkF/y+eVghlwwfdGkA0VDJhTEMJQwFhO8uNHfIiTcgziqDxpA3UOU5ZLVgDiihLXrduLu34gxL0R9LQLEaw+FtxNycQ4EOobkYWaMYgTVCyAGsym2njcgvz8JHabVcAZJwK4m1pCHKvNiHgMbsfggLiFhgGrzqrPQzC4rh2eOPp5pdXg7rEmzdeG/NICTlZ2Jyw5QZnNhigY8C23JPaEOacuJ3nXANHM3D8BtT4ae8KhThFSuSCMa3HKFqA46yji6TQ+GNs7WKek704wKrUDzS1VOWkfVTLH6W7QOKfrK6DwpcddSMWJOG1PyTI6UPEG/ZRQWobdvH8e5y6y2qi0zVKz1QHV7j3UFSepySce7oQYTA1zUlrdT2VOd5Mcs0FFrvz0r+2Ae5/44zJCMsfzFv5SadHa9BBwyKNsVpeej+fClEwpo5Iv5GfnplvQBk44sE2c4xbOS0Q/d1QYguREqFAH1LBysqsbdpZWqd29FeKiw2kqL7fHAi/hHGGom5EKJLMjEGpccudZ/AmAeFu6C4nbssIcyrEY4i6l6EdCfeJ56/IW9+UV2PDdsZA3w1XH4Pwwsxru8iGzsgh7eGNa9YHaQ3Sqxie3tJctaXsnVqBnoDEs71cjL6Cvb2txIdQ9sPwsF+xAOfzC8xblts2R6nKlUpmo1rortlSdWKgsdF1sZMKuzS4W/HmWlivLiodPVBbUI8OsTtjvtRyqqnbWLq4ti6ZYvipyN22GVilTxAdnywWddXJ7Ixlu2VA2XIpEwB3t67m9zFf02pyDH1k5bbrvIksBQISlH059lSv+/WrfF9GH+z9+5lhnSVtQ3vflDf6nIMfXd1aeOKtJmsVcLvvt8v7+/vJbM5eTzW0umt/7+R7/P7yRXRhx6Q2uZtGBirOWoNR9+V8KDDTN+eEB8RJUTjY6Y9AZlMV0gusHPrKXItH1koJkzBXvzw8OTfPw4PzeFqPKxZQptOCDfw1ZZ1GsxKXlC8bvaPXkecpbP9BRLTsRcFM93pqab49OERLtK+T8MCrdEYCG243W29pThIdwuS2zXBKJyY5xt/HyZcTDGlIkg7foOulfKuKaN23e3nzIDNnIfNiUPTWFfrwBF7jzQdLOgGvJyZ2rofbUmB96HW1vXYoksHHVCX1/V6kmbcV/cwj6XCKeJ5UiUShNgeaNm0eMnqfM9R/cunIw4FxDgMaDIu5ETpEc+OWSHlqbqGgE1r/POEV/sJ9TxgDcVSUvuY0H4VdkptCC8y+K+E3RlZTv498SkkIDDj59l3HX2kRFaXOGXL+bncLG7Ku/czkxCtcsFltGHLs6bCjsGugUmrF/e//TCbq1UCxmv3y6dXlj94ukeuXTwuHB7L6DgwN/6VBK3HMFT1zqbn7y4Haz9ujcxBRxwO5mjXJMSoregt35nyqVzwDUAk/t7+cBcmtgbw6YTREXG8LxNqF2Q6Z4Ati4AvNcPpNOcM8Hb/OtILj9T6pQPi9sfrQNuquPafBbF/4D4EphEquD5/4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2761" name="AutoShape 9" descr="data:image/png;base64,iVBORw0KGgoAAAANSUhEUgAAAbgAAAByCAMAAAAWEDTnAAABF1BMVEX///8AAAD/tRXJABb/YwnGAAD5+fn/sACenp6ysrL/sgDj4+P/VADIAAAwMDCZmZmsrKzQ0NCTk5NXV1elpaX/WgBKSkr/XwD22t3/8+wiIiIQEBC6urq/v793d3fY2Njs7OxCQkLx8fHIyMiBgYGMjIxiYmJzc3M8PDz/+Oz/8dnIAAv/5r0rKyteXl4XFxf/9OLjlZn/ui1RUVH/39LyztD55+n/w1P67O3/pYL/68r/2Zn/aRX/z7v/4bD/oHn/lGnvwcT/cSj/2MjYZmz/1Ir/vDn/yGP/vaTLFCP/zXTnpqr/sJDbc3nhjZH/iFTSQEr/gEXTR1DNJTHSREzikJXPMTvXXWT/6N//15P/w63/djP/gko51QcRAAAPgElEQVR4nO1daVvbOBDGCTElJNwmBAJJOAI0sNByLLSwHKUUCvTctizd//871nbieEYzkh3bSuBZv19KI8mS/UqjOXQMDGiBeXt5k83e/Lo91PP8FHrwqZhrZm00i7l7s9+NSREWBzfFbAfF5my/25MiHA6KzSxAM5cy9yxg3iDenEGXTnTPAffFrEjcr363KUUwDnIib9lsKiyfAX6QAWcPuft+typFIH6KM5zLXL9blSIQjKS0ZWWqnjwllB/23p2cnLzbeyh3fuOmuF5McqmZHwrmu7uzi5JVKFg2CvY/g79Pr/eclL4QV1ucN4zdZa11JILlxvb8zHi/at+7+21TVSoNQpRsGh/sRJMn7kBng4aNFtZ0VpIEGq12ztX6UPfD0bFN2iCHgjvkiPmtXTmZMIznwVyj09ClXld98rtQ4lmzYV07WT5x5sClzkZtdb6HUdVZT1z4HcxY7HHVewUpa460/OzkmeUM8H2NjRrxv4exqrGe2FgDDe113aeWgrhBy1Uuf5Eh1/yis03D4Hv8obOiuJgHDR3pcd2mmjhXVh4S4vTqlNPge6zrrCguQDuNiV5Xfq1irnTs5tkXhGXuVmuTXoDvsa21pngwIXGV3tS583rH+/O3apaz7tw850Uw6Jq5c72Ng8TN660qFhBxwz2pcjOf/9P7+11BJSxdU86Wlt9yLeqaxdxPrSbcQEqcHO+HMpmhTe9/n5WK5WDb+TV7f5OzcXOpU59sISVOgo82b5nMa++/ZeWQK1103JaHB7M9cS2nxPH4M+/wlhl66/1wp9QsS4N7+tuEkBLHos2bzdyG99OgSlgOlgp32huFkBLHocNbJv/B++1EKSxt3fL4Gj7iUTORKXEMPgxlOhh66f2qNAmcQWdZZ497ZRt7j2eWpXkIpsRR/AN4y+SvvJ8fAoacy50T+LFagYTCic5GpsQRbELe7CH3l5dw2h5yJQ8BNLbNOz14LsQhl5dWz8lGPoOR91LKljumChdnp0dHR2efjwuyGF2b4GONzXwOxI2MrTUakLh6w8GqnqD9FSHuvZd0XbA+X0O9f+/uq6XgzjoLV+XE4tb8zJgszDiyum6sr4iOdUrcxOTa+rwxt74W8GEqjbntqWlpW9ZG52cmA0Ke1fGVxvqWMTc6tTi2LM27aMhQJ2tlliZnjNFFqRN6emp7rqEer2+HMiKGOi7LxzLJX74+lofrwk1zXsSK/97j7dQx/LNAXBV/JcJzB2a9XYbPsdJ+wIK8uQt/iDRMs9ytSnmzi4jPbP/Oh1pr2zK+fexQ3jK+y5LHyYXMOC8Nqku6WOm8DhfJXuik4tU2KDqwMEM+zaLkJf2cXIZJZVscjM+TqpyOwjxMwZv4+Kr/IKZKs1PljKRRA9CCg0PujbyAi2uZvLROA0ra3cl/G65dc34y+h0Sx4MdNH4/4L7Rkrottthel9VG5FhVlpPJDvodIwjGAt7JwSYz4DLAZSlD+V/JoAvWLCEDNZIKX39BVkwCbkUD1BVo6jhIpW1BtBOI/aAL4kDfNSZpraN+qnRd1GuWN2CFS3HHW3mtFSkqwE9JO9Sw7J1CEMfNGDCZdm64PoTp3OOGCg1FVQQ1mHMZJEwp2ywLGf/FD7h8MG9Sl1ghyPsMhQ/V9YCYwDyEIY6RhjCV6nBTIJUuYFWNNwfCcKgosmJhADsEXYYBl0XJlhtJBtyGJDvGHistA4ccmMQYOQGJQ2uCQhFHXRUwUU0c6UQjRhBe4AJS5urCaIbEjZJGhSCOn+HyO3xuAj5MXqAmBEJ44pAUCUecUROeB9O6JE6ql/gQhe/E8DASr4vDw8OVKjEeYhPHq5Rh5GQLjxxz1pG6kNYRR6YMmNYdceoJrgXRPBNrlJjQcYnjbDjgqgwBbgFmkC2XFHHr09WauTRSaeCfBXaiExeCN06jCeNkjkvcW2bA+fG4ULhg7LkA90lCxPmfbKQOf9/Fz4tMHFRvXSxOL1Qmd4Uf6ZDrBXGcapIPp5h44EI/pTNlkUSI20bzBhp0eN6JTFwd1+f1k6UV9Dt1uPSAuA1GUnYlKB1wwtJSlkiEOEErgB4w7OOMShy0kW2xDDxc2Eggb9CLEbfzmsjKQJeJiDJDXOGdqkQSxAl6OPrM+EtEJQ5JynlTmkRkpT7iymVfXxdDOl0PuIGBI8qcpVzEkARxxMULYwU1mBCVOBR8WJaXIkNCD3Hlu98ly7KOTz33hsBcnjwlEMwCzNJvVYEEiKMePPiySAePShw04sRvi7yS4iSnhbjTdgS7VCp8bTmDcfjbD6F2AWbNc0m1xz4B4hjzCDhmkd8rKnGw3JhYDCaKQUUNxD0cA6lWKjy6uZC3sgvb28cJlZXKEEECxKlDIShAE5E4U1luTVZMLJkIcQ9CDK3NHPSedK2aOGDUE+tRkT8B4pgANNjAi6adiMShj1cTi8FYtxhLSp64Y1Gktfz4b/whl//I1xOAr0RWKrWTBHyVzFNBSBSpLhGJg/2AVgc/vBhKSpw4qv2VLtx8vhkeQad0cESIU5rgYBN+AHGysM5cwGOhJI1IHIyYUeJgGEB0jiZNHGtvub6pf/KxpjjH1UzwVZG9Hps4+q74sVDRC08cisdBamg/gTa4aMglTRy3Obj0r5PPl5Vdurs6KFMocmsiDnCQAHHqHeeQOLExSRN3xq3uKTj5fM9XBCsuAtTEwXm/K+KAppcwcXQZEZwBxfEYhjg4noOIO2Z4a6vtvlrJV5Mw4CpFStyKLDWIOPDY8MRBHycyDidBgl7itkgqJo7jre1UjGcNdA3oyqfrsiITBwIuMuJo8GxGlqqXOLXqU0VPfzrEQWro4h7oI0Qei2n4NgyAjwpqldD4oJ+xDlLReAxPnPjhwxCnNjYgcaNPSFTCWYw6HaFTQqbnsXs+wILjGvgZjikxpoBNE+SO0UscEobEPQifvvuElBOoN9IAMlQXkPCC4oXxnMDADvxdLZjhB6zBBL3EoWAf8d/BGXBt4JEzB9yVdLHNAXOWQpEdhbNIKhRtyPEOe2mNPhVo6EiSQtFLjgBDHxn1fL3EoTxk6wv0Ea0oDPD3cQ3w2xyB6jg29NY1MVWaCHsps80HEITkLxzfZG6ETcFrhvUShw5qIwJ8DScyLq9W2Mx3eeWjubzo0ZXKgyuRgBcDNAp9CySQOAtKRb4rtEhVlEpyqa2ZuLrq8dsg0ZktyIKslmoS38lMT7IvvlLlNxSthlOcYOEAtVHty0ASFgU9RSVWnpYQcVQdagGtOBK6E+pqzruUhT3c7VV0KAYuqUeJQ3rkqPogPdjdBNsKDTjB774ivA8CDFijBPQdjRpKg+wIWwc0E4cW2wpTL5zlWxNvGe5HLFkt3uIHUm8Z4pQnV+KdmzWQglfrC3IGDipxyEEPlWBioC2QaBDj5Vq430cnDg1j2VG2+EURvWipoVf1kbd0wSp8bvmBE1i68I0eq11UXg8gbCTzDd8JnFDDxVBXxl8EFRQ0l2n0zFH/oXjFq2AbJkScuBOrAzSswNuYeNtyZzIvX38tWVbp4shbW/A69mIh5gaCoDN+t1DjjMayw7O5LGy13hWLQW0LTUlIwIofcsnAWHHF7FKljn8WxkYM4uZViR6gWmRjbrzm/FqdxD9jMQBjLgksz6PXkWWLn9RFpg0R88xGa6Lz45E66s2OVbx5gGicwt4Cp7Zt8pNRw4ViEIdkszdP10awEBK7k41t2irZgN3JxF8QS49mDnEaOm01BXPusrhwf3d1crUhvi4pFbzNzaD6Zgzi8HEQ9bHhF6t15y8cCRFWsvOQHCXBLkF/y+eVghlwwfdGkA0VDJhTEMJQwFhO8uNHfIiTcgziqDxpA3UOU5ZLVgDiihLXrduLu34gxL0R9LQLEaw+FtxNycQ4EOobkYWaMYgTVCyAGsym2njcgvz8JHabVcAZJwK4m1pCHKvNiHgMbsfggLiFhgGrzqrPQzC4rh2eOPp5pdXg7rEmzdeG/NICTlZ2Jyw5QZnNhigY8C23JPaEOacuJ3nXANHM3D8BtT4ae8KhThFSuSCMa3HKFqA46yji6TQ+GNs7WKek704wKrUDzS1VOWkfVTLH6W7QOKfrK6DwpcddSMWJOG1PyTI6UPEG/ZRQWobdvH8e5y6y2qi0zVKz1QHV7j3UFSepySce7oQYTA1zUlrdT2VOd5Mcs0FFrvz0r+2Ae5/44zJCMsfzFv5SadHa9BBwyKNsVpeej+fClEwpo5Iv5GfnplvQBk44sE2c4xbOS0Q/d1QYguREqFAH1LBysqsbdpZWqd29FeKiw2kqL7fHAi/hHGGom5EKJLMjEGpccudZ/AmAeFu6C4nbssIcyrEY4i6l6EdCfeJ56/IW9+UV2PDdsZA3w1XH4Pwwsxru8iGzsgh7eGNa9YHaQ3Sqxie3tJctaXsnVqBnoDEs71cjL6Cvb2txIdQ9sPwsF+xAOfzC8xblts2R6nKlUpmo1rortlSdWKgsdF1sZMKuzS4W/HmWlivLiodPVBbUI8OsTtjvtRyqqnbWLq4ti6ZYvipyN22GVilTxAdnywWddXJ7Ixlu2VA2XIpEwB3t67m9zFf02pyDH1k5bbrvIksBQISlH059lSv+/WrfF9GH+z9+5lhnSVtQ3vflDf6nIMfXd1aeOKtJmsVcLvvt8v7+/vJbM5eTzW0umt/7+R7/P7yRXRhx6Q2uZtGBirOWoNR9+V8KDDTN+eEB8RJUTjY6Y9AZlMV0gusHPrKXItH1koJkzBXvzw8OTfPw4PzeFqPKxZQptOCDfw1ZZ1GsxKXlC8bvaPXkecpbP9BRLTsRcFM93pqab49OERLtK+T8MCrdEYCG243W29pThIdwuS2zXBKJyY5xt/HyZcTDGlIkg7foOulfKuKaN23e3nzIDNnIfNiUPTWFfrwBF7jzQdLOgGvJyZ2rofbUmB96HW1vXYoksHHVCX1/V6kmbcV/cwj6XCKeJ5UiUShNgeaNm0eMnqfM9R/cunIw4FxDgMaDIu5ETpEc+OWSHlqbqGgE1r/POEV/sJ9TxgDcVSUvuY0H4VdkptCC8y+K+E3RlZTv498SkkIDDj59l3HX2kRFaXOGXL+bncLG7Ku/czkxCtcsFltGHLs6bCjsGugUmrF/e//TCbq1UCxmv3y6dXlj94ukeuXTwuHB7L6DgwN/6VBK3HMFT1zqbn7y4Haz9ujcxBRxwO5mjXJMSoregt35nyqVzwDUAk/t7+cBcmtgbw6YTREXG8LxNqF2Q6Z4Ati4AvNcPpNOcM8Hb/OtILj9T6pQPi9sfrQNuquPafBbF/4D4EphEquD5/4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2763" name="AutoShape 11" descr="data:image/jpeg;base64,/9j/4AAQSkZJRgABAQAAAQABAAD/2wCEAAkGBxQSEBQSExQVFRUWGBcUFxgVGBQZHhccHRUYGBwYGhkYHCggHBslHRcXITEhJyksLi4uGB8zODMsNygtLisBCgoKDg0OGxAQGi8kICUsOCwsLCwvLCwvLTUsLCwsNyw0LCwsLCwsNDUwLCwsLCwsLywsLC0sLCwsLCwsNCwsLP/AABEIAL8A8AMBEQACEQEDEQH/xAAcAAEAAgMBAQEAAAAAAAAAAAAABgcEBQgDAQL/xABLEAABAwIBBwYKBwQIBwAAAAABAAIDBBEhBQYHEjFBURMiNWFxgRQ0cnORobGys8EjMjNCUmLRdIKSwhUlQ1OjtMPwCBckk6LS4f/EABoBAQACAwEAAAAAAAAAAAAAAAABBQIEBgP/xAAzEQEAAgECBAQFAgUFAQAAAAAAAQIDBBEFEiExE0FRcTJhkaGxIvBCgcHR4RQVMzRSI//aAAwDAQACEQMRAD8AvFAQEBAQEBAQEBAQaPLWddPTXa52u8fcZie/cO9aubV48fTfefSG9puHZs/WI2j1lDMoaQ534RMZGOvnn5D1KvvxDJPwxt91zi4Nhr8czP2aKpzjqpL608mO5p1fdstW2fLbvaW9TRaenakfn8sI1sh2ySHte79V57zPm94x0j+GPpD1gytOz6s0o/fd7CVlGS8dpn6sbafFbvWPpDbUWe1XHteJBweAfWLFe9NZmr57+7UycL01/wCHb2SjJOkOJ51Z2GI/iadZvfhcetbmLiMT0vG3sq8/Bb164p3+U9JTGmqGSND2ODmnYWm4VjW9bRvWd1PelqTy2jaXqsmAgICAgICAgICAgICAgICAgICAg8auqZEwySODWtxJKxvetI5rT0Z48dslorWN5VlnJnvJPdkN4o9l/vO7/ujqVLqNbfJ0r0j7y6bR8Kpi/Vk62+0f3REBaS2fUBAQEBAQZuScrS0z9eJxbxG53aN69MeS2Od6y8c+nx568t43WlmvnVHVjVNmTAYsvt62neOraFc6bV1y9J6S5fW8Pvp53jrX1/ukK3FcICAgICAgICAgICAgICAgICDyqqhsbHSPIa1ouSdwWNrRWOaezOlLXtFaxvMqgzpzjfWSb2xN+oz+Y9fsXP6jUWzW3nt5Q6/RaKump62nvLRrwbogICAgIJrmFmuydpqJhrMB1WN3EjaT1brdqsNHpYyfrv2UvFNfbFPhY+k+cpnWZsUsjCwwsb1sAaR2EKwvpMVo22U2PX6iluaLTPuqXLeTTTTvhcb6pwPEHEFUeXHOO81nydZps8Z8cZI82HFIWuDmkhwNwRgQeIWETt1h7TEWjaey2MzM5xVs5N9hMwY8Hj8Q+YV3pNV4sctu8fdynEdBOntzV+Gft8kmW6rBAQEBAQEBAQEBAQEBAQEBBWWkXLxkk8GYeZGefb7zuHY32nqVLrs/PbkjtH5dNwjSclPFt3nt8o/yhi0FyICDIoaXlJWRkhmuQA517C+F+xZVjmmI3YZMnJSbbb7eULHydo9gZjK58p/hb6Bj6SrbHw6kfHO/2c3m41mt8ERH3ltW5o0Y/sGd9/1WxGjwx/C1Z4lqZ/jljV2ZFI9pDY9R1jYtcRY2ww4LzvocUx0jaXpi4rqKzG87wxNHdeBE6lfzZYnOBadpF93Ybj0Lz4fkjlnHPSYe3F8M88Zq9a2julz3hoJJAAxJOAA4kqwmdusqiImZ2hTOd2UW1FZJIzFuDQeOqLX7Fz2pyxkyzaOzstBgthwRS3fv9WnXg3HvRVb4ZGyRmzmm4PyPUVlW01mLV7sMmOuSs0t2ldeRMpNqYGTN+8MR+E7x3FdFhyxlpFocVqcFsGSaT5M5erwEBAQEBAQEBAQEBAQEBBrM5Mp+DU0ku8CzetxwC8NTl8PHNm1o8Hj5op5efspNxJNybk4k8TxXOu1fEBBMMyM1OXtPMPogea38Z4n8vtW9pNJ4v6r9vyqOJcR8H/54/i859P8AKQ5/5viWnEkbedCDgBtZvbYcNo71t67T81Oavl+FfwrWTjy8l56W/L0zbztidSNdPI1r2cx1zi6wwcBtNwp0+spOLe89Y6MdZw3JGeYxV3ievt8n2TP+kBsDIesMPzUzxDFHqiOD6iY67fVmUGd9JKQBLqk7ngt9ZwWdNbht57e7xy8M1OON5rv7dX5y/mrFVOEocYpRskZv4XG/tBBUZ9JXLPNE7T6p0vEMmnjkmOavpLUVeZlRKwtkrXPAGDSHWJ3X52z0rWnQZbRtbJv9f7tynFMFLb0xbfv2V5V0r4nujkbquabEH/exVtqzWdp7ugx5K5Kxas7xLxWLMQTPRplXUmdTuPNk5zepwG7tHsW/w/Ly3mnr+VNxnT8+OMsd4/CzVdOZEBAQEBAQEBAQEBAQEBBXulOtxhgBw50jvdb/ADKp4lfrWn83Q8ExdLZJ9v39kBVYvhBsc3slmqqGRbibvI3NG39O9euHFOW8Va+r1EYMU3+nuuyGINaGtAAAAAG4BdHWIrG0OJtabTMz3RjPTOnwUclHYzOF8cQwcSOJ3BaOs1fh/or3/C04dw/x557/AAx91UqldUICCRZrZ1yUrg1xL4d7TiW9bf0W1ptVbDO3ePRX63h9NRG8dLevr7ragma9rXtN2uAII3gq+raLRvDkrVmtprbvCF6SsjB0YqWjnM5r+tp2HuPqJVdxDDvHiR5d11wfVctpw27T29/8q3VQ6MQe1FVGKVkrdrHB3oOz5KYtNZi0eTDJjjJSaT59F8RvDgHDYQCO9dPWYmN4cJaJrMxL9KUCAgICAgICAgICAgICCo9IU2tXPH4WtaPRf5qg1tt80uu4VXl00fNH4IXPcGMBc5xsANpK1oiZnaG/a1axNrTtEJfDo6nLLukja78NnH1rejh2WY3mYVFuNYYttFZmPV75lR+BVr4KhurJI1rY3bjYkmx68P4VlpI8HNNMkbTPZhxGf9Vp4yYp3iO/7+SwaqcRsc92xoLj3C6tr2itZtPk5/HSb2iseai66sdNI+V/1nkuPV1dg2LmrWm0zae8u5x4646RSvaHgsWYgICCyNGGUy6OSncfs7OZ5Jvcdx95W3DskzE0ny6w5zjWCK2rljz6T+/32TKtpxJG+N2x7S094srG9eas19VNjvNLxaPKVDPYWktO0Eg9oNiuYd5ExPWHxAQXTmlPr0UDvyAejD5LodLbmw1n5OL19OXUXj5tuthqCAgICAgICAgICAgICCmM8j/19R5Y91q57Vf81vf+js+H/wDWp7f1bfRixpq3k/WEZ1f4gD6vavbh8R4s7+jU41NowREevVaCu3LoXpMAEdO8faCUanovbsuGqs4n0rWY77/v+i74LvNr1n4duv7+rd53uIoJyNuofldbWr/4LezQ0ER/qae6mFz7sxAQEBBt82KmojmJpWa79Ugi1+bcdfGy9sFslbb4+7U1lMF6bZp2jdKDlnK39x/h/wD1bfj6z/z9lZ/peHf+/ugtW5xkeXizi5xcNlnaxuLdt1XzvvO68ptFY5e23R5KGQguDMPxCH973ir7Q/8ADDkOKf8AZt+/JIFtq8QEBAQEBAQEBAQEBAQVDn/Fq18n5g13qt8lQayNs1nX8LtzaavyabJ1c+CVssZs5uzr4g9RXhS9qW5q925mxVy0ml+0p3DpJZq86B2t+Vzbek4+pWUcS6da9VFbgdub9N+nt1Y+b0zsp1vLTWDacBzIxjiSd+/FoJPYsMEzqc3Nfy8npq6xodP4ePvbvP7+3808yhSiWJ8Z2PaW9lxa6tMlOes19VDhyeHeL+kqKmhcxxY4Wc0lpHAjArmpiY6S7qtotEWr2l+FCRAQEFg6LcnkCWcjA2jb3YuPujuKtOG453m/8nP8bzR+nFHvP9E8nlDGuccA0Fx7ALq0tbliZlRUrNrRWPNQkspe5zztcS495v8ANcvvv1d5FeWIiPJ+USILnzPh1KGAH8APpx+a6DSRthq4ziFubU3n5tytlpiAgICAgICAgICAgICCuNKdHaSGYbHNMZ7Qbj1E+hU/EabXi3q6PgmXelqenX6oMq5eCDc5o5W8GqmPP1Hcx/UDv7jYr302bwskW8vNp6/T+Phmsd+8LmBviF0TjOyD5+ZrOkJqYBd1vpGAYut94cT1b8FWa3SzafEp/OF5wviEUjwsk9PKfT5K4IVS6MQEG1zeyDJVyarBZotrvOxo+bupe2HBbNbav859Grq9XTTV3t38o9Vx0FGyGJsTBZrRYfqetdBjpFKxWHHZctst5vbvKM6RcsCKn5Fp58uHYzee/Z6eC0tfm5ackd5/Cz4RpvEy+JPav5VaqZ1Ag/cEBkc1jfrOIaO0mymImekItaKxNp7QvmnhDGNYNjQGjuFl01a8tYhwd7Te02nzeiyYiAgICAgICAgICAgICDS535L8IpHsAu4c9naN3eLjvWtq8XiYpjzjq3eH6jwc8WntPSVMgrn3ZCAgn+YmdgAbTTkC1hG8+475HuVpotXER4d59p/ooOJ8OmZnNij3j+v92/z3y74LT2afpJLtZ1De7uv6SFs6zP4VNo7y0OG6Tx8u8/DHf+zR5u5kRyUgdOHiR/PBBsWi2Ax28ceK1tPoa2xb37y3tXxW9M+2LbaOnuS6NW35tQQPzMB9YcPYpnhvpb7FeOT50+/+GbQaPadhvI98vVg0egY+tZ04dSPimZ+zwy8azWjakRH3bjKGVqahY1ji1gtzY2DG3YPaVsZM2LTxt2+UNTFps+rtNo6/OWoOkOmsebJexsCBieF74LX/ANyx+ktv/Zc2/eFd5Wyk+oldLIcXbtzRuaOoKqyZLZLTazosGCmGkUp2hhrB6iCV6OcmcrVcqRzYRf8AeNwB7T6Fu6HFz5ObyhVcXz+Hh5I72/C1VeOVEBAQEBAQEBAQEBAQEBAQVPn7kLweflGj6OUkj8rtpb37R38FRazB4d947S6zher8bHy2+Kv49UXWmsxAQZsVfrSxOn1pWMsNUnHVGOqCdyzi28xz9Yh42xbUtGLasz5/P1Wpk/PCklH2oYeEnN9ZwV3j1uG3nt7uVy8N1NJ+Hf26tu2uiIuJGEdTm/qveMtJ7Wj6tScOSO9Z+ksWuy9TxNJdNHcAnVDmknqsFhfU4qxvzQ9sWjzZJiIrP0RnMjJYqNeuqAHyPcdUEYNA3gHrwHABaejxeJvmydZlZcS1Hg7abF0iI6phV0McrCyRjXNO4gf7CsL46WjaYU+PNfHbmrO0qazkyX4NUvhBu0WLb7dUi4v1rn8+Lwsk1dlo9R4+GLz382sXi2X7iic9wa0FznGwA2k8FMRMztCLWisbzO0LozayOKWnbEMXfWeeLjt7t3cuh02Hwqcvn5uL1mpnUZZv5eXs2q92qICAgICAgICAgICAgICAgxMqZPZUROikF2uHeDuI6wvPLjrkrNbPXBmthvF694U3l3I0lJKY5Md7XDY8cR8xuXP5sNsVuWzstNqaainPX+cejXLybAgICD5qhNk7gCIWHo6zgjEfg0jg1wJLC42DgcS3tB9qtNBqK1jw7Tt6Of4vo7zbxqRv6pvV1jImF8j2taMbk/7urK+StI3tOykx4r5LctI3lTOcmVPCal8wFmmwbfbqgWF+tc/ny+LkmzstHp/AwxSe/m1i8WyszMPNfkQKiYfSOHMafuA7z+Y+pW+i0s1/Xfv5fJzXFNf4k+Fjnp5z6/4TRWSlEBAQEBAQEBAQEBAQEBAQEBBg5YyVHUxGOUXG4ja08QdxXllw1y15bPfT6i+C/PSf8qqzjzXlpDcgvi3PA2eUPun1Kjz6a+GevWPV1Wk1+PURtHS3p/b1aJa7eEBAQEBB9cb2vjbZfd2JsPSlpnyPDI2l7jsDRcqa1m07RG8sb3rSvNadoWXmlmYICJZ7Pl+63a1n6u61cabRRT9V+/4c1r+KTl/Rj6V9fOUwVgpxAQEBAQEBAQEBAQEBAQEBAQEBB8c0EWIuDuKiY37piZjrCJZazChlOtETC7gBdp/d3dxWhm4fS3WnT8LbTcYy4+mSOaPuhuUczauLHk+UHGPnf+O1V+TSZqeW/sucPE9Pk/i29+jRywOYbOa5p4OaR7VrzEx3b1bVt1id3ldY7wyfQp7obCiyHUSnmQyHrLSB6XWC9KYr3+Gsy8Mmqw4/ivH1SnJWjt7rGokDB+FmJ9JwHrW7j4dafjnb2VefjVI6Yq7/ADlOclZIhpm6sTA3idpPadpVniwUxRtWFFn1OXPO953Zy9XgICAgICAgICAgICAgICAgICAgICAgICD8vYDtAPaLqJiJ7pi0x2YzsmQnExR/wN/RY+FT0h6Rnyx/FP1esVJG36rGN7GgexTFKx2hjbJe3eZeyyYCAgICAgICAgICAgICAgICAgIK10maRZ8nVDIIYYn60fKa8hdhziLarbcOKCT6Pcty1uT4qibV5R5ffUBAweQLAk7hxQSNAQEBAQEBAQEBAQEBAQEBAQEBAQEBAQEBAQEBBQenvpGLzA99yJhY+h3oen7ZPiORCaoCAgICAgICAgICAgICCjdIOk2vp62pp4XRMZEdVp5O7j9G11yXOIvcnYETsubI0xfTQvcbudFG5x4ksBJ9KIZiAgICAgICCKy6RcmteYzVMDg4sIs/Bwdq22ccEEqQEEaynn7k+nlfDNUtZIw2c0h2GAO4cCEEhp5mvY17TdrgHNPEEXB9CCh9PfSMXmB77kTCXaPM6qSiyPT+ETsY48oQy93n6R2xgxRDN/5xZNva81uPJOQ2SbN/O2jrbinnY9wFyzY8DiWHG3Wg3aDByzlaGlhM07xHGCAXG+BJsNnWUGFkLO2jrXujppmyOa3WcAHYC9r4jig3aDHr61kMT5ZXarGAuc43wA2nBBpckZ70NVKIYKhr5HAkNAdjbE7QgkSCM5Q0gZNhJDquEuG1sbtc9nMug00umDJo2PlPZE/5obPei0sZMkNjM6PrkY9o9NrIJnTVDJGB8bmvY4XDmkOBHEEYFB6oOXdKQvlauH5x8JiJXRkbSLk1lNCx1UwObFG1ws/AhgBGziiGaNJeTL28LZjhsf8A+qCSZSr46eJ80rgyNg1nON8BxwQajI2elFVy8jTztkkILtUB2wbTiOtBIEH4mlDGue42a0FxPAAXJQRzJ2f+T55WQxVLXvkNmNAfibX3jqQSZByRlPx6X9qf/mCjJ1ujEQcvaVelq7yh8FiJh0hm54nTeZi+G1EKU099IxeYHvuRMNVmVo0qMoME+syGEmweec59jY2aN3WSgmUmgxmrzayTW/NGy3oBv60N1bZy5u1OS6ljZCWu+vDNGSA620tO4i4uOsbQUF66L88f6RpTylvCIbNlAwvcHVkA4Ose8FEMfTZ0PN5cPxWomED/AOH/AMeqfMD4gQle6IR7SF0VWeZf7EFH6G+mIfIk91Ey6RRDkDJtJys8cIIbykjYwbbNZ4be3VdGS34tBjLc6tff8sTPmSiN2lzq0PzU0LpqeblwwFzmFuq+wxJbYkGw3IbtboizsdSVjIHOvT1DgwtJwY92DXt4XJAPG4QdGIhy7pQdbK9aeDwf8JiJTOg0LOlijl8LA12Nfbk9ms0G31utDdkt0HuBB8MGBB+y4EH8SG6e6UOh6zzR9oREKf0IdLt8zL/KiZdEohhZb8Vn81J7hQcy6MulKDzg+G5E+TqdEOSMp+PS/tT/APMFGTrdGIg5e0q9LV3lD4LETDpDNzxOm8zF8NqIUpp76Ri8wPfciYWPod6Hp+2T4jkQmqCD6Y8lNnyVK8jnQWmad4sbO9LSQhCsdB9eY8qcnumie09ZbZzfn6UTKy9NnQ83lw/FahCB/wDD/wCPVPmB8QISvdEI9pC6KrPMv9iCj9DfTEPkSe6iZdIohyVm149S/tMPxmol1qiBByPnDT+DVdQxmHIzyanUGyEt9AARLrWJ+s0HiAfSEQ5f0qdK13l/6TES6Tze8Tp/MxfDaiGwQRbSh0PWeaPtCEKf0IdLt8zL/KiZdEohhZb8Vn81J7hQcy6MulKDzg+G5E+TqdEOSMsc2tnvuqZCe6oKMnW6MRBy9pV6WrvKHwWImHSGbnidN5mL4bUQpTT30jF5ge+5EwsfQ70PT9snxHIhNUEY0mzBuSKwnfEWjrJsAEFJaH4i7LEFvuiRx7NS3zCJlbWmoXyPN5cPxWoQgGgF9q+ccYMO6QISvlEI9pC6KrPMv9iCj9DfTEPkSe6iZdIohyVm149S/tMPxmol1qiBByhpA6RrvPSol1TR/Zs8lvsCIcxaVOlq7y/9JiModJ5veJ0/mYvhtRi2CCL6Tx/VFZ5o+0IKc0JvtldnXFKPU1Ey6LRDCy34rP5qT3Cg5l0ZdKUHnB8NyJ8nU6Icv6T8kmDKlUwizZHGVvW1+Jt+9rIleuj3O2KupI7Pby7GtbLHcawIFta23VNrgohKiUHL2lQ/1tXeUPhMRMOkc3PE6bzMXw2ohSmnvpGLzA99yJhY2hxw/oeDtk+I5EJpJIGglxAAxJJAA7ygo3TDn5HVBtHSvD4g7XlkabteR9VjCMC0G5J4gdaJbDQJm84GaueCGkcjDcbcbveOq4a0djkJWHn/AJKNVk2phaLvMZLBxc3nAepEOfNHecTaGviqHfZEFklsbNdbnW32IB9KJdO0dZHMxskT2yMcLtcwhwI6iEQ0mkJw/ousx/sX+xBSGhvpiHyJPdRMukUQ5Kza8epf2mH4zUS61RAg5Q0gdI13npUS6po/s2eS32BEOcdMFEY8rz3GEgZIOsFmr/KiYXTo0y9HVZOg1XgvjY2KRtxdrmi2I22IFxxRCR1tdHCwySyMjYMS57mtA7STZBjZw5P8JpJ4P72N7B2lpt67IOYM1MsOoa2Goc03ifaRm+2LXtt+IY4cQiXUuTMpw1MbZYJGSMcLhzSD3dR6kQ88uOHgs+I+yk9woOZ9GXSlB5wfDciXTtRlGJjwx72tcdgPXgL8O9EI5pAzHiynE27uTmjvycgF9u1rhvabDrG5BRmXMxa6idrSMFhe0kcjfViHD0IlrYYqyY6ofM/qMzv5n2Qb/J+irKM7fs44wRtkkadvUzWQ3dE5KpjFBFEbEsjYwkbLtaAbehEK10sZh1VdUsqKfk3BsYYWudqm+sThhbeiVUV2Qa2jJ12vhPFkrRf/ALb0GPBBVVZ5MOlmJ+6+UkeiR9kFh5qaGpXuD654jjGPJROu53U54waOzHgQhuuulpmRMbHG0MY0BrWtFgANgARD1QVBn9okdJK+poS0F5LnwvOqNY4lzHbBfG4O/giVXVOSqukcWOEkJviGSgX6/o32KD2o8366rIDWyS+XM02/jegsfRpo5rKStZVT8k1rWvGq1+s43Ftwt60FxohzxkTRplGOrgkdCwNZNG9x5WM2aJA4m18cAiXQ6IEHPud+jfKE9bVyxwsLJJJHNJljFwdmBOCJX7TNIY0HaGgH0IhDtJWYbcpxsexwZURAhjj9VzTiWP32uLg7seKCisqZtVlFJaRhjds1o5W4jqLXXt22RLJyXmbX5QNmgvH45pgQ2/a4u9AQdLZGgkjp4mSkOkaxrXlt7EhoBIuiFc6RdFnhUrqqkc1krsZI34NefxBwHNcd+0HqRKo67IVZRvIe18LjtMcrRfvjfj3oPtLketqsGiWXy5gfiPQTzMTRlXQ1tPUzCJjIn65GvrOPNItZotv4obrcyhkNk0muSRgQRhvsDY7rhoB27MLHFEP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pic>
        <p:nvPicPr>
          <p:cNvPr id="202764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9000" y="4495800"/>
            <a:ext cx="2286000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2766" name="Picture 14" descr="https://encrypted-tbn3.gstatic.com/images?q=tbn:ANd9GcTHmmFYXYWAfbfmrNRaR9R22uq-rQ3VdSdjZBPIpBRZ7M53p0zOg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24600" y="4343400"/>
            <a:ext cx="2190750" cy="20859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786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317500"/>
            <a:ext cx="9144000" cy="6845300"/>
          </a:xfrm>
          <a:prstGeom prst="rect">
            <a:avLst/>
          </a:prstGeom>
        </p:spPr>
      </p:pic>
      <p:sp>
        <p:nvSpPr>
          <p:cNvPr id="4" name="TextBox 2"/>
          <p:cNvSpPr txBox="1"/>
          <p:nvPr/>
        </p:nvSpPr>
        <p:spPr>
          <a:xfrm>
            <a:off x="469900" y="330200"/>
            <a:ext cx="8674100" cy="774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900"/>
              </a:lnSpc>
            </a:pPr>
            <a:r>
              <a:rPr lang="en-CA" sz="6012" b="1" smtClean="0">
                <a:solidFill>
                  <a:srgbClr val="E36C09"/>
                </a:solidFill>
                <a:latin typeface="Calibri Bold Italic"/>
                <a:cs typeface="Calibri Bold Italic"/>
              </a:rPr>
              <a:t>Application</a:t>
            </a:r>
          </a:p>
          <a:p>
            <a:pPr>
              <a:lnSpc>
                <a:spcPts val="6900"/>
              </a:lnSpc>
            </a:pPr>
            <a:endParaRPr lang="en-CA" sz="600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69900" y="1219200"/>
            <a:ext cx="8674100" cy="914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5325"/>
              </a:lnSpc>
            </a:pPr>
            <a:r>
              <a:rPr lang="en-CA" sz="4812" b="1" smtClean="0">
                <a:solidFill>
                  <a:srgbClr val="000000"/>
                </a:solidFill>
                <a:latin typeface="Tahoma Bold"/>
                <a:cs typeface="Tahoma Bold"/>
              </a:rPr>
              <a:t>Software</a:t>
            </a:r>
          </a:p>
          <a:p>
            <a:pPr>
              <a:lnSpc>
                <a:spcPts val="5325"/>
              </a:lnSpc>
            </a:pPr>
            <a:endParaRPr lang="en-CA" sz="4802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8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A Layered View of the Computer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1230313" y="5575856"/>
            <a:ext cx="6705600" cy="57943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>
                <a:solidFill>
                  <a:prstClr val="black"/>
                </a:solidFill>
              </a:rPr>
              <a:t>Machine with all its hardware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1230313" y="3482975"/>
            <a:ext cx="6705600" cy="2092881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>
                <a:solidFill>
                  <a:prstClr val="black"/>
                </a:solidFill>
              </a:rPr>
              <a:t>System Software</a:t>
            </a:r>
            <a:r>
              <a:rPr lang="en-US" sz="2800" dirty="0">
                <a:solidFill>
                  <a:prstClr val="black"/>
                </a:solidFill>
              </a:rPr>
              <a:t/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Compilers, </a:t>
            </a:r>
            <a:r>
              <a:rPr lang="en-US" sz="2800" dirty="0" smtClean="0">
                <a:solidFill>
                  <a:prstClr val="black"/>
                </a:solidFill>
              </a:rPr>
              <a:t>Interpreters, Preprocessors, </a:t>
            </a:r>
            <a:r>
              <a:rPr lang="en-US" sz="2800" dirty="0">
                <a:solidFill>
                  <a:prstClr val="black"/>
                </a:solidFill>
              </a:rPr>
              <a:t>etc.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Operating System, Device </a:t>
            </a:r>
            <a:r>
              <a:rPr lang="en-US" sz="2800" dirty="0" smtClean="0">
                <a:solidFill>
                  <a:prstClr val="black"/>
                </a:solidFill>
              </a:rPr>
              <a:t>Drivers</a:t>
            </a:r>
          </a:p>
          <a:p>
            <a:pPr algn="ctr">
              <a:spcBef>
                <a:spcPct val="50000"/>
              </a:spcBef>
            </a:pP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219200" y="1600200"/>
            <a:ext cx="6705600" cy="19208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>
                <a:solidFill>
                  <a:prstClr val="black"/>
                </a:solidFill>
              </a:rPr>
              <a:t>Application Programs</a:t>
            </a:r>
            <a:br>
              <a:rPr lang="en-US" sz="3200" b="1" dirty="0">
                <a:solidFill>
                  <a:prstClr val="black"/>
                </a:solidFill>
              </a:rPr>
            </a:br>
            <a:r>
              <a:rPr lang="en-US" sz="3200" b="1" dirty="0">
                <a:solidFill>
                  <a:prstClr val="black"/>
                </a:solidFill>
              </a:rPr>
              <a:t> </a:t>
            </a:r>
            <a:r>
              <a:rPr lang="en-US" sz="2800" dirty="0">
                <a:solidFill>
                  <a:prstClr val="black"/>
                </a:solidFill>
              </a:rPr>
              <a:t>Word-Processors, Spreadsheets, 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Database Software, IDEs,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prstClr val="black"/>
                </a:solidFill>
              </a:rPr>
              <a:t>etc…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5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317500"/>
            <a:ext cx="9144000" cy="6845300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1300" y="2120900"/>
            <a:ext cx="8902700" cy="8509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7590"/>
              </a:lnSpc>
            </a:pPr>
            <a:r>
              <a:rPr lang="en-CA" sz="6612" b="1" smtClean="0">
                <a:solidFill>
                  <a:srgbClr val="622422"/>
                </a:solidFill>
                <a:latin typeface="Calibri Bold"/>
                <a:cs typeface="Calibri Bold"/>
              </a:rPr>
              <a:t>Can computers think?</a:t>
            </a:r>
          </a:p>
          <a:p>
            <a:pPr>
              <a:lnSpc>
                <a:spcPts val="7590"/>
              </a:lnSpc>
            </a:pPr>
            <a:endParaRPr lang="en-CA" sz="660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57200" y="3324262"/>
            <a:ext cx="6464300" cy="19620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60"/>
              </a:lnSpc>
            </a:pPr>
            <a:r>
              <a:rPr lang="en-CA" sz="4404" b="1" dirty="0" smtClean="0">
                <a:solidFill>
                  <a:srgbClr val="0F243E"/>
                </a:solidFill>
                <a:latin typeface="Calibri Bold"/>
                <a:cs typeface="Calibri Bold"/>
              </a:rPr>
              <a:t>Even the most </a:t>
            </a:r>
            <a:r>
              <a:rPr lang="en-CA" sz="4404" b="1" dirty="0">
                <a:solidFill>
                  <a:srgbClr val="0F243E"/>
                </a:solidFill>
                <a:latin typeface="Calibri Bold"/>
                <a:cs typeface="Calibri Bold"/>
              </a:rPr>
              <a:t>powerful </a:t>
            </a:r>
            <a:endParaRPr lang="en-CA" sz="4404" b="1" dirty="0" smtClean="0">
              <a:solidFill>
                <a:srgbClr val="0F243E"/>
              </a:solidFill>
              <a:latin typeface="Calibri Bold"/>
              <a:cs typeface="Calibri Bold"/>
            </a:endParaRPr>
          </a:p>
          <a:p>
            <a:pPr>
              <a:lnSpc>
                <a:spcPts val="5060"/>
              </a:lnSpc>
            </a:pPr>
            <a:r>
              <a:rPr lang="en-CA" sz="4404" b="1" dirty="0" smtClean="0">
                <a:solidFill>
                  <a:srgbClr val="0F243E"/>
                </a:solidFill>
                <a:latin typeface="Calibri Bold"/>
                <a:cs typeface="Calibri Bold"/>
              </a:rPr>
              <a:t>supercomputers </a:t>
            </a:r>
            <a:r>
              <a:rPr lang="en-CA" sz="4404" b="1" dirty="0">
                <a:solidFill>
                  <a:srgbClr val="0F243E"/>
                </a:solidFill>
                <a:latin typeface="Calibri Bold"/>
                <a:cs typeface="Calibri Bold"/>
              </a:rPr>
              <a:t>require</a:t>
            </a:r>
            <a:r>
              <a:rPr lang="en-CA" sz="4550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4550" dirty="0">
                <a:solidFill>
                  <a:srgbClr val="000000"/>
                </a:solidFill>
                <a:latin typeface="Times New Roman"/>
              </a:rPr>
            </a:br>
            <a:r>
              <a:rPr lang="en-CA" sz="4404" b="1" dirty="0">
                <a:solidFill>
                  <a:srgbClr val="0F243E"/>
                </a:solidFill>
                <a:latin typeface="Calibri Bold"/>
                <a:cs typeface="Calibri Bold"/>
              </a:rPr>
              <a:t>human interaction</a:t>
            </a:r>
            <a:r>
              <a:rPr lang="en-CA" sz="7212" b="1" dirty="0" smtClean="0">
                <a:solidFill>
                  <a:srgbClr val="E36C09"/>
                </a:solidFill>
                <a:latin typeface="Calibri Bold"/>
                <a:cs typeface="Calibri Bold"/>
              </a:rPr>
              <a:t>!</a:t>
            </a:r>
            <a:endParaRPr lang="en-CA" sz="4394" dirty="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 rot="21149444">
            <a:off x="5562600" y="5031509"/>
            <a:ext cx="2044700" cy="10287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6210"/>
              </a:lnSpc>
            </a:pPr>
            <a:r>
              <a:rPr lang="en-CA" sz="4404" b="1" dirty="0" smtClean="0">
                <a:solidFill>
                  <a:srgbClr val="000000"/>
                </a:solidFill>
                <a:latin typeface="Calibri Bold"/>
                <a:cs typeface="Calibri Bold"/>
              </a:rPr>
              <a:t>Why</a:t>
            </a:r>
            <a:r>
              <a:rPr lang="en-CA" sz="5412" b="1" dirty="0" smtClean="0">
                <a:solidFill>
                  <a:srgbClr val="E36C09"/>
                </a:solidFill>
                <a:latin typeface="Calibri Bold"/>
                <a:cs typeface="Calibri Bold"/>
              </a:rPr>
              <a:t>??</a:t>
            </a:r>
          </a:p>
          <a:p>
            <a:pPr>
              <a:lnSpc>
                <a:spcPts val="6210"/>
              </a:lnSpc>
            </a:pPr>
            <a:endParaRPr lang="en-CA" sz="4797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67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45300"/>
          </a:xfrm>
          <a:prstGeom prst="rect">
            <a:avLst/>
          </a:prstGeom>
        </p:spPr>
      </p:pic>
      <p:sp>
        <p:nvSpPr>
          <p:cNvPr id="7" name="TextBox 2"/>
          <p:cNvSpPr txBox="1"/>
          <p:nvPr/>
        </p:nvSpPr>
        <p:spPr>
          <a:xfrm>
            <a:off x="1143000" y="1039668"/>
            <a:ext cx="6159500" cy="1143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CA" sz="6014" b="1" dirty="0" smtClean="0">
                <a:solidFill>
                  <a:srgbClr val="E36C09"/>
                </a:solidFill>
                <a:latin typeface="Calibri Bold"/>
                <a:cs typeface="Calibri Bold"/>
              </a:rPr>
              <a:t>1.  </a:t>
            </a:r>
            <a:r>
              <a:rPr lang="en-CA" sz="3612" b="1" dirty="0" smtClean="0">
                <a:solidFill>
                  <a:srgbClr val="000000"/>
                </a:solidFill>
                <a:latin typeface="Calibri Bold"/>
                <a:cs typeface="Calibri Bold"/>
              </a:rPr>
              <a:t>Setting up </a:t>
            </a:r>
            <a:r>
              <a:rPr lang="en-CA" sz="3612" b="1" dirty="0" smtClean="0">
                <a:solidFill>
                  <a:srgbClr val="205868"/>
                </a:solidFill>
                <a:latin typeface="Calibri Bold"/>
                <a:cs typeface="Calibri Bold"/>
              </a:rPr>
              <a:t>the system</a:t>
            </a:r>
          </a:p>
          <a:p>
            <a:pPr>
              <a:lnSpc>
                <a:spcPts val="4600"/>
              </a:lnSpc>
            </a:pPr>
            <a:endParaRPr lang="en-CA" sz="3986" dirty="0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22218" y="1974850"/>
            <a:ext cx="6159500" cy="1143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CA" sz="6012" b="1" dirty="0" smtClean="0">
                <a:solidFill>
                  <a:srgbClr val="E36C09"/>
                </a:solidFill>
                <a:latin typeface="Calibri Bold"/>
                <a:cs typeface="Calibri Bold"/>
              </a:rPr>
              <a:t>2.  </a:t>
            </a:r>
            <a:r>
              <a:rPr lang="en-CA" sz="3610" b="1" dirty="0" smtClean="0">
                <a:solidFill>
                  <a:srgbClr val="000000"/>
                </a:solidFill>
                <a:latin typeface="Calibri Bold"/>
                <a:cs typeface="Calibri Bold"/>
              </a:rPr>
              <a:t>Installing</a:t>
            </a:r>
            <a:r>
              <a:rPr lang="en-CA" sz="3610" b="1" dirty="0" smtClean="0">
                <a:solidFill>
                  <a:srgbClr val="205868"/>
                </a:solidFill>
                <a:latin typeface="Calibri Bold"/>
                <a:cs typeface="Calibri Bold"/>
              </a:rPr>
              <a:t> software</a:t>
            </a:r>
          </a:p>
          <a:p>
            <a:pPr>
              <a:lnSpc>
                <a:spcPts val="4600"/>
              </a:lnSpc>
            </a:pPr>
            <a:endParaRPr lang="en-CA" sz="4017" dirty="0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43000" y="2952750"/>
            <a:ext cx="6159500" cy="1143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715"/>
              </a:lnSpc>
            </a:pPr>
            <a:r>
              <a:rPr lang="en-CA" sz="6012" b="1" dirty="0" smtClean="0">
                <a:solidFill>
                  <a:srgbClr val="E36C09"/>
                </a:solidFill>
                <a:latin typeface="Calibri Bold"/>
                <a:cs typeface="Calibri Bold"/>
              </a:rPr>
              <a:t>3.  </a:t>
            </a:r>
            <a:r>
              <a:rPr lang="en-CA" sz="3612" b="1" dirty="0" smtClean="0">
                <a:solidFill>
                  <a:srgbClr val="000000"/>
                </a:solidFill>
                <a:latin typeface="Calibri Bold"/>
                <a:cs typeface="Calibri Bold"/>
              </a:rPr>
              <a:t>Running</a:t>
            </a:r>
            <a:r>
              <a:rPr lang="en-CA" sz="3612" b="1" dirty="0" smtClean="0">
                <a:solidFill>
                  <a:srgbClr val="205868"/>
                </a:solidFill>
                <a:latin typeface="Calibri Bold"/>
                <a:cs typeface="Calibri Bold"/>
              </a:rPr>
              <a:t> programs</a:t>
            </a:r>
          </a:p>
          <a:p>
            <a:pPr>
              <a:lnSpc>
                <a:spcPts val="4715"/>
              </a:lnSpc>
            </a:pPr>
            <a:endParaRPr lang="en-CA" sz="4082" dirty="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3000" y="3845214"/>
            <a:ext cx="6159500" cy="1143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770"/>
              </a:lnSpc>
            </a:pPr>
            <a:r>
              <a:rPr lang="en-CA" sz="6012" b="1" dirty="0" smtClean="0">
                <a:solidFill>
                  <a:srgbClr val="E36C09"/>
                </a:solidFill>
                <a:latin typeface="Calibri Bold"/>
                <a:cs typeface="Calibri Bold"/>
              </a:rPr>
              <a:t>4.  </a:t>
            </a:r>
            <a:r>
              <a:rPr lang="en-CA" sz="3610" b="1" dirty="0" smtClean="0">
                <a:solidFill>
                  <a:srgbClr val="000000"/>
                </a:solidFill>
                <a:latin typeface="Calibri Bold"/>
                <a:cs typeface="Calibri Bold"/>
              </a:rPr>
              <a:t>Managing</a:t>
            </a:r>
            <a:r>
              <a:rPr lang="en-CA" sz="3610" b="1" dirty="0" smtClean="0">
                <a:solidFill>
                  <a:srgbClr val="205868"/>
                </a:solidFill>
                <a:latin typeface="Calibri Bold"/>
                <a:cs typeface="Calibri Bold"/>
              </a:rPr>
              <a:t> files</a:t>
            </a:r>
          </a:p>
          <a:p>
            <a:pPr>
              <a:lnSpc>
                <a:spcPts val="4770"/>
              </a:lnSpc>
            </a:pPr>
            <a:endParaRPr lang="en-CA" sz="4133" dirty="0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43000" y="4787900"/>
            <a:ext cx="6159500" cy="1143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370"/>
              </a:lnSpc>
            </a:pPr>
            <a:r>
              <a:rPr lang="en-CA" sz="6012" b="1" dirty="0" smtClean="0">
                <a:solidFill>
                  <a:srgbClr val="E36C09"/>
                </a:solidFill>
                <a:latin typeface="Calibri Bold"/>
                <a:cs typeface="Calibri Bold"/>
              </a:rPr>
              <a:t>5.</a:t>
            </a:r>
            <a:r>
              <a:rPr lang="en-CA" sz="3612" b="1" dirty="0" smtClean="0">
                <a:solidFill>
                  <a:srgbClr val="000000"/>
                </a:solidFill>
                <a:latin typeface="Calibri Bold"/>
                <a:cs typeface="Calibri Bold"/>
              </a:rPr>
              <a:t>   Maintaining</a:t>
            </a:r>
            <a:r>
              <a:rPr lang="en-CA" sz="3612" b="1" dirty="0" smtClean="0">
                <a:solidFill>
                  <a:srgbClr val="205868"/>
                </a:solidFill>
                <a:latin typeface="Calibri Bold"/>
                <a:cs typeface="Calibri Bold"/>
              </a:rPr>
              <a:t> the system</a:t>
            </a:r>
          </a:p>
          <a:p>
            <a:pPr>
              <a:lnSpc>
                <a:spcPts val="4370"/>
              </a:lnSpc>
            </a:pPr>
            <a:endParaRPr lang="en-CA" sz="3794" dirty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4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162800" cy="1470025"/>
          </a:xfr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>
              <a:lnSpc>
                <a:spcPts val="6000"/>
              </a:lnSpc>
            </a:pPr>
            <a:r>
              <a:rPr lang="en-US" sz="3600" b="1" dirty="0" smtClean="0">
                <a:latin typeface="Tahoma" pitchFamily="34" charset="0"/>
                <a:cs typeface="Tahoma" pitchFamily="34" charset="0"/>
              </a:rPr>
              <a:t>Commonly used</a:t>
            </a:r>
            <a:br>
              <a:rPr lang="en-US" sz="3600" b="1" dirty="0" smtClean="0">
                <a:latin typeface="Tahoma" pitchFamily="34" charset="0"/>
                <a:cs typeface="Tahoma" pitchFamily="34" charset="0"/>
              </a:rPr>
            </a:br>
            <a:r>
              <a:rPr lang="en-US" sz="3600" b="1" dirty="0" smtClean="0">
                <a:latin typeface="Tahoma" pitchFamily="34" charset="0"/>
                <a:cs typeface="Tahoma" pitchFamily="34" charset="0"/>
              </a:rPr>
              <a:t>Programming languages</a:t>
            </a:r>
            <a:endParaRPr lang="en-US" sz="3600" b="1" dirty="0"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3" name="Group 6"/>
          <p:cNvGrpSpPr/>
          <p:nvPr/>
        </p:nvGrpSpPr>
        <p:grpSpPr>
          <a:xfrm>
            <a:off x="762000" y="2667000"/>
            <a:ext cx="8001000" cy="3276599"/>
            <a:chOff x="838200" y="3581401"/>
            <a:chExt cx="8001000" cy="3276599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114800" y="4114800"/>
              <a:ext cx="1295400" cy="13909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TextBox 6"/>
            <p:cNvSpPr txBox="1"/>
            <p:nvPr/>
          </p:nvSpPr>
          <p:spPr>
            <a:xfrm>
              <a:off x="838200" y="4038600"/>
              <a:ext cx="23622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rgbClr val="F79646">
                      <a:lumMod val="75000"/>
                    </a:srgbClr>
                  </a:solidFill>
                  <a:latin typeface="Century Gothic" pitchFamily="34" charset="0"/>
                </a:rPr>
                <a:t>Microsoft </a:t>
              </a:r>
              <a:r>
                <a:rPr lang="en-US" sz="7200" b="1" dirty="0" err="1" smtClean="0">
                  <a:solidFill>
                    <a:srgbClr val="F79646">
                      <a:lumMod val="75000"/>
                    </a:srgbClr>
                  </a:solidFill>
                  <a:latin typeface="Century Gothic" pitchFamily="34" charset="0"/>
                </a:rPr>
                <a:t>.Net</a:t>
              </a:r>
              <a:endParaRPr lang="en-US" sz="3200" b="1" dirty="0">
                <a:solidFill>
                  <a:srgbClr val="F79646">
                    <a:lumMod val="75000"/>
                  </a:srgbClr>
                </a:solidFill>
                <a:latin typeface="Century Gothic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 rot="16200000">
              <a:off x="2068757" y="4194289"/>
              <a:ext cx="199521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 smtClean="0">
                  <a:solidFill>
                    <a:prstClr val="white">
                      <a:lumMod val="50000"/>
                    </a:prstClr>
                  </a:solidFill>
                  <a:latin typeface="Century Gothic" pitchFamily="34" charset="0"/>
                </a:rPr>
                <a:t>Basic</a:t>
              </a:r>
              <a:endParaRPr lang="en-US" sz="4400" b="1" dirty="0">
                <a:solidFill>
                  <a:prstClr val="white">
                    <a:lumMod val="50000"/>
                  </a:prstClr>
                </a:solidFill>
                <a:latin typeface="Century Gothic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867400" y="5486400"/>
              <a:ext cx="29718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entury Gothic" pitchFamily="34" charset="0"/>
                </a:rPr>
                <a:t>C++</a:t>
              </a:r>
              <a:endParaRPr lang="en-US" sz="8000" b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 rot="16200000">
              <a:off x="5444699" y="4262735"/>
              <a:ext cx="1524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 smtClean="0">
                  <a:solidFill>
                    <a:srgbClr val="F79646">
                      <a:lumMod val="75000"/>
                    </a:srgbClr>
                  </a:solidFill>
                  <a:latin typeface="Century Gothic" pitchFamily="34" charset="0"/>
                </a:rPr>
                <a:t>Perl</a:t>
              </a:r>
              <a:endParaRPr lang="en-US" sz="5400" b="1" dirty="0">
                <a:solidFill>
                  <a:srgbClr val="F79646">
                    <a:lumMod val="75000"/>
                  </a:srgbClr>
                </a:solidFill>
                <a:latin typeface="Century Gothic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57400" y="5534561"/>
              <a:ext cx="10668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b="1" dirty="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Century Gothic" pitchFamily="34" charset="0"/>
                </a:rPr>
                <a:t>C</a:t>
              </a:r>
              <a:endParaRPr lang="en-US" sz="8000" b="1" dirty="0">
                <a:solidFill>
                  <a:prstClr val="black">
                    <a:lumMod val="85000"/>
                    <a:lumOff val="15000"/>
                  </a:prstClr>
                </a:solidFill>
                <a:latin typeface="Century Gothic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81400" y="5715000"/>
              <a:ext cx="2209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 smtClean="0">
                  <a:solidFill>
                    <a:srgbClr val="F79646">
                      <a:lumMod val="75000"/>
                    </a:srgbClr>
                  </a:solidFill>
                  <a:latin typeface="Century Gothic" pitchFamily="34" charset="0"/>
                </a:rPr>
                <a:t>Python</a:t>
              </a:r>
              <a:endParaRPr lang="en-US" sz="4800" b="1" dirty="0">
                <a:solidFill>
                  <a:srgbClr val="C0504D">
                    <a:lumMod val="75000"/>
                  </a:srgbClr>
                </a:solidFill>
                <a:latin typeface="Century Gothic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 rot="16200000">
              <a:off x="5918226" y="4408244"/>
              <a:ext cx="199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 smtClean="0">
                  <a:solidFill>
                    <a:srgbClr val="EEECE1">
                      <a:lumMod val="50000"/>
                    </a:srgbClr>
                  </a:solidFill>
                  <a:latin typeface="Century Gothic" pitchFamily="34" charset="0"/>
                </a:rPr>
                <a:t>Pascal</a:t>
              </a:r>
              <a:endParaRPr lang="en-US" sz="3600" b="1" dirty="0">
                <a:solidFill>
                  <a:srgbClr val="EEECE1">
                    <a:lumMod val="50000"/>
                  </a:srgbClr>
                </a:solidFill>
                <a:latin typeface="Century Gothic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 rot="16200000">
              <a:off x="6564557" y="4408244"/>
              <a:ext cx="199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 smtClean="0">
                  <a:solidFill>
                    <a:prstClr val="white">
                      <a:lumMod val="50000"/>
                    </a:prstClr>
                  </a:solidFill>
                  <a:latin typeface="Century Gothic" pitchFamily="34" charset="0"/>
                </a:rPr>
                <a:t>Cobol</a:t>
              </a:r>
              <a:endParaRPr lang="en-US" sz="3600" b="1" dirty="0">
                <a:solidFill>
                  <a:prstClr val="white">
                    <a:lumMod val="50000"/>
                  </a:prstClr>
                </a:solidFill>
                <a:latin typeface="Century Gothic" pitchFamily="34" charset="0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8627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458200" cy="4724400"/>
          </a:xfrm>
          <a:noFill/>
          <a:ln/>
        </p:spPr>
        <p:txBody>
          <a:bodyPr>
            <a:normAutofit/>
          </a:bodyPr>
          <a:lstStyle/>
          <a:p>
            <a:r>
              <a:rPr lang="en-US" sz="2800" dirty="0"/>
              <a:t>C++ is one of the most popular languages </a:t>
            </a:r>
            <a:r>
              <a:rPr lang="en-US" sz="2800" dirty="0">
                <a:sym typeface="Wingdings" pitchFamily="2" charset="2"/>
              </a:rPr>
              <a:t></a:t>
            </a:r>
            <a:endParaRPr lang="en-US" sz="2800" dirty="0"/>
          </a:p>
          <a:p>
            <a:pPr lvl="1"/>
            <a:r>
              <a:rPr lang="en-US" dirty="0"/>
              <a:t>C++ (originally C)</a:t>
            </a:r>
          </a:p>
          <a:p>
            <a:r>
              <a:rPr lang="en-US" sz="2800" dirty="0" smtClean="0"/>
              <a:t>C</a:t>
            </a:r>
            <a:r>
              <a:rPr lang="en-US" sz="2800" dirty="0"/>
              <a:t>++ is portable (runs on </a:t>
            </a:r>
            <a:r>
              <a:rPr lang="en-US" sz="2800" dirty="0" smtClean="0"/>
              <a:t>Windows, Macintosh, </a:t>
            </a:r>
            <a:r>
              <a:rPr lang="en-US" sz="2800" dirty="0"/>
              <a:t>Unix, Mainframes …)</a:t>
            </a:r>
          </a:p>
          <a:p>
            <a:r>
              <a:rPr lang="en-US" sz="2800" dirty="0"/>
              <a:t>C++ is  widely used in industries </a:t>
            </a:r>
            <a:r>
              <a:rPr lang="en-US" sz="2800" dirty="0" smtClean="0">
                <a:sym typeface="Wingdings" pitchFamily="2" charset="2"/>
              </a:rPr>
              <a:t></a:t>
            </a:r>
            <a:endParaRPr lang="en-US" sz="2800" dirty="0"/>
          </a:p>
          <a:p>
            <a:r>
              <a:rPr lang="en-US" sz="2800" dirty="0"/>
              <a:t>C++ is not easy to learn </a:t>
            </a:r>
            <a:r>
              <a:rPr lang="en-US" sz="2800" dirty="0" smtClean="0">
                <a:sym typeface="Wingdings" pitchFamily="2" charset="2"/>
              </a:rPr>
              <a:t></a:t>
            </a:r>
          </a:p>
          <a:p>
            <a:endParaRPr lang="en-US" sz="1400" dirty="0">
              <a:latin typeface="Courier" charset="0"/>
            </a:endParaRPr>
          </a:p>
        </p:txBody>
      </p:sp>
      <p:sp>
        <p:nvSpPr>
          <p:cNvPr id="103434" name="Oval 10"/>
          <p:cNvSpPr>
            <a:spLocks noChangeArrowheads="1"/>
          </p:cNvSpPr>
          <p:nvPr/>
        </p:nvSpPr>
        <p:spPr bwMode="auto">
          <a:xfrm>
            <a:off x="6553200" y="4800600"/>
            <a:ext cx="2057400" cy="1676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3435" name="Oval 11"/>
          <p:cNvSpPr>
            <a:spLocks noChangeArrowheads="1"/>
          </p:cNvSpPr>
          <p:nvPr/>
        </p:nvSpPr>
        <p:spPr bwMode="auto">
          <a:xfrm>
            <a:off x="7258878" y="5454316"/>
            <a:ext cx="894522" cy="794084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3436" name="Text Box 12"/>
          <p:cNvSpPr txBox="1">
            <a:spLocks noChangeArrowheads="1"/>
          </p:cNvSpPr>
          <p:nvPr/>
        </p:nvSpPr>
        <p:spPr bwMode="auto">
          <a:xfrm>
            <a:off x="7555948" y="5652336"/>
            <a:ext cx="43235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342900" indent="-342900">
              <a:buFont typeface="Monotype Sorts" charset="2"/>
              <a:buNone/>
            </a:pPr>
            <a:r>
              <a:rPr lang="en-US">
                <a:solidFill>
                  <a:prstClr val="black"/>
                </a:solidFill>
              </a:rPr>
              <a:t>C</a:t>
            </a:r>
          </a:p>
        </p:txBody>
      </p:sp>
      <p:sp>
        <p:nvSpPr>
          <p:cNvPr id="103437" name="Text Box 13"/>
          <p:cNvSpPr txBox="1">
            <a:spLocks noChangeArrowheads="1"/>
          </p:cNvSpPr>
          <p:nvPr/>
        </p:nvSpPr>
        <p:spPr bwMode="auto">
          <a:xfrm>
            <a:off x="7199796" y="5042736"/>
            <a:ext cx="778979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342900" indent="-342900">
              <a:buFont typeface="Monotype Sorts" charset="2"/>
              <a:buNone/>
            </a:pPr>
            <a:r>
              <a:rPr lang="en-US" dirty="0">
                <a:solidFill>
                  <a:prstClr val="black"/>
                </a:solidFill>
              </a:rPr>
              <a:t>C++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09600"/>
            <a:ext cx="9144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prstClr val="black"/>
                </a:solidFill>
              </a:rPr>
              <a:t>We teach C++, Why?</a:t>
            </a:r>
            <a:r>
              <a:rPr lang="en-US" sz="4400" b="1" dirty="0" smtClean="0">
                <a:solidFill>
                  <a:prstClr val="black"/>
                </a:solidFill>
              </a:rPr>
              <a:t> </a:t>
            </a:r>
            <a:endParaRPr lang="th-TH" sz="4500" b="1" dirty="0">
              <a:solidFill>
                <a:srgbClr val="1F497D">
                  <a:lumMod val="50000"/>
                </a:srgbClr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0646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458200" cy="4724400"/>
          </a:xfrm>
          <a:noFill/>
          <a:ln/>
        </p:spPr>
        <p:txBody>
          <a:bodyPr>
            <a:normAutofit/>
          </a:bodyPr>
          <a:lstStyle/>
          <a:p>
            <a:r>
              <a:rPr lang="en-US" sz="2800" dirty="0" smtClean="0"/>
              <a:t>We will be using </a:t>
            </a:r>
            <a:r>
              <a:rPr lang="en-US" sz="2800" dirty="0" err="1" smtClean="0"/>
              <a:t>DevC</a:t>
            </a:r>
            <a:r>
              <a:rPr lang="en-US" sz="2800" dirty="0" smtClean="0"/>
              <a:t>++ 4.9.9.2</a:t>
            </a:r>
          </a:p>
          <a:p>
            <a:r>
              <a:rPr lang="en-US" sz="2800" dirty="0" smtClean="0"/>
              <a:t>Full-featured Integrated Development Environment (IDE)</a:t>
            </a:r>
          </a:p>
          <a:p>
            <a:r>
              <a:rPr lang="en-US" sz="2800" dirty="0" smtClean="0"/>
              <a:t>Home task:</a:t>
            </a:r>
          </a:p>
          <a:p>
            <a:pPr lvl="1"/>
            <a:r>
              <a:rPr lang="en-US" sz="2400" dirty="0" smtClean="0"/>
              <a:t>Download and install </a:t>
            </a:r>
            <a:r>
              <a:rPr lang="en-US" sz="2400" dirty="0" err="1" smtClean="0"/>
              <a:t>DevC</a:t>
            </a:r>
            <a:r>
              <a:rPr lang="en-US" sz="2400" dirty="0" smtClean="0"/>
              <a:t>++ on your PCs from:</a:t>
            </a:r>
          </a:p>
          <a:p>
            <a:pPr lvl="1">
              <a:buNone/>
            </a:pPr>
            <a:r>
              <a:rPr lang="en-US" sz="2400" dirty="0" smtClean="0"/>
              <a:t>	</a:t>
            </a:r>
            <a:r>
              <a:rPr lang="en-US" sz="2400" b="1" u="sng" dirty="0" smtClean="0">
                <a:solidFill>
                  <a:schemeClr val="accent1"/>
                </a:solidFill>
                <a:hlinkClick r:id="rId3"/>
              </a:rPr>
              <a:t>http://www.bloodshed.net/dev/devcpp.html</a:t>
            </a:r>
            <a:endParaRPr lang="en-US" sz="2400" b="1" u="sng" dirty="0" smtClean="0">
              <a:solidFill>
                <a:schemeClr val="accent1"/>
              </a:solidFill>
            </a:endParaRPr>
          </a:p>
          <a:p>
            <a:pPr lvl="1">
              <a:buNone/>
            </a:pPr>
            <a:endParaRPr lang="en-US" sz="2400" b="1" u="sng" dirty="0" smtClean="0">
              <a:solidFill>
                <a:schemeClr val="accent1"/>
              </a:solidFill>
            </a:endParaRPr>
          </a:p>
          <a:p>
            <a:endParaRPr lang="en-US" sz="1400" dirty="0">
              <a:latin typeface="Courier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09600"/>
            <a:ext cx="9144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err="1" smtClean="0">
                <a:solidFill>
                  <a:prstClr val="black"/>
                </a:solidFill>
              </a:rPr>
              <a:t>DevC</a:t>
            </a:r>
            <a:r>
              <a:rPr lang="en-US" sz="4800" b="1" dirty="0" smtClean="0">
                <a:solidFill>
                  <a:prstClr val="black"/>
                </a:solidFill>
              </a:rPr>
              <a:t>++</a:t>
            </a:r>
            <a:endParaRPr lang="th-TH" sz="4500" b="1" dirty="0">
              <a:solidFill>
                <a:srgbClr val="1F497D">
                  <a:lumMod val="50000"/>
                </a:srgbClr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1943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457200"/>
            <a:ext cx="838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prstClr val="white"/>
                </a:solidFill>
              </a:rPr>
              <a:t>INTRODUCTION TO PROGRAMMING</a:t>
            </a:r>
            <a:endParaRPr lang="en-US" sz="4400" b="1" dirty="0">
              <a:solidFill>
                <a:prstClr val="white"/>
              </a:solidFill>
            </a:endParaRPr>
          </a:p>
        </p:txBody>
      </p:sp>
      <p:pic>
        <p:nvPicPr>
          <p:cNvPr id="7" name="Picture 6" descr="g185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648200" y="2971800"/>
            <a:ext cx="4188823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81000" y="3276600"/>
            <a:ext cx="37338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ts val="4500"/>
              </a:lnSpc>
              <a:buClr>
                <a:srgbClr val="F79646">
                  <a:lumMod val="75000"/>
                </a:srgbClr>
              </a:buClr>
            </a:pPr>
            <a:r>
              <a:rPr lang="en-US" sz="3200" b="1" dirty="0" smtClean="0">
                <a:ln w="0" cap="rnd" cmpd="thickThin">
                  <a:noFill/>
                  <a:bevel/>
                </a:ln>
                <a:solidFill>
                  <a:srgbClr val="00B0F0"/>
                </a:solidFill>
                <a:latin typeface="Tahoma" pitchFamily="34" charset="0"/>
                <a:cs typeface="Tahoma" pitchFamily="34" charset="0"/>
              </a:rPr>
              <a:t>Computer has to be precisely told what it needs to do; otherwise</a:t>
            </a:r>
          </a:p>
        </p:txBody>
      </p:sp>
    </p:spTree>
    <p:extLst>
      <p:ext uri="{BB962C8B-B14F-4D97-AF65-F5344CB8AC3E}">
        <p14:creationId xmlns:p14="http://schemas.microsoft.com/office/powerpoint/2010/main" val="231718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09600" y="1447800"/>
            <a:ext cx="80772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b="1" dirty="0" smtClean="0">
                <a:solidFill>
                  <a:prstClr val="black"/>
                </a:solidFill>
              </a:rPr>
              <a:t>Programs are everywhere on the computer and internet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050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prstClr val="black"/>
                </a:solidFill>
              </a:rPr>
              <a:t>Program</a:t>
            </a:r>
            <a:endParaRPr lang="en-US" sz="4400" b="1" dirty="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6562" name="AutoShape 2" descr="data:image/jpeg;base64,/9j/4AAQSkZJRgABAQAAAQABAAD/2wCEAAkGBxMTEhUUExQVFhUVFhwXFxgYGBcXGBgYFBYXHBgYFBcYHCggGRolHBQUITEhJSkrLi4uFx8zODMsNygtLisBCgoKDg0OGxAQGywlICQsLCwsLCwsLCwsLCwsLCwsLC8sLCwsLSwsLCwsLCwsLCwsLCwsLCwsLCwsLCwsLCwsLP/AABEIALEBHAMBEQACEQEDEQH/xAAcAAABBQEBAQAAAAAAAAAAAAAAAwQFBgcCAQj/xABMEAACAAQDBAYFCAcGBQQDAAABAgADBBEFEiEGMUFREyJhcYGRBzKhscEUI0JSYnKS0TOCorLC0vBDRFNzk+EVVGOj8TSUs+IWFyX/xAAbAQACAwEBAQAAAAAAAAAAAAAABQIDBAYBB//EADcRAAICAQEGAgkDBAIDAQAAAAABAgMRBAUSITFBUWFxEyIygZGxwdHwBqHhFBUjQjNSNHLxJP/aAAwDAQACEQMRAD8A3GAAgAIAPCbQAQWIbW00s2DdI3JNR4tu8rxVK6KNtWgusWcYXiQVVt2fohF7yWPstFT1Bthsnu2xk23D/wCKPBF+MR/qPEuWyo9v3PZe27/4gPeq/CD07B7Lj2/cf0u3J+kqN90lT7bxNXlE9ldmyew/aenm6Zsjcn08jui2NsWYbdDdXxxleBMgxYZD2AAgAIAOXcAEkgAC5J0AA4kwAU3FPSNTqxl0ytUv9jSWO+Yd/eoIjVDSTlxlwMtmrhDlxEpNZilRqXk0yncFTO9u0vcX/VEWeipj3Zlertl7OEPpWAzz+krqknsIQfsARF2QXKCJpXPnMdU+CuuvyqpPe+YeREQdkX/qiW5Z/wB2KzPlSerMSZ2Otj5raBKqXNYIuy+HVNeJH0+28pX6OqRpDXtm9eUf1wLjxAtziUtJLGYPPzLK9dCXCXBlplTVYBlIZSLggggjmCN8ZGsPDNiafFHcB6EABAAQAEABAAQAEABABw8wDebRVZdCCzJ4PUm+RGVe0EmXva55DWF89rUp4jxNEdJY+fAZHaYn1Keaw52iK2jZLiq2W/0cVzmjuj2qls4SYrSmO7ONPOL6NfCx7slh+JXZpZRWVxJ8GN5lPY9AIAG1dXJKUs5sACfIXPsBiLklzITsjBZZku0e2zV8o/J0mJKltdiT+kUg2YgblFjz3xl1cpKKwOtgJTsk7I44Ldzz/gi8UeTKllFYzJjDeGsFvx0Nu4G5jFZOMFjqdHRXbZPeawvmV4g8zGTeYyVZ5kPbBvBuHuU8zBvBuHoZhxMeqxkXWheXXTBxvE1c0VvTxZYtn9vJ9MQD15fFCdw+wfon2dkaa9Y48+Qs1eyK7uK4Pv8Ac1rZ/HpNXL6SS1+DKdGQ8mHD3HhDOuyNizE5TU6WzTz3LF9n5DnEa4SlBPEgD4nwEV6jURpim+rwQppdrwhntNtHIoZJmz2sNyqNXdvqoOJ7dw4xrrrlY8RKJzUVlmJY3tTU4m9ph6OQDpJU9XTcXP0279BwAhtRp4w5c+4ttulMt2yNDLlqGsL8Oy3HviV3ZGR88su1PWShbM6BjpYsAbngAYV23Qi92Ul8TdRROUd6MW/cSIeAnk9zx5g9yJvMiSRCUiubQ09wSoRuaOAyNbeCN4PIixEaIR3u6fdGOUlGXLPgRmz8sqGmYc5RlPz1FOYlLnjLfet9bNx42sRGbUaj0TUNSvKS+ptohlb1D84ssmFbYSZs7oHV5M3TqTNDmtqt+fIjQixHKMtk1CSTfB8n0f8APgMqq3ZW5x5r2l1X8eJZImQCAAgAIAGWI4rIkLmnTZcsfbYL74AK5M9JGH3skx5v+VKmTB4FRHuGeZO12/pj/Z1f/t5v5RXZONazJnsePIe120aheryvrpbv5Rzup2zKTcKFxN9WibW9N4QxoJMyrGczVyH6pB90Qp2Xfe9++XAnPUV1cK0TtFg8mXuUE8zqYe0aOqpYijFO+c3xZIBY1YRURuOYYk6UwYC9tDxBjDrKIyhvLmi+i1wljoGzcwtTSy28Cx/VJHwjVRJyrTZXYsSZJxaQGeJ4gslCzeA4k8hEJzUFllVtsa47zKdWo9TLmM59dGVRwAYFfLXx7oyRk5PfYsblbmcivbP0arQTJwW7h2zaa5EUDLbsuWi+/wBhs6nZc07or/t+IpYSOeyfQ8E3h+zMx1zzCJMvfd99udjaw7SRGqvSylxlwQs1G0qq3uw9Z/t/PuFcuGJo055h+yHYeBlrb2mNMdNUvEwz2hqn2j8PqeqcKc5RNeWe3pF9rqR5wOip8OQR1us58H8H8uJ7W7KNlzyHWap1FrXI+yQcreyKLNI0sxeTVTtWEni1Y8ehXnlEEgggjeCLEHtB3RjeVwY1WJLK5CZSPcnjiPcExWbSThNlGxGjL9F14q3Z7t8XU3yrllGTV6OvUVuE15Psy9bQbTrPKuhOTIpAPAnVge0HQ/diraF/pLFjkkI9FoJUpxnzy/4KZtNhNRWzUmdJ1VUIOlJAVR9SwJ146ePJnszbkKK/R3J8OTXyfkKtp7Ids96lrjzX1Q6w7ZgqABNl37m98M4fqGjPsv8AYWy2Hdj2l+45ardfm1bdcEqTr3G17Rg2htqVrxT6se/V/YY7P2JXUt+9KT7dF92WbY/DwCZrC7DRb8DxPfHuzNCt308+b5eXfz+hj2ztJuf9PXyXP7eRcUeHDQjUj1ngweuRH1VcAbDXXXsi2NeTPO0gsTrLkkRprgZpSyyHwyQ8yZnpnC1UoX6JzZZ0u/WCuOB0BUjQ2N9xjPr9x1uu9eo+q6Pob9HF5Uq36y6PqWDFsNl18lSQ0meo6jMLPKcb5cy29b+HEbwTyMLnp5Sot9aD/E12/Ex/HKaur4SX40/B/wA8zrYraSYZr0lVpNQcd9wBmF+I1DA8QY21XuqSjN5i+T+X50ZdqKoWVK6tY6Ndn+fQvMMReM8VxSVTSmmznVEUXJJ9g5nsgAyDF/SRWV7mXh4+TyAbGe4u7fcG4e/ui2NbZXKxITwnZqnDdJPLVE3eXnEtr2A6CJ+iwUu3PIvNAyheqAqjkLDwtC3X7Qr00efE0UUTtkjyprGbQaD2mOS39TtG3diN8VaWOZDZpSZSGAa4sQdRY8LR1+z9jw00cvjIS6naUrXhciq1mzqSmMyjmPSzOctiEP3k3GGrq7mRagkcA9Js2nmCRiaix0WpQdU/5i8O8RnnU1yNcLVI1SnqFdQ6MGVhcEG4IPEERUWnNZMyoxPAExn1TxWyUF6yG+ByysiWDvtc/rEn4xZTHdgkE3mTHsxwASdANT4RYRM42gxYzphP0QSqj3nvF7d5PKFl9m8xDq73ZLwJCjxBBLUbzlAI7hY3vEo2RxgsrujuJDOnAkzHUayp7Zx9mYRZlb7wAI7QRxEa65qSwM9Jd/qny5EC+HyaLPPm9cBrSU4knVRr9Lf3AX7sMdMqptvj2O1ntOeqqUVw4es/zp1K7XVE2pbPPbq36ksaqPuJ9I82bzG6GVOllZxks+Bz+p2nGvMa3urrJ8H8enkiTpsHXKCVPifyK/GGtez1j1mIZ7STfqpvx5fMbVmFEbpYZewkH9okRXPZ8unEuhtCGMrMX+dUN6Ez6YmZINhveWfVYdqg6feG7sjFqNnWVLeiuAy0e3qr5eitefHr/JY6iRLr5HTShlmroy8bjej/AAMKLqlbHK5o6nSap6ae7J5g/wAyiolYVPgdLzWUclYMnjRLYA4JyMLkdZL/AFtxHjpYc4jZFyjwFW0YOCVi5cn9CQmVWbW8ZUjJuYOeliSR40eU8oA3iTeSLJ3ZjaGX0QWZ1WHYSD26R0+n2vRGtRt4NLHLt5HJa/YOpd8p0+sm88+KyT0vaCn0+cAuQNQVFybAXI5xsp1+mveK5cfevmLbtm6uiO9ZDh5p/Ik3mxtSF7mMqlFN7jfxiyOUUykRc2lQG51793lGiLbKXIqmPK0l0nSTZ0bMvIEcPukXBHImJ21K2twnyZdprnGSfY0OhrVqpCTU0zoHXn2q3aCCO8R841NcqbZVWc0zsKZ5iprkyFxCgz1FNUoPnZUwS5nNpUy6G/aucnuLdkSrt/xyrny5rz/n54ND9RSxyf4mXKZiSSpDTprBUlqS7HgF3mH2htd1MZPn1Ftkd2TPnTavaeZi1SWclaWWfmpe64+s32j7IaVVZ4mO61RJDD6j1Uli/AKBE77aqI70ngyb0pvCL1g2E5V6SedOCjieUcpr9tylwjwXzGml0LlzJCvrVRc7kKo9VfgO2EWl01+0bsLl1Y0vvr0kOHMrM/aME7wOQj6Hodn1aSvcgvectqNXO6WZMbPj19xjak2Z3JJCLYgTxi5UtlE9QlyGOIlZilWAIPCPZUHkNY0xT0e7Yth08U85i1JMayk/2TE6EfZ5jxhXdS4seae9WI3mfKWYljqrDhxEY51qfM1J4FlFhaLDwgdssQ6KnNt7af7eJKjxim+W7Ay6yz0dTZnDt1su/L1fEesfFixhXLmc/PnjsSFG8exZOtk3SyFm/NtqraHhp2HgdNDzjVV7Qwobclgpu0hRpZLm86ROMgG5s2pu2XcLqt78xaN9danNDieplGiSi+H1PcHkhU6QgFmOVewDefgOUdFCCit1e85PfdknOXF5wvqWOjp8+p3/ANbohOe7wRuhHI4q6Cw3RXC3JOVfArVbS9Ya2JNge07vbGtz9Rtiy6r11h4ZDScKZ5pEp+imE5bB2lknkCN4v5XjmtdTVXLfXJ9fM6/Ze0r3VuPGVww1n4BXYHWS/XMz9fre2YNYwy09UnjPyHFW2LodF7sojpizV9YKe8FD4W6vsimegXQYVfqHHtJ/s/sK0tQFIZiZduJBYcrqyAm4vxAjO9JKD48jdPalGpplBvmvzgyZqXBIddFmIsxRyzi5Hg2YeEKHHDa7cCjSz361nmuAmrQYLmPKcXgwUyeCVwTZMlLvORCVuBa/mbxsWi9Is73My27Q3HiMWxlVpTXElG+UTM6MWXSVL6KYr7/pm6ActTDzZexZVzVtnTkc9tbbSsrdUOvPr+e4shqzzjpNw5LIzqsTC72+MSUEecWM6jESVOUg6G2vHwi2MEVvg+JVmrsudZlyTpa+lzvN+e6Jci9rOGiz+jauPyd0/wAKc1vuzAG/eMzzjh/1HUo6iMl1Xy4HU7Ke9S49i5JLGbMN2YHzBv7l9sc85Zrx2YweUseBmPprxyYJcqkQkJNZpky3EKwCqey+vgI6HYHrVSXZmLW+rh+BQ8Cw+ZNYS5Y7zwUczDvW66vR18eYl3HZI1rZrAZchMx15sd7HkvIRxOr1s7n6Sx+SG+j0mXhEnXVqojTZpCogv2ADgIW6eizW3KMRtZONEOBB4TstUYqRUVDtT0x/RS1/SOv1mJ9UGO/0lUNJX6OtebENkfSy3pljHonw61ss6/1ule/vtGj08yLoh2KntZsBMo1M6S7TZK+ureug+sCPWAjbptTl4kL9Xolu5iVoTNIbIQOGGJzJkeM9jEhsYkh1MY9RWmhro7GpGyehPaY1VGZMxrzaY5CTvMs+ofIW8ITzWGPovKNGiB6ULb6pvOkS/tZj3ILke7yjHqXxSFe0JetCPv+BSaebfU8dfOF4lTzxJSmmR6icWWTAJl3/VPwjVQ+Iy0kvWM3x9j0zDnVTye8Fbe8+cM6ZYkmbKlvaeS8ZfMk6SoGWUOAB8yY6WHFZOcctyaT8S0YdVgRmtryM65jusrQRFUKsMslMq2ITrsLfWHvjdjEHnsK9RLelGK7oh5tTesUrvzDzzCOV1j/APzuPZPHzOn0ccT3u5sWINu8fhHHbZnKG44vHP6DahJ5yQdZhUmZ60tb8x1T7N/jeF+n2xq6eU8rs+JbKiEuhUNpNj2Mo/Jzm45DYNvF8p3E6dkP6duV3x3LVuv9iuFLhNS6EfQym+SyM6srIzyyGBBte63B8Yy2tellh55Ma6OWJNC8mReIo3SkStFTi9tL8r6xJIzTkebQymIlpnKy2zZ1Gma2WwPZqdI6n9OwjNzbWWsY8Dlf1BfOCiovg85EqVkQWUAR1ODk95sUn1hynLqeEeYBc+JCVuK5lsQL8/GAujDDI1cRZQQOPsPOPUyUq0+ZG11UQC4NyOt3kG8RlxRbWuKNcpMASRUzmldWVUZXCj6DqszMByU3QjvI3AR8+2jrf6jdUuccrz7HV6SpUqTXXDJTD3JRgd4IHjcwnlwz7jXavWWDOtuaX5RO6IWzmQCDytMdz5iXDfZtzoq9J0y/kl9TzUVRlTZ3SXzJHZfB0lqEXQAXd+J7T+UYNVa7Zuyximilye6iwlw2u5FGg5AcT2wqbnqLVCPXkPcR09bMz2lx1ayrk0+YLTdMqsSbBhm6xa/DS0d/oNmrRadR/wBnxZz9mo9NZl8kbjJ2holAVamQABYATF0A4b40bj7BvIU//JKP/mZP+ov5wbkuwb8e5xPx6jdSpqJJBBBGddx8Y9UJJ8iE5xa5mBzlCs6qbqkx0UjUFVY5bHlaOjpTdaZzmoilNobzJpESkVxjkY1VQLRnt4o10waZM+hfFOhxZUvZahGln7w6y+4+cJblhjyp5ifSUUlpmO2jXrpY7JgH+kPzjBqf+ReQn13G+Pkyn0syMQli+BKU8yAtROYLVZZi33HTz0/KLqpYkatNZuzWSA29w1knsyjRyJyd6i01R27nhlFjih4nKHfivr9GQciotYj1Tu7Dyh1odYsbshRr9E296JL02IkQ0xGXIWxvnXwkhWbihIgUEiUtW3yIirxILc7zwjDrNRFR3V7zboNJOc/ST9w42Cw9p9WjHUKc7H7K/m1hHN6yeYY7/jOopjumtVz3a3Ie+OG21apXKC6L5jGiOI5GrQqSLxvNMaKo5fEiyC2iHVT/ADB+60MtMlltdi7Sv1yh4tVu7lQSFGmnGGtUVFZY2ihvKoTbMbgBgCRvFwba+Hth3sR12alxn2eP2EP6jtsr0q3O/HHb/wC4JGmLLYGYzBRZQxvlB4AnhpujroUwg24pLPM4O26diSk84HgqYsKANTBg9wRtVIFiwJ3boi4l0JvkRLTYiaMDOvm9Ru4x4TgvWRv/AEnVB5KvmV/8x8oueZya7nX1R9VI5EyyH7R90ZXLoXbuZFEopLTq2sn2+blD5Oh+tMICsB93PMv3iH127Vo6K8+tLMmuyeOfngyysbdsVy9VfDP1LKkrKolDhq55ty7hCDV35e6jXpaVVDefMqnpAx7ok+Tyz1mHXI4Dl3mOu/TWyNyH9TauL5CPaesc5+ji/MzKTJLt2R2NdLskKZ2KCJ2moAo/2hjHSxxxQtnqZNjtZP8AWkT/AKavsUvUT7iglf1YQPT19iLukEwaQOCSIqTb4kfUxRNGmsiapox2G+pHexU0rilGR/jqPM2+MKb+Y0q5H1pGYuMz28GSrlOd2YD/AFAwPuWMGqWJxYq1yxZGRRT1HZfqsR5GMT54EUluyaH9PNgJpkjJmx6TTLInR1knophs66qw9YFdzr28xG6m3PDqNKLVZFJ+0igY3gM2nciwW504Sn7ZbHRT9hrW4cI1J5N8boye7Zwf7Py+3MiJk+amjIV7wR5XjVDVWRWMnk9DTPi0cfLJh3DyvE3rLGiC2fSnyHOE4LOqJgRFLHkNwHNm3KO0xknZ1kzdGCSwjYtnMESik2uGmNYu3Mjcq/ZHxJ7IR7Q10aoub9yNNVbbwLM19THDTnKyTlLmxglhYE3MSSPRrNaNVS6kGQWPN+jHNifwix/eEMdNHEGy/SrMyofJOse+NTs4DlciWw6SuVlYetbQ8YjXdOE1ODw1yZRqao2R3ZLKYhUYMw1lsCOTbx48Y63SfqaDjjURafePL4HG6r9NyUs0S4dn9zyRhDn12AHZqfhaJ6j9T0xX+GDb8eC+rK9P+mrW/wDNJJeHF/RL9yWpsGpjozuCeN/zFoWx/Umpcsvd8scPv+4ws/T+nUfVT88/nyIHanCWpyF6QMjglXHEA6hhfQi477+A6nZ+0I6yDaWGua8//hzer0ctLNZ4p8invNjWRwP9nsH+WvMlXtll578PXQWPepfyhZtTaC0VSm+rx+z/AIN2i0zun5G0ibmWZyJH7P8A5j5k7GuHc6vc3WkI1FRoOyKuZOMOIypp4VeqAAvqgCwzMSb99yTfnHspyct6TyyfoI+yhviWILTyWmNvtp2sdwhjsPZstfq0v9VxZi2nqlTW8czHsTqmmuWY3Zjc+MfVXXGOIQXBHIJvjJjuhpGzyZakAzZipmIuBmNr6Qam6WnSweVVq9vJpq+iuoH95k/gf+aMX92mW/2yPc7HotqP+Yk/gf8Ang/uth5/a49z3/8AV1R/zEn8Ez+eD+62B/a49zlvRVUH+8SfwTP54g9qWMktmwXUbzPRDPP95lf6b/zRF7QkyxaCK6jWZ6FZ5/vUr/Tf+aKnrG+hbHTJdTrCPQpOk1MmeatD0UxXsJbC+U3sDmjNOe8y+McG0RAmUf0m4fnlZxvA+II9qgeJjNqob0DDr696rK6GZ4mcxWb9cdbsddG90LbOal3EFy3sT7nFPOjwoTwSMidAWpkhT1BBBBsRuIj3JNSafAmxtBeWwmIri2pa2Q/eU6GGNG/JZkO9LGd0f8i4fP3EfhGFzaw2l/M04NjMtbNbeslfjuHsNllsK+bGkY8MIskvYmhXUqzfemN/CRGKeuiuckixVsmJKypK5JSKq8lAUd5tvMKdTtaC9n1n+xdCl9RvNmEm5jl9RfO6e9N5NcIqK4CTGKUiYjMaLoo8GzamN1VecR7kGyrYzVhqgqDpKUL+sdW96jwhq4bsEjdo4epvdxFpV9RvjPJG6M8cGJ1FMWWwOVhqp5EfCPKpbsuPIm5ZI6RjU1DlmKLjQ842yoT4rkVOK7is7aJQOtlXvPuG8xKrQW2vEIt+4otupqWZyS95C120LubISo58T3Dh7+6Oo2d+na4evqFl9unv7/LzOZ2ht2UvU0/Bf9uvu7Ec9ax9Zma27MxbyvHR06eqlNVxUc9kkc5bbbbxsk3ju8kRNLa9/n3QNM0JI0f0ZUJlU8yews049Xn0cu4B8WZ/ALHAfqbV+l1Cpjyhz839kdPsrT7te++pcpczLLsd9iT3mOWlLLGrjmWSMqqnqnt0849issvjHiTeCbPtOkpMWYtmubWJ3Ejn2R0Gn2JC2tSnJpvtgWanXzqscEkNdpPR7Oqcvz6gLuGU2vzOsdLslQ2dDchHOevUR6xPUy3pMo9f6MKyS2ayzFH1d/lrDqnaVW9maa/cw26Se7iLIfE8PmBLAFZiEMt9OshuPdGjVyr1Nea2ngwaVz09uLFjJvWx+0EutpZc5DqRZ14o49ZWHfHOtYeB+nwJqPD0ZYziSU8l50wgKilj4DQDmTEoxcnhEZyUVkw9tqsQa7GrnLmJbKMllBNwuqncLQ9hsuMopiWW0pKTSGk7a/EBurJ//b/kj3+1QLY6+TI6o27xNf75O/7f8kZbdFGCNVeocmWX0R7Q4lXV9ptVMeRKUvMBCWJOiqbLzufCFk0kzYnk3QRA9GeL0YmymQ8RHjWVg8kk1hmN4hhhQvJbQE3U/VcbvOFllWHus5+6j0bcHy6FeN1JB0IjJxTwxdKOBzJn2ia48iKeCTlGy53uF4Lxa+7Tt5Qwp0yjxlzHui0HDft9y+5aMG2YabaZVgqm9JG4nkZ3IfZ39240azaEaViPFj6Fbl5FwuAAAAABYACwAG4ADcI5m6+VjcpM1RglwQmzRinMtSEWaMU7Mk0jgmKkiQm7RbFANnaNVUOpBsRqpwlqSdTuA5k7gIc6TTNvHV8ytJyeEVeXsyQzOs+5c5mExcvWO851uNe4Q2t0qkvVfxG9djjFJx+B5MkPLNnUjkd4PcRoYWW0yg/WRYpRlyFEe8UNBxGONYJKqQM4sy+q4tcdh5js90btBtG3RyzDinzT5fwY9Xo69SsS4PuVHFNmnkC65pg5rLPuBJ9lu2Ov0G3aNQ92aUX4v74+Zzer2RZUsxbl7is11eymwt23GoI4GGtmox7LRgr0y/3XE4paapnjqJMcX3gWFzoAG3cd0YL9fXWvXmkba9I28wiXyk2JsspZk0lt80LxGlkQ+d2PkI56f6rmlJQjw5Rb+b+iGcdhxeJSfi/4NAGWVKCqANygDcqruUdgsI5KcnJOUnlvmNoQ9ZJLCXIazqjq98VKDyXRjxIDEJ7zpqU0kFnbV7cF5X4XG88Ae0Q92folGp6q3lyiu7+y+Zmu1C3/AEUfOT7Lt5seVgrVYy5M2WJSaLfpNbesbBSLFsxHYRHRUrEEItRb6SxyEFm4kuomSm7jMX2lQPbFpSLy9r8QkazUmBRvZSJiDvPWA8xABIJtTT1YtPlqx+unVcd6Hf4E90eptPKPGk1hkNNw2ZSuamgqCFb1iozDunSjx9sXxsjN4s+JTKEorMPgSUnbPF8o/wDSuDufI4v22BtGyOz1LinwFk9sQg2pJpoisWn1VUQaubnCm6ooySweeX6R74ZabQwr4sWana8rfVhyIqqW0MsGaDyQ9THjN1ayQGIOWYIgLMxsANSSdwEI9dd0Q401fU+jvRbsj/w+jCuB083rzT220XuA084St5ZvRc48PQgAqO2GBhh0ii/1hFVte8vEz6ilWLxM5xXDcwvxHHn96F868iK6logWksLi3qi57hv79/v5R7pI7tnrFWmUVanLknxNH2DWXMlmcwDTUfKL65OqCHUczmOv2TaIbV1c6IpR69TsaYqZa2eOUna28s2qOBNnjPO0mkJM0ZJ2Nk0jkmIJHomzRYkeCLEndGqFTzjr+cyLZ4QFhrRTx7splIrG0JrZb9O1PnpFGhU3Zebuu8eVgBvjoK9NKiOceZs0FlE3hvEvEWpMQSagdDcH+rHtiSlkbOvDwxb5RoRoQd4OoPhA3lYZF1J8SPqqcDrJu4rvK9o5j3Qu1Glx60OXY83WuDEUnRgweYFOkiLDByzg8AfKIZfcN1A1QRyHtiG4pcWepI6lTrRGUAaHkiUW1fQDcvE9/KIqJVOWOETp6XO12YBeAGpsPYIg7UuSyeKW7HCHNBhqS1aXIDK831nUgzWJ3kswPbYWsOAEdHs3S36ycb9R/wAcPZXJPyXbu+oj1dkaswh7T5s8n4NJzMWEy62BUzZwsSLaKrBf6EdZDCSXD4IVSWWJf8IkfR6RTzE2bw7GYj2RZlPovgiGGurEJtDNTWVND7+rMAVuwCZLAsO9TEJV1vpjy+zJKUiHqqCRObKymRP3ggAE8zYdWaOZU3HE8IyzqlFZ6FsZpjJnnU75ZhsxHVmDVXXk31l5g6jsiskL0OL9E5OXqnWZLGoF/wC0ldnZGnT6h1PHQW7Q2fHUxyvaXJ9/B/QkK2ardZSCCLgjcQd0dRQ8xTRxe7KM3FrDXMrmITQOMaOXEYUQbK3V1DOwSWpd2NlVQSSTyAhdq9UoLCHmm0zNZ9F3oz+TMKusAM/fLTeJV+J5v7o5y2xzY4jHdWDVIqJHsABABy6gixgAp+0GzxF3li44j8oqnWpeZnuoU+K5lMrMMBNx1SDvHxHwjHODXmKbdNuvPJjCkmzaKZ0svVN0xNbW7eziD9E9m+yUIait12GzSaqVLSly+X8fI0DDMVl1CZ5ZuOIPrKeTD47jwjh9oaS7ST3ZLh0ff+TpqrI2LKHRMLG8l5yzROEN5pAc6xojSvF/niR3jno+ZjXDSZ4sg5nE2YFHu5nu5w0o08p4jBFMppcx9heFM5DzBZd4Xn2mOh0ujjTxfFmSyxyLHkAFraRtKjHtpMNFDWjoxlp6m5CjckwbwOQ1BA7SOELr69yWVyZ1WzNT6erdl7Ufl0+x6Z0U5Ge4c9PbUQbx7uZGs42NxuPDkeQ7IXamrde8uTKJVuJ6rDtEYmyvAoJY+t7IrcwPRIXmTHnpGHEWRgN3+8QeXzIs8mV4HVJA7OJ8BFsNPZYvVXDv/JW93ex17Cf/ABIk2Xz/ACjodm7BhhW38e0env7+Qk1+0XGTrr+JIyqgjK3FSD5H/aOq3FjCEilx4kpUYlmluswZiLpLmqQb5SGCuRvuALH/AHitV4ax8Cze7kYZpibg+ZVvHnyiI4PcjfGJsooA+t9w3MG3Aod4btG6ISmoYz1/cnCDnnHTi/AbU7Bh8nqOsG1lvoC2Ub91lmqPBhfhcCq2rC3o+9diUJ9GQWJULyWyH1k60tuDKf4TutwPdGcsEElTphlpTKWE4nKlwCri5dNe4mG2g16qi4T5dBXrNnxtn6SK49Sfw30VVk83qZqyV4heu5+AiV+088IllOiUOZpGy2xNJQi8mXeZbWa/Wc+PAdghXOyU3lm6MVHkWMRWSPYACAAgAIAPCIAIbFNn0mar1WjxxT5kZRUuZVa/AZqb1uOY/KKJUdjJPS/9WV58NeU/SU79E44EdU34WI0HZqOyIzjvx3LI5RXFain2PuiZw7adxZamTlP+JLKlD2lScy+F/CEt+x4PjU15M30bSnysg/NfYkztDS/48vztGB6C2Dxu/DA3ipTWUn8BpU7V0y7nLnkisfabD2xetFbLjjBZHT2S6ELP2onzZ8iRIlhOmmBSz9Zgt+sQo0BAudb7o2U6GOUpPJfPRuFUrJ9EaTh+CJLOY9ZuZ1h7CuMFuxWEIG2+ZKgRM8CAClelfD89C0wDrSXSYPxZW/ZcnwjPqY5rGeybNzUpd+H1Rn6VNwDzF/OFe8dmogZ0eZJbgjOYMpU8ffwPnHjeVgJV5Q0kTWGlz539hjDNIwtdx7KmOePsH5Rnko9iOEOUVuLEeQiGM+yiuUkhOsrJKrZppFza0sgsey6g29nfGvS6PUymnGvP/ty+gu1OspjHDnjy5/sM6fKb9FLyL9Ym8w+JuF7xrHU6fZ1smpaiW9jlFcIr3CO7aKUXClYXV82yToqbKIdxhgUOY+DxPBHeLLgdB01HPAHWD5l+8qA28QSPGMls9y2L8C+C3oMqjT4tfEgmIT6wKDGHWa2vTR48ZPku/wBkMNDobNVL1eEVzfRfd+BH0JMx+kbcPUHvMV6Kqyf+e72ny8F4Fmvurh/+en2Vz8X4+RKMocZSbcQRvDDUEdohjgWZHNRL+UU2Yj5yVe47v0i92mYd3bC+yG5LBrhLeWSt4UGE15SGzm0+SeU6Tr7QNYrJG64JiC1EiVPXQTED24gkaqe0G48IAH0ABAAQAEABAAQAEABAB4RAA2nYfLbeoMAGabdU8r5TkVRaWoH6zdY+wr5Qv1Nj38HU7H00XRvtc2/2IDIg4CMu+xwqI9gDAbgI83ixVpdB1smufFaXkomMf9N7e3LF2m42IW7Xe7pZe75o2qGpxgQAEAETtbIz0VUvORMt35Db22iFnsvyNGllu3wfivmYZRTfm17oRN8T6LBLdFS8RyS4HOeAMls2a2bWqk9IN4Yq3eLH3MIaaauuytb0UcZtedtGqe5JpPD5/nUjNt9mOhWSg9aY5/Ci3PtKxphTXBYihTPUWzeZSZX8J2eWY4B1Gax7l9b2AxaklyKW88yXxPD1ScFsOol/1nJv7B+1G7TQ9XeMmonxweyzaNaTMzY/Q33RaVNknRYQZyFpLozL66FgrL277FdDqbRRO5QliS8mWxhvxzFi2H7XyaOWZaMk1i2Zm64UEhRZbKSw036b4hZpp2vefAnXqIwWFxIGtxCTNDTEBQliTYkpqbmwZAR5kcIVa/aP9J/ijxn8vMdbM2U9Z/ln6sO/fwX3K9Mm9K+S4CjU3IBt4neYXbO0k9Ta7rePfxfbyGm1ddDS1Kinh2XZd/MmPUXdYDy8I6rByG9xH9FhFU4V1l2Q2IdiqrZuN2OoseEVysguGS1QbHmBh1dmZCFNgbiwLLobc7iwv2Rm1OHjHMtoTTZXcZl/JquS43S52XvW9vapjIaDUdgGyrU0/CRUvl+5OAmjwvMceEAFqgAIACAAgAIACAAgAIACAAgAxfaupvWTz/1Cv4er8IS6iebGd/syvd0la8PnxIgzYp3jfunBmR5k93Sb9HWuKJ2SX+A+MbNF7Yi29/43vX1NnhqcaEABAA1xRbyZo5y2HmpjyXInXwmvNHztQP8ANr3QglzPpEHwFy8eYPcnJeDB5k0v0QT7pUJydG/EpH8EMtA+Ekct+oY+vXLwa+D/AJD0hdatp1+rImt5sg+EbznStbJreXm+y5/FcfxGABtjMy0+Ze+rAAbyeogAAGphtpor0a/Oorvb9I1+ckQkzGBfKOqftD4cI1KrgUttCi1DmwYk30A7eQAiawiiaciwnCJ0ilmzWRpZmhZK30bK5LPdd4uJYXX6xil2wsmoxeccfsSVc64OcljOF9xlgeyU2egmaKrTBLQNcB2sxYkjcoCnhqdIx6++aj6Op4k+b7eXiMdn11ufpLY70V05Zfj4DTaajmSJvQPluLWyG6tcacB5W0jlIbOk71Wnlvr9zs57XrWldsluqPDHj0SLlsXIoZdFmrJchnExlzPLVnfRWsosSbZ7dmkdM9NOlqunOMI43+sjenbfjOWRW0GOyBdaOikS7j9I0tc3gi6DxJ7o2V6afOyT+Jkerrf/ABxwVhsZmZVRpeY5cszMFIYBrrkAX5vSwOU8Li0X+hWcp/n1J+m4Etgc/PUBrAFy7FRoBm1sNTpcDjGXVQxVjyLKLN6zgd+kiXZc3bLP7CwqGJc/R/UlqyrHAyKV/ErOU/uiAC+wAEABAAQAEABAAQAEABAAQAYTtIbVdQP+tM9rmEN3/JLzZ9E0Ml/S1/8AqvkRmeKzVk8zwHmSxejI/wD9Nf8AIf3rG3Re2I9vf+N719TaIanHBAAQAN8Q/RTPuN+6YjLkTr9teZ820jWRe6ET5s+iJihmR4e7xyZkekcmlehjU1R4fND/AOWN+h/2931Oc/UDz6Nef0JTa+TfEaYfXp56+IykfGGBzhVdiBeUy8VMxfFQSPcIAIvaelylZ3SLe6tku+e6dW91HV1U6kiHOhlvQ3Me/oLNRFRs3m+fTqS2KC1KVzmjpzfKJvz1RVDmDmuqEcgF14gx5X/yZxvPw4KJOT9Xsvi2c7PbSJSqvR0coNbV2Zmf8RGncLCPbtM7Hxm/gZ46mNfsxRPysafFL0rSejXR2mo9zLyHfYrbXVf1r8DGaVS03rqXHt+Muja9V6jjw7/iHW0WNSZMpZa2WTLsqqBcuV3BQd/P2nnGJKVku7ZubhXHskUeSj1U4zMgzWyoi8FFzcndfUknQe+GdGnhR675vr9BPq9VZfiuPLmkWKvwlDIl9DNSYZYbpEU9a7G7MgOrLoBu3KDEq7mpvfTWeRVZVF1x3JJ45rzILoY15MWRnXpuHjHhdU+o62ap7zr8l95A9xMY9a8V48RjoVmzPgdelBtFXizqv4UAPthSNy0ejBb1Va/AS6eV4oJhP74gA0aAAgAIACAAgAIACAAgAIACADD9v5Jl188cGKuO5kW/7WaE2qji1nc7Jt3tJDwyvg39MFdMyM+Bhk5MyPTzeLL6NJlsSlfalzF/ZLfwxq0bxZgU7bWdK34o2+GxxoQAEADLG5mWnnNylOfJDEZ+yyylZsivFHzYjWAHYIRdT6BKXE8MyDBDeOTMj083jYfQvTEUs2Yf7SdYdoRFHvLDwhno44g2cxtuzeujHsvm/wD4SPpAPRPR1XCTUKH+5OGQ+F2B8I1iYqOEL8nxGqpzuz9Kg5q2pt4EQAe7R0FieIU270fVT3Xv+MQw0FmG4+8XbQhwU0QT0oJDNckAKLkmwUWUC/AAQ0TwsIVuxvmxWXTliFUEsxAAG8k6ACISaiss8inJ4RaKqtl0Ej5PL6859ZpX6TfVvwlruvx15m6mW9qLOHIdR3NLXx5lclVUzNnfI5P0XRHQD6qhgco7Rr2xvr00IrC59xbZq5zfh2L5tCZIw9ZlOiS1mslwoC3BuSrW32II8IyUKfp8TecZNep3HpswWE8cimyDm4boZsRyW6xXo48IkfUSybMRYHdHqNMY7qLJsjh3VLnQHU/dW9v4/ZCrXWZkoroOdBXiDk+pUNtKvpa5E4S+u3eTcxiN5oXogpj8kmzyNaiezj7qWRfCyX8YAL3AAQAEABAAQAEABAAQAEABABl3pjw0gyakDQgyn8LsnvmeyF+thykdHsHUcJUvzXyf0M0MyMB0O8cmZBg83id2DqQuIUrH/EK/6qMg9rRfp3i1GLaK39JNeHyeT6BhwcSEABABA7eVHR4fVHdeUyDvmdQe1hFVzxWzZs+G/qYLxz8OJ86zZmp8vKE6XA7KcuImZkS3SveOc8eqJ5vH0psdhXyWjkSSLMqAv99+s/7TGG9cN2KRx2ru9NdKfd8PLoK7UYWKmlmyT9NCPHgR2xMzmN4niDlaest8/SH5PVLxOTQN3FT7RABoKSkqpCulmutx9pDwvzHsIXlEoycXvIjOKlFplSqqMoxU94PMfnpqOBBh5VarI5Rzl9UqpOLClqjKuZQzTiLBvoylOhY83a9gOAP2oouTuluLl18TRTKNEd9+0+XgNpdNYkklmOpY7yf64RphCMFhGSy2U3mQp0UTIZFZOLu9OadELjplKG4UE5Wzqt9+9Db7RiLojGz0knjhx/bBqhKUqnX45X75E8JnK+q8eHEROcHF4ZisHdToLcTEERiupzR0TTWC6kDeeQPAdp1t4ncDFV9qqjk26emV08dOpacbq0o6Vi1hZbkD9lR5Adw7YSNtvLOiSSWEYpLeZPmHLrOqXyL2Zjqe4C58I8PT6UwPDlp6eVIQWWWiqPAQAPoACAAgAIACAAgAIACAAgAIAIzaTCFqqaZIbTOvVP1WGqt4ECIWQ34uJfpr3RarF0/GfOFbJeVMaXMGV0YqwPAg6/8AmE0oNPDO1jZGcVKPJ8huZkGD3eFqGrKTFdfWVg6/eQhh7RHq4NPseLE04Pk00fTmH1izpaTUN1mKHXuYXHvh1F5WUcNZB1zcJc08DiPSAQAZ56ZcUCUySb6zXzEfYla/vlPIxk1ksRUe462JVm2Vr5RX7v8AjJiBMYh4eQAXb0VbOGqqxNYfNU5DtyZ/oL5jMexbcYv09e9LL5IX7R1Hoqt1c5fLr9jfRDE5kIAMl9I2EGlntVKt5E4ZKheFuD9449ndABD7FbQfI5vyea3zDm8qZwW/A9hgA0nEsLSetwNd9h+8p8uw6X1AItptlW8r4FF+njdHD9z7FSmUDSTu0vYkDQ34Ebwew9/bDaq6Fi4fARX0W1S9bl3Eml3MaDJvHE2RdSBxBHmI9Tw8hkQwecFl9HNlSZiLMJs7dHNl5guZpbA3t1eGt1ESvg3Leg2njosp+DNNNyUd2STWerw14oTw2nCvMZL9GXPR33lQxy38Le2JWN7qUufXzM8mnJ45EzJoGmsLAgHja9+eQcfcOJEYbdRCpY6mnTaOy3y7lnp6WXSyy7kDKL6nQcyx4nt8BCmyyVksyOgqpjVHdiYvt1tWaybZSRJQ6faP1j8IrLS3+hrZgu/y2atgBlkg8jvfx93fABsUABAAQAEABAAQAEABAAQAEABAAQAZz6U9ijUKaqnW85B11G+Yo3EDi49o04ARl1FO96yG2zdd6N+im/VfJ9v4ZiZjCdC8gDAeI1b0XbbJLQU1QwVL3luTZVLG5RzwF7kHdqRyjTpr1H1Je4WbU0Lt/wA9Sy/9l18zWlYEXGojec4McZxqRSyzMnOFHAfSY8kXex7ohOcYLMi6jT2Xy3a1n86nz5tltC9ZUNMbQeqq3vkRb5VvxNySe0wrnN2S3n7jrqaI6apVR59X3ZX48JEls/gk2rnLJkrdjvJ9VF4s54AfkN5EShBzeEVXXQpg5z5fPwR9G7N4HLo5CyZW5dWbi7H1mbtPsAA4QzhBQWEcpffK6xzkSkTKQgAa4lQrOlsjgEEQAYJths09CzKVLUxNwRqZV/4PdAA52S27mUmWXOvNkfRYHrIOw8R2QAaxh2I01YmaW6vpvXRh2Mvw1EeptcjxpNYYhU7Mg6oQe45TrzFiPICNMNZZHxMNmzqZ8uHkMH2bmA/T/Cp9of4RoWv7xMstk9pfsKUGzrLMV2Qtl4FUF9CLZs5sNeURs1zlBxS/csq2YoTU2846Y8B7T7Nqpu2VRwBOcjsFwF9hiiertlwyaKtBTXxxnzEMb2lpKFTmYZ7bvWmN4cPG3dGY24S5GPbW7Xz64kay5INwl9/a54wHgvsDsO9bMV5gIkA31+n/APX3wHp9CUdMstFRBZVFgIAFoACAAgAIACAAgAIACAAgAIACAAgA8MAGc7e7AyagtOkMsqdvYHRJh5m3qt2jfx5xmtoUuMeY00W0nUtyzjH91914GP1mGTJTFZilWH9aEaEdojBJOLxI6GqcLVvVvKEklkaiI5yWxUk8okKXFqiWMsubNQckmTEHkptApSXJs9lCE3mcIt+SG9TUTHOZmJY/SYlm/ExvHmcvLeT3LS3YJJeA16Ax7khuMntmtkJtW41EuXxdv4F3sfIdoi+umU/IxanW1afg3l9l9X+M3XZbAaejldHIG/13OruRxY+4bhDCFagsI5vUamd8t6fuXRE3EzOEABAAQAM8Sw5JyFXF4AMb2u9GkyUS9NYA65D6h+6foHs3QAUAvPpZmomSHB3glfJhoYALdhXpGr0ABZJwH11ufxLABYJPpWn/AEqVD3TWHsMB4E70n1bfo6ZB3zHb2LABBYntPiU4HNNElTvCDJ7TYwBkr0mhzv1Q86Yd5Fzr2sdBABe9k/Ru01hMqbZRqEHq+P1j7ID01yhoklIEQWAgAcQAEABAAQAEABAAQAEABAAQAEABAAQAEADefRI28QAV7FNhqedvLDyPvjySUlhk4WSg8xeH4FdqPRNLPqT2HeoPxjNLSVvwGVW2NTDg8S8/4GbeiSZwqU8ZbfzRX/Qx/wCzNS29PrBfFncr0SN9KpH6qH4mPVoY9WyE9u2v2YJfEkqP0VyFN2ms36o/OL4aeuPJGC7aOpt4Slw7LgWjD9mpMr1bnvi4xEtKkqu4QAKQAEABAAQAEAHjKCLEXEAEHiuy0icCCo14EAjyMAFLxD0Uyiby1K/ca37J0gAi29G89fVmzh4A+6ABWV6PKk6GdOt4CAMErQei9L3mXb77E+waQAXHC9mpEkABRp2ADyEAEyBaAD2AAgAIACAAgAIACAAgAIACAAgAIACAAgAIACAAgAIACAAgAIACAAgAIACAAgAIACAAgAIACAAgAIACAAgAIACAAgAIACAAgAIACAD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6564" name="AutoShape 4" descr="data:image/jpeg;base64,/9j/4AAQSkZJRgABAQAAAQABAAD/2wCEAAkGBxMTEhUUExQVFhUVFhwXFxgYGBcXGBgYFBYXHBgYFBcYHCggGRolHBQUITEhJSkrLi4uFx8zODMsNygtLisBCgoKDg0OGxAQGywlICQsLCwsLCwsLCwsLCwsLCwsLC8sLCwsLSwsLCwsLCwsLCwsLCwsLCwsLCwsLCwsLCwsLP/AABEIALEBHAMBEQACEQEDEQH/xAAcAAABBQEBAQAAAAAAAAAAAAAAAwQFBgcCAQj/xABMEAACAAQDBAYFCAcGBQQDAAABAgADBBEFEiEGMUFREyJhcYGRBzKhscEUI0JSYnKS0TOCorLC0vBDRFNzk+EVVGOj8TSUs+IWFyX/xAAbAQACAwEBAQAAAAAAAAAAAAAABQIDBAYBB//EADcRAAICAQEGAgkDBAIDAQAAAAABAgMRBAUSITFBUWFxEyIygZGxwdHwBqHhFBUjQjNSNHLxJP/aAAwDAQACEQMRAD8A3GAAgAIAPCbQAQWIbW00s2DdI3JNR4tu8rxVK6KNtWgusWcYXiQVVt2fohF7yWPstFT1Bthsnu2xk23D/wCKPBF+MR/qPEuWyo9v3PZe27/4gPeq/CD07B7Lj2/cf0u3J+kqN90lT7bxNXlE9ldmyew/aenm6Zsjcn08jui2NsWYbdDdXxxleBMgxYZD2AAgAIAOXcAEkgAC5J0AA4kwAU3FPSNTqxl0ytUv9jSWO+Yd/eoIjVDSTlxlwMtmrhDlxEpNZilRqXk0yncFTO9u0vcX/VEWeipj3Zlertl7OEPpWAzz+krqknsIQfsARF2QXKCJpXPnMdU+CuuvyqpPe+YeREQdkX/qiW5Z/wB2KzPlSerMSZ2Otj5raBKqXNYIuy+HVNeJH0+28pX6OqRpDXtm9eUf1wLjxAtziUtJLGYPPzLK9dCXCXBlplTVYBlIZSLggggjmCN8ZGsPDNiafFHcB6EABAAQAEABAAQAEABABw8wDebRVZdCCzJ4PUm+RGVe0EmXva55DWF89rUp4jxNEdJY+fAZHaYn1Keaw52iK2jZLiq2W/0cVzmjuj2qls4SYrSmO7ONPOL6NfCx7slh+JXZpZRWVxJ8GN5lPY9AIAG1dXJKUs5sACfIXPsBiLklzITsjBZZku0e2zV8o/J0mJKltdiT+kUg2YgblFjz3xl1cpKKwOtgJTsk7I44Ldzz/gi8UeTKllFYzJjDeGsFvx0Nu4G5jFZOMFjqdHRXbZPeawvmV4g8zGTeYyVZ5kPbBvBuHuU8zBvBuHoZhxMeqxkXWheXXTBxvE1c0VvTxZYtn9vJ9MQD15fFCdw+wfon2dkaa9Y48+Qs1eyK7uK4Pv8Ac1rZ/HpNXL6SS1+DKdGQ8mHD3HhDOuyNizE5TU6WzTz3LF9n5DnEa4SlBPEgD4nwEV6jURpim+rwQppdrwhntNtHIoZJmz2sNyqNXdvqoOJ7dw4xrrrlY8RKJzUVlmJY3tTU4m9ph6OQDpJU9XTcXP0279BwAhtRp4w5c+4ttulMt2yNDLlqGsL8Oy3HviV3ZGR88su1PWShbM6BjpYsAbngAYV23Qi92Ul8TdRROUd6MW/cSIeAnk9zx5g9yJvMiSRCUiubQ09wSoRuaOAyNbeCN4PIixEaIR3u6fdGOUlGXLPgRmz8sqGmYc5RlPz1FOYlLnjLfet9bNx42sRGbUaj0TUNSvKS+ptohlb1D84ssmFbYSZs7oHV5M3TqTNDmtqt+fIjQixHKMtk1CSTfB8n0f8APgMqq3ZW5x5r2l1X8eJZImQCAAgAIAGWI4rIkLmnTZcsfbYL74AK5M9JGH3skx5v+VKmTB4FRHuGeZO12/pj/Z1f/t5v5RXZONazJnsePIe120aheryvrpbv5Rzup2zKTcKFxN9WibW9N4QxoJMyrGczVyH6pB90Qp2Xfe9++XAnPUV1cK0TtFg8mXuUE8zqYe0aOqpYijFO+c3xZIBY1YRURuOYYk6UwYC9tDxBjDrKIyhvLmi+i1wljoGzcwtTSy28Cx/VJHwjVRJyrTZXYsSZJxaQGeJ4gslCzeA4k8hEJzUFllVtsa47zKdWo9TLmM59dGVRwAYFfLXx7oyRk5PfYsblbmcivbP0arQTJwW7h2zaa5EUDLbsuWi+/wBhs6nZc07or/t+IpYSOeyfQ8E3h+zMx1zzCJMvfd99udjaw7SRGqvSylxlwQs1G0qq3uw9Z/t/PuFcuGJo055h+yHYeBlrb2mNMdNUvEwz2hqn2j8PqeqcKc5RNeWe3pF9rqR5wOip8OQR1us58H8H8uJ7W7KNlzyHWap1FrXI+yQcreyKLNI0sxeTVTtWEni1Y8ehXnlEEgggjeCLEHtB3RjeVwY1WJLK5CZSPcnjiPcExWbSThNlGxGjL9F14q3Z7t8XU3yrllGTV6OvUVuE15Psy9bQbTrPKuhOTIpAPAnVge0HQ/diraF/pLFjkkI9FoJUpxnzy/4KZtNhNRWzUmdJ1VUIOlJAVR9SwJ146ePJnszbkKK/R3J8OTXyfkKtp7Ids96lrjzX1Q6w7ZgqABNl37m98M4fqGjPsv8AYWy2Hdj2l+45ardfm1bdcEqTr3G17Rg2htqVrxT6se/V/YY7P2JXUt+9KT7dF92WbY/DwCZrC7DRb8DxPfHuzNCt308+b5eXfz+hj2ztJuf9PXyXP7eRcUeHDQjUj1ngweuRH1VcAbDXXXsi2NeTPO0gsTrLkkRprgZpSyyHwyQ8yZnpnC1UoX6JzZZ0u/WCuOB0BUjQ2N9xjPr9x1uu9eo+q6Pob9HF5Uq36y6PqWDFsNl18lSQ0meo6jMLPKcb5cy29b+HEbwTyMLnp5Sot9aD/E12/Ex/HKaur4SX40/B/wA8zrYraSYZr0lVpNQcd9wBmF+I1DA8QY21XuqSjN5i+T+X50ZdqKoWVK6tY6Ndn+fQvMMReM8VxSVTSmmznVEUXJJ9g5nsgAyDF/SRWV7mXh4+TyAbGe4u7fcG4e/ui2NbZXKxITwnZqnDdJPLVE3eXnEtr2A6CJ+iwUu3PIvNAyheqAqjkLDwtC3X7Qr00efE0UUTtkjyprGbQaD2mOS39TtG3diN8VaWOZDZpSZSGAa4sQdRY8LR1+z9jw00cvjIS6naUrXhciq1mzqSmMyjmPSzOctiEP3k3GGrq7mRagkcA9Js2nmCRiaix0WpQdU/5i8O8RnnU1yNcLVI1SnqFdQ6MGVhcEG4IPEERUWnNZMyoxPAExn1TxWyUF6yG+ByysiWDvtc/rEn4xZTHdgkE3mTHsxwASdANT4RYRM42gxYzphP0QSqj3nvF7d5PKFl9m8xDq73ZLwJCjxBBLUbzlAI7hY3vEo2RxgsrujuJDOnAkzHUayp7Zx9mYRZlb7wAI7QRxEa65qSwM9Jd/qny5EC+HyaLPPm9cBrSU4knVRr9Lf3AX7sMdMqptvj2O1ntOeqqUVw4es/zp1K7XVE2pbPPbq36ksaqPuJ9I82bzG6GVOllZxks+Bz+p2nGvMa3urrJ8H8enkiTpsHXKCVPifyK/GGtez1j1mIZ7STfqpvx5fMbVmFEbpYZewkH9okRXPZ8unEuhtCGMrMX+dUN6Ez6YmZINhveWfVYdqg6feG7sjFqNnWVLeiuAy0e3qr5eitefHr/JY6iRLr5HTShlmroy8bjej/AAMKLqlbHK5o6nSap6ae7J5g/wAyiolYVPgdLzWUclYMnjRLYA4JyMLkdZL/AFtxHjpYc4jZFyjwFW0YOCVi5cn9CQmVWbW8ZUjJuYOeliSR40eU8oA3iTeSLJ3ZjaGX0QWZ1WHYSD26R0+n2vRGtRt4NLHLt5HJa/YOpd8p0+sm88+KyT0vaCn0+cAuQNQVFybAXI5xsp1+mveK5cfevmLbtm6uiO9ZDh5p/Ik3mxtSF7mMqlFN7jfxiyOUUykRc2lQG51793lGiLbKXIqmPK0l0nSTZ0bMvIEcPukXBHImJ21K2twnyZdprnGSfY0OhrVqpCTU0zoHXn2q3aCCO8R841NcqbZVWc0zsKZ5iprkyFxCgz1FNUoPnZUwS5nNpUy6G/aucnuLdkSrt/xyrny5rz/n54ND9RSxyf4mXKZiSSpDTprBUlqS7HgF3mH2htd1MZPn1Ftkd2TPnTavaeZi1SWclaWWfmpe64+s32j7IaVVZ4mO61RJDD6j1Uli/AKBE77aqI70ngyb0pvCL1g2E5V6SedOCjieUcpr9tylwjwXzGml0LlzJCvrVRc7kKo9VfgO2EWl01+0bsLl1Y0vvr0kOHMrM/aME7wOQj6Hodn1aSvcgvectqNXO6WZMbPj19xjak2Z3JJCLYgTxi5UtlE9QlyGOIlZilWAIPCPZUHkNY0xT0e7Yth08U85i1JMayk/2TE6EfZ5jxhXdS4seae9WI3mfKWYljqrDhxEY51qfM1J4FlFhaLDwgdssQ6KnNt7af7eJKjxim+W7Ay6yz0dTZnDt1su/L1fEesfFixhXLmc/PnjsSFG8exZOtk3SyFm/NtqraHhp2HgdNDzjVV7Qwobclgpu0hRpZLm86ROMgG5s2pu2XcLqt78xaN9danNDieplGiSi+H1PcHkhU6QgFmOVewDefgOUdFCCit1e85PfdknOXF5wvqWOjp8+p3/ANbohOe7wRuhHI4q6Cw3RXC3JOVfArVbS9Ya2JNge07vbGtz9Rtiy6r11h4ZDScKZ5pEp+imE5bB2lknkCN4v5XjmtdTVXLfXJ9fM6/Ze0r3VuPGVww1n4BXYHWS/XMz9fre2YNYwy09UnjPyHFW2LodF7sojpizV9YKe8FD4W6vsimegXQYVfqHHtJ/s/sK0tQFIZiZduJBYcrqyAm4vxAjO9JKD48jdPalGpplBvmvzgyZqXBIddFmIsxRyzi5Hg2YeEKHHDa7cCjSz361nmuAmrQYLmPKcXgwUyeCVwTZMlLvORCVuBa/mbxsWi9Is73My27Q3HiMWxlVpTXElG+UTM6MWXSVL6KYr7/pm6ActTDzZexZVzVtnTkc9tbbSsrdUOvPr+e4shqzzjpNw5LIzqsTC72+MSUEecWM6jESVOUg6G2vHwi2MEVvg+JVmrsudZlyTpa+lzvN+e6Jci9rOGiz+jauPyd0/wAKc1vuzAG/eMzzjh/1HUo6iMl1Xy4HU7Ke9S49i5JLGbMN2YHzBv7l9sc85Zrx2YweUseBmPprxyYJcqkQkJNZpky3EKwCqey+vgI6HYHrVSXZmLW+rh+BQ8Cw+ZNYS5Y7zwUczDvW66vR18eYl3HZI1rZrAZchMx15sd7HkvIRxOr1s7n6Sx+SG+j0mXhEnXVqojTZpCogv2ADgIW6eizW3KMRtZONEOBB4TstUYqRUVDtT0x/RS1/SOv1mJ9UGO/0lUNJX6OtebENkfSy3pljHonw61ss6/1ule/vtGj08yLoh2KntZsBMo1M6S7TZK+ureug+sCPWAjbptTl4kL9Xolu5iVoTNIbIQOGGJzJkeM9jEhsYkh1MY9RWmhro7GpGyehPaY1VGZMxrzaY5CTvMs+ofIW8ITzWGPovKNGiB6ULb6pvOkS/tZj3ILke7yjHqXxSFe0JetCPv+BSaebfU8dfOF4lTzxJSmmR6icWWTAJl3/VPwjVQ+Iy0kvWM3x9j0zDnVTye8Fbe8+cM6ZYkmbKlvaeS8ZfMk6SoGWUOAB8yY6WHFZOcctyaT8S0YdVgRmtryM65jusrQRFUKsMslMq2ITrsLfWHvjdjEHnsK9RLelGK7oh5tTesUrvzDzzCOV1j/APzuPZPHzOn0ccT3u5sWINu8fhHHbZnKG44vHP6DahJ5yQdZhUmZ60tb8x1T7N/jeF+n2xq6eU8rs+JbKiEuhUNpNj2Mo/Jzm45DYNvF8p3E6dkP6duV3x3LVuv9iuFLhNS6EfQym+SyM6srIzyyGBBte63B8Yy2tellh55Ma6OWJNC8mReIo3SkStFTi9tL8r6xJIzTkebQymIlpnKy2zZ1Gma2WwPZqdI6n9OwjNzbWWsY8Dlf1BfOCiovg85EqVkQWUAR1ODk95sUn1hynLqeEeYBc+JCVuK5lsQL8/GAujDDI1cRZQQOPsPOPUyUq0+ZG11UQC4NyOt3kG8RlxRbWuKNcpMASRUzmldWVUZXCj6DqszMByU3QjvI3AR8+2jrf6jdUuccrz7HV6SpUqTXXDJTD3JRgd4IHjcwnlwz7jXavWWDOtuaX5RO6IWzmQCDytMdz5iXDfZtzoq9J0y/kl9TzUVRlTZ3SXzJHZfB0lqEXQAXd+J7T+UYNVa7Zuyximilye6iwlw2u5FGg5AcT2wqbnqLVCPXkPcR09bMz2lx1ayrk0+YLTdMqsSbBhm6xa/DS0d/oNmrRadR/wBnxZz9mo9NZl8kbjJ2holAVamQABYATF0A4b40bj7BvIU//JKP/mZP+ov5wbkuwb8e5xPx6jdSpqJJBBBGddx8Y9UJJ8iE5xa5mBzlCs6qbqkx0UjUFVY5bHlaOjpTdaZzmoilNobzJpESkVxjkY1VQLRnt4o10waZM+hfFOhxZUvZahGln7w6y+4+cJblhjyp5ifSUUlpmO2jXrpY7JgH+kPzjBqf+ReQn13G+Pkyn0syMQli+BKU8yAtROYLVZZi33HTz0/KLqpYkatNZuzWSA29w1knsyjRyJyd6i01R27nhlFjih4nKHfivr9GQciotYj1Tu7Dyh1odYsbshRr9E296JL02IkQ0xGXIWxvnXwkhWbihIgUEiUtW3yIirxILc7zwjDrNRFR3V7zboNJOc/ST9w42Cw9p9WjHUKc7H7K/m1hHN6yeYY7/jOopjumtVz3a3Ie+OG21apXKC6L5jGiOI5GrQqSLxvNMaKo5fEiyC2iHVT/ADB+60MtMlltdi7Sv1yh4tVu7lQSFGmnGGtUVFZY2ihvKoTbMbgBgCRvFwba+Hth3sR12alxn2eP2EP6jtsr0q3O/HHb/wC4JGmLLYGYzBRZQxvlB4AnhpujroUwg24pLPM4O26diSk84HgqYsKANTBg9wRtVIFiwJ3boi4l0JvkRLTYiaMDOvm9Ru4x4TgvWRv/AEnVB5KvmV/8x8oueZya7nX1R9VI5EyyH7R90ZXLoXbuZFEopLTq2sn2+blD5Oh+tMICsB93PMv3iH127Vo6K8+tLMmuyeOfngyysbdsVy9VfDP1LKkrKolDhq55ty7hCDV35e6jXpaVVDefMqnpAx7ok+Tyz1mHXI4Dl3mOu/TWyNyH9TauL5CPaesc5+ji/MzKTJLt2R2NdLskKZ2KCJ2moAo/2hjHSxxxQtnqZNjtZP8AWkT/AKavsUvUT7iglf1YQPT19iLukEwaQOCSIqTb4kfUxRNGmsiapox2G+pHexU0rilGR/jqPM2+MKb+Y0q5H1pGYuMz28GSrlOd2YD/AFAwPuWMGqWJxYq1yxZGRRT1HZfqsR5GMT54EUluyaH9PNgJpkjJmx6TTLInR1knophs66qw9YFdzr28xG6m3PDqNKLVZFJ+0igY3gM2nciwW504Sn7ZbHRT9hrW4cI1J5N8boye7Zwf7Py+3MiJk+amjIV7wR5XjVDVWRWMnk9DTPi0cfLJh3DyvE3rLGiC2fSnyHOE4LOqJgRFLHkNwHNm3KO0xknZ1kzdGCSwjYtnMESik2uGmNYu3Mjcq/ZHxJ7IR7Q10aoub9yNNVbbwLM19THDTnKyTlLmxglhYE3MSSPRrNaNVS6kGQWPN+jHNifwix/eEMdNHEGy/SrMyofJOse+NTs4DlciWw6SuVlYetbQ8YjXdOE1ODw1yZRqao2R3ZLKYhUYMw1lsCOTbx48Y63SfqaDjjURafePL4HG6r9NyUs0S4dn9zyRhDn12AHZqfhaJ6j9T0xX+GDb8eC+rK9P+mrW/wDNJJeHF/RL9yWpsGpjozuCeN/zFoWx/Umpcsvd8scPv+4ws/T+nUfVT88/nyIHanCWpyF6QMjglXHEA6hhfQi477+A6nZ+0I6yDaWGua8//hzer0ctLNZ4p8invNjWRwP9nsH+WvMlXtll578PXQWPepfyhZtTaC0VSm+rx+z/AIN2i0zun5G0ibmWZyJH7P8A5j5k7GuHc6vc3WkI1FRoOyKuZOMOIypp4VeqAAvqgCwzMSb99yTfnHspyct6TyyfoI+yhviWILTyWmNvtp2sdwhjsPZstfq0v9VxZi2nqlTW8czHsTqmmuWY3Zjc+MfVXXGOIQXBHIJvjJjuhpGzyZakAzZipmIuBmNr6Qam6WnSweVVq9vJpq+iuoH95k/gf+aMX92mW/2yPc7HotqP+Yk/gf8Ang/uth5/a49z3/8AV1R/zEn8Ez+eD+62B/a49zlvRVUH+8SfwTP54g9qWMktmwXUbzPRDPP95lf6b/zRF7QkyxaCK6jWZ6FZ5/vUr/Tf+aKnrG+hbHTJdTrCPQpOk1MmeatD0UxXsJbC+U3sDmjNOe8y+McG0RAmUf0m4fnlZxvA+II9qgeJjNqob0DDr696rK6GZ4mcxWb9cdbsddG90LbOal3EFy3sT7nFPOjwoTwSMidAWpkhT1BBBBsRuIj3JNSafAmxtBeWwmIri2pa2Q/eU6GGNG/JZkO9LGd0f8i4fP3EfhGFzaw2l/M04NjMtbNbeslfjuHsNllsK+bGkY8MIskvYmhXUqzfemN/CRGKeuiuckixVsmJKypK5JSKq8lAUd5tvMKdTtaC9n1n+xdCl9RvNmEm5jl9RfO6e9N5NcIqK4CTGKUiYjMaLoo8GzamN1VecR7kGyrYzVhqgqDpKUL+sdW96jwhq4bsEjdo4epvdxFpV9RvjPJG6M8cGJ1FMWWwOVhqp5EfCPKpbsuPIm5ZI6RjU1DlmKLjQ842yoT4rkVOK7is7aJQOtlXvPuG8xKrQW2vEIt+4otupqWZyS95C120LubISo58T3Dh7+6Oo2d+na4evqFl9unv7/LzOZ2ht2UvU0/Bf9uvu7Ec9ax9Zma27MxbyvHR06eqlNVxUc9kkc5bbbbxsk3ju8kRNLa9/n3QNM0JI0f0ZUJlU8yews049Xn0cu4B8WZ/ALHAfqbV+l1Cpjyhz839kdPsrT7te++pcpczLLsd9iT3mOWlLLGrjmWSMqqnqnt0849issvjHiTeCbPtOkpMWYtmubWJ3Ejn2R0Gn2JC2tSnJpvtgWanXzqscEkNdpPR7Oqcvz6gLuGU2vzOsdLslQ2dDchHOevUR6xPUy3pMo9f6MKyS2ayzFH1d/lrDqnaVW9maa/cw26Se7iLIfE8PmBLAFZiEMt9OshuPdGjVyr1Nea2ngwaVz09uLFjJvWx+0EutpZc5DqRZ14o49ZWHfHOtYeB+nwJqPD0ZYziSU8l50wgKilj4DQDmTEoxcnhEZyUVkw9tqsQa7GrnLmJbKMllBNwuqncLQ9hsuMopiWW0pKTSGk7a/EBurJ//b/kj3+1QLY6+TI6o27xNf75O/7f8kZbdFGCNVeocmWX0R7Q4lXV9ptVMeRKUvMBCWJOiqbLzufCFk0kzYnk3QRA9GeL0YmymQ8RHjWVg8kk1hmN4hhhQvJbQE3U/VcbvOFllWHus5+6j0bcHy6FeN1JB0IjJxTwxdKOBzJn2ia48iKeCTlGy53uF4Lxa+7Tt5Qwp0yjxlzHui0HDft9y+5aMG2YabaZVgqm9JG4nkZ3IfZ39240azaEaViPFj6Fbl5FwuAAAAABYACwAG4ADcI5m6+VjcpM1RglwQmzRinMtSEWaMU7Mk0jgmKkiQm7RbFANnaNVUOpBsRqpwlqSdTuA5k7gIc6TTNvHV8ytJyeEVeXsyQzOs+5c5mExcvWO851uNe4Q2t0qkvVfxG9djjFJx+B5MkPLNnUjkd4PcRoYWW0yg/WRYpRlyFEe8UNBxGONYJKqQM4sy+q4tcdh5js90btBtG3RyzDinzT5fwY9Xo69SsS4PuVHFNmnkC65pg5rLPuBJ9lu2Ov0G3aNQ92aUX4v74+Zzer2RZUsxbl7is11eymwt23GoI4GGtmox7LRgr0y/3XE4paapnjqJMcX3gWFzoAG3cd0YL9fXWvXmkba9I28wiXyk2JsspZk0lt80LxGlkQ+d2PkI56f6rmlJQjw5Rb+b+iGcdhxeJSfi/4NAGWVKCqANygDcqruUdgsI5KcnJOUnlvmNoQ9ZJLCXIazqjq98VKDyXRjxIDEJ7zpqU0kFnbV7cF5X4XG88Ae0Q92folGp6q3lyiu7+y+Zmu1C3/AEUfOT7Lt5seVgrVYy5M2WJSaLfpNbesbBSLFsxHYRHRUrEEItRb6SxyEFm4kuomSm7jMX2lQPbFpSLy9r8QkazUmBRvZSJiDvPWA8xABIJtTT1YtPlqx+unVcd6Hf4E90eptPKPGk1hkNNw2ZSuamgqCFb1iozDunSjx9sXxsjN4s+JTKEorMPgSUnbPF8o/wDSuDufI4v22BtGyOz1LinwFk9sQg2pJpoisWn1VUQaubnCm6ooySweeX6R74ZabQwr4sWana8rfVhyIqqW0MsGaDyQ9THjN1ayQGIOWYIgLMxsANSSdwEI9dd0Q401fU+jvRbsj/w+jCuB083rzT220XuA084St5ZvRc48PQgAqO2GBhh0ii/1hFVte8vEz6ilWLxM5xXDcwvxHHn96F868iK6logWksLi3qi57hv79/v5R7pI7tnrFWmUVanLknxNH2DWXMlmcwDTUfKL65OqCHUczmOv2TaIbV1c6IpR69TsaYqZa2eOUna28s2qOBNnjPO0mkJM0ZJ2Nk0jkmIJHomzRYkeCLEndGqFTzjr+cyLZ4QFhrRTx7splIrG0JrZb9O1PnpFGhU3Zebuu8eVgBvjoK9NKiOceZs0FlE3hvEvEWpMQSagdDcH+rHtiSlkbOvDwxb5RoRoQd4OoPhA3lYZF1J8SPqqcDrJu4rvK9o5j3Qu1Glx60OXY83WuDEUnRgweYFOkiLDByzg8AfKIZfcN1A1QRyHtiG4pcWepI6lTrRGUAaHkiUW1fQDcvE9/KIqJVOWOETp6XO12YBeAGpsPYIg7UuSyeKW7HCHNBhqS1aXIDK831nUgzWJ3kswPbYWsOAEdHs3S36ycb9R/wAcPZXJPyXbu+oj1dkaswh7T5s8n4NJzMWEy62BUzZwsSLaKrBf6EdZDCSXD4IVSWWJf8IkfR6RTzE2bw7GYj2RZlPovgiGGurEJtDNTWVND7+rMAVuwCZLAsO9TEJV1vpjy+zJKUiHqqCRObKymRP3ggAE8zYdWaOZU3HE8IyzqlFZ6FsZpjJnnU75ZhsxHVmDVXXk31l5g6jsiskL0OL9E5OXqnWZLGoF/wC0ldnZGnT6h1PHQW7Q2fHUxyvaXJ9/B/QkK2ardZSCCLgjcQd0dRQ8xTRxe7KM3FrDXMrmITQOMaOXEYUQbK3V1DOwSWpd2NlVQSSTyAhdq9UoLCHmm0zNZ9F3oz+TMKusAM/fLTeJV+J5v7o5y2xzY4jHdWDVIqJHsABABy6gixgAp+0GzxF3li44j8oqnWpeZnuoU+K5lMrMMBNx1SDvHxHwjHODXmKbdNuvPJjCkmzaKZ0svVN0xNbW7eziD9E9m+yUIait12GzSaqVLSly+X8fI0DDMVl1CZ5ZuOIPrKeTD47jwjh9oaS7ST3ZLh0ff+TpqrI2LKHRMLG8l5yzROEN5pAc6xojSvF/niR3jno+ZjXDSZ4sg5nE2YFHu5nu5w0o08p4jBFMppcx9heFM5DzBZd4Xn2mOh0ujjTxfFmSyxyLHkAFraRtKjHtpMNFDWjoxlp6m5CjckwbwOQ1BA7SOELr69yWVyZ1WzNT6erdl7Ufl0+x6Z0U5Ge4c9PbUQbx7uZGs42NxuPDkeQ7IXamrde8uTKJVuJ6rDtEYmyvAoJY+t7IrcwPRIXmTHnpGHEWRgN3+8QeXzIs8mV4HVJA7OJ8BFsNPZYvVXDv/JW93ex17Cf/ABIk2Xz/ACjodm7BhhW38e0env7+Qk1+0XGTrr+JIyqgjK3FSD5H/aOq3FjCEilx4kpUYlmluswZiLpLmqQb5SGCuRvuALH/AHitV4ax8Cze7kYZpibg+ZVvHnyiI4PcjfGJsooA+t9w3MG3Aod4btG6ISmoYz1/cnCDnnHTi/AbU7Bh8nqOsG1lvoC2Ub91lmqPBhfhcCq2rC3o+9diUJ9GQWJULyWyH1k60tuDKf4TutwPdGcsEElTphlpTKWE4nKlwCri5dNe4mG2g16qi4T5dBXrNnxtn6SK49Sfw30VVk83qZqyV4heu5+AiV+088IllOiUOZpGy2xNJQi8mXeZbWa/Wc+PAdghXOyU3lm6MVHkWMRWSPYACAAgAIAPCIAIbFNn0mar1WjxxT5kZRUuZVa/AZqb1uOY/KKJUdjJPS/9WV58NeU/SU79E44EdU34WI0HZqOyIzjvx3LI5RXFain2PuiZw7adxZamTlP+JLKlD2lScy+F/CEt+x4PjU15M30bSnysg/NfYkztDS/48vztGB6C2Dxu/DA3ipTWUn8BpU7V0y7nLnkisfabD2xetFbLjjBZHT2S6ELP2onzZ8iRIlhOmmBSz9Zgt+sQo0BAudb7o2U6GOUpPJfPRuFUrJ9EaTh+CJLOY9ZuZ1h7CuMFuxWEIG2+ZKgRM8CAClelfD89C0wDrSXSYPxZW/ZcnwjPqY5rGeybNzUpd+H1Rn6VNwDzF/OFe8dmogZ0eZJbgjOYMpU8ffwPnHjeVgJV5Q0kTWGlz539hjDNIwtdx7KmOePsH5Rnko9iOEOUVuLEeQiGM+yiuUkhOsrJKrZppFza0sgsey6g29nfGvS6PUymnGvP/ty+gu1OspjHDnjy5/sM6fKb9FLyL9Ym8w+JuF7xrHU6fZ1smpaiW9jlFcIr3CO7aKUXClYXV82yToqbKIdxhgUOY+DxPBHeLLgdB01HPAHWD5l+8qA28QSPGMls9y2L8C+C3oMqjT4tfEgmIT6wKDGHWa2vTR48ZPku/wBkMNDobNVL1eEVzfRfd+BH0JMx+kbcPUHvMV6Kqyf+e72ny8F4Fmvurh/+en2Vz8X4+RKMocZSbcQRvDDUEdohjgWZHNRL+UU2Yj5yVe47v0i92mYd3bC+yG5LBrhLeWSt4UGE15SGzm0+SeU6Tr7QNYrJG64JiC1EiVPXQTED24gkaqe0G48IAH0ABAAQAEABAAQAEABAB4RAA2nYfLbeoMAGabdU8r5TkVRaWoH6zdY+wr5Qv1Nj38HU7H00XRvtc2/2IDIg4CMu+xwqI9gDAbgI83ixVpdB1smufFaXkomMf9N7e3LF2m42IW7Xe7pZe75o2qGpxgQAEAETtbIz0VUvORMt35Db22iFnsvyNGllu3wfivmYZRTfm17oRN8T6LBLdFS8RyS4HOeAMls2a2bWqk9IN4Yq3eLH3MIaaauuytb0UcZtedtGqe5JpPD5/nUjNt9mOhWSg9aY5/Ci3PtKxphTXBYihTPUWzeZSZX8J2eWY4B1Gax7l9b2AxaklyKW88yXxPD1ScFsOol/1nJv7B+1G7TQ9XeMmonxweyzaNaTMzY/Q33RaVNknRYQZyFpLozL66FgrL277FdDqbRRO5QliS8mWxhvxzFi2H7XyaOWZaMk1i2Zm64UEhRZbKSw036b4hZpp2vefAnXqIwWFxIGtxCTNDTEBQliTYkpqbmwZAR5kcIVa/aP9J/ijxn8vMdbM2U9Z/ln6sO/fwX3K9Mm9K+S4CjU3IBt4neYXbO0k9Ta7rePfxfbyGm1ddDS1Kinh2XZd/MmPUXdYDy8I6rByG9xH9FhFU4V1l2Q2IdiqrZuN2OoseEVysguGS1QbHmBh1dmZCFNgbiwLLobc7iwv2Rm1OHjHMtoTTZXcZl/JquS43S52XvW9vapjIaDUdgGyrU0/CRUvl+5OAmjwvMceEAFqgAIACAAgAIACAAgAIACAAgAxfaupvWTz/1Cv4er8IS6iebGd/syvd0la8PnxIgzYp3jfunBmR5k93Sb9HWuKJ2SX+A+MbNF7Yi29/43vX1NnhqcaEABAA1xRbyZo5y2HmpjyXInXwmvNHztQP8ANr3QglzPpEHwFy8eYPcnJeDB5k0v0QT7pUJydG/EpH8EMtA+Ekct+oY+vXLwa+D/AJD0hdatp1+rImt5sg+EbznStbJreXm+y5/FcfxGABtjMy0+Ze+rAAbyeogAAGphtpor0a/Oorvb9I1+ckQkzGBfKOqftD4cI1KrgUttCi1DmwYk30A7eQAiawiiaciwnCJ0ilmzWRpZmhZK30bK5LPdd4uJYXX6xil2wsmoxeccfsSVc64OcljOF9xlgeyU2egmaKrTBLQNcB2sxYkjcoCnhqdIx6++aj6Op4k+b7eXiMdn11ufpLY70V05Zfj4DTaajmSJvQPluLWyG6tcacB5W0jlIbOk71Wnlvr9zs57XrWldsluqPDHj0SLlsXIoZdFmrJchnExlzPLVnfRWsosSbZ7dmkdM9NOlqunOMI43+sjenbfjOWRW0GOyBdaOikS7j9I0tc3gi6DxJ7o2V6afOyT+Jkerrf/ABxwVhsZmZVRpeY5cszMFIYBrrkAX5vSwOU8Li0X+hWcp/n1J+m4Etgc/PUBrAFy7FRoBm1sNTpcDjGXVQxVjyLKLN6zgd+kiXZc3bLP7CwqGJc/R/UlqyrHAyKV/ErOU/uiAC+wAEABAAQAEABAAQAEABAAQAYTtIbVdQP+tM9rmEN3/JLzZ9E0Ml/S1/8AqvkRmeKzVk8zwHmSxejI/wD9Nf8AIf3rG3Re2I9vf+N719TaIanHBAAQAN8Q/RTPuN+6YjLkTr9teZ820jWRe6ET5s+iJihmR4e7xyZkekcmlehjU1R4fND/AOWN+h/2931Oc/UDz6Nef0JTa+TfEaYfXp56+IykfGGBzhVdiBeUy8VMxfFQSPcIAIvaelylZ3SLe6tku+e6dW91HV1U6kiHOhlvQ3Me/oLNRFRs3m+fTqS2KC1KVzmjpzfKJvz1RVDmDmuqEcgF14gx5X/yZxvPw4KJOT9Xsvi2c7PbSJSqvR0coNbV2Zmf8RGncLCPbtM7Hxm/gZ46mNfsxRPysafFL0rSejXR2mo9zLyHfYrbXVf1r8DGaVS03rqXHt+Muja9V6jjw7/iHW0WNSZMpZa2WTLsqqBcuV3BQd/P2nnGJKVku7ZubhXHskUeSj1U4zMgzWyoi8FFzcndfUknQe+GdGnhR675vr9BPq9VZfiuPLmkWKvwlDIl9DNSYZYbpEU9a7G7MgOrLoBu3KDEq7mpvfTWeRVZVF1x3JJ45rzILoY15MWRnXpuHjHhdU+o62ap7zr8l95A9xMY9a8V48RjoVmzPgdelBtFXizqv4UAPthSNy0ejBb1Va/AS6eV4oJhP74gA0aAAgAIACAAgAIACAAgAIACADD9v5Jl188cGKuO5kW/7WaE2qji1nc7Jt3tJDwyvg39MFdMyM+Bhk5MyPTzeLL6NJlsSlfalzF/ZLfwxq0bxZgU7bWdK34o2+GxxoQAEADLG5mWnnNylOfJDEZ+yyylZsivFHzYjWAHYIRdT6BKXE8MyDBDeOTMj083jYfQvTEUs2Yf7SdYdoRFHvLDwhno44g2cxtuzeujHsvm/wD4SPpAPRPR1XCTUKH+5OGQ+F2B8I1iYqOEL8nxGqpzuz9Kg5q2pt4EQAe7R0FieIU270fVT3Xv+MQw0FmG4+8XbQhwU0QT0oJDNckAKLkmwUWUC/AAQ0TwsIVuxvmxWXTliFUEsxAAG8k6ACISaiss8inJ4RaKqtl0Ej5PL6859ZpX6TfVvwlruvx15m6mW9qLOHIdR3NLXx5lclVUzNnfI5P0XRHQD6qhgco7Rr2xvr00IrC59xbZq5zfh2L5tCZIw9ZlOiS1mslwoC3BuSrW32II8IyUKfp8TecZNep3HpswWE8cimyDm4boZsRyW6xXo48IkfUSybMRYHdHqNMY7qLJsjh3VLnQHU/dW9v4/ZCrXWZkoroOdBXiDk+pUNtKvpa5E4S+u3eTcxiN5oXogpj8kmzyNaiezj7qWRfCyX8YAL3AAQAEABAAQAEABAAQAEABABl3pjw0gyakDQgyn8LsnvmeyF+thykdHsHUcJUvzXyf0M0MyMB0O8cmZBg83id2DqQuIUrH/EK/6qMg9rRfp3i1GLaK39JNeHyeT6BhwcSEABABA7eVHR4fVHdeUyDvmdQe1hFVzxWzZs+G/qYLxz8OJ86zZmp8vKE6XA7KcuImZkS3SveOc8eqJ5vH0psdhXyWjkSSLMqAv99+s/7TGG9cN2KRx2ru9NdKfd8PLoK7UYWKmlmyT9NCPHgR2xMzmN4niDlaest8/SH5PVLxOTQN3FT7RABoKSkqpCulmutx9pDwvzHsIXlEoycXvIjOKlFplSqqMoxU94PMfnpqOBBh5VarI5Rzl9UqpOLClqjKuZQzTiLBvoylOhY83a9gOAP2oouTuluLl18TRTKNEd9+0+XgNpdNYkklmOpY7yf64RphCMFhGSy2U3mQp0UTIZFZOLu9OadELjplKG4UE5Wzqt9+9Db7RiLojGz0knjhx/bBqhKUqnX45X75E8JnK+q8eHEROcHF4ZisHdToLcTEERiupzR0TTWC6kDeeQPAdp1t4ncDFV9qqjk26emV08dOpacbq0o6Vi1hZbkD9lR5Adw7YSNtvLOiSSWEYpLeZPmHLrOqXyL2Zjqe4C58I8PT6UwPDlp6eVIQWWWiqPAQAPoACAAgAIACAAgAIACAAgAIAIzaTCFqqaZIbTOvVP1WGqt4ECIWQ34uJfpr3RarF0/GfOFbJeVMaXMGV0YqwPAg6/8AmE0oNPDO1jZGcVKPJ8huZkGD3eFqGrKTFdfWVg6/eQhh7RHq4NPseLE04Pk00fTmH1izpaTUN1mKHXuYXHvh1F5WUcNZB1zcJc08DiPSAQAZ56ZcUCUySb6zXzEfYla/vlPIxk1ksRUe462JVm2Vr5RX7v8AjJiBMYh4eQAXb0VbOGqqxNYfNU5DtyZ/oL5jMexbcYv09e9LL5IX7R1Hoqt1c5fLr9jfRDE5kIAMl9I2EGlntVKt5E4ZKheFuD9449ndABD7FbQfI5vyea3zDm8qZwW/A9hgA0nEsLSetwNd9h+8p8uw6X1AItptlW8r4FF+njdHD9z7FSmUDSTu0vYkDQ34Ebwew9/bDaq6Fi4fARX0W1S9bl3Eml3MaDJvHE2RdSBxBHmI9Tw8hkQwecFl9HNlSZiLMJs7dHNl5guZpbA3t1eGt1ESvg3Leg2njosp+DNNNyUd2STWerw14oTw2nCvMZL9GXPR33lQxy38Le2JWN7qUufXzM8mnJ45EzJoGmsLAgHja9+eQcfcOJEYbdRCpY6mnTaOy3y7lnp6WXSyy7kDKL6nQcyx4nt8BCmyyVksyOgqpjVHdiYvt1tWaybZSRJQ6faP1j8IrLS3+hrZgu/y2atgBlkg8jvfx93fABsUABAAQAEABAAQAEABAAQAEABAAQAZz6U9ijUKaqnW85B11G+Yo3EDi49o04ARl1FO96yG2zdd6N+im/VfJ9v4ZiZjCdC8gDAeI1b0XbbJLQU1QwVL3luTZVLG5RzwF7kHdqRyjTpr1H1Je4WbU0Lt/wA9Sy/9l18zWlYEXGojec4McZxqRSyzMnOFHAfSY8kXex7ohOcYLMi6jT2Xy3a1n86nz5tltC9ZUNMbQeqq3vkRb5VvxNySe0wrnN2S3n7jrqaI6apVR59X3ZX48JEls/gk2rnLJkrdjvJ9VF4s54AfkN5EShBzeEVXXQpg5z5fPwR9G7N4HLo5CyZW5dWbi7H1mbtPsAA4QzhBQWEcpffK6xzkSkTKQgAa4lQrOlsjgEEQAYJths09CzKVLUxNwRqZV/4PdAA52S27mUmWXOvNkfRYHrIOw8R2QAaxh2I01YmaW6vpvXRh2Mvw1EeptcjxpNYYhU7Mg6oQe45TrzFiPICNMNZZHxMNmzqZ8uHkMH2bmA/T/Cp9of4RoWv7xMstk9pfsKUGzrLMV2Qtl4FUF9CLZs5sNeURs1zlBxS/csq2YoTU2846Y8B7T7Nqpu2VRwBOcjsFwF9hiiertlwyaKtBTXxxnzEMb2lpKFTmYZ7bvWmN4cPG3dGY24S5GPbW7Xz64kay5INwl9/a54wHgvsDsO9bMV5gIkA31+n/APX3wHp9CUdMstFRBZVFgIAFoACAAgAIACAAgAIACAAgAIACAAgA8MAGc7e7AyagtOkMsqdvYHRJh5m3qt2jfx5xmtoUuMeY00W0nUtyzjH91914GP1mGTJTFZilWH9aEaEdojBJOLxI6GqcLVvVvKEklkaiI5yWxUk8okKXFqiWMsubNQckmTEHkptApSXJs9lCE3mcIt+SG9TUTHOZmJY/SYlm/ExvHmcvLeT3LS3YJJeA16Ax7khuMntmtkJtW41EuXxdv4F3sfIdoi+umU/IxanW1afg3l9l9X+M3XZbAaejldHIG/13OruRxY+4bhDCFagsI5vUamd8t6fuXRE3EzOEABAAQAM8Sw5JyFXF4AMb2u9GkyUS9NYA65D6h+6foHs3QAUAvPpZmomSHB3glfJhoYALdhXpGr0ABZJwH11ufxLABYJPpWn/AEqVD3TWHsMB4E70n1bfo6ZB3zHb2LABBYntPiU4HNNElTvCDJ7TYwBkr0mhzv1Q86Yd5Fzr2sdBABe9k/Ru01hMqbZRqEHq+P1j7ID01yhoklIEQWAgAcQAEABAAQAEABAAQAEABAAQAEABAAQAEADefRI28QAV7FNhqedvLDyPvjySUlhk4WSg8xeH4FdqPRNLPqT2HeoPxjNLSVvwGVW2NTDg8S8/4GbeiSZwqU8ZbfzRX/Qx/wCzNS29PrBfFncr0SN9KpH6qH4mPVoY9WyE9u2v2YJfEkqP0VyFN2ms36o/OL4aeuPJGC7aOpt4Slw7LgWjD9mpMr1bnvi4xEtKkqu4QAKQAEABAAQAEAHjKCLEXEAEHiuy0icCCo14EAjyMAFLxD0Uyiby1K/ca37J0gAi29G89fVmzh4A+6ABWV6PKk6GdOt4CAMErQei9L3mXb77E+waQAXHC9mpEkABRp2ADyEAEyBaAD2AAgAIACAAgAIACAAgAIACAAgAIACAAgAIACAAgAIACAAgAIACAAgAIACAAgAIACAAgAIACAAgAIACAAgAIACAAgAIACAAgAIACAD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pic>
        <p:nvPicPr>
          <p:cNvPr id="6656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667000"/>
            <a:ext cx="2705100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33750" y="2505075"/>
            <a:ext cx="247650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67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2590800"/>
            <a:ext cx="28575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68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48400" y="4724400"/>
            <a:ext cx="2705100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609600" y="1600200"/>
            <a:ext cx="54102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b="1" dirty="0" smtClean="0">
                <a:solidFill>
                  <a:prstClr val="black"/>
                </a:solidFill>
              </a:rPr>
              <a:t>Even operating systems are programs</a:t>
            </a:r>
            <a:endParaRPr lang="en-US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94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466" name="Picture 2" descr="http://kukuruku.co/uploads/images/00/00/01/2014/05/19/x5024224fad.png.pagespeed.ic.OTotzoXD4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3429000"/>
            <a:ext cx="2438400" cy="2450592"/>
          </a:xfrm>
          <a:prstGeom prst="rect">
            <a:avLst/>
          </a:prstGeom>
          <a:noFill/>
        </p:spPr>
      </p:pic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990600" y="990600"/>
            <a:ext cx="70866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sz="3200" b="1" dirty="0" smtClean="0">
                <a:solidFill>
                  <a:prstClr val="black"/>
                </a:solidFill>
              </a:rPr>
              <a:t>“a precise sequence of steps to solve a particular problem”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76400" y="3735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prstClr val="black"/>
                </a:solidFill>
              </a:rPr>
              <a:t>Program</a:t>
            </a:r>
            <a:endParaRPr lang="en-US" sz="4400" b="1" dirty="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609600" y="3200400"/>
            <a:ext cx="80772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b="1" dirty="0" smtClean="0">
                <a:solidFill>
                  <a:srgbClr val="00B0F0"/>
                </a:solidFill>
              </a:rPr>
              <a:t>Programs are run or executed  </a:t>
            </a:r>
            <a:r>
              <a:rPr lang="en-US" sz="2800" b="1" i="1" dirty="0" smtClean="0">
                <a:solidFill>
                  <a:srgbClr val="00B0F0"/>
                </a:solidFill>
              </a:rPr>
              <a:t>(like OS runs on Hardware like laptop or cell phone)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b="1" dirty="0" smtClean="0">
                <a:solidFill>
                  <a:srgbClr val="00B0F0"/>
                </a:solidFill>
              </a:rPr>
              <a:t>Programs can also be run by other programs (like when we play games in a web browser)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endParaRPr lang="en-US" sz="28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defRPr/>
            </a:pPr>
            <a:endParaRPr lang="en-US" sz="3200" b="1" dirty="0" smtClean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20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129570"/>
            <a:ext cx="9144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 smtClean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Program design</a:t>
            </a:r>
            <a:endParaRPr lang="th-TH" sz="4500" b="1" dirty="0">
              <a:solidFill>
                <a:srgbClr val="1F497D">
                  <a:lumMod val="50000"/>
                </a:srgbClr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2" name="Group 46"/>
          <p:cNvGrpSpPr/>
          <p:nvPr/>
        </p:nvGrpSpPr>
        <p:grpSpPr>
          <a:xfrm>
            <a:off x="1295400" y="1219200"/>
            <a:ext cx="6705600" cy="4577953"/>
            <a:chOff x="609600" y="2057400"/>
            <a:chExt cx="6705600" cy="4577953"/>
          </a:xfrm>
        </p:grpSpPr>
        <p:grpSp>
          <p:nvGrpSpPr>
            <p:cNvPr id="3" name="Group 41"/>
            <p:cNvGrpSpPr/>
            <p:nvPr/>
          </p:nvGrpSpPr>
          <p:grpSpPr>
            <a:xfrm>
              <a:off x="609600" y="2057400"/>
              <a:ext cx="3100388" cy="4572000"/>
              <a:chOff x="5638800" y="1981200"/>
              <a:chExt cx="3100388" cy="4572000"/>
            </a:xfrm>
          </p:grpSpPr>
          <p:grpSp>
            <p:nvGrpSpPr>
              <p:cNvPr id="4" name="Group 27"/>
              <p:cNvGrpSpPr/>
              <p:nvPr/>
            </p:nvGrpSpPr>
            <p:grpSpPr>
              <a:xfrm>
                <a:off x="5638800" y="1981200"/>
                <a:ext cx="3100388" cy="4572000"/>
                <a:chOff x="3352800" y="2057400"/>
                <a:chExt cx="3100388" cy="4572000"/>
              </a:xfrm>
            </p:grpSpPr>
            <p:sp>
              <p:nvSpPr>
                <p:cNvPr id="29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3657600" y="6011862"/>
                  <a:ext cx="2509838" cy="617538"/>
                </a:xfrm>
                <a:prstGeom prst="rect">
                  <a:avLst/>
                </a:prstGeom>
                <a:solidFill>
                  <a:schemeClr val="tx2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3400" b="1" dirty="0">
                      <a:solidFill>
                        <a:srgbClr val="EEECE1"/>
                      </a:solidFill>
                    </a:rPr>
                    <a:t>Source Code</a:t>
                  </a:r>
                </a:p>
              </p:txBody>
            </p:sp>
            <p:grpSp>
              <p:nvGrpSpPr>
                <p:cNvPr id="5" name="Group 14"/>
                <p:cNvGrpSpPr/>
                <p:nvPr/>
              </p:nvGrpSpPr>
              <p:grpSpPr>
                <a:xfrm>
                  <a:off x="3352800" y="2057400"/>
                  <a:ext cx="3100388" cy="3252788"/>
                  <a:chOff x="3352800" y="2057400"/>
                  <a:chExt cx="3100388" cy="3252788"/>
                </a:xfrm>
              </p:grpSpPr>
              <p:sp>
                <p:nvSpPr>
                  <p:cNvPr id="31" name="Text Box 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52800" y="2057400"/>
                    <a:ext cx="3100388" cy="615553"/>
                  </a:xfrm>
                  <a:prstGeom prst="rect">
                    <a:avLst/>
                  </a:prstGeom>
                  <a:solidFill>
                    <a:schemeClr val="tx2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3400" b="1" dirty="0">
                        <a:solidFill>
                          <a:srgbClr val="EEECE1"/>
                        </a:solidFill>
                      </a:rPr>
                      <a:t>Hierarchy </a:t>
                    </a:r>
                    <a:r>
                      <a:rPr lang="en-US" sz="3400" b="1" dirty="0" smtClean="0">
                        <a:solidFill>
                          <a:srgbClr val="EEECE1"/>
                        </a:solidFill>
                      </a:rPr>
                      <a:t>chart</a:t>
                    </a:r>
                    <a:endParaRPr lang="en-US" sz="3400" b="1" dirty="0">
                      <a:solidFill>
                        <a:srgbClr val="EEECE1"/>
                      </a:solidFill>
                    </a:endParaRPr>
                  </a:p>
                </p:txBody>
              </p:sp>
              <p:sp>
                <p:nvSpPr>
                  <p:cNvPr id="32" name="Text Box 4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57601" y="3352800"/>
                    <a:ext cx="2279650" cy="615553"/>
                  </a:xfrm>
                  <a:prstGeom prst="rect">
                    <a:avLst/>
                  </a:prstGeom>
                  <a:solidFill>
                    <a:srgbClr val="4C6E6C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3400" b="1" dirty="0" smtClean="0">
                        <a:solidFill>
                          <a:srgbClr val="EEECE1"/>
                        </a:solidFill>
                      </a:rPr>
                      <a:t>Flow chart</a:t>
                    </a:r>
                    <a:endParaRPr lang="en-US" sz="3400" b="1" dirty="0">
                      <a:solidFill>
                        <a:srgbClr val="EEECE1"/>
                      </a:solidFill>
                    </a:endParaRPr>
                  </a:p>
                </p:txBody>
              </p:sp>
              <p:sp>
                <p:nvSpPr>
                  <p:cNvPr id="33" name="Text Box 5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49663" y="4689475"/>
                    <a:ext cx="2509837" cy="620713"/>
                  </a:xfrm>
                  <a:prstGeom prst="rect">
                    <a:avLst/>
                  </a:prstGeom>
                  <a:solidFill>
                    <a:srgbClr val="4C6E6C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3400" b="1" dirty="0">
                        <a:solidFill>
                          <a:srgbClr val="EEECE1"/>
                        </a:solidFill>
                      </a:rPr>
                      <a:t>Pseudo Code</a:t>
                    </a:r>
                  </a:p>
                </p:txBody>
              </p:sp>
            </p:grpSp>
          </p:grpSp>
          <p:cxnSp>
            <p:nvCxnSpPr>
              <p:cNvPr id="38" name="Straight Arrow Connector 37"/>
              <p:cNvCxnSpPr/>
              <p:nvPr/>
            </p:nvCxnSpPr>
            <p:spPr>
              <a:xfrm rot="5400000">
                <a:off x="6835973" y="2917628"/>
                <a:ext cx="679849" cy="26194"/>
              </a:xfrm>
              <a:prstGeom prst="straightConnector1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rot="5400000">
                <a:off x="6759773" y="4289228"/>
                <a:ext cx="679849" cy="26194"/>
              </a:xfrm>
              <a:prstGeom prst="straightConnector1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 rot="5400000">
                <a:off x="6683573" y="5590578"/>
                <a:ext cx="679849" cy="26194"/>
              </a:xfrm>
              <a:prstGeom prst="straightConnector1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Straight Arrow Connector 42"/>
            <p:cNvCxnSpPr>
              <a:stCxn id="29" idx="3"/>
            </p:cNvCxnSpPr>
            <p:nvPr/>
          </p:nvCxnSpPr>
          <p:spPr>
            <a:xfrm>
              <a:off x="3424238" y="6320631"/>
              <a:ext cx="969168" cy="3968"/>
            </a:xfrm>
            <a:prstGeom prst="straightConnector1">
              <a:avLst/>
            </a:prstGeom>
            <a:ln w="7620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 Box 51"/>
            <p:cNvSpPr txBox="1">
              <a:spLocks noChangeArrowheads="1"/>
            </p:cNvSpPr>
            <p:nvPr/>
          </p:nvSpPr>
          <p:spPr bwMode="auto">
            <a:xfrm>
              <a:off x="4424362" y="6019800"/>
              <a:ext cx="2890838" cy="615553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400" b="1" dirty="0" smtClean="0">
                  <a:solidFill>
                    <a:srgbClr val="EEECE1"/>
                  </a:solidFill>
                </a:rPr>
                <a:t> Machine </a:t>
              </a:r>
              <a:r>
                <a:rPr lang="en-US" sz="3400" b="1" dirty="0">
                  <a:solidFill>
                    <a:srgbClr val="EEECE1"/>
                  </a:solidFill>
                </a:rPr>
                <a:t>Code</a:t>
              </a:r>
            </a:p>
          </p:txBody>
        </p:sp>
      </p:grpSp>
      <p:sp>
        <p:nvSpPr>
          <p:cNvPr id="48" name="Right Brace 47"/>
          <p:cNvSpPr/>
          <p:nvPr/>
        </p:nvSpPr>
        <p:spPr>
          <a:xfrm>
            <a:off x="4572000" y="1371600"/>
            <a:ext cx="533400" cy="3200400"/>
          </a:xfrm>
          <a:prstGeom prst="rightBrac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953000" y="1828800"/>
            <a:ext cx="4191000" cy="198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  <a:latin typeface="Tahoma" pitchFamily="34" charset="0"/>
                <a:cs typeface="Tahoma" pitchFamily="34" charset="0"/>
              </a:rPr>
              <a:t>Program</a:t>
            </a:r>
            <a:r>
              <a:rPr lang="en-US" sz="4400" b="1" dirty="0" smtClean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  <a:latin typeface="Tahoma" pitchFamily="34" charset="0"/>
                <a:cs typeface="Tahoma" pitchFamily="34" charset="0"/>
              </a:rPr>
              <a:t>Designing</a:t>
            </a:r>
            <a:endParaRPr lang="en-US" sz="4400" b="1" dirty="0">
              <a:solidFill>
                <a:srgbClr val="F79646">
                  <a:lumMod val="75000"/>
                </a:srgbClr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9496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174975"/>
            <a:ext cx="9144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 smtClean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Program coding</a:t>
            </a:r>
            <a:endParaRPr lang="th-TH" sz="4500" b="1" dirty="0">
              <a:solidFill>
                <a:srgbClr val="1F497D">
                  <a:lumMod val="50000"/>
                </a:srgbClr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2" name="Group 46"/>
          <p:cNvGrpSpPr/>
          <p:nvPr/>
        </p:nvGrpSpPr>
        <p:grpSpPr>
          <a:xfrm>
            <a:off x="1295400" y="1219200"/>
            <a:ext cx="6934200" cy="4577953"/>
            <a:chOff x="609600" y="2057400"/>
            <a:chExt cx="6934200" cy="4577953"/>
          </a:xfrm>
        </p:grpSpPr>
        <p:grpSp>
          <p:nvGrpSpPr>
            <p:cNvPr id="3" name="Group 41"/>
            <p:cNvGrpSpPr/>
            <p:nvPr/>
          </p:nvGrpSpPr>
          <p:grpSpPr>
            <a:xfrm>
              <a:off x="609600" y="2057400"/>
              <a:ext cx="3100388" cy="4572000"/>
              <a:chOff x="5638800" y="1981200"/>
              <a:chExt cx="3100388" cy="4572000"/>
            </a:xfrm>
          </p:grpSpPr>
          <p:grpSp>
            <p:nvGrpSpPr>
              <p:cNvPr id="4" name="Group 27"/>
              <p:cNvGrpSpPr/>
              <p:nvPr/>
            </p:nvGrpSpPr>
            <p:grpSpPr>
              <a:xfrm>
                <a:off x="5638800" y="1981200"/>
                <a:ext cx="3100388" cy="4572000"/>
                <a:chOff x="3352800" y="2057400"/>
                <a:chExt cx="3100388" cy="4572000"/>
              </a:xfrm>
            </p:grpSpPr>
            <p:sp>
              <p:nvSpPr>
                <p:cNvPr id="29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3657600" y="6011862"/>
                  <a:ext cx="2509838" cy="617538"/>
                </a:xfrm>
                <a:prstGeom prst="rect">
                  <a:avLst/>
                </a:prstGeom>
                <a:solidFill>
                  <a:schemeClr val="tx2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sz="3400" b="1" dirty="0">
                      <a:solidFill>
                        <a:srgbClr val="EEECE1"/>
                      </a:solidFill>
                    </a:rPr>
                    <a:t>Source Code</a:t>
                  </a:r>
                </a:p>
              </p:txBody>
            </p:sp>
            <p:grpSp>
              <p:nvGrpSpPr>
                <p:cNvPr id="5" name="Group 14"/>
                <p:cNvGrpSpPr/>
                <p:nvPr/>
              </p:nvGrpSpPr>
              <p:grpSpPr>
                <a:xfrm>
                  <a:off x="3352800" y="2057400"/>
                  <a:ext cx="3100388" cy="3252788"/>
                  <a:chOff x="3352800" y="2057400"/>
                  <a:chExt cx="3100388" cy="3252788"/>
                </a:xfrm>
              </p:grpSpPr>
              <p:sp>
                <p:nvSpPr>
                  <p:cNvPr id="31" name="Text Box 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52800" y="2057400"/>
                    <a:ext cx="3100388" cy="615553"/>
                  </a:xfrm>
                  <a:prstGeom prst="rect">
                    <a:avLst/>
                  </a:prstGeom>
                  <a:solidFill>
                    <a:schemeClr val="tx2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3400" b="1" dirty="0">
                        <a:solidFill>
                          <a:srgbClr val="EEECE1"/>
                        </a:solidFill>
                      </a:rPr>
                      <a:t>Hierarchy </a:t>
                    </a:r>
                    <a:r>
                      <a:rPr lang="en-US" sz="3400" b="1" dirty="0" smtClean="0">
                        <a:solidFill>
                          <a:srgbClr val="EEECE1"/>
                        </a:solidFill>
                      </a:rPr>
                      <a:t>chart</a:t>
                    </a:r>
                    <a:endParaRPr lang="en-US" sz="3400" b="1" dirty="0">
                      <a:solidFill>
                        <a:srgbClr val="EEECE1"/>
                      </a:solidFill>
                    </a:endParaRPr>
                  </a:p>
                </p:txBody>
              </p:sp>
              <p:sp>
                <p:nvSpPr>
                  <p:cNvPr id="32" name="Text Box 4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57601" y="3352800"/>
                    <a:ext cx="2279650" cy="615553"/>
                  </a:xfrm>
                  <a:prstGeom prst="rect">
                    <a:avLst/>
                  </a:prstGeom>
                  <a:solidFill>
                    <a:srgbClr val="4C6E6C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3400" b="1" dirty="0" smtClean="0">
                        <a:solidFill>
                          <a:srgbClr val="EEECE1"/>
                        </a:solidFill>
                      </a:rPr>
                      <a:t>Flow chart</a:t>
                    </a:r>
                    <a:endParaRPr lang="en-US" sz="3400" b="1" dirty="0">
                      <a:solidFill>
                        <a:srgbClr val="EEECE1"/>
                      </a:solidFill>
                    </a:endParaRPr>
                  </a:p>
                </p:txBody>
              </p:sp>
              <p:sp>
                <p:nvSpPr>
                  <p:cNvPr id="33" name="Text Box 5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49663" y="4689475"/>
                    <a:ext cx="2509837" cy="620713"/>
                  </a:xfrm>
                  <a:prstGeom prst="rect">
                    <a:avLst/>
                  </a:prstGeom>
                  <a:solidFill>
                    <a:srgbClr val="4C6E6C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sz="3400" b="1" dirty="0">
                        <a:solidFill>
                          <a:srgbClr val="EEECE1"/>
                        </a:solidFill>
                      </a:rPr>
                      <a:t>Pseudo Code</a:t>
                    </a:r>
                  </a:p>
                </p:txBody>
              </p:sp>
            </p:grpSp>
          </p:grpSp>
          <p:cxnSp>
            <p:nvCxnSpPr>
              <p:cNvPr id="38" name="Straight Arrow Connector 37"/>
              <p:cNvCxnSpPr/>
              <p:nvPr/>
            </p:nvCxnSpPr>
            <p:spPr>
              <a:xfrm rot="5400000">
                <a:off x="6835973" y="2917628"/>
                <a:ext cx="679849" cy="26194"/>
              </a:xfrm>
              <a:prstGeom prst="straightConnector1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rot="5400000">
                <a:off x="6759773" y="4289228"/>
                <a:ext cx="679849" cy="26194"/>
              </a:xfrm>
              <a:prstGeom prst="straightConnector1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 rot="5400000">
                <a:off x="6683573" y="5590578"/>
                <a:ext cx="679849" cy="26194"/>
              </a:xfrm>
              <a:prstGeom prst="straightConnector1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Straight Arrow Connector 42"/>
            <p:cNvCxnSpPr>
              <a:stCxn id="29" idx="3"/>
            </p:cNvCxnSpPr>
            <p:nvPr/>
          </p:nvCxnSpPr>
          <p:spPr>
            <a:xfrm>
              <a:off x="3424238" y="6320631"/>
              <a:ext cx="969168" cy="3968"/>
            </a:xfrm>
            <a:prstGeom prst="straightConnector1">
              <a:avLst/>
            </a:prstGeom>
            <a:ln w="7620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 Box 51"/>
            <p:cNvSpPr txBox="1">
              <a:spLocks noChangeArrowheads="1"/>
            </p:cNvSpPr>
            <p:nvPr/>
          </p:nvSpPr>
          <p:spPr bwMode="auto">
            <a:xfrm>
              <a:off x="4424362" y="6019800"/>
              <a:ext cx="3119438" cy="615553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400" b="1" dirty="0" smtClean="0">
                  <a:solidFill>
                    <a:srgbClr val="EEECE1"/>
                  </a:solidFill>
                </a:rPr>
                <a:t>Machine </a:t>
              </a:r>
              <a:r>
                <a:rPr lang="en-US" sz="3400" b="1" dirty="0">
                  <a:solidFill>
                    <a:srgbClr val="EEECE1"/>
                  </a:solidFill>
                </a:rPr>
                <a:t>Code</a:t>
              </a:r>
            </a:p>
          </p:txBody>
        </p:sp>
      </p:grpSp>
      <p:grpSp>
        <p:nvGrpSpPr>
          <p:cNvPr id="7" name="Group 21"/>
          <p:cNvGrpSpPr/>
          <p:nvPr/>
        </p:nvGrpSpPr>
        <p:grpSpPr>
          <a:xfrm>
            <a:off x="4290189" y="2209800"/>
            <a:ext cx="3634611" cy="2763289"/>
            <a:chOff x="4191000" y="2334173"/>
            <a:chExt cx="3634611" cy="2763289"/>
          </a:xfrm>
        </p:grpSpPr>
        <p:sp>
          <p:nvSpPr>
            <p:cNvPr id="49" name="TextBox 48"/>
            <p:cNvSpPr txBox="1"/>
            <p:nvPr/>
          </p:nvSpPr>
          <p:spPr>
            <a:xfrm rot="19281960">
              <a:off x="4762714" y="2334173"/>
              <a:ext cx="3062897" cy="212365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4400" b="1" dirty="0" smtClean="0">
                  <a:solidFill>
                    <a:srgbClr val="C00000"/>
                  </a:solidFill>
                  <a:latin typeface="Tahoma" pitchFamily="34" charset="0"/>
                  <a:cs typeface="Tahoma" pitchFamily="34" charset="0"/>
                </a:rPr>
                <a:t>Program Coding</a:t>
              </a:r>
              <a:endParaRPr lang="en-US" sz="4400" b="1" dirty="0">
                <a:solidFill>
                  <a:srgbClr val="C00000"/>
                </a:solidFill>
                <a:latin typeface="Tahoma" pitchFamily="34" charset="0"/>
                <a:cs typeface="Tahoma" pitchFamily="34" charset="0"/>
              </a:endParaRP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V="1">
              <a:off x="4191000" y="4343400"/>
              <a:ext cx="914402" cy="754062"/>
            </a:xfrm>
            <a:prstGeom prst="straightConnector1">
              <a:avLst/>
            </a:prstGeom>
            <a:ln w="228600">
              <a:solidFill>
                <a:srgbClr val="C00000"/>
              </a:solidFill>
              <a:headEnd type="stealth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22416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/>
          <p:nvPr/>
        </p:nvGrpSpPr>
        <p:grpSpPr>
          <a:xfrm>
            <a:off x="1447800" y="1219200"/>
            <a:ext cx="5562600" cy="5394868"/>
            <a:chOff x="5431224" y="1676400"/>
            <a:chExt cx="3712776" cy="4668609"/>
          </a:xfrm>
        </p:grpSpPr>
        <p:pic>
          <p:nvPicPr>
            <p:cNvPr id="61442" name="Picture 2"/>
            <p:cNvPicPr>
              <a:picLocks noChangeAspect="1" noChangeArrowheads="1"/>
            </p:cNvPicPr>
            <p:nvPr/>
          </p:nvPicPr>
          <p:blipFill>
            <a:blip r:embed="rId3"/>
            <a:srcRect r="8571" b="10831"/>
            <a:stretch>
              <a:fillRect/>
            </a:stretch>
          </p:blipFill>
          <p:spPr bwMode="auto">
            <a:xfrm>
              <a:off x="5431224" y="1676400"/>
              <a:ext cx="3560376" cy="41217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2" name="Rectangle 11"/>
            <p:cNvSpPr/>
            <p:nvPr/>
          </p:nvSpPr>
          <p:spPr>
            <a:xfrm>
              <a:off x="5638800" y="5892225"/>
              <a:ext cx="3505200" cy="452784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514350" indent="-514350" algn="ctr"/>
              <a:r>
                <a:rPr lang="en-US" sz="2800" b="1" dirty="0" smtClean="0">
                  <a:ln w="0" cap="rnd" cmpd="thickThin">
                    <a:noFill/>
                    <a:bevel/>
                  </a:ln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Hierarchy Chart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0" y="129570"/>
            <a:ext cx="9144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 smtClean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Program design</a:t>
            </a:r>
            <a:endParaRPr lang="th-TH" sz="4500" b="1" dirty="0">
              <a:solidFill>
                <a:srgbClr val="1F497D">
                  <a:lumMod val="50000"/>
                </a:srgbClr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1340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800" y="1110273"/>
            <a:ext cx="8763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b="1" dirty="0" smtClean="0">
              <a:ln w="0" cap="rnd" cmpd="thickThin">
                <a:noFill/>
                <a:bevel/>
              </a:ln>
              <a:solidFill>
                <a:srgbClr val="1F497D"/>
              </a:solidFill>
              <a:cs typeface="Tahoma" pitchFamily="34" charset="0"/>
            </a:endParaRPr>
          </a:p>
          <a:p>
            <a:pPr marL="514350" indent="-514350">
              <a:buClr>
                <a:srgbClr val="F79646">
                  <a:lumMod val="75000"/>
                </a:srgbClr>
              </a:buClr>
            </a:pPr>
            <a:r>
              <a:rPr lang="en-US" sz="3200" b="1" dirty="0" smtClean="0">
                <a:ln w="0" cap="rnd" cmpd="thickThin">
                  <a:noFill/>
                  <a:bevel/>
                </a:ln>
                <a:solidFill>
                  <a:srgbClr val="F79646">
                    <a:lumMod val="75000"/>
                  </a:srgbClr>
                </a:solidFill>
                <a:cs typeface="Tahoma" pitchFamily="34" charset="0"/>
              </a:rPr>
              <a:t>2 </a:t>
            </a:r>
            <a:r>
              <a:rPr lang="en-US" sz="3200" b="1" dirty="0" smtClean="0">
                <a:ln w="0" cap="rnd" cmpd="thickThin">
                  <a:noFill/>
                  <a:bevel/>
                </a:ln>
                <a:solidFill>
                  <a:srgbClr val="000000"/>
                </a:solidFill>
                <a:cs typeface="Tahoma" pitchFamily="34" charset="0"/>
              </a:rPr>
              <a:t>ways to show details:</a:t>
            </a:r>
          </a:p>
          <a:p>
            <a:pPr marL="514350" indent="-514350">
              <a:buClr>
                <a:srgbClr val="F79646">
                  <a:lumMod val="75000"/>
                </a:srgbClr>
              </a:buClr>
            </a:pPr>
            <a:endParaRPr lang="en-US" sz="3200" b="1" dirty="0" smtClean="0">
              <a:ln w="0" cap="rnd" cmpd="thickThin">
                <a:noFill/>
                <a:bevel/>
              </a:ln>
              <a:solidFill>
                <a:srgbClr val="C00000"/>
              </a:solidFill>
              <a:cs typeface="Tahoma" pitchFamily="34" charset="0"/>
            </a:endParaRPr>
          </a:p>
          <a:p>
            <a:pPr marL="571500" indent="-571500">
              <a:buClr>
                <a:srgbClr val="F79646">
                  <a:lumMod val="75000"/>
                </a:srgbClr>
              </a:buClr>
              <a:buFontTx/>
              <a:buAutoNum type="romanLcParenR"/>
            </a:pPr>
            <a:r>
              <a:rPr lang="en-US" sz="3200" b="1" dirty="0" err="1" smtClean="0">
                <a:ln w="0" cap="rnd" cmpd="thickThin">
                  <a:noFill/>
                  <a:bevel/>
                </a:ln>
                <a:solidFill>
                  <a:srgbClr val="C00000"/>
                </a:solidFill>
                <a:cs typeface="Tahoma" pitchFamily="34" charset="0"/>
              </a:rPr>
              <a:t>Pseudocode</a:t>
            </a:r>
            <a:r>
              <a:rPr lang="en-US" sz="3200" b="1" dirty="0" smtClean="0">
                <a:ln w="0" cap="rnd" cmpd="thickThin">
                  <a:noFill/>
                  <a:bevel/>
                </a:ln>
                <a:solidFill>
                  <a:srgbClr val="1F497D"/>
                </a:solidFill>
                <a:cs typeface="Tahoma" pitchFamily="34" charset="0"/>
              </a:rPr>
              <a:t>: describes logic and processing flow in human-language statements</a:t>
            </a:r>
          </a:p>
          <a:p>
            <a:pPr marL="571500" indent="-571500">
              <a:buClr>
                <a:srgbClr val="F79646">
                  <a:lumMod val="75000"/>
                </a:srgbClr>
              </a:buClr>
              <a:buFontTx/>
              <a:buAutoNum type="romanLcParenR"/>
            </a:pPr>
            <a:endParaRPr lang="en-US" sz="3200" b="1" dirty="0" smtClean="0">
              <a:ln w="0" cap="rnd" cmpd="thickThin">
                <a:noFill/>
                <a:bevel/>
              </a:ln>
              <a:solidFill>
                <a:srgbClr val="1F497D"/>
              </a:solidFill>
              <a:cs typeface="Tahoma" pitchFamily="34" charset="0"/>
            </a:endParaRPr>
          </a:p>
          <a:p>
            <a:pPr marL="571500" indent="-571500">
              <a:buClr>
                <a:srgbClr val="F79646">
                  <a:lumMod val="75000"/>
                </a:srgbClr>
              </a:buClr>
              <a:buFontTx/>
              <a:buAutoNum type="romanLcParenR"/>
            </a:pPr>
            <a:r>
              <a:rPr lang="en-US" sz="3200" b="1" dirty="0" smtClean="0">
                <a:ln w="0" cap="rnd" cmpd="thickThin">
                  <a:noFill/>
                  <a:bevel/>
                </a:ln>
                <a:solidFill>
                  <a:srgbClr val="C00000"/>
                </a:solidFill>
                <a:cs typeface="Tahoma" pitchFamily="34" charset="0"/>
              </a:rPr>
              <a:t>Flow chart</a:t>
            </a:r>
            <a:r>
              <a:rPr lang="en-US" sz="3200" b="1" dirty="0" smtClean="0">
                <a:ln w="0" cap="rnd" cmpd="thickThin">
                  <a:noFill/>
                  <a:bevel/>
                </a:ln>
                <a:solidFill>
                  <a:srgbClr val="1F497D"/>
                </a:solidFill>
                <a:cs typeface="Tahoma" pitchFamily="34" charset="0"/>
              </a:rPr>
              <a:t>: graphically represents logic flow.</a:t>
            </a:r>
          </a:p>
          <a:p>
            <a:pPr marL="571500" indent="-571500">
              <a:buClr>
                <a:srgbClr val="F79646">
                  <a:lumMod val="75000"/>
                </a:srgbClr>
              </a:buClr>
              <a:buFontTx/>
              <a:buAutoNum type="romanLcParenR"/>
            </a:pPr>
            <a:endParaRPr lang="en-US" sz="3200" b="1" dirty="0" smtClean="0">
              <a:ln w="0" cap="rnd" cmpd="thickThin">
                <a:noFill/>
                <a:bevel/>
              </a:ln>
              <a:solidFill>
                <a:srgbClr val="1F497D"/>
              </a:solidFill>
              <a:cs typeface="Tahoma" pitchFamily="34" charset="0"/>
            </a:endParaRPr>
          </a:p>
          <a:p>
            <a:pPr marL="571500" indent="-571500">
              <a:buClr>
                <a:srgbClr val="F79646">
                  <a:lumMod val="75000"/>
                </a:srgbClr>
              </a:buClr>
            </a:pPr>
            <a:r>
              <a:rPr lang="en-US" sz="3200" b="1" dirty="0" smtClean="0">
                <a:ln w="0" cap="rnd" cmpd="thickThin">
                  <a:noFill/>
                  <a:bevel/>
                </a:ln>
                <a:solidFill>
                  <a:srgbClr val="000000"/>
                </a:solidFill>
                <a:cs typeface="Tahoma" pitchFamily="34" charset="0"/>
              </a:rPr>
              <a:t>Most projects use both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29570"/>
            <a:ext cx="9144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 smtClean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Program design</a:t>
            </a:r>
            <a:endParaRPr lang="th-TH" sz="4500" b="1" dirty="0">
              <a:solidFill>
                <a:srgbClr val="1F497D">
                  <a:lumMod val="50000"/>
                </a:srgbClr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9986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Solving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824" y="2743200"/>
            <a:ext cx="3943377" cy="262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1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Problem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720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dirty="0" smtClean="0"/>
              <a:t>A </a:t>
            </a:r>
            <a:r>
              <a:rPr lang="en-US" sz="2800" dirty="0"/>
              <a:t>shepherd's </a:t>
            </a:r>
            <a:r>
              <a:rPr lang="en-US" sz="2800" dirty="0" smtClean="0"/>
              <a:t>son </a:t>
            </a:r>
            <a:r>
              <a:rPr lang="en-US" sz="2800" dirty="0"/>
              <a:t>is helping his father build </a:t>
            </a:r>
            <a:r>
              <a:rPr lang="en-US" sz="2800" dirty="0" smtClean="0"/>
              <a:t>a pen for their </a:t>
            </a:r>
            <a:r>
              <a:rPr lang="en-US" sz="2800" dirty="0"/>
              <a:t>sheep. The pen will be 24m </a:t>
            </a:r>
            <a:r>
              <a:rPr lang="en-US" sz="2800" dirty="0" smtClean="0"/>
              <a:t>long and </a:t>
            </a:r>
            <a:r>
              <a:rPr lang="en-US" sz="2800" dirty="0"/>
              <a:t>20m wide, </a:t>
            </a:r>
            <a:r>
              <a:rPr lang="en-US" sz="2800" dirty="0" smtClean="0"/>
              <a:t>and have </a:t>
            </a:r>
            <a:r>
              <a:rPr lang="en-US" sz="2800" dirty="0"/>
              <a:t>fence posts </a:t>
            </a:r>
            <a:r>
              <a:rPr lang="en-US" sz="2800" dirty="0" smtClean="0"/>
              <a:t>4m apart</a:t>
            </a:r>
            <a:r>
              <a:rPr lang="en-US" sz="2800" dirty="0"/>
              <a:t>. How many fence post does he need?</a:t>
            </a:r>
            <a:endParaRPr lang="en-US" sz="2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84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Problem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720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dirty="0"/>
              <a:t>Mr. </a:t>
            </a:r>
            <a:r>
              <a:rPr lang="en-US" sz="2800" dirty="0" err="1"/>
              <a:t>Qutb</a:t>
            </a:r>
            <a:r>
              <a:rPr lang="en-US" sz="2800" dirty="0"/>
              <a:t>‐</a:t>
            </a:r>
            <a:r>
              <a:rPr lang="en-US" sz="2800" dirty="0" err="1"/>
              <a:t>ud</a:t>
            </a:r>
            <a:r>
              <a:rPr lang="en-US" sz="2800" dirty="0"/>
              <a:t>‐din is arranging a dinner </a:t>
            </a:r>
            <a:r>
              <a:rPr lang="en-US" sz="2800" dirty="0" smtClean="0"/>
              <a:t>party for </a:t>
            </a:r>
            <a:r>
              <a:rPr lang="en-US" sz="2800" dirty="0"/>
              <a:t>his friends in a large room. 22 people </a:t>
            </a:r>
            <a:r>
              <a:rPr lang="en-US" sz="2800" dirty="0" smtClean="0"/>
              <a:t>are invited</a:t>
            </a:r>
            <a:r>
              <a:rPr lang="en-US" sz="2800" dirty="0"/>
              <a:t>. He has to borrow square tables, </a:t>
            </a:r>
            <a:r>
              <a:rPr lang="en-US" sz="2800" dirty="0" smtClean="0"/>
              <a:t>that can </a:t>
            </a:r>
            <a:r>
              <a:rPr lang="en-US" sz="2800" dirty="0"/>
              <a:t>seat 1 person on each side. He wants </a:t>
            </a:r>
            <a:r>
              <a:rPr lang="en-US" sz="2800" dirty="0" smtClean="0"/>
              <a:t>to arrange </a:t>
            </a:r>
            <a:r>
              <a:rPr lang="en-US" sz="2800" dirty="0"/>
              <a:t>tables in a rectangular shape so </a:t>
            </a:r>
            <a:r>
              <a:rPr lang="en-US" sz="2800" dirty="0" smtClean="0"/>
              <a:t>that they </a:t>
            </a:r>
            <a:r>
              <a:rPr lang="en-US" sz="2800" dirty="0"/>
              <a:t>look like 1 large table. What is </a:t>
            </a:r>
            <a:r>
              <a:rPr lang="en-US" sz="2800" dirty="0" smtClean="0"/>
              <a:t>the smallest </a:t>
            </a:r>
            <a:r>
              <a:rPr lang="en-US" sz="2800" dirty="0"/>
              <a:t>number of tables that he needs?</a:t>
            </a:r>
            <a:endParaRPr lang="en-US" sz="2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60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Problem Solving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72000"/>
          </a:xfrm>
        </p:spPr>
        <p:txBody>
          <a:bodyPr/>
          <a:lstStyle/>
          <a:p>
            <a:r>
              <a:rPr lang="en-US" sz="2800" dirty="0"/>
              <a:t>Understand the Problem</a:t>
            </a:r>
          </a:p>
          <a:p>
            <a:pPr lvl="1"/>
            <a:r>
              <a:rPr lang="en-US" sz="2300" dirty="0" smtClean="0"/>
              <a:t>Knowledge </a:t>
            </a:r>
            <a:r>
              <a:rPr lang="en-US" sz="2300" dirty="0"/>
              <a:t>of the problem, its domain, &amp; details</a:t>
            </a:r>
          </a:p>
          <a:p>
            <a:r>
              <a:rPr lang="en-US" sz="2800" dirty="0" smtClean="0"/>
              <a:t>Devising </a:t>
            </a:r>
            <a:r>
              <a:rPr lang="en-US" sz="2800" dirty="0"/>
              <a:t>the Plan</a:t>
            </a:r>
          </a:p>
          <a:p>
            <a:pPr lvl="1"/>
            <a:r>
              <a:rPr lang="en-US" sz="2300" dirty="0" smtClean="0"/>
              <a:t>Thinking </a:t>
            </a:r>
            <a:r>
              <a:rPr lang="en-US" sz="2300" dirty="0"/>
              <a:t>of possible solutions</a:t>
            </a:r>
          </a:p>
          <a:p>
            <a:r>
              <a:rPr lang="en-US" sz="2800" dirty="0" smtClean="0"/>
              <a:t>Carrying </a:t>
            </a:r>
            <a:r>
              <a:rPr lang="en-US" sz="2800" dirty="0"/>
              <a:t>out the Plan</a:t>
            </a:r>
          </a:p>
          <a:p>
            <a:pPr lvl="1"/>
            <a:r>
              <a:rPr lang="en-US" sz="2300" dirty="0" smtClean="0"/>
              <a:t>Create </a:t>
            </a:r>
            <a:r>
              <a:rPr lang="en-US" sz="2300" dirty="0"/>
              <a:t>retraceable steps</a:t>
            </a:r>
          </a:p>
          <a:p>
            <a:r>
              <a:rPr lang="en-US" sz="2800" dirty="0" smtClean="0"/>
              <a:t>Looking </a:t>
            </a:r>
            <a:r>
              <a:rPr lang="en-US" sz="2800" dirty="0"/>
              <a:t>Back</a:t>
            </a:r>
          </a:p>
          <a:p>
            <a:pPr lvl="1"/>
            <a:r>
              <a:rPr lang="en-US" sz="2300" dirty="0" smtClean="0"/>
              <a:t>Compare </a:t>
            </a:r>
            <a:r>
              <a:rPr lang="en-US" sz="2300" dirty="0"/>
              <a:t>solution to problem. Improve.</a:t>
            </a:r>
            <a:endParaRPr lang="en-US" sz="23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61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Fence Problem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72000"/>
          </a:xfrm>
        </p:spPr>
        <p:txBody>
          <a:bodyPr/>
          <a:lstStyle/>
          <a:p>
            <a:r>
              <a:rPr lang="en-US" sz="2900" dirty="0" smtClean="0"/>
              <a:t>Understand</a:t>
            </a:r>
          </a:p>
          <a:p>
            <a:pPr lvl="1"/>
            <a:r>
              <a:rPr lang="en-US" dirty="0" smtClean="0"/>
              <a:t>Rectangle</a:t>
            </a:r>
          </a:p>
          <a:p>
            <a:pPr lvl="1"/>
            <a:r>
              <a:rPr lang="en-US" dirty="0" smtClean="0"/>
              <a:t>Length of sides 24x20m</a:t>
            </a:r>
          </a:p>
          <a:p>
            <a:pPr lvl="1"/>
            <a:r>
              <a:rPr lang="en-US" dirty="0" smtClean="0"/>
              <a:t>Posts 4 meters apart</a:t>
            </a:r>
          </a:p>
          <a:p>
            <a:pPr lvl="1"/>
            <a:r>
              <a:rPr lang="en-US" dirty="0" smtClean="0"/>
              <a:t>Number of posts?</a:t>
            </a:r>
          </a:p>
          <a:p>
            <a:r>
              <a:rPr lang="en-US" sz="2900" dirty="0" smtClean="0"/>
              <a:t>Plan</a:t>
            </a:r>
          </a:p>
          <a:p>
            <a:pPr lvl="1"/>
            <a:r>
              <a:rPr lang="en-US" dirty="0" smtClean="0"/>
              <a:t>Drawing a diagram may help</a:t>
            </a:r>
          </a:p>
          <a:p>
            <a:pPr lvl="1"/>
            <a:r>
              <a:rPr lang="en-US" dirty="0" smtClean="0"/>
              <a:t>Start from corner posts perhaps</a:t>
            </a:r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65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Fence Problem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720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Solve</a:t>
            </a:r>
            <a:endParaRPr lang="en-US" sz="3200" dirty="0"/>
          </a:p>
          <a:p>
            <a:pPr lvl="1"/>
            <a:r>
              <a:rPr lang="en-US" dirty="0" smtClean="0"/>
              <a:t>Draw </a:t>
            </a:r>
            <a:r>
              <a:rPr lang="en-US" dirty="0"/>
              <a:t>rectangle</a:t>
            </a:r>
          </a:p>
          <a:p>
            <a:pPr lvl="1"/>
            <a:r>
              <a:rPr lang="en-US" dirty="0" smtClean="0"/>
              <a:t>Show </a:t>
            </a:r>
            <a:r>
              <a:rPr lang="en-US" dirty="0"/>
              <a:t>sides to scale</a:t>
            </a:r>
          </a:p>
          <a:p>
            <a:pPr lvl="1"/>
            <a:r>
              <a:rPr lang="en-US" dirty="0" smtClean="0"/>
              <a:t>Place </a:t>
            </a:r>
            <a:r>
              <a:rPr lang="en-US" dirty="0"/>
              <a:t>corner posts</a:t>
            </a:r>
          </a:p>
          <a:p>
            <a:pPr lvl="1"/>
            <a:r>
              <a:rPr lang="en-US" dirty="0" smtClean="0"/>
              <a:t>Place </a:t>
            </a:r>
            <a:r>
              <a:rPr lang="en-US" dirty="0"/>
              <a:t>posts 4 meters apart</a:t>
            </a:r>
          </a:p>
          <a:p>
            <a:pPr lvl="1"/>
            <a:r>
              <a:rPr lang="en-US" dirty="0" smtClean="0"/>
              <a:t>Count </a:t>
            </a:r>
            <a:r>
              <a:rPr lang="en-US" dirty="0"/>
              <a:t>posts</a:t>
            </a:r>
          </a:p>
          <a:p>
            <a:r>
              <a:rPr lang="en-US" sz="3200" dirty="0" smtClean="0"/>
              <a:t>Look </a:t>
            </a:r>
            <a:r>
              <a:rPr lang="en-US" sz="3200" dirty="0"/>
              <a:t>Back</a:t>
            </a:r>
          </a:p>
          <a:p>
            <a:pPr lvl="1"/>
            <a:r>
              <a:rPr lang="en-US" dirty="0" smtClean="0"/>
              <a:t>Can </a:t>
            </a:r>
            <a:r>
              <a:rPr lang="en-US" dirty="0"/>
              <a:t>you solve it in a better way?</a:t>
            </a:r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99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Dinner Party Problem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72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Understand</a:t>
            </a:r>
            <a:endParaRPr lang="en-US" sz="2800" dirty="0"/>
          </a:p>
          <a:p>
            <a:pPr lvl="1"/>
            <a:r>
              <a:rPr lang="en-US" sz="2300" dirty="0" smtClean="0"/>
              <a:t>Squares </a:t>
            </a:r>
            <a:r>
              <a:rPr lang="en-US" sz="2300" dirty="0"/>
              <a:t>tables, 1 person on each side</a:t>
            </a:r>
          </a:p>
          <a:p>
            <a:pPr lvl="1"/>
            <a:r>
              <a:rPr lang="en-US" sz="2300" dirty="0" smtClean="0"/>
              <a:t>Form </a:t>
            </a:r>
            <a:r>
              <a:rPr lang="en-US" sz="2300" dirty="0"/>
              <a:t>a large rectangle</a:t>
            </a:r>
          </a:p>
          <a:p>
            <a:pPr lvl="1"/>
            <a:r>
              <a:rPr lang="en-US" sz="2300" dirty="0" smtClean="0"/>
              <a:t>22 </a:t>
            </a:r>
            <a:r>
              <a:rPr lang="en-US" sz="2300" dirty="0"/>
              <a:t>people</a:t>
            </a:r>
          </a:p>
          <a:p>
            <a:pPr lvl="1"/>
            <a:r>
              <a:rPr lang="en-US" sz="2300" dirty="0" smtClean="0"/>
              <a:t>Putting </a:t>
            </a:r>
            <a:r>
              <a:rPr lang="en-US" sz="2300" dirty="0"/>
              <a:t>them together will reduce the number </a:t>
            </a:r>
            <a:r>
              <a:rPr lang="en-US" sz="2300" dirty="0" smtClean="0"/>
              <a:t>of people on each </a:t>
            </a:r>
            <a:r>
              <a:rPr lang="en-US" sz="2300" dirty="0"/>
              <a:t>square table</a:t>
            </a:r>
          </a:p>
          <a:p>
            <a:r>
              <a:rPr lang="en-US" sz="2800" dirty="0" smtClean="0"/>
              <a:t>Plan</a:t>
            </a:r>
            <a:endParaRPr lang="en-US" sz="2800" dirty="0"/>
          </a:p>
          <a:p>
            <a:pPr lvl="1"/>
            <a:r>
              <a:rPr lang="en-US" sz="2300" dirty="0" smtClean="0"/>
              <a:t>Drawing </a:t>
            </a:r>
            <a:r>
              <a:rPr lang="en-US" sz="2300" dirty="0"/>
              <a:t>pictures of different arrangements </a:t>
            </a:r>
            <a:r>
              <a:rPr lang="en-US" sz="2300" dirty="0" smtClean="0"/>
              <a:t>may help</a:t>
            </a:r>
            <a:endParaRPr lang="en-US" sz="2300" dirty="0"/>
          </a:p>
          <a:p>
            <a:pPr lvl="1"/>
            <a:r>
              <a:rPr lang="en-US" sz="2300" dirty="0" smtClean="0"/>
              <a:t>Few </a:t>
            </a:r>
            <a:r>
              <a:rPr lang="en-US" sz="2300" dirty="0"/>
              <a:t>possibilities: 1 single row, 2 rows perhaps</a:t>
            </a:r>
            <a:endParaRPr lang="en-US" sz="2300" b="1" dirty="0" smtClean="0"/>
          </a:p>
        </p:txBody>
      </p:sp>
    </p:spTree>
    <p:extLst>
      <p:ext uri="{BB962C8B-B14F-4D97-AF65-F5344CB8AC3E}">
        <p14:creationId xmlns:p14="http://schemas.microsoft.com/office/powerpoint/2010/main" val="1313456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Dinner Party Problem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72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Carry </a:t>
            </a:r>
            <a:r>
              <a:rPr lang="en-US" sz="2800" dirty="0"/>
              <a:t>out the Plan</a:t>
            </a:r>
          </a:p>
          <a:p>
            <a:pPr lvl="1"/>
            <a:r>
              <a:rPr lang="en-US" sz="2300" dirty="0" smtClean="0"/>
              <a:t>Single </a:t>
            </a:r>
            <a:r>
              <a:rPr lang="en-US" sz="2300" dirty="0"/>
              <a:t>row: 2 people at each, with 3 people at end tables</a:t>
            </a:r>
          </a:p>
          <a:p>
            <a:pPr lvl="1"/>
            <a:r>
              <a:rPr lang="en-US" sz="2300" dirty="0" smtClean="0"/>
              <a:t>Double </a:t>
            </a:r>
            <a:r>
              <a:rPr lang="en-US" sz="2300" dirty="0"/>
              <a:t>Row: 1 person </a:t>
            </a:r>
            <a:r>
              <a:rPr lang="en-US" sz="2300" dirty="0" smtClean="0"/>
              <a:t>at </a:t>
            </a:r>
            <a:r>
              <a:rPr lang="en-US" sz="2300" dirty="0"/>
              <a:t>each, with 2 people at </a:t>
            </a:r>
            <a:r>
              <a:rPr lang="en-US" sz="2300" dirty="0" smtClean="0"/>
              <a:t>corner tables</a:t>
            </a:r>
          </a:p>
          <a:p>
            <a:pPr lvl="1"/>
            <a:endParaRPr lang="en-US" sz="2300" b="1" dirty="0"/>
          </a:p>
          <a:p>
            <a:pPr lvl="1"/>
            <a:endParaRPr lang="en-US" sz="1800" b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810000"/>
            <a:ext cx="51816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8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Dinner Party Problem </a:t>
            </a:r>
            <a:r>
              <a:rPr lang="en-US" sz="4000" b="1" dirty="0" smtClean="0"/>
              <a:t>Solution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72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Looking </a:t>
            </a:r>
            <a:r>
              <a:rPr lang="en-US" sz="2800" dirty="0"/>
              <a:t>Back</a:t>
            </a:r>
          </a:p>
          <a:p>
            <a:pPr lvl="1"/>
            <a:r>
              <a:rPr lang="en-US" sz="2300" dirty="0" smtClean="0"/>
              <a:t>Single </a:t>
            </a:r>
            <a:r>
              <a:rPr lang="en-US" sz="2300" dirty="0"/>
              <a:t>row configuration will be best, given </a:t>
            </a:r>
            <a:r>
              <a:rPr lang="en-US" sz="2300" dirty="0" smtClean="0"/>
              <a:t>the room </a:t>
            </a:r>
            <a:r>
              <a:rPr lang="en-US" sz="2300" dirty="0"/>
              <a:t>is long enough to hold it.</a:t>
            </a:r>
          </a:p>
          <a:p>
            <a:pPr lvl="1"/>
            <a:r>
              <a:rPr lang="en-US" sz="2300" dirty="0" smtClean="0"/>
              <a:t>What </a:t>
            </a:r>
            <a:r>
              <a:rPr lang="en-US" sz="2300" dirty="0"/>
              <a:t>if the number of people is increased to 38?</a:t>
            </a:r>
            <a:endParaRPr lang="en-US" sz="3900" b="1" dirty="0"/>
          </a:p>
          <a:p>
            <a:pPr lvl="1"/>
            <a:endParaRPr lang="en-US" sz="1800" b="1" dirty="0" smtClean="0"/>
          </a:p>
        </p:txBody>
      </p:sp>
    </p:spTree>
    <p:extLst>
      <p:ext uri="{BB962C8B-B14F-4D97-AF65-F5344CB8AC3E}">
        <p14:creationId xmlns:p14="http://schemas.microsoft.com/office/powerpoint/2010/main" val="139297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Another Problem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72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I say a number between 1 and 70. </a:t>
            </a:r>
            <a:endParaRPr lang="en-US" sz="2800" dirty="0" smtClean="0"/>
          </a:p>
          <a:p>
            <a:pPr marL="0" indent="0" algn="ctr">
              <a:buNone/>
            </a:pPr>
            <a:r>
              <a:rPr lang="en-US" sz="2800" dirty="0" smtClean="0"/>
              <a:t>If </a:t>
            </a:r>
            <a:r>
              <a:rPr lang="en-US" sz="2800" dirty="0"/>
              <a:t>the </a:t>
            </a:r>
            <a:r>
              <a:rPr lang="en-US" sz="2800" dirty="0" smtClean="0"/>
              <a:t>number is </a:t>
            </a:r>
            <a:r>
              <a:rPr lang="en-US" sz="2800" dirty="0"/>
              <a:t>less than 30, you say “Too Young”,</a:t>
            </a:r>
          </a:p>
          <a:p>
            <a:pPr marL="0" indent="0" algn="ctr">
              <a:buNone/>
            </a:pPr>
            <a:r>
              <a:rPr lang="en-US" sz="2800" dirty="0"/>
              <a:t>otherwise say “Too Old”.</a:t>
            </a:r>
            <a:endParaRPr lang="en-US" sz="1800" b="1" dirty="0" smtClean="0"/>
          </a:p>
        </p:txBody>
      </p:sp>
    </p:spTree>
    <p:extLst>
      <p:ext uri="{BB962C8B-B14F-4D97-AF65-F5344CB8AC3E}">
        <p14:creationId xmlns:p14="http://schemas.microsoft.com/office/powerpoint/2010/main" val="266850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What happened there?!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72000"/>
          </a:xfrm>
        </p:spPr>
        <p:txBody>
          <a:bodyPr>
            <a:normAutofit/>
          </a:bodyPr>
          <a:lstStyle/>
          <a:p>
            <a:r>
              <a:rPr lang="en-US" sz="2800" dirty="0"/>
              <a:t>Understand</a:t>
            </a:r>
          </a:p>
          <a:p>
            <a:pPr lvl="1"/>
            <a:r>
              <a:rPr lang="en-US" sz="2300" dirty="0" smtClean="0"/>
              <a:t>Too </a:t>
            </a:r>
            <a:r>
              <a:rPr lang="en-US" sz="2300" dirty="0"/>
              <a:t>simple</a:t>
            </a:r>
          </a:p>
          <a:p>
            <a:r>
              <a:rPr lang="en-US" sz="2800" dirty="0" smtClean="0"/>
              <a:t>Plan</a:t>
            </a:r>
            <a:endParaRPr lang="en-US" sz="2800" dirty="0"/>
          </a:p>
          <a:p>
            <a:pPr lvl="1"/>
            <a:r>
              <a:rPr lang="en-US" sz="2300" dirty="0" smtClean="0"/>
              <a:t>Too </a:t>
            </a:r>
            <a:r>
              <a:rPr lang="en-US" sz="2300" dirty="0"/>
              <a:t>simple</a:t>
            </a:r>
          </a:p>
          <a:p>
            <a:r>
              <a:rPr lang="en-US" sz="2800" dirty="0" smtClean="0"/>
              <a:t>Carry </a:t>
            </a:r>
            <a:r>
              <a:rPr lang="en-US" sz="2800" dirty="0"/>
              <a:t>out the Plan</a:t>
            </a:r>
          </a:p>
          <a:p>
            <a:pPr lvl="1"/>
            <a:r>
              <a:rPr lang="en-US" sz="2300" dirty="0" smtClean="0"/>
              <a:t>Too </a:t>
            </a:r>
            <a:r>
              <a:rPr lang="en-US" sz="2300" dirty="0"/>
              <a:t>simple</a:t>
            </a:r>
          </a:p>
          <a:p>
            <a:r>
              <a:rPr lang="en-US" sz="2800" dirty="0" smtClean="0"/>
              <a:t>Looking </a:t>
            </a:r>
            <a:r>
              <a:rPr lang="en-US" sz="2800" dirty="0"/>
              <a:t>Back</a:t>
            </a:r>
          </a:p>
          <a:p>
            <a:pPr lvl="1"/>
            <a:r>
              <a:rPr lang="en-US" sz="2300" dirty="0" smtClean="0"/>
              <a:t>Why </a:t>
            </a:r>
            <a:r>
              <a:rPr lang="en-US" sz="2300" dirty="0"/>
              <a:t>too </a:t>
            </a:r>
            <a:r>
              <a:rPr lang="en-US" sz="2300" dirty="0" smtClean="0"/>
              <a:t>simple?</a:t>
            </a:r>
            <a:endParaRPr lang="en-US" sz="2300" b="1" dirty="0" smtClean="0"/>
          </a:p>
        </p:txBody>
      </p:sp>
    </p:spTree>
    <p:extLst>
      <p:ext uri="{BB962C8B-B14F-4D97-AF65-F5344CB8AC3E}">
        <p14:creationId xmlns:p14="http://schemas.microsoft.com/office/powerpoint/2010/main" val="18684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Human Intelligence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72000"/>
          </a:xfrm>
        </p:spPr>
        <p:txBody>
          <a:bodyPr>
            <a:normAutofit/>
          </a:bodyPr>
          <a:lstStyle/>
          <a:p>
            <a:r>
              <a:rPr lang="en-US" sz="2800" dirty="0"/>
              <a:t>A very general mental capability that, </a:t>
            </a:r>
            <a:r>
              <a:rPr lang="en-US" sz="2800" dirty="0" smtClean="0"/>
              <a:t>among other </a:t>
            </a:r>
            <a:r>
              <a:rPr lang="en-US" sz="2800" dirty="0"/>
              <a:t>things, involves the ability to </a:t>
            </a:r>
            <a:r>
              <a:rPr lang="en-US" sz="2800" dirty="0" smtClean="0"/>
              <a:t>reason, plan</a:t>
            </a:r>
            <a:r>
              <a:rPr lang="en-US" sz="2800" dirty="0"/>
              <a:t>, solve problems, think </a:t>
            </a:r>
            <a:r>
              <a:rPr lang="en-US" sz="2800" dirty="0" smtClean="0"/>
              <a:t>abstractly, comprehend </a:t>
            </a:r>
            <a:r>
              <a:rPr lang="en-US" sz="2800" dirty="0"/>
              <a:t>complex ideas, learn quickly </a:t>
            </a:r>
            <a:r>
              <a:rPr lang="en-US" sz="2800" dirty="0" smtClean="0"/>
              <a:t>and learn </a:t>
            </a:r>
            <a:r>
              <a:rPr lang="en-US" sz="2800" dirty="0"/>
              <a:t>from experience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 smtClean="0"/>
              <a:t>Can </a:t>
            </a:r>
            <a:r>
              <a:rPr lang="en-US" sz="2800" dirty="0"/>
              <a:t>you understand this definition?</a:t>
            </a:r>
          </a:p>
          <a:p>
            <a:r>
              <a:rPr lang="en-US" sz="2800" dirty="0" smtClean="0"/>
              <a:t>Why </a:t>
            </a:r>
            <a:r>
              <a:rPr lang="en-US" sz="2800" dirty="0"/>
              <a:t>were you able to find answer for </a:t>
            </a:r>
            <a:r>
              <a:rPr lang="en-US" sz="2800" dirty="0" smtClean="0"/>
              <a:t>38 people </a:t>
            </a:r>
            <a:r>
              <a:rPr lang="en-US" sz="2800" dirty="0"/>
              <a:t>in dinner party?</a:t>
            </a:r>
            <a:endParaRPr lang="en-US" sz="2300" b="1" dirty="0" smtClean="0"/>
          </a:p>
        </p:txBody>
      </p:sp>
    </p:spTree>
    <p:extLst>
      <p:ext uri="{BB962C8B-B14F-4D97-AF65-F5344CB8AC3E}">
        <p14:creationId xmlns:p14="http://schemas.microsoft.com/office/powerpoint/2010/main" val="191189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Machines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971550"/>
          </a:xfrm>
        </p:spPr>
        <p:txBody>
          <a:bodyPr>
            <a:normAutofit/>
          </a:bodyPr>
          <a:lstStyle/>
          <a:p>
            <a:r>
              <a:rPr lang="en-US" sz="2300" dirty="0" smtClean="0"/>
              <a:t>Are machines intelligent?</a:t>
            </a:r>
          </a:p>
        </p:txBody>
      </p:sp>
      <p:sp>
        <p:nvSpPr>
          <p:cNvPr id="4" name="TextBox 3"/>
          <p:cNvSpPr txBox="1"/>
          <p:nvPr/>
        </p:nvSpPr>
        <p:spPr>
          <a:xfrm rot="21119316">
            <a:off x="2333754" y="2762726"/>
            <a:ext cx="60365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srgbClr val="FF0000"/>
                </a:solidFill>
              </a:rPr>
              <a:t>NO. Why?</a:t>
            </a:r>
            <a:r>
              <a:rPr lang="en-US" sz="4000" dirty="0" smtClean="0">
                <a:solidFill>
                  <a:srgbClr val="FF0000"/>
                </a:solidFill>
              </a:rPr>
              <a:t> 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4648200"/>
            <a:ext cx="6934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</a:rPr>
              <a:t>They need instructions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Accurate</a:t>
            </a:r>
            <a:endParaRPr lang="en-US" sz="24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</a:rPr>
              <a:t>In </a:t>
            </a:r>
            <a:r>
              <a:rPr lang="en-US" sz="2400" dirty="0">
                <a:solidFill>
                  <a:prstClr val="black"/>
                </a:solidFill>
              </a:rPr>
              <a:t>order</a:t>
            </a:r>
          </a:p>
        </p:txBody>
      </p:sp>
    </p:spTree>
    <p:extLst>
      <p:ext uri="{BB962C8B-B14F-4D97-AF65-F5344CB8AC3E}">
        <p14:creationId xmlns:p14="http://schemas.microsoft.com/office/powerpoint/2010/main" val="228257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New Problem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400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Take the problem “ </a:t>
            </a:r>
            <a:r>
              <a:rPr lang="en-US" sz="2400" i="1" dirty="0"/>
              <a:t>I say a number between </a:t>
            </a:r>
            <a:r>
              <a:rPr lang="en-US" sz="2400" i="1" dirty="0" smtClean="0"/>
              <a:t>1 and </a:t>
            </a:r>
            <a:r>
              <a:rPr lang="en-US" sz="2400" i="1" dirty="0"/>
              <a:t>70. If </a:t>
            </a:r>
            <a:r>
              <a:rPr lang="en-US" sz="2400" i="1" dirty="0" smtClean="0"/>
              <a:t>the number </a:t>
            </a:r>
            <a:r>
              <a:rPr lang="en-US" sz="2400" i="1" dirty="0"/>
              <a:t>is less than 30, you </a:t>
            </a:r>
            <a:r>
              <a:rPr lang="en-US" sz="2400" i="1" dirty="0" smtClean="0"/>
              <a:t>say “Too </a:t>
            </a:r>
            <a:r>
              <a:rPr lang="en-US" sz="2400" i="1" dirty="0"/>
              <a:t>Young”, otherwise say “Too Old”. </a:t>
            </a:r>
            <a:r>
              <a:rPr lang="en-US" sz="2400" dirty="0"/>
              <a:t>” </a:t>
            </a:r>
            <a:r>
              <a:rPr lang="en-US" sz="2400" dirty="0" smtClean="0"/>
              <a:t>and provide </a:t>
            </a:r>
            <a:r>
              <a:rPr lang="en-US" sz="2400" dirty="0"/>
              <a:t>a solution so that a machine could </a:t>
            </a:r>
            <a:r>
              <a:rPr lang="en-US" sz="2400" dirty="0" smtClean="0"/>
              <a:t>do the </a:t>
            </a:r>
            <a:r>
              <a:rPr lang="en-US" sz="2400" dirty="0"/>
              <a:t>same what you did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Understand, Plan, Solve, Look back.</a:t>
            </a:r>
            <a:endParaRPr lang="en-US" sz="2300" dirty="0" smtClean="0"/>
          </a:p>
        </p:txBody>
      </p:sp>
    </p:spTree>
    <p:extLst>
      <p:ext uri="{BB962C8B-B14F-4D97-AF65-F5344CB8AC3E}">
        <p14:creationId xmlns:p14="http://schemas.microsoft.com/office/powerpoint/2010/main" val="110713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Representing your solution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400550"/>
          </a:xfrm>
        </p:spPr>
        <p:txBody>
          <a:bodyPr>
            <a:normAutofit/>
          </a:bodyPr>
          <a:lstStyle/>
          <a:p>
            <a:r>
              <a:rPr lang="en-US" sz="2800" dirty="0"/>
              <a:t>There are 2 ways to </a:t>
            </a:r>
            <a:r>
              <a:rPr lang="en-US" sz="2800" dirty="0" smtClean="0"/>
              <a:t>represent</a:t>
            </a:r>
          </a:p>
          <a:p>
            <a:pPr marL="0" indent="0">
              <a:buNone/>
            </a:pPr>
            <a:endParaRPr lang="en-US" sz="2800" dirty="0"/>
          </a:p>
          <a:p>
            <a:pPr lvl="1"/>
            <a:r>
              <a:rPr lang="en-US" sz="2300" dirty="0" smtClean="0"/>
              <a:t>Pseudo </a:t>
            </a:r>
            <a:r>
              <a:rPr lang="en-US" sz="2300" dirty="0"/>
              <a:t>code</a:t>
            </a:r>
          </a:p>
          <a:p>
            <a:pPr lvl="2"/>
            <a:r>
              <a:rPr lang="en-US" sz="2100" dirty="0" smtClean="0"/>
              <a:t>An </a:t>
            </a:r>
            <a:r>
              <a:rPr lang="en-US" sz="2100" dirty="0"/>
              <a:t>English‐like representation of logical steps to solve </a:t>
            </a:r>
            <a:r>
              <a:rPr lang="en-US" sz="2100" dirty="0" smtClean="0"/>
              <a:t>a </a:t>
            </a:r>
            <a:r>
              <a:rPr lang="en-US" sz="2300" dirty="0" smtClean="0"/>
              <a:t>problem.</a:t>
            </a:r>
          </a:p>
          <a:p>
            <a:pPr lvl="2"/>
            <a:endParaRPr lang="en-US" sz="2300" dirty="0"/>
          </a:p>
          <a:p>
            <a:pPr lvl="1"/>
            <a:r>
              <a:rPr lang="en-US" sz="2300" dirty="0" smtClean="0"/>
              <a:t>Flowchart</a:t>
            </a:r>
            <a:endParaRPr lang="en-US" sz="2300" dirty="0"/>
          </a:p>
          <a:p>
            <a:pPr lvl="2"/>
            <a:r>
              <a:rPr lang="en-US" sz="2100" dirty="0" smtClean="0"/>
              <a:t>Pictorial </a:t>
            </a:r>
            <a:r>
              <a:rPr lang="en-US" sz="2100" dirty="0"/>
              <a:t>representation of the same thing.</a:t>
            </a:r>
            <a:endParaRPr lang="en-US" sz="1700" dirty="0" smtClean="0"/>
          </a:p>
        </p:txBody>
      </p:sp>
    </p:spTree>
    <p:extLst>
      <p:ext uri="{BB962C8B-B14F-4D97-AF65-F5344CB8AC3E}">
        <p14:creationId xmlns:p14="http://schemas.microsoft.com/office/powerpoint/2010/main" val="384397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Pseudo Code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400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BEGIN</a:t>
            </a:r>
          </a:p>
          <a:p>
            <a:pPr marL="274320" lvl="1" indent="0">
              <a:buNone/>
            </a:pPr>
            <a:r>
              <a:rPr lang="en-US" sz="2300" dirty="0" smtClean="0"/>
              <a:t>GET </a:t>
            </a:r>
            <a:r>
              <a:rPr lang="en-US" sz="2300" dirty="0"/>
              <a:t>number</a:t>
            </a:r>
          </a:p>
          <a:p>
            <a:pPr marL="274320" lvl="1" indent="0">
              <a:buNone/>
            </a:pPr>
            <a:r>
              <a:rPr lang="en-US" sz="2300" dirty="0"/>
              <a:t>IF number </a:t>
            </a:r>
            <a:r>
              <a:rPr lang="en-US" sz="2300" dirty="0" smtClean="0"/>
              <a:t>less than </a:t>
            </a:r>
            <a:r>
              <a:rPr lang="en-US" sz="2300" dirty="0"/>
              <a:t>30 THEN</a:t>
            </a:r>
          </a:p>
          <a:p>
            <a:pPr marL="274320" lvl="1" indent="0">
              <a:buNone/>
            </a:pPr>
            <a:r>
              <a:rPr lang="en-US" sz="2300" dirty="0" smtClean="0"/>
              <a:t>	Say </a:t>
            </a:r>
            <a:r>
              <a:rPr lang="en-US" sz="2300" dirty="0"/>
              <a:t>“Too Young”</a:t>
            </a:r>
          </a:p>
          <a:p>
            <a:pPr marL="274320" lvl="1" indent="0">
              <a:buNone/>
            </a:pPr>
            <a:r>
              <a:rPr lang="en-US" sz="2300" dirty="0"/>
              <a:t>ELSE</a:t>
            </a:r>
          </a:p>
          <a:p>
            <a:pPr marL="274320" lvl="1" indent="0">
              <a:buNone/>
            </a:pPr>
            <a:r>
              <a:rPr lang="en-US" sz="2300" dirty="0" smtClean="0"/>
              <a:t>	Say </a:t>
            </a:r>
            <a:r>
              <a:rPr lang="en-US" sz="2300" dirty="0"/>
              <a:t>“Too Old”</a:t>
            </a:r>
          </a:p>
          <a:p>
            <a:pPr marL="274320" lvl="1" indent="0">
              <a:buNone/>
            </a:pPr>
            <a:r>
              <a:rPr lang="en-US" sz="2300" dirty="0"/>
              <a:t>ENDIF</a:t>
            </a:r>
          </a:p>
          <a:p>
            <a:pPr marL="0" indent="0">
              <a:buNone/>
            </a:pPr>
            <a:r>
              <a:rPr lang="en-US" sz="2800" dirty="0" smtClean="0"/>
              <a:t>END</a:t>
            </a:r>
            <a:endParaRPr lang="en-US" sz="1700" dirty="0" smtClean="0"/>
          </a:p>
        </p:txBody>
      </p:sp>
    </p:spTree>
    <p:extLst>
      <p:ext uri="{BB962C8B-B14F-4D97-AF65-F5344CB8AC3E}">
        <p14:creationId xmlns:p14="http://schemas.microsoft.com/office/powerpoint/2010/main" val="28003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Corrected Pseudo Code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52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BEGIN</a:t>
            </a:r>
          </a:p>
          <a:p>
            <a:pPr marL="274320" lvl="1" indent="0">
              <a:buNone/>
            </a:pPr>
            <a:r>
              <a:rPr lang="en-US" sz="2000" dirty="0"/>
              <a:t>GET number</a:t>
            </a:r>
          </a:p>
          <a:p>
            <a:pPr marL="274320" lvl="1" indent="0">
              <a:buNone/>
            </a:pPr>
            <a:r>
              <a:rPr lang="en-US" sz="2000" dirty="0"/>
              <a:t>IF number greater or equals 1 AND number less </a:t>
            </a:r>
            <a:r>
              <a:rPr lang="en-US" sz="2000" dirty="0" smtClean="0"/>
              <a:t>or equals </a:t>
            </a:r>
            <a:r>
              <a:rPr lang="en-US" sz="2000" dirty="0"/>
              <a:t>70 THEN</a:t>
            </a:r>
          </a:p>
          <a:p>
            <a:pPr marL="548640" lvl="2" indent="0">
              <a:buNone/>
            </a:pPr>
            <a:r>
              <a:rPr lang="en-US" sz="1800" dirty="0"/>
              <a:t>IF number less than 30 THEN</a:t>
            </a:r>
          </a:p>
          <a:p>
            <a:pPr marL="548640" lvl="2" indent="0">
              <a:buNone/>
            </a:pPr>
            <a:r>
              <a:rPr lang="en-US" sz="1800" dirty="0" smtClean="0"/>
              <a:t>	Say </a:t>
            </a:r>
            <a:r>
              <a:rPr lang="en-US" sz="1800" dirty="0"/>
              <a:t>“Too Young”</a:t>
            </a:r>
          </a:p>
          <a:p>
            <a:pPr marL="548640" lvl="2" indent="0">
              <a:buNone/>
            </a:pPr>
            <a:r>
              <a:rPr lang="en-US" sz="1800" dirty="0"/>
              <a:t>ELSE</a:t>
            </a:r>
          </a:p>
          <a:p>
            <a:pPr marL="548640" lvl="2" indent="0">
              <a:buNone/>
            </a:pPr>
            <a:r>
              <a:rPr lang="en-US" sz="1800" dirty="0" smtClean="0"/>
              <a:t>	Say </a:t>
            </a:r>
            <a:r>
              <a:rPr lang="en-US" sz="1800" dirty="0"/>
              <a:t>“Too Old”</a:t>
            </a:r>
          </a:p>
          <a:p>
            <a:pPr marL="548640" lvl="2" indent="0">
              <a:buNone/>
            </a:pPr>
            <a:r>
              <a:rPr lang="en-US" sz="1800" dirty="0" smtClean="0"/>
              <a:t>ENDIF</a:t>
            </a:r>
          </a:p>
          <a:p>
            <a:pPr marL="274320" lvl="1" indent="0">
              <a:buNone/>
            </a:pPr>
            <a:r>
              <a:rPr lang="en-US" dirty="0" smtClean="0"/>
              <a:t>ELSE</a:t>
            </a:r>
          </a:p>
          <a:p>
            <a:pPr marL="548640" lvl="2" indent="0">
              <a:buNone/>
            </a:pPr>
            <a:r>
              <a:rPr lang="en-US" dirty="0" smtClean="0"/>
              <a:t>Say </a:t>
            </a:r>
            <a:r>
              <a:rPr lang="en-US" dirty="0"/>
              <a:t>Invalid Input</a:t>
            </a:r>
          </a:p>
          <a:p>
            <a:pPr marL="274320" lvl="1" indent="0">
              <a:buNone/>
            </a:pPr>
            <a:r>
              <a:rPr lang="en-US" sz="2000" dirty="0"/>
              <a:t>ENDIF</a:t>
            </a:r>
          </a:p>
          <a:p>
            <a:pPr marL="0" indent="0">
              <a:buNone/>
            </a:pPr>
            <a:r>
              <a:rPr lang="en-US" sz="2400" dirty="0"/>
              <a:t>END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2823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Pseudo Code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529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Pseudo Code can be generic or </a:t>
            </a:r>
            <a:r>
              <a:rPr lang="en-US" sz="2400" dirty="0" smtClean="0"/>
              <a:t>language specific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smtClean="0"/>
              <a:t>Works </a:t>
            </a:r>
            <a:r>
              <a:rPr lang="en-US" sz="2400" dirty="0"/>
              <a:t>as a planning tool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Clarifies </a:t>
            </a:r>
            <a:r>
              <a:rPr lang="en-US" sz="2400" dirty="0"/>
              <a:t>the algorithm flow of information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Makes </a:t>
            </a:r>
            <a:r>
              <a:rPr lang="en-US" sz="2400" dirty="0"/>
              <a:t>it easier to generate language syntax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5032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Flow Chart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529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Same as a pseudo code but </a:t>
            </a:r>
            <a:r>
              <a:rPr lang="en-US" sz="2400" dirty="0" smtClean="0"/>
              <a:t>graphical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Easier </a:t>
            </a:r>
            <a:r>
              <a:rPr lang="en-US" sz="2400" dirty="0"/>
              <a:t>to read and understand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Specific </a:t>
            </a:r>
            <a:r>
              <a:rPr lang="en-US" sz="2400" dirty="0"/>
              <a:t>symbols to represent </a:t>
            </a:r>
            <a:r>
              <a:rPr lang="en-US" sz="2400" dirty="0" smtClean="0"/>
              <a:t>different programming </a:t>
            </a:r>
            <a:r>
              <a:rPr lang="en-US" sz="2400" dirty="0"/>
              <a:t>constructs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12407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Flow Chart Symbols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52950"/>
          </a:xfrm>
        </p:spPr>
        <p:txBody>
          <a:bodyPr>
            <a:normAutofit/>
          </a:bodyPr>
          <a:lstStyle/>
          <a:p>
            <a:r>
              <a:rPr lang="en-US" sz="2400" dirty="0"/>
              <a:t>Flow charts are used in many domain, hence </a:t>
            </a:r>
            <a:r>
              <a:rPr lang="en-US" sz="2400"/>
              <a:t>have </a:t>
            </a:r>
            <a:r>
              <a:rPr lang="en-US" sz="2400" smtClean="0"/>
              <a:t>numerous symbols</a:t>
            </a:r>
            <a:endParaRPr lang="en-US" sz="2400" dirty="0"/>
          </a:p>
          <a:p>
            <a:r>
              <a:rPr lang="en-US" sz="2400" dirty="0" smtClean="0"/>
              <a:t>Some </a:t>
            </a:r>
            <a:r>
              <a:rPr lang="en-US" sz="2400" dirty="0"/>
              <a:t>basic are</a:t>
            </a:r>
            <a:r>
              <a:rPr lang="en-US" sz="2400" dirty="0" smtClean="0"/>
              <a:t>:</a:t>
            </a:r>
          </a:p>
          <a:p>
            <a:endParaRPr lang="en-US" sz="2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505200"/>
            <a:ext cx="5715000" cy="246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6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Flow Chart Symbols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52950"/>
          </a:xfrm>
        </p:spPr>
        <p:txBody>
          <a:bodyPr>
            <a:normAutofit/>
          </a:bodyPr>
          <a:lstStyle/>
          <a:p>
            <a:endParaRPr lang="en-US" sz="20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362200"/>
            <a:ext cx="5607115" cy="240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6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Flow Chart Example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62629" y="1847850"/>
            <a:ext cx="8503920" cy="4552950"/>
          </a:xfrm>
        </p:spPr>
        <p:txBody>
          <a:bodyPr>
            <a:normAutofit/>
          </a:bodyPr>
          <a:lstStyle/>
          <a:p>
            <a:endParaRPr lang="en-US" sz="2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0200"/>
            <a:ext cx="765838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88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Box 15"/>
          <p:cNvSpPr txBox="1">
            <a:spLocks noChangeArrowheads="1"/>
          </p:cNvSpPr>
          <p:nvPr/>
        </p:nvSpPr>
        <p:spPr bwMode="auto">
          <a:xfrm>
            <a:off x="2057400" y="2450068"/>
            <a:ext cx="129540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5000"/>
              </a:spcBef>
            </a:pPr>
            <a:r>
              <a:rPr lang="en-US" b="1" dirty="0" smtClean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PROCESS</a:t>
            </a:r>
            <a:endParaRPr lang="en-US" b="1" dirty="0">
              <a:solidFill>
                <a:prstClr val="black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129570"/>
            <a:ext cx="9144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 smtClean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Program design</a:t>
            </a:r>
            <a:endParaRPr lang="th-TH" sz="4500" b="1" dirty="0">
              <a:solidFill>
                <a:srgbClr val="1F497D">
                  <a:lumMod val="50000"/>
                </a:srgbClr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762000" y="1341819"/>
            <a:ext cx="2819400" cy="4525581"/>
            <a:chOff x="1295400" y="1722819"/>
            <a:chExt cx="2819400" cy="4525581"/>
          </a:xfrm>
        </p:grpSpPr>
        <p:sp>
          <p:nvSpPr>
            <p:cNvPr id="13" name="AutoShape 3"/>
            <p:cNvSpPr>
              <a:spLocks noChangeArrowheads="1"/>
            </p:cNvSpPr>
            <p:nvPr/>
          </p:nvSpPr>
          <p:spPr bwMode="auto">
            <a:xfrm>
              <a:off x="1371600" y="2819400"/>
              <a:ext cx="1143000" cy="381000"/>
            </a:xfrm>
            <a:prstGeom prst="flowChartProcess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" name="AutoShape 4"/>
            <p:cNvSpPr>
              <a:spLocks noChangeArrowheads="1"/>
            </p:cNvSpPr>
            <p:nvPr/>
          </p:nvSpPr>
          <p:spPr bwMode="auto">
            <a:xfrm>
              <a:off x="1371600" y="1828800"/>
              <a:ext cx="1143000" cy="533400"/>
            </a:xfrm>
            <a:prstGeom prst="flowChartTerminator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" name="AutoShape 5"/>
            <p:cNvSpPr>
              <a:spLocks noChangeArrowheads="1"/>
            </p:cNvSpPr>
            <p:nvPr/>
          </p:nvSpPr>
          <p:spPr bwMode="auto">
            <a:xfrm>
              <a:off x="1295400" y="3733800"/>
              <a:ext cx="1219200" cy="457200"/>
            </a:xfrm>
            <a:prstGeom prst="flowChartInputOutpu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" name="AutoShape 7"/>
            <p:cNvSpPr>
              <a:spLocks noChangeArrowheads="1"/>
            </p:cNvSpPr>
            <p:nvPr/>
          </p:nvSpPr>
          <p:spPr bwMode="auto">
            <a:xfrm>
              <a:off x="1600200" y="4648200"/>
              <a:ext cx="533400" cy="457200"/>
            </a:xfrm>
            <a:prstGeom prst="flowChartConnector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" name="Line 10"/>
            <p:cNvSpPr>
              <a:spLocks noChangeShapeType="1"/>
            </p:cNvSpPr>
            <p:nvPr/>
          </p:nvSpPr>
          <p:spPr bwMode="auto">
            <a:xfrm>
              <a:off x="2057400" y="5562600"/>
              <a:ext cx="0" cy="685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triangle" w="med" len="med"/>
              <a:tailEnd type="none" w="sm" len="sm"/>
            </a:ln>
            <a:effectLst/>
          </p:spPr>
          <p:txBody>
            <a:bodyPr wrap="none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Line 11"/>
            <p:cNvSpPr>
              <a:spLocks noChangeShapeType="1"/>
            </p:cNvSpPr>
            <p:nvPr/>
          </p:nvSpPr>
          <p:spPr bwMode="auto">
            <a:xfrm flipV="1">
              <a:off x="1752600" y="5562600"/>
              <a:ext cx="0" cy="68580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triangle" w="med" len="med"/>
              <a:tailEnd type="none" w="sm" len="sm"/>
            </a:ln>
            <a:effectLst/>
          </p:spPr>
          <p:txBody>
            <a:bodyPr wrap="none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>
              <a:off x="2286000" y="6248400"/>
              <a:ext cx="83820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triangle" w="med" len="med"/>
              <a:tailEnd type="none" w="sm" len="sm"/>
            </a:ln>
            <a:effectLst/>
          </p:spPr>
          <p:txBody>
            <a:bodyPr wrap="none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 flipH="1">
              <a:off x="2286000" y="5943600"/>
              <a:ext cx="83820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triangle" w="med" len="med"/>
              <a:tailEnd type="none" w="sm" len="sm"/>
            </a:ln>
            <a:effectLst/>
          </p:spPr>
          <p:txBody>
            <a:bodyPr wrap="none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2514600" y="2743200"/>
              <a:ext cx="914400" cy="30480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5000"/>
                </a:spcBef>
              </a:pPr>
              <a:endParaRPr lang="en-US" sz="14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2" name="Text Box 15"/>
            <p:cNvSpPr txBox="1">
              <a:spLocks noChangeArrowheads="1"/>
            </p:cNvSpPr>
            <p:nvPr/>
          </p:nvSpPr>
          <p:spPr bwMode="auto">
            <a:xfrm>
              <a:off x="2590800" y="1722819"/>
              <a:ext cx="1143000" cy="71558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b="1" dirty="0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rPr>
                <a:t>START</a:t>
              </a:r>
            </a:p>
            <a:p>
              <a:pPr>
                <a:spcBef>
                  <a:spcPct val="25000"/>
                </a:spcBef>
              </a:pPr>
              <a:r>
                <a:rPr lang="en-US" b="1" dirty="0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rPr>
                <a:t>STOP</a:t>
              </a:r>
            </a:p>
          </p:txBody>
        </p:sp>
        <p:sp>
          <p:nvSpPr>
            <p:cNvPr id="23" name="Text Box 17"/>
            <p:cNvSpPr txBox="1">
              <a:spLocks noChangeArrowheads="1"/>
            </p:cNvSpPr>
            <p:nvPr/>
          </p:nvSpPr>
          <p:spPr bwMode="auto">
            <a:xfrm>
              <a:off x="2514600" y="3581400"/>
              <a:ext cx="1143000" cy="715581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b="1" dirty="0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rPr>
                <a:t>INPUT</a:t>
              </a:r>
            </a:p>
            <a:p>
              <a:pPr>
                <a:spcBef>
                  <a:spcPct val="25000"/>
                </a:spcBef>
              </a:pPr>
              <a:r>
                <a:rPr lang="en-US" b="1" dirty="0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rPr>
                <a:t>OUTPUT</a:t>
              </a:r>
            </a:p>
          </p:txBody>
        </p:sp>
        <p:sp>
          <p:nvSpPr>
            <p:cNvPr id="24" name="Text Box 18"/>
            <p:cNvSpPr txBox="1">
              <a:spLocks noChangeArrowheads="1"/>
            </p:cNvSpPr>
            <p:nvPr/>
          </p:nvSpPr>
          <p:spPr bwMode="auto">
            <a:xfrm>
              <a:off x="2133600" y="4736068"/>
              <a:ext cx="1752600" cy="36933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b="1" dirty="0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rPr>
                <a:t>CONNECTOR</a:t>
              </a:r>
            </a:p>
          </p:txBody>
        </p:sp>
        <p:sp>
          <p:nvSpPr>
            <p:cNvPr id="25" name="Text Box 19"/>
            <p:cNvSpPr txBox="1">
              <a:spLocks noChangeArrowheads="1"/>
            </p:cNvSpPr>
            <p:nvPr/>
          </p:nvSpPr>
          <p:spPr bwMode="auto">
            <a:xfrm>
              <a:off x="2209800" y="5498068"/>
              <a:ext cx="1905000" cy="369332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b="1" dirty="0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rPr>
                <a:t>FLOW  LINES</a:t>
              </a:r>
            </a:p>
          </p:txBody>
        </p:sp>
      </p:grpSp>
      <p:grpSp>
        <p:nvGrpSpPr>
          <p:cNvPr id="3" name="Group 25"/>
          <p:cNvGrpSpPr/>
          <p:nvPr/>
        </p:nvGrpSpPr>
        <p:grpSpPr>
          <a:xfrm>
            <a:off x="3810001" y="1371600"/>
            <a:ext cx="5105399" cy="4648200"/>
            <a:chOff x="5288281" y="457200"/>
            <a:chExt cx="3914139" cy="4648200"/>
          </a:xfrm>
        </p:grpSpPr>
        <p:grpSp>
          <p:nvGrpSpPr>
            <p:cNvPr id="4" name="Group 41"/>
            <p:cNvGrpSpPr/>
            <p:nvPr/>
          </p:nvGrpSpPr>
          <p:grpSpPr>
            <a:xfrm>
              <a:off x="5697221" y="457200"/>
              <a:ext cx="3505199" cy="4648200"/>
              <a:chOff x="5697221" y="457200"/>
              <a:chExt cx="3505199" cy="4648200"/>
            </a:xfrm>
          </p:grpSpPr>
          <p:sp>
            <p:nvSpPr>
              <p:cNvPr id="29" name="AutoShape 60"/>
              <p:cNvSpPr>
                <a:spLocks noChangeArrowheads="1"/>
              </p:cNvSpPr>
              <p:nvPr/>
            </p:nvSpPr>
            <p:spPr bwMode="auto">
              <a:xfrm>
                <a:off x="6781800" y="457200"/>
                <a:ext cx="1447800" cy="381000"/>
              </a:xfrm>
              <a:prstGeom prst="flowChartTerminator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EEECE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0" name="Line 61"/>
              <p:cNvSpPr>
                <a:spLocks noChangeShapeType="1"/>
              </p:cNvSpPr>
              <p:nvPr/>
            </p:nvSpPr>
            <p:spPr bwMode="auto">
              <a:xfrm>
                <a:off x="7467600" y="838200"/>
                <a:ext cx="0" cy="6858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ffectLst/>
            </p:spPr>
            <p:txBody>
              <a:bodyPr wrap="none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AutoShape 62"/>
              <p:cNvSpPr>
                <a:spLocks noChangeArrowheads="1"/>
              </p:cNvSpPr>
              <p:nvPr/>
            </p:nvSpPr>
            <p:spPr bwMode="auto">
              <a:xfrm>
                <a:off x="6096000" y="1524000"/>
                <a:ext cx="2743200" cy="609600"/>
              </a:xfrm>
              <a:prstGeom prst="flowChartInputOutpu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32" name="Line 63"/>
              <p:cNvSpPr>
                <a:spLocks noChangeShapeType="1"/>
              </p:cNvSpPr>
              <p:nvPr/>
            </p:nvSpPr>
            <p:spPr bwMode="auto">
              <a:xfrm>
                <a:off x="7467600" y="2133600"/>
                <a:ext cx="0" cy="4572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ffectLst/>
            </p:spPr>
            <p:txBody>
              <a:bodyPr wrap="none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AutoShape 64"/>
              <p:cNvSpPr>
                <a:spLocks noChangeArrowheads="1"/>
              </p:cNvSpPr>
              <p:nvPr/>
            </p:nvSpPr>
            <p:spPr bwMode="auto">
              <a:xfrm>
                <a:off x="5715001" y="2590800"/>
                <a:ext cx="3487419" cy="609600"/>
              </a:xfrm>
              <a:prstGeom prst="flowChartProcess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34" name="Line 65"/>
              <p:cNvSpPr>
                <a:spLocks noChangeShapeType="1"/>
              </p:cNvSpPr>
              <p:nvPr/>
            </p:nvSpPr>
            <p:spPr bwMode="auto">
              <a:xfrm>
                <a:off x="7467600" y="3200400"/>
                <a:ext cx="0" cy="4572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ffectLst/>
            </p:spPr>
            <p:txBody>
              <a:bodyPr wrap="none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AutoShape 66"/>
              <p:cNvSpPr>
                <a:spLocks noChangeArrowheads="1"/>
              </p:cNvSpPr>
              <p:nvPr/>
            </p:nvSpPr>
            <p:spPr bwMode="auto">
              <a:xfrm>
                <a:off x="6019800" y="3657600"/>
                <a:ext cx="2743200" cy="762000"/>
              </a:xfrm>
              <a:prstGeom prst="flowChartInputOutpu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Line 67"/>
              <p:cNvSpPr>
                <a:spLocks noChangeShapeType="1"/>
              </p:cNvSpPr>
              <p:nvPr/>
            </p:nvSpPr>
            <p:spPr bwMode="auto">
              <a:xfrm>
                <a:off x="7467600" y="4419600"/>
                <a:ext cx="0" cy="3048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ffectLst/>
            </p:spPr>
            <p:txBody>
              <a:bodyPr wrap="none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7" name="AutoShape 68"/>
              <p:cNvSpPr>
                <a:spLocks noChangeArrowheads="1"/>
              </p:cNvSpPr>
              <p:nvPr/>
            </p:nvSpPr>
            <p:spPr bwMode="auto">
              <a:xfrm>
                <a:off x="6781800" y="4724400"/>
                <a:ext cx="1295400" cy="381000"/>
              </a:xfrm>
              <a:prstGeom prst="flowChartTerminator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8" name="Text Box 69"/>
              <p:cNvSpPr txBox="1">
                <a:spLocks noChangeArrowheads="1"/>
              </p:cNvSpPr>
              <p:nvPr/>
            </p:nvSpPr>
            <p:spPr bwMode="auto">
              <a:xfrm>
                <a:off x="7010400" y="4724400"/>
                <a:ext cx="914400" cy="366713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 dirty="0">
                    <a:solidFill>
                      <a:prstClr val="white"/>
                    </a:solidFill>
                    <a:latin typeface="Tahoma" pitchFamily="34" charset="0"/>
                    <a:cs typeface="Tahoma" pitchFamily="34" charset="0"/>
                  </a:rPr>
                  <a:t>STOP</a:t>
                </a:r>
              </a:p>
            </p:txBody>
          </p:sp>
          <p:sp>
            <p:nvSpPr>
              <p:cNvPr id="39" name="Text Box 70"/>
              <p:cNvSpPr txBox="1">
                <a:spLocks noChangeArrowheads="1"/>
              </p:cNvSpPr>
              <p:nvPr/>
            </p:nvSpPr>
            <p:spPr bwMode="auto">
              <a:xfrm>
                <a:off x="6477000" y="1524000"/>
                <a:ext cx="2057400" cy="646331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 dirty="0" err="1">
                    <a:solidFill>
                      <a:prstClr val="white"/>
                    </a:solidFill>
                    <a:latin typeface="Tahoma" pitchFamily="34" charset="0"/>
                    <a:cs typeface="Tahoma" pitchFamily="34" charset="0"/>
                  </a:rPr>
                  <a:t>inputCent</a:t>
                </a:r>
                <a:endParaRPr lang="en-US" b="1" dirty="0">
                  <a:solidFill>
                    <a:prstClr val="white"/>
                  </a:solidFill>
                  <a:latin typeface="Tahoma" pitchFamily="34" charset="0"/>
                  <a:cs typeface="Tahoma" pitchFamily="34" charset="0"/>
                </a:endParaRPr>
              </a:p>
              <a:p>
                <a:pPr algn="ctr"/>
                <a:r>
                  <a:rPr lang="en-US" b="1" dirty="0">
                    <a:solidFill>
                      <a:srgbClr val="000000"/>
                    </a:solidFill>
                    <a:latin typeface="Tahoma" pitchFamily="34" charset="0"/>
                    <a:cs typeface="Tahoma" pitchFamily="34" charset="0"/>
                  </a:rPr>
                  <a:t>centigrade</a:t>
                </a:r>
              </a:p>
            </p:txBody>
          </p:sp>
          <p:sp>
            <p:nvSpPr>
              <p:cNvPr id="40" name="Text Box 71"/>
              <p:cNvSpPr txBox="1">
                <a:spLocks noChangeArrowheads="1"/>
              </p:cNvSpPr>
              <p:nvPr/>
            </p:nvSpPr>
            <p:spPr bwMode="auto">
              <a:xfrm>
                <a:off x="5697221" y="2590800"/>
                <a:ext cx="3446780" cy="646331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 dirty="0" err="1">
                    <a:solidFill>
                      <a:prstClr val="white"/>
                    </a:solidFill>
                    <a:latin typeface="Tahoma" pitchFamily="34" charset="0"/>
                    <a:cs typeface="Tahoma" pitchFamily="34" charset="0"/>
                  </a:rPr>
                  <a:t>calcFah</a:t>
                </a:r>
                <a:endParaRPr lang="en-US" b="1" dirty="0">
                  <a:solidFill>
                    <a:prstClr val="white"/>
                  </a:solidFill>
                  <a:latin typeface="Tahoma" pitchFamily="34" charset="0"/>
                  <a:cs typeface="Tahoma" pitchFamily="34" charset="0"/>
                </a:endParaRPr>
              </a:p>
              <a:p>
                <a:pPr algn="ctr"/>
                <a:r>
                  <a:rPr lang="en-US" b="1" dirty="0" err="1">
                    <a:solidFill>
                      <a:srgbClr val="000000"/>
                    </a:solidFill>
                    <a:latin typeface="Tahoma" pitchFamily="34" charset="0"/>
                    <a:cs typeface="Tahoma" pitchFamily="34" charset="0"/>
                  </a:rPr>
                  <a:t>fahrenheit</a:t>
                </a:r>
                <a:r>
                  <a:rPr lang="en-US" dirty="0">
                    <a:solidFill>
                      <a:srgbClr val="000000"/>
                    </a:solidFill>
                    <a:latin typeface="Tahoma" pitchFamily="34" charset="0"/>
                    <a:cs typeface="Tahoma" pitchFamily="34" charset="0"/>
                  </a:rPr>
                  <a:t> = (</a:t>
                </a:r>
                <a:r>
                  <a:rPr lang="en-US" b="1" dirty="0">
                    <a:solidFill>
                      <a:srgbClr val="000000"/>
                    </a:solidFill>
                    <a:latin typeface="Tahoma" pitchFamily="34" charset="0"/>
                    <a:cs typeface="Tahoma" pitchFamily="34" charset="0"/>
                  </a:rPr>
                  <a:t>1.8*centigrade</a:t>
                </a:r>
                <a:r>
                  <a:rPr lang="en-US" dirty="0">
                    <a:solidFill>
                      <a:srgbClr val="000000"/>
                    </a:solidFill>
                    <a:latin typeface="Tahoma" pitchFamily="34" charset="0"/>
                    <a:cs typeface="Tahoma" pitchFamily="34" charset="0"/>
                  </a:rPr>
                  <a:t>) + </a:t>
                </a:r>
                <a:r>
                  <a:rPr lang="en-US" b="1" dirty="0">
                    <a:solidFill>
                      <a:srgbClr val="000000"/>
                    </a:solidFill>
                    <a:latin typeface="Tahoma" pitchFamily="34" charset="0"/>
                    <a:cs typeface="Tahoma" pitchFamily="34" charset="0"/>
                  </a:rPr>
                  <a:t>32</a:t>
                </a:r>
              </a:p>
            </p:txBody>
          </p:sp>
          <p:sp>
            <p:nvSpPr>
              <p:cNvPr id="41" name="Text Box 72"/>
              <p:cNvSpPr txBox="1">
                <a:spLocks noChangeArrowheads="1"/>
              </p:cNvSpPr>
              <p:nvPr/>
            </p:nvSpPr>
            <p:spPr bwMode="auto">
              <a:xfrm>
                <a:off x="6400800" y="3697069"/>
                <a:ext cx="2133599" cy="646331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US" b="1" dirty="0" err="1">
                    <a:solidFill>
                      <a:prstClr val="white"/>
                    </a:solidFill>
                    <a:latin typeface="Tahoma" pitchFamily="34" charset="0"/>
                    <a:cs typeface="Tahoma" pitchFamily="34" charset="0"/>
                  </a:rPr>
                  <a:t>outputFah</a:t>
                </a:r>
                <a:endParaRPr lang="en-US" b="1" dirty="0">
                  <a:solidFill>
                    <a:prstClr val="white"/>
                  </a:solidFill>
                  <a:latin typeface="Tahoma" pitchFamily="34" charset="0"/>
                  <a:cs typeface="Tahoma" pitchFamily="34" charset="0"/>
                </a:endParaRPr>
              </a:p>
              <a:p>
                <a:pPr algn="ctr"/>
                <a:r>
                  <a:rPr lang="en-US" b="1" dirty="0" err="1">
                    <a:solidFill>
                      <a:srgbClr val="000000"/>
                    </a:solidFill>
                    <a:latin typeface="Tahoma" pitchFamily="34" charset="0"/>
                    <a:cs typeface="Tahoma" pitchFamily="34" charset="0"/>
                  </a:rPr>
                  <a:t>fahrenheit</a:t>
                </a:r>
                <a:endParaRPr lang="en-US" b="1" dirty="0">
                  <a:solidFill>
                    <a:srgbClr val="000000"/>
                  </a:solidFill>
                  <a:latin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42" name="Text Box 73"/>
              <p:cNvSpPr txBox="1">
                <a:spLocks noChangeArrowheads="1"/>
              </p:cNvSpPr>
              <p:nvPr/>
            </p:nvSpPr>
            <p:spPr bwMode="auto">
              <a:xfrm>
                <a:off x="7010400" y="457200"/>
                <a:ext cx="914400" cy="366713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b="1" dirty="0">
                    <a:solidFill>
                      <a:prstClr val="white"/>
                    </a:solidFill>
                    <a:latin typeface="Tahoma" pitchFamily="34" charset="0"/>
                    <a:cs typeface="Tahoma" pitchFamily="34" charset="0"/>
                  </a:rPr>
                  <a:t>START</a:t>
                </a:r>
              </a:p>
            </p:txBody>
          </p:sp>
          <p:sp>
            <p:nvSpPr>
              <p:cNvPr id="43" name="Line 74"/>
              <p:cNvSpPr>
                <a:spLocks noChangeShapeType="1"/>
              </p:cNvSpPr>
              <p:nvPr/>
            </p:nvSpPr>
            <p:spPr bwMode="auto">
              <a:xfrm>
                <a:off x="6629400" y="1066800"/>
                <a:ext cx="838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Line 77"/>
              <p:cNvSpPr>
                <a:spLocks noChangeShapeType="1"/>
              </p:cNvSpPr>
              <p:nvPr/>
            </p:nvSpPr>
            <p:spPr bwMode="auto">
              <a:xfrm>
                <a:off x="6629400" y="685800"/>
                <a:ext cx="0" cy="762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8" name="Text Box 78"/>
            <p:cNvSpPr txBox="1">
              <a:spLocks noChangeArrowheads="1"/>
            </p:cNvSpPr>
            <p:nvPr/>
          </p:nvSpPr>
          <p:spPr bwMode="auto">
            <a:xfrm>
              <a:off x="5288281" y="533400"/>
              <a:ext cx="1475740" cy="92333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rPr>
                <a:t>Convert </a:t>
              </a:r>
              <a:r>
                <a:rPr lang="en-US" b="1" dirty="0" smtClean="0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rPr>
                <a:t>Centigrade </a:t>
              </a:r>
              <a:r>
                <a:rPr lang="en-US" b="1" dirty="0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rPr>
                <a:t>to </a:t>
              </a:r>
              <a:r>
                <a:rPr lang="en-US" b="1" dirty="0" smtClean="0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rPr>
                <a:t>Fahrenheit</a:t>
              </a:r>
              <a:endParaRPr lang="en-US" b="1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45" name="Rectangle 2"/>
          <p:cNvSpPr>
            <a:spLocks noChangeArrowheads="1"/>
          </p:cNvSpPr>
          <p:nvPr/>
        </p:nvSpPr>
        <p:spPr bwMode="auto">
          <a:xfrm>
            <a:off x="1143000" y="1905000"/>
            <a:ext cx="6553200" cy="3000821"/>
          </a:xfrm>
          <a:prstGeom prst="rect">
            <a:avLst/>
          </a:prstGeom>
          <a:solidFill>
            <a:srgbClr val="660033"/>
          </a:solidFill>
          <a:ln w="76200" cap="sq" cmpd="thickThin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/>
          <a:p>
            <a:pPr marL="225425"/>
            <a:endParaRPr lang="en-US" sz="1200" b="1" dirty="0">
              <a:solidFill>
                <a:srgbClr val="FFFF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225425"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cs typeface="Tahoma" pitchFamily="34" charset="0"/>
              </a:rPr>
              <a:t>PSEUDOCODE:</a:t>
            </a:r>
          </a:p>
          <a:p>
            <a:pPr marL="225425">
              <a:lnSpc>
                <a:spcPct val="150000"/>
              </a:lnSpc>
            </a:pPr>
            <a:r>
              <a:rPr lang="en-US" sz="2200" dirty="0">
                <a:solidFill>
                  <a:srgbClr val="FFFF99"/>
                </a:solidFill>
                <a:latin typeface="Tahoma" pitchFamily="34" charset="0"/>
                <a:cs typeface="Tahoma" pitchFamily="34" charset="0"/>
              </a:rPr>
              <a:t>Display </a:t>
            </a:r>
            <a:r>
              <a:rPr lang="en-US" sz="2400" dirty="0" smtClean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“</a:t>
            </a:r>
            <a:r>
              <a:rPr lang="en-US" sz="2200" dirty="0" smtClean="0">
                <a:solidFill>
                  <a:srgbClr val="FFFF99"/>
                </a:solidFill>
                <a:latin typeface="Tahoma" pitchFamily="34" charset="0"/>
                <a:cs typeface="Tahoma" pitchFamily="34" charset="0"/>
              </a:rPr>
              <a:t>Enter </a:t>
            </a:r>
            <a:r>
              <a:rPr lang="en-US" sz="2200" dirty="0">
                <a:solidFill>
                  <a:srgbClr val="FFFF99"/>
                </a:solidFill>
                <a:latin typeface="Tahoma" pitchFamily="34" charset="0"/>
                <a:cs typeface="Tahoma" pitchFamily="34" charset="0"/>
              </a:rPr>
              <a:t>Centigrade:</a:t>
            </a:r>
            <a:r>
              <a:rPr lang="en-US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"</a:t>
            </a:r>
            <a:endParaRPr lang="en-US" dirty="0">
              <a:solidFill>
                <a:prstClr val="black"/>
              </a:solidFill>
              <a:latin typeface="Tahoma" pitchFamily="34" charset="0"/>
              <a:cs typeface="Tahoma" pitchFamily="34" charset="0"/>
            </a:endParaRPr>
          </a:p>
          <a:p>
            <a:pPr marL="225425" eaLnBrk="0" hangingPunct="0">
              <a:lnSpc>
                <a:spcPct val="150000"/>
              </a:lnSpc>
            </a:pPr>
            <a:r>
              <a:rPr lang="en-US" sz="2200" dirty="0">
                <a:solidFill>
                  <a:srgbClr val="FFFF99"/>
                </a:solidFill>
                <a:latin typeface="Tahoma" pitchFamily="34" charset="0"/>
                <a:cs typeface="Tahoma" pitchFamily="34" charset="0"/>
              </a:rPr>
              <a:t>Input centigrade</a:t>
            </a:r>
          </a:p>
          <a:p>
            <a:pPr marL="225425" eaLnBrk="0" hangingPunct="0">
              <a:lnSpc>
                <a:spcPct val="150000"/>
              </a:lnSpc>
            </a:pPr>
            <a:r>
              <a:rPr lang="en-US" sz="2200" dirty="0" err="1">
                <a:solidFill>
                  <a:srgbClr val="FFFF99"/>
                </a:solidFill>
                <a:latin typeface="Tahoma" pitchFamily="34" charset="0"/>
                <a:cs typeface="Tahoma" pitchFamily="34" charset="0"/>
              </a:rPr>
              <a:t>fahrenheit</a:t>
            </a:r>
            <a:r>
              <a:rPr lang="en-US" sz="2200" dirty="0">
                <a:solidFill>
                  <a:srgbClr val="FFFF99"/>
                </a:solidFill>
                <a:latin typeface="Tahoma" pitchFamily="34" charset="0"/>
                <a:cs typeface="Tahoma" pitchFamily="34" charset="0"/>
              </a:rPr>
              <a:t> = 1.8 * centigrade  +  32</a:t>
            </a:r>
          </a:p>
          <a:p>
            <a:pPr marL="225425" eaLnBrk="0" hangingPunct="0">
              <a:lnSpc>
                <a:spcPct val="150000"/>
              </a:lnSpc>
            </a:pPr>
            <a:r>
              <a:rPr lang="en-US" sz="2200" dirty="0">
                <a:solidFill>
                  <a:srgbClr val="FFFF99"/>
                </a:solidFill>
                <a:latin typeface="Tahoma" pitchFamily="34" charset="0"/>
                <a:cs typeface="Tahoma" pitchFamily="34" charset="0"/>
              </a:rPr>
              <a:t>Display </a:t>
            </a:r>
            <a:r>
              <a:rPr lang="en-US" sz="2400" dirty="0" smtClean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“</a:t>
            </a:r>
            <a:r>
              <a:rPr lang="en-US" sz="2200" dirty="0" smtClean="0">
                <a:solidFill>
                  <a:srgbClr val="FFFF99"/>
                </a:solidFill>
                <a:latin typeface="Tahoma" pitchFamily="34" charset="0"/>
                <a:cs typeface="Tahoma" pitchFamily="34" charset="0"/>
              </a:rPr>
              <a:t>Centigrade </a:t>
            </a:r>
            <a:r>
              <a:rPr lang="en-US" sz="2200" dirty="0">
                <a:solidFill>
                  <a:srgbClr val="FFFF99"/>
                </a:solidFill>
                <a:latin typeface="Tahoma" pitchFamily="34" charset="0"/>
                <a:cs typeface="Tahoma" pitchFamily="34" charset="0"/>
              </a:rPr>
              <a:t>to Fahrenheit </a:t>
            </a:r>
            <a:r>
              <a:rPr lang="en-US" sz="2200" dirty="0" smtClean="0">
                <a:solidFill>
                  <a:srgbClr val="FFFF99"/>
                </a:solidFill>
                <a:latin typeface="Tahoma" pitchFamily="34" charset="0"/>
                <a:cs typeface="Tahoma" pitchFamily="34" charset="0"/>
              </a:rPr>
              <a:t>=</a:t>
            </a:r>
            <a:r>
              <a:rPr lang="en-US" sz="2400" dirty="0" smtClean="0">
                <a:solidFill>
                  <a:prstClr val="black"/>
                </a:solidFill>
                <a:latin typeface="Tahoma" pitchFamily="34" charset="0"/>
                <a:cs typeface="Tahoma" pitchFamily="34" charset="0"/>
              </a:rPr>
              <a:t> " </a:t>
            </a:r>
            <a:r>
              <a:rPr lang="en-US" sz="2200" dirty="0" err="1" smtClean="0">
                <a:solidFill>
                  <a:srgbClr val="FFFF99"/>
                </a:solidFill>
                <a:latin typeface="Tahoma" pitchFamily="34" charset="0"/>
                <a:cs typeface="Tahoma" pitchFamily="34" charset="0"/>
              </a:rPr>
              <a:t>fahrenheit</a:t>
            </a:r>
            <a:endParaRPr lang="en-US" sz="2200" dirty="0">
              <a:solidFill>
                <a:srgbClr val="FFFF99"/>
              </a:solidFill>
              <a:latin typeface="Tahoma" pitchFamily="34" charset="0"/>
              <a:cs typeface="Tahoma" pitchFamily="34" charset="0"/>
            </a:endParaRPr>
          </a:p>
          <a:p>
            <a:pPr marL="225425" eaLnBrk="0" hangingPunct="0"/>
            <a:endParaRPr lang="en-US" sz="1200" dirty="0">
              <a:solidFill>
                <a:srgbClr val="FFFF99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7511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pseudo code and draw a flowchart that will read the two sides of a rectangle (length and width) and display its area on screen after calculation. [Area formula: A = L x W 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48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-you-very-much--thumb1003573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5000" y="990600"/>
            <a:ext cx="52578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95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theme/theme1.xml><?xml version="1.0" encoding="utf-8"?>
<a:theme xmlns:a="http://schemas.openxmlformats.org/drawingml/2006/main" name="it-ppt-template-006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ind_1977_slide">
  <a:themeElements>
    <a:clrScheme name="1_ind_1977_slide 1">
      <a:dk1>
        <a:srgbClr val="000000"/>
      </a:dk1>
      <a:lt1>
        <a:srgbClr val="B9D3EE"/>
      </a:lt1>
      <a:dk2>
        <a:srgbClr val="000000"/>
      </a:dk2>
      <a:lt2>
        <a:srgbClr val="B2B2B2"/>
      </a:lt2>
      <a:accent1>
        <a:srgbClr val="D2E3F4"/>
      </a:accent1>
      <a:accent2>
        <a:srgbClr val="679FDA"/>
      </a:accent2>
      <a:accent3>
        <a:srgbClr val="D9E6F5"/>
      </a:accent3>
      <a:accent4>
        <a:srgbClr val="000000"/>
      </a:accent4>
      <a:accent5>
        <a:srgbClr val="E5EFF8"/>
      </a:accent5>
      <a:accent6>
        <a:srgbClr val="5D90C5"/>
      </a:accent6>
      <a:hlink>
        <a:srgbClr val="2865A4"/>
      </a:hlink>
      <a:folHlink>
        <a:srgbClr val="2E4C6B"/>
      </a:folHlink>
    </a:clrScheme>
    <a:fontScheme name="1_ind_1977_slid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nd_1977_slide 1">
        <a:dk1>
          <a:srgbClr val="000000"/>
        </a:dk1>
        <a:lt1>
          <a:srgbClr val="B9D3EE"/>
        </a:lt1>
        <a:dk2>
          <a:srgbClr val="000000"/>
        </a:dk2>
        <a:lt2>
          <a:srgbClr val="B2B2B2"/>
        </a:lt2>
        <a:accent1>
          <a:srgbClr val="D2E3F4"/>
        </a:accent1>
        <a:accent2>
          <a:srgbClr val="679FDA"/>
        </a:accent2>
        <a:accent3>
          <a:srgbClr val="D9E6F5"/>
        </a:accent3>
        <a:accent4>
          <a:srgbClr val="000000"/>
        </a:accent4>
        <a:accent5>
          <a:srgbClr val="E5EFF8"/>
        </a:accent5>
        <a:accent6>
          <a:srgbClr val="5D90C5"/>
        </a:accent6>
        <a:hlink>
          <a:srgbClr val="2865A4"/>
        </a:hlink>
        <a:folHlink>
          <a:srgbClr val="2E4C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d_1977_slide 2">
        <a:dk1>
          <a:srgbClr val="000000"/>
        </a:dk1>
        <a:lt1>
          <a:srgbClr val="B9D3EE"/>
        </a:lt1>
        <a:dk2>
          <a:srgbClr val="000000"/>
        </a:dk2>
        <a:lt2>
          <a:srgbClr val="B2B2B2"/>
        </a:lt2>
        <a:accent1>
          <a:srgbClr val="66B9CC"/>
        </a:accent1>
        <a:accent2>
          <a:srgbClr val="6666CC"/>
        </a:accent2>
        <a:accent3>
          <a:srgbClr val="D9E6F5"/>
        </a:accent3>
        <a:accent4>
          <a:srgbClr val="000000"/>
        </a:accent4>
        <a:accent5>
          <a:srgbClr val="B8D9E2"/>
        </a:accent5>
        <a:accent6>
          <a:srgbClr val="5C5CB9"/>
        </a:accent6>
        <a:hlink>
          <a:srgbClr val="2E4C6B"/>
        </a:hlink>
        <a:folHlink>
          <a:srgbClr val="2E2E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d_1977_slide 3">
        <a:dk1>
          <a:srgbClr val="000000"/>
        </a:dk1>
        <a:lt1>
          <a:srgbClr val="B9D3EE"/>
        </a:lt1>
        <a:dk2>
          <a:srgbClr val="000000"/>
        </a:dk2>
        <a:lt2>
          <a:srgbClr val="B2B2B2"/>
        </a:lt2>
        <a:accent1>
          <a:srgbClr val="C56230"/>
        </a:accent1>
        <a:accent2>
          <a:srgbClr val="B69715"/>
        </a:accent2>
        <a:accent3>
          <a:srgbClr val="D9E6F5"/>
        </a:accent3>
        <a:accent4>
          <a:srgbClr val="000000"/>
        </a:accent4>
        <a:accent5>
          <a:srgbClr val="DFB7AD"/>
        </a:accent5>
        <a:accent6>
          <a:srgbClr val="A58812"/>
        </a:accent6>
        <a:hlink>
          <a:srgbClr val="2E4C6B"/>
        </a:hlink>
        <a:folHlink>
          <a:srgbClr val="6B512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d_1977_slide 4">
        <a:dk1>
          <a:srgbClr val="000000"/>
        </a:dk1>
        <a:lt1>
          <a:srgbClr val="B9D3EE"/>
        </a:lt1>
        <a:dk2>
          <a:srgbClr val="000000"/>
        </a:dk2>
        <a:lt2>
          <a:srgbClr val="B2B2B2"/>
        </a:lt2>
        <a:accent1>
          <a:srgbClr val="B46E17"/>
        </a:accent1>
        <a:accent2>
          <a:srgbClr val="A7BC2E"/>
        </a:accent2>
        <a:accent3>
          <a:srgbClr val="D9E6F5"/>
        </a:accent3>
        <a:accent4>
          <a:srgbClr val="000000"/>
        </a:accent4>
        <a:accent5>
          <a:srgbClr val="D6BAAB"/>
        </a:accent5>
        <a:accent6>
          <a:srgbClr val="97AA29"/>
        </a:accent6>
        <a:hlink>
          <a:srgbClr val="2E4C6B"/>
        </a:hlink>
        <a:folHlink>
          <a:srgbClr val="6B2E6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d_1977_slide 5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D2E3F4"/>
        </a:accent1>
        <a:accent2>
          <a:srgbClr val="679FDA"/>
        </a:accent2>
        <a:accent3>
          <a:srgbClr val="FFFFFF"/>
        </a:accent3>
        <a:accent4>
          <a:srgbClr val="000000"/>
        </a:accent4>
        <a:accent5>
          <a:srgbClr val="E5EFF8"/>
        </a:accent5>
        <a:accent6>
          <a:srgbClr val="5D90C5"/>
        </a:accent6>
        <a:hlink>
          <a:srgbClr val="2865A4"/>
        </a:hlink>
        <a:folHlink>
          <a:srgbClr val="2E4C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d_1977_slide 6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66B9CC"/>
        </a:accent1>
        <a:accent2>
          <a:srgbClr val="6666CC"/>
        </a:accent2>
        <a:accent3>
          <a:srgbClr val="FFFFFF"/>
        </a:accent3>
        <a:accent4>
          <a:srgbClr val="000000"/>
        </a:accent4>
        <a:accent5>
          <a:srgbClr val="B8D9E2"/>
        </a:accent5>
        <a:accent6>
          <a:srgbClr val="5C5CB9"/>
        </a:accent6>
        <a:hlink>
          <a:srgbClr val="2E4C6B"/>
        </a:hlink>
        <a:folHlink>
          <a:srgbClr val="2E2E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d_1977_slide 7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C56230"/>
        </a:accent1>
        <a:accent2>
          <a:srgbClr val="B69715"/>
        </a:accent2>
        <a:accent3>
          <a:srgbClr val="FFFFFF"/>
        </a:accent3>
        <a:accent4>
          <a:srgbClr val="000000"/>
        </a:accent4>
        <a:accent5>
          <a:srgbClr val="DFB7AD"/>
        </a:accent5>
        <a:accent6>
          <a:srgbClr val="A58812"/>
        </a:accent6>
        <a:hlink>
          <a:srgbClr val="2E4C6B"/>
        </a:hlink>
        <a:folHlink>
          <a:srgbClr val="6B512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nd_1977_slide 8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B46E17"/>
        </a:accent1>
        <a:accent2>
          <a:srgbClr val="A7BC2E"/>
        </a:accent2>
        <a:accent3>
          <a:srgbClr val="FFFFFF"/>
        </a:accent3>
        <a:accent4>
          <a:srgbClr val="000000"/>
        </a:accent4>
        <a:accent5>
          <a:srgbClr val="D6BAAB"/>
        </a:accent5>
        <a:accent6>
          <a:srgbClr val="97AA29"/>
        </a:accent6>
        <a:hlink>
          <a:srgbClr val="2E4C6B"/>
        </a:hlink>
        <a:folHlink>
          <a:srgbClr val="6B2E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ind_1977_slide">
  <a:themeElements>
    <a:clrScheme name="ind_1977_slide 1">
      <a:dk1>
        <a:srgbClr val="000000"/>
      </a:dk1>
      <a:lt1>
        <a:srgbClr val="B9D3EE"/>
      </a:lt1>
      <a:dk2>
        <a:srgbClr val="000000"/>
      </a:dk2>
      <a:lt2>
        <a:srgbClr val="B2B2B2"/>
      </a:lt2>
      <a:accent1>
        <a:srgbClr val="D2E3F4"/>
      </a:accent1>
      <a:accent2>
        <a:srgbClr val="679FDA"/>
      </a:accent2>
      <a:accent3>
        <a:srgbClr val="D9E6F5"/>
      </a:accent3>
      <a:accent4>
        <a:srgbClr val="000000"/>
      </a:accent4>
      <a:accent5>
        <a:srgbClr val="E5EFF8"/>
      </a:accent5>
      <a:accent6>
        <a:srgbClr val="5D90C5"/>
      </a:accent6>
      <a:hlink>
        <a:srgbClr val="2865A4"/>
      </a:hlink>
      <a:folHlink>
        <a:srgbClr val="2E4C6B"/>
      </a:folHlink>
    </a:clrScheme>
    <a:fontScheme name="ind_1977_slid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ind_1977_slide 1">
        <a:dk1>
          <a:srgbClr val="000000"/>
        </a:dk1>
        <a:lt1>
          <a:srgbClr val="B9D3EE"/>
        </a:lt1>
        <a:dk2>
          <a:srgbClr val="000000"/>
        </a:dk2>
        <a:lt2>
          <a:srgbClr val="B2B2B2"/>
        </a:lt2>
        <a:accent1>
          <a:srgbClr val="D2E3F4"/>
        </a:accent1>
        <a:accent2>
          <a:srgbClr val="679FDA"/>
        </a:accent2>
        <a:accent3>
          <a:srgbClr val="D9E6F5"/>
        </a:accent3>
        <a:accent4>
          <a:srgbClr val="000000"/>
        </a:accent4>
        <a:accent5>
          <a:srgbClr val="E5EFF8"/>
        </a:accent5>
        <a:accent6>
          <a:srgbClr val="5D90C5"/>
        </a:accent6>
        <a:hlink>
          <a:srgbClr val="2865A4"/>
        </a:hlink>
        <a:folHlink>
          <a:srgbClr val="2E4C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d_1977_slide 2">
        <a:dk1>
          <a:srgbClr val="000000"/>
        </a:dk1>
        <a:lt1>
          <a:srgbClr val="B9D3EE"/>
        </a:lt1>
        <a:dk2>
          <a:srgbClr val="000000"/>
        </a:dk2>
        <a:lt2>
          <a:srgbClr val="B2B2B2"/>
        </a:lt2>
        <a:accent1>
          <a:srgbClr val="66B9CC"/>
        </a:accent1>
        <a:accent2>
          <a:srgbClr val="6666CC"/>
        </a:accent2>
        <a:accent3>
          <a:srgbClr val="D9E6F5"/>
        </a:accent3>
        <a:accent4>
          <a:srgbClr val="000000"/>
        </a:accent4>
        <a:accent5>
          <a:srgbClr val="B8D9E2"/>
        </a:accent5>
        <a:accent6>
          <a:srgbClr val="5C5CB9"/>
        </a:accent6>
        <a:hlink>
          <a:srgbClr val="2E4C6B"/>
        </a:hlink>
        <a:folHlink>
          <a:srgbClr val="2E2E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d_1977_slide 3">
        <a:dk1>
          <a:srgbClr val="000000"/>
        </a:dk1>
        <a:lt1>
          <a:srgbClr val="B9D3EE"/>
        </a:lt1>
        <a:dk2>
          <a:srgbClr val="000000"/>
        </a:dk2>
        <a:lt2>
          <a:srgbClr val="B2B2B2"/>
        </a:lt2>
        <a:accent1>
          <a:srgbClr val="C56230"/>
        </a:accent1>
        <a:accent2>
          <a:srgbClr val="B69715"/>
        </a:accent2>
        <a:accent3>
          <a:srgbClr val="D9E6F5"/>
        </a:accent3>
        <a:accent4>
          <a:srgbClr val="000000"/>
        </a:accent4>
        <a:accent5>
          <a:srgbClr val="DFB7AD"/>
        </a:accent5>
        <a:accent6>
          <a:srgbClr val="A58812"/>
        </a:accent6>
        <a:hlink>
          <a:srgbClr val="2E4C6B"/>
        </a:hlink>
        <a:folHlink>
          <a:srgbClr val="6B512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d_1977_slide 4">
        <a:dk1>
          <a:srgbClr val="000000"/>
        </a:dk1>
        <a:lt1>
          <a:srgbClr val="B9D3EE"/>
        </a:lt1>
        <a:dk2>
          <a:srgbClr val="000000"/>
        </a:dk2>
        <a:lt2>
          <a:srgbClr val="B2B2B2"/>
        </a:lt2>
        <a:accent1>
          <a:srgbClr val="B46E17"/>
        </a:accent1>
        <a:accent2>
          <a:srgbClr val="A7BC2E"/>
        </a:accent2>
        <a:accent3>
          <a:srgbClr val="D9E6F5"/>
        </a:accent3>
        <a:accent4>
          <a:srgbClr val="000000"/>
        </a:accent4>
        <a:accent5>
          <a:srgbClr val="D6BAAB"/>
        </a:accent5>
        <a:accent6>
          <a:srgbClr val="97AA29"/>
        </a:accent6>
        <a:hlink>
          <a:srgbClr val="2E4C6B"/>
        </a:hlink>
        <a:folHlink>
          <a:srgbClr val="6B2E6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d_1977_slide 5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D2E3F4"/>
        </a:accent1>
        <a:accent2>
          <a:srgbClr val="679FDA"/>
        </a:accent2>
        <a:accent3>
          <a:srgbClr val="FFFFFF"/>
        </a:accent3>
        <a:accent4>
          <a:srgbClr val="000000"/>
        </a:accent4>
        <a:accent5>
          <a:srgbClr val="E5EFF8"/>
        </a:accent5>
        <a:accent6>
          <a:srgbClr val="5D90C5"/>
        </a:accent6>
        <a:hlink>
          <a:srgbClr val="2865A4"/>
        </a:hlink>
        <a:folHlink>
          <a:srgbClr val="2E4C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d_1977_slide 6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66B9CC"/>
        </a:accent1>
        <a:accent2>
          <a:srgbClr val="6666CC"/>
        </a:accent2>
        <a:accent3>
          <a:srgbClr val="FFFFFF"/>
        </a:accent3>
        <a:accent4>
          <a:srgbClr val="000000"/>
        </a:accent4>
        <a:accent5>
          <a:srgbClr val="B8D9E2"/>
        </a:accent5>
        <a:accent6>
          <a:srgbClr val="5C5CB9"/>
        </a:accent6>
        <a:hlink>
          <a:srgbClr val="2E4C6B"/>
        </a:hlink>
        <a:folHlink>
          <a:srgbClr val="2E2E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d_1977_slide 7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C56230"/>
        </a:accent1>
        <a:accent2>
          <a:srgbClr val="B69715"/>
        </a:accent2>
        <a:accent3>
          <a:srgbClr val="FFFFFF"/>
        </a:accent3>
        <a:accent4>
          <a:srgbClr val="000000"/>
        </a:accent4>
        <a:accent5>
          <a:srgbClr val="DFB7AD"/>
        </a:accent5>
        <a:accent6>
          <a:srgbClr val="A58812"/>
        </a:accent6>
        <a:hlink>
          <a:srgbClr val="2E4C6B"/>
        </a:hlink>
        <a:folHlink>
          <a:srgbClr val="6B512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d_1977_slide 8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B46E17"/>
        </a:accent1>
        <a:accent2>
          <a:srgbClr val="A7BC2E"/>
        </a:accent2>
        <a:accent3>
          <a:srgbClr val="FFFFFF"/>
        </a:accent3>
        <a:accent4>
          <a:srgbClr val="000000"/>
        </a:accent4>
        <a:accent5>
          <a:srgbClr val="D6BAAB"/>
        </a:accent5>
        <a:accent6>
          <a:srgbClr val="97AA29"/>
        </a:accent6>
        <a:hlink>
          <a:srgbClr val="2E4C6B"/>
        </a:hlink>
        <a:folHlink>
          <a:srgbClr val="6B2E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041tgp_figure_blue">
  <a:themeElements>
    <a:clrScheme name="041tgp_figure_blue 1">
      <a:dk1>
        <a:srgbClr val="000000"/>
      </a:dk1>
      <a:lt1>
        <a:srgbClr val="FFFFFF"/>
      </a:lt1>
      <a:dk2>
        <a:srgbClr val="000066"/>
      </a:dk2>
      <a:lt2>
        <a:srgbClr val="DDDDDD"/>
      </a:lt2>
      <a:accent1>
        <a:srgbClr val="B13621"/>
      </a:accent1>
      <a:accent2>
        <a:srgbClr val="008080"/>
      </a:accent2>
      <a:accent3>
        <a:srgbClr val="FFFFFF"/>
      </a:accent3>
      <a:accent4>
        <a:srgbClr val="000000"/>
      </a:accent4>
      <a:accent5>
        <a:srgbClr val="D5AEAB"/>
      </a:accent5>
      <a:accent6>
        <a:srgbClr val="007373"/>
      </a:accent6>
      <a:hlink>
        <a:srgbClr val="7D78E2"/>
      </a:hlink>
      <a:folHlink>
        <a:srgbClr val="3085B4"/>
      </a:folHlink>
    </a:clrScheme>
    <a:fontScheme name="041tgp_figure_blue">
      <a:majorFont>
        <a:latin typeface="Verdana"/>
        <a:ea typeface="Microsoft YaHei"/>
        <a:cs typeface=""/>
      </a:majorFont>
      <a:minorFont>
        <a:latin typeface="Verdana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041tgp_figure_blue 1">
        <a:dk1>
          <a:srgbClr val="000000"/>
        </a:dk1>
        <a:lt1>
          <a:srgbClr val="FFFFFF"/>
        </a:lt1>
        <a:dk2>
          <a:srgbClr val="000066"/>
        </a:dk2>
        <a:lt2>
          <a:srgbClr val="DDDDDD"/>
        </a:lt2>
        <a:accent1>
          <a:srgbClr val="B13621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D5AEAB"/>
        </a:accent5>
        <a:accent6>
          <a:srgbClr val="007373"/>
        </a:accent6>
        <a:hlink>
          <a:srgbClr val="7D78E2"/>
        </a:hlink>
        <a:folHlink>
          <a:srgbClr val="3085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1tgp_figure_blue 2">
        <a:dk1>
          <a:srgbClr val="000000"/>
        </a:dk1>
        <a:lt1>
          <a:srgbClr val="FFFFFF"/>
        </a:lt1>
        <a:dk2>
          <a:srgbClr val="4A2A28"/>
        </a:dk2>
        <a:lt2>
          <a:srgbClr val="DDDDDD"/>
        </a:lt2>
        <a:accent1>
          <a:srgbClr val="CBB61D"/>
        </a:accent1>
        <a:accent2>
          <a:srgbClr val="6CA5D8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6195C4"/>
        </a:accent6>
        <a:hlink>
          <a:srgbClr val="587E50"/>
        </a:hlink>
        <a:folHlink>
          <a:srgbClr val="A4513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1tgp_figure_blue 3">
        <a:dk1>
          <a:srgbClr val="000066"/>
        </a:dk1>
        <a:lt1>
          <a:srgbClr val="FFFFFF"/>
        </a:lt1>
        <a:dk2>
          <a:srgbClr val="064A48"/>
        </a:dk2>
        <a:lt2>
          <a:srgbClr val="DDDDDD"/>
        </a:lt2>
        <a:accent1>
          <a:srgbClr val="6DB52B"/>
        </a:accent1>
        <a:accent2>
          <a:srgbClr val="A35F35"/>
        </a:accent2>
        <a:accent3>
          <a:srgbClr val="FFFFFF"/>
        </a:accent3>
        <a:accent4>
          <a:srgbClr val="000056"/>
        </a:accent4>
        <a:accent5>
          <a:srgbClr val="BAD7AC"/>
        </a:accent5>
        <a:accent6>
          <a:srgbClr val="93552F"/>
        </a:accent6>
        <a:hlink>
          <a:srgbClr val="5A319D"/>
        </a:hlink>
        <a:folHlink>
          <a:srgbClr val="3888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コンピュータ（003）">
  <a:themeElements>
    <a:clrScheme name="コンピュータ（003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コンピュータ（003）">
      <a:majorFont>
        <a:latin typeface="Arial Rounded MT Bold"/>
        <a:ea typeface="MS PGothic"/>
        <a:cs typeface=""/>
      </a:majorFont>
      <a:minorFont>
        <a:latin typeface="MS PGothic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コンピュータ（003）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コンピュータ（003）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コンピュータ（003）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コンピュータ（003）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コンピュータ（003）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コンピュータ（003）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コンピュータ（003）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コンピュータ（003）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コンピュータ（003）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コンピュータ（003）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コンピュータ（003）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コンピュータ（003）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Civic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it-ppt-template-006</Template>
  <TotalTime>1269</TotalTime>
  <Words>2392</Words>
  <Application>Microsoft Office PowerPoint</Application>
  <PresentationFormat>On-screen Show (4:3)</PresentationFormat>
  <Paragraphs>515</Paragraphs>
  <Slides>81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19</vt:i4>
      </vt:variant>
      <vt:variant>
        <vt:lpstr>Theme</vt:lpstr>
      </vt:variant>
      <vt:variant>
        <vt:i4>12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81</vt:i4>
      </vt:variant>
    </vt:vector>
  </HeadingPairs>
  <TitlesOfParts>
    <vt:vector size="112" baseType="lpstr">
      <vt:lpstr>Microsoft YaHei</vt:lpstr>
      <vt:lpstr>MS PGothic</vt:lpstr>
      <vt:lpstr>宋体</vt:lpstr>
      <vt:lpstr>Arial</vt:lpstr>
      <vt:lpstr>Arial Black</vt:lpstr>
      <vt:lpstr>Arial Rounded MT Bold</vt:lpstr>
      <vt:lpstr>Calibri</vt:lpstr>
      <vt:lpstr>Calibri Bold</vt:lpstr>
      <vt:lpstr>Calibri Bold Italic</vt:lpstr>
      <vt:lpstr>Cambria</vt:lpstr>
      <vt:lpstr>Century Gothic</vt:lpstr>
      <vt:lpstr>Courier</vt:lpstr>
      <vt:lpstr>Monotype Sorts</vt:lpstr>
      <vt:lpstr>Tahoma</vt:lpstr>
      <vt:lpstr>Tahoma Bold</vt:lpstr>
      <vt:lpstr>Times New Roman</vt:lpstr>
      <vt:lpstr>Verdana</vt:lpstr>
      <vt:lpstr>Wingdings</vt:lpstr>
      <vt:lpstr>Wingdings 2</vt:lpstr>
      <vt:lpstr>it-ppt-template-006</vt:lpstr>
      <vt:lpstr>默认设计模板</vt:lpstr>
      <vt:lpstr>1_ind_1977_slide</vt:lpstr>
      <vt:lpstr>ind_1977_slide</vt:lpstr>
      <vt:lpstr>1_默认设计模板</vt:lpstr>
      <vt:lpstr>041tgp_figure_blue</vt:lpstr>
      <vt:lpstr>2_默认设计模板</vt:lpstr>
      <vt:lpstr>コンピュータ（003）</vt:lpstr>
      <vt:lpstr>3_默认设计模板</vt:lpstr>
      <vt:lpstr>Civic</vt:lpstr>
      <vt:lpstr>Office Theme</vt:lpstr>
      <vt:lpstr>1_Office Theme</vt:lpstr>
      <vt:lpstr>CS114 – Fundamentals of Programming</vt:lpstr>
      <vt:lpstr>Overview</vt:lpstr>
      <vt:lpstr>Introduction</vt:lpstr>
      <vt:lpstr>Introduction</vt:lpstr>
      <vt:lpstr>Course Details</vt:lpstr>
      <vt:lpstr>Course Details</vt:lpstr>
      <vt:lpstr>Course Description</vt:lpstr>
      <vt:lpstr>What is this course about?</vt:lpstr>
      <vt:lpstr>Text Book</vt:lpstr>
      <vt:lpstr>Text Book</vt:lpstr>
      <vt:lpstr>Reference Book</vt:lpstr>
      <vt:lpstr>Course Contents</vt:lpstr>
      <vt:lpstr>Course Contents</vt:lpstr>
      <vt:lpstr>Course Contents</vt:lpstr>
      <vt:lpstr>Course Outcomes</vt:lpstr>
      <vt:lpstr>Ground Rules</vt:lpstr>
      <vt:lpstr>Attendance Policy</vt:lpstr>
      <vt:lpstr>Quiz Policy</vt:lpstr>
      <vt:lpstr>Assignment Policy</vt:lpstr>
      <vt:lpstr>Lab Tasks Policy</vt:lpstr>
      <vt:lpstr>Student Civility</vt:lpstr>
      <vt:lpstr>Student Civility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Layered View of the Computer</vt:lpstr>
      <vt:lpstr>PowerPoint Presentation</vt:lpstr>
      <vt:lpstr>PowerPoint Presentation</vt:lpstr>
      <vt:lpstr>Commonly used Programming languages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Solving</vt:lpstr>
      <vt:lpstr>Problem</vt:lpstr>
      <vt:lpstr>Problem</vt:lpstr>
      <vt:lpstr>Problem Solving</vt:lpstr>
      <vt:lpstr>Fence Problem Solution</vt:lpstr>
      <vt:lpstr>Fence Problem Solution</vt:lpstr>
      <vt:lpstr>Dinner Party Problem Solution</vt:lpstr>
      <vt:lpstr>Dinner Party Problem Solution</vt:lpstr>
      <vt:lpstr>Dinner Party Problem Solution</vt:lpstr>
      <vt:lpstr>Another Problem</vt:lpstr>
      <vt:lpstr>What happened there?!</vt:lpstr>
      <vt:lpstr>Human Intelligence</vt:lpstr>
      <vt:lpstr>Machines</vt:lpstr>
      <vt:lpstr>New Problem</vt:lpstr>
      <vt:lpstr>Representing your solution</vt:lpstr>
      <vt:lpstr>Pseudo Code</vt:lpstr>
      <vt:lpstr>Corrected Pseudo Code</vt:lpstr>
      <vt:lpstr>Pseudo Code</vt:lpstr>
      <vt:lpstr>Flow Chart</vt:lpstr>
      <vt:lpstr>Flow Chart Symbols</vt:lpstr>
      <vt:lpstr>Flow Chart Symbols</vt:lpstr>
      <vt:lpstr>Flow Chart Example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Load &amp; Stress Testing</dc:title>
  <dc:creator>DELL</dc:creator>
  <cp:lastModifiedBy>Muhammad Zohaib Awan</cp:lastModifiedBy>
  <cp:revision>332</cp:revision>
  <dcterms:created xsi:type="dcterms:W3CDTF">2013-05-10T10:49:48Z</dcterms:created>
  <dcterms:modified xsi:type="dcterms:W3CDTF">2018-09-23T19:33:24Z</dcterms:modified>
</cp:coreProperties>
</file>